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6" r:id="rId4"/>
  </p:sldMasterIdLst>
  <p:notesMasterIdLst>
    <p:notesMasterId r:id="rId17"/>
  </p:notesMasterIdLst>
  <p:handoutMasterIdLst>
    <p:handoutMasterId r:id="rId18"/>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x="10691813" cy="6011863"/>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30" userDrawn="1">
          <p15:clr>
            <a:srgbClr val="A4A3A4"/>
          </p15:clr>
        </p15:guide>
        <p15:guide id="2" pos="5092" userDrawn="1">
          <p15:clr>
            <a:srgbClr val="A4A3A4"/>
          </p15:clr>
        </p15:guide>
        <p15:guide id="3" orient="horz" pos="271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k Iversen" initials="MI" lastIdx="4" clrIdx="0">
    <p:extLst>
      <p:ext uri="{19B8F6BF-5375-455C-9EA6-DF929625EA0E}">
        <p15:presenceInfo xmlns:p15="http://schemas.microsoft.com/office/powerpoint/2012/main" userId="S-1-5-21-1724592431-3588942217-342108644-1001" providerId="AD"/>
      </p:ext>
    </p:extLst>
  </p:cmAuthor>
  <p:cmAuthor id="2" name="Mark Iversen" initials="MI [2]" lastIdx="11" clrIdx="1">
    <p:extLst>
      <p:ext uri="{19B8F6BF-5375-455C-9EA6-DF929625EA0E}">
        <p15:presenceInfo xmlns:p15="http://schemas.microsoft.com/office/powerpoint/2012/main" userId="S::mi@radiant.dk::7cabe9ab-c691-480e-b32f-84bfb80117c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EFE5"/>
    <a:srgbClr val="5C5F4A"/>
    <a:srgbClr val="006600"/>
    <a:srgbClr val="262626"/>
    <a:srgbClr val="619DD1"/>
    <a:srgbClr val="1A5F57"/>
    <a:srgbClr val="6F91A7"/>
    <a:srgbClr val="D9D9D9"/>
    <a:srgbClr val="00529B"/>
    <a:srgbClr val="0053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llemlayout 2 - Marker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0" autoAdjust="0"/>
    <p:restoredTop sz="95442" autoAdjust="0"/>
  </p:normalViewPr>
  <p:slideViewPr>
    <p:cSldViewPr snapToGrid="0">
      <p:cViewPr varScale="1">
        <p:scale>
          <a:sx n="172" d="100"/>
          <a:sy n="172" d="100"/>
        </p:scale>
        <p:origin x="630" y="144"/>
      </p:cViewPr>
      <p:guideLst>
        <p:guide orient="horz" pos="2030"/>
        <p:guide pos="5092"/>
        <p:guide orient="horz" pos="2710"/>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101" d="100"/>
          <a:sy n="101" d="100"/>
        </p:scale>
        <p:origin x="2814" y="12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smus Klitte Andersen" userId="61479e63-5415-492b-a5f5-972583475fcd" providerId="ADAL" clId="{315827A7-746E-4D09-B1A8-09FC8487E118}"/>
    <pc:docChg chg="modSld">
      <pc:chgData name="Rasmus Klitte Andersen" userId="61479e63-5415-492b-a5f5-972583475fcd" providerId="ADAL" clId="{315827A7-746E-4D09-B1A8-09FC8487E118}" dt="2026-10-13T12:38:09.545" v="0" actId="1076"/>
      <pc:docMkLst>
        <pc:docMk/>
      </pc:docMkLst>
      <pc:sldChg chg="modSp mod">
        <pc:chgData name="Rasmus Klitte Andersen" userId="61479e63-5415-492b-a5f5-972583475fcd" providerId="ADAL" clId="{315827A7-746E-4D09-B1A8-09FC8487E118}" dt="2026-10-13T12:38:09.545" v="0" actId="1076"/>
        <pc:sldMkLst>
          <pc:docMk/>
          <pc:sldMk cId="0" sldId="258"/>
        </pc:sldMkLst>
        <pc:spChg chg="mod">
          <ac:chgData name="Rasmus Klitte Andersen" userId="61479e63-5415-492b-a5f5-972583475fcd" providerId="ADAL" clId="{315827A7-746E-4D09-B1A8-09FC8487E118}" dt="2026-10-13T12:38:09.545" v="0" actId="1076"/>
          <ac:spMkLst>
            <pc:docMk/>
            <pc:sldMk cId="0" sldId="258"/>
            <ac:spMk id="5"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a:extLst>
              <a:ext uri="{FF2B5EF4-FFF2-40B4-BE49-F238E27FC236}">
                <a16:creationId xmlns:a16="http://schemas.microsoft.com/office/drawing/2014/main" id="{23C99E3B-D535-3EE9-4061-4641204DD699}"/>
              </a:ext>
            </a:extLst>
          </p:cNvPr>
          <p:cNvSpPr>
            <a:spLocks noGrp="1"/>
          </p:cNvSpPr>
          <p:nvPr>
            <p:ph type="hdr" sz="quarter"/>
          </p:nvPr>
        </p:nvSpPr>
        <p:spPr>
          <a:xfrm>
            <a:off x="1" y="0"/>
            <a:ext cx="2946189" cy="498236"/>
          </a:xfrm>
          <a:prstGeom prst="rect">
            <a:avLst/>
          </a:prstGeom>
        </p:spPr>
        <p:txBody>
          <a:bodyPr vert="horz" lIns="91440" tIns="45720" rIns="91440" bIns="45720" rtlCol="0"/>
          <a:lstStyle>
            <a:lvl1pPr algn="l">
              <a:defRPr sz="1200"/>
            </a:lvl1pPr>
          </a:lstStyle>
          <a:p>
            <a:endParaRPr lang="da-DK"/>
          </a:p>
        </p:txBody>
      </p:sp>
      <p:sp>
        <p:nvSpPr>
          <p:cNvPr id="3" name="Pladsholder til dato 2">
            <a:extLst>
              <a:ext uri="{FF2B5EF4-FFF2-40B4-BE49-F238E27FC236}">
                <a16:creationId xmlns:a16="http://schemas.microsoft.com/office/drawing/2014/main" id="{AF02A97A-3341-2333-A6F3-F843FB18EAC5}"/>
              </a:ext>
            </a:extLst>
          </p:cNvPr>
          <p:cNvSpPr>
            <a:spLocks noGrp="1"/>
          </p:cNvSpPr>
          <p:nvPr>
            <p:ph type="dt" sz="quarter" idx="1"/>
          </p:nvPr>
        </p:nvSpPr>
        <p:spPr>
          <a:xfrm>
            <a:off x="3849899" y="0"/>
            <a:ext cx="2946189" cy="498236"/>
          </a:xfrm>
          <a:prstGeom prst="rect">
            <a:avLst/>
          </a:prstGeom>
        </p:spPr>
        <p:txBody>
          <a:bodyPr vert="horz" lIns="91440" tIns="45720" rIns="91440" bIns="45720" rtlCol="0"/>
          <a:lstStyle>
            <a:lvl1pPr algn="r">
              <a:defRPr sz="1200"/>
            </a:lvl1pPr>
          </a:lstStyle>
          <a:p>
            <a:fld id="{A4B0DF6B-F186-4F1E-BC8A-3DE7DFAE8D10}" type="datetimeFigureOut">
              <a:rPr lang="da-DK" smtClean="0"/>
              <a:t>13-10-2026</a:t>
            </a:fld>
            <a:endParaRPr lang="da-DK"/>
          </a:p>
        </p:txBody>
      </p:sp>
      <p:sp>
        <p:nvSpPr>
          <p:cNvPr id="4" name="Pladsholder til sidefod 3">
            <a:extLst>
              <a:ext uri="{FF2B5EF4-FFF2-40B4-BE49-F238E27FC236}">
                <a16:creationId xmlns:a16="http://schemas.microsoft.com/office/drawing/2014/main" id="{9CD8F2B1-F5C0-B0F6-3D6B-A225874952D9}"/>
              </a:ext>
            </a:extLst>
          </p:cNvPr>
          <p:cNvSpPr>
            <a:spLocks noGrp="1"/>
          </p:cNvSpPr>
          <p:nvPr>
            <p:ph type="ftr" sz="quarter" idx="2"/>
          </p:nvPr>
        </p:nvSpPr>
        <p:spPr>
          <a:xfrm>
            <a:off x="1" y="9428403"/>
            <a:ext cx="2946189" cy="498236"/>
          </a:xfrm>
          <a:prstGeom prst="rect">
            <a:avLst/>
          </a:prstGeom>
        </p:spPr>
        <p:txBody>
          <a:bodyPr vert="horz" lIns="91440" tIns="45720" rIns="91440" bIns="45720" rtlCol="0" anchor="b"/>
          <a:lstStyle>
            <a:lvl1pPr algn="l">
              <a:defRPr sz="1200"/>
            </a:lvl1pPr>
          </a:lstStyle>
          <a:p>
            <a:endParaRPr lang="da-DK"/>
          </a:p>
        </p:txBody>
      </p:sp>
      <p:sp>
        <p:nvSpPr>
          <p:cNvPr id="5" name="Pladsholder til slidenummer 4">
            <a:extLst>
              <a:ext uri="{FF2B5EF4-FFF2-40B4-BE49-F238E27FC236}">
                <a16:creationId xmlns:a16="http://schemas.microsoft.com/office/drawing/2014/main" id="{DB3B0934-8E75-0972-11D8-45CFDD4BF8FC}"/>
              </a:ext>
            </a:extLst>
          </p:cNvPr>
          <p:cNvSpPr>
            <a:spLocks noGrp="1"/>
          </p:cNvSpPr>
          <p:nvPr>
            <p:ph type="sldNum" sz="quarter" idx="3"/>
          </p:nvPr>
        </p:nvSpPr>
        <p:spPr>
          <a:xfrm>
            <a:off x="3849899" y="9428403"/>
            <a:ext cx="2946189" cy="498236"/>
          </a:xfrm>
          <a:prstGeom prst="rect">
            <a:avLst/>
          </a:prstGeom>
        </p:spPr>
        <p:txBody>
          <a:bodyPr vert="horz" lIns="91440" tIns="45720" rIns="91440" bIns="45720" rtlCol="0" anchor="b"/>
          <a:lstStyle>
            <a:lvl1pPr algn="r">
              <a:defRPr sz="1200"/>
            </a:lvl1pPr>
          </a:lstStyle>
          <a:p>
            <a:fld id="{CC21608A-CCEC-4B00-8F9A-4BF8AB4A81F2}" type="slidenum">
              <a:rPr lang="da-DK" smtClean="0"/>
              <a:t>‹nr.›</a:t>
            </a:fld>
            <a:endParaRPr lang="da-DK"/>
          </a:p>
        </p:txBody>
      </p:sp>
    </p:spTree>
    <p:extLst>
      <p:ext uri="{BB962C8B-B14F-4D97-AF65-F5344CB8AC3E}">
        <p14:creationId xmlns:p14="http://schemas.microsoft.com/office/powerpoint/2010/main" val="5459841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7" y="8"/>
            <a:ext cx="2945659" cy="498056"/>
          </a:xfrm>
          <a:prstGeom prst="rect">
            <a:avLst/>
          </a:prstGeom>
        </p:spPr>
        <p:txBody>
          <a:bodyPr vert="horz" lIns="91440" tIns="45720" rIns="91440" bIns="45720" rtlCol="0"/>
          <a:lstStyle>
            <a:lvl1pPr algn="l">
              <a:defRPr sz="1200"/>
            </a:lvl1pPr>
          </a:lstStyle>
          <a:p>
            <a:endParaRPr lang="da-DK"/>
          </a:p>
        </p:txBody>
      </p:sp>
      <p:sp>
        <p:nvSpPr>
          <p:cNvPr id="3" name="Date Placeholder 2"/>
          <p:cNvSpPr>
            <a:spLocks noGrp="1"/>
          </p:cNvSpPr>
          <p:nvPr>
            <p:ph type="dt" idx="1"/>
          </p:nvPr>
        </p:nvSpPr>
        <p:spPr>
          <a:xfrm>
            <a:off x="3850451" y="8"/>
            <a:ext cx="2945659" cy="498056"/>
          </a:xfrm>
          <a:prstGeom prst="rect">
            <a:avLst/>
          </a:prstGeom>
        </p:spPr>
        <p:txBody>
          <a:bodyPr vert="horz" lIns="91440" tIns="45720" rIns="91440" bIns="45720" rtlCol="0"/>
          <a:lstStyle>
            <a:lvl1pPr algn="r">
              <a:defRPr sz="1200"/>
            </a:lvl1pPr>
          </a:lstStyle>
          <a:p>
            <a:fld id="{F3CBBEDC-CB67-4B5C-9D0B-333E6277102D}" type="datetimeFigureOut">
              <a:rPr lang="da-DK" smtClean="0"/>
              <a:t>13-10-2026</a:t>
            </a:fld>
            <a:endParaRPr lang="da-DK"/>
          </a:p>
        </p:txBody>
      </p:sp>
      <p:sp>
        <p:nvSpPr>
          <p:cNvPr id="4" name="Slide Image Placeholder 3"/>
          <p:cNvSpPr>
            <a:spLocks noGrp="1" noRot="1" noChangeAspect="1"/>
          </p:cNvSpPr>
          <p:nvPr>
            <p:ph type="sldImg" idx="2"/>
          </p:nvPr>
        </p:nvSpPr>
        <p:spPr>
          <a:xfrm>
            <a:off x="420688" y="1241425"/>
            <a:ext cx="5956300" cy="3349625"/>
          </a:xfrm>
          <a:prstGeom prst="rect">
            <a:avLst/>
          </a:prstGeom>
          <a:noFill/>
          <a:ln w="12700">
            <a:solidFill>
              <a:prstClr val="black"/>
            </a:solidFill>
          </a:ln>
        </p:spPr>
        <p:txBody>
          <a:bodyPr vert="horz" lIns="91440" tIns="45720" rIns="91440" bIns="45720" rtlCol="0" anchor="ctr"/>
          <a:lstStyle/>
          <a:p>
            <a:endParaRPr lang="da-DK"/>
          </a:p>
        </p:txBody>
      </p:sp>
      <p:sp>
        <p:nvSpPr>
          <p:cNvPr id="5" name="Notes Placeholder 4"/>
          <p:cNvSpPr>
            <a:spLocks noGrp="1"/>
          </p:cNvSpPr>
          <p:nvPr>
            <p:ph type="body" sz="quarter" idx="3"/>
          </p:nvPr>
        </p:nvSpPr>
        <p:spPr>
          <a:xfrm>
            <a:off x="679768" y="4777202"/>
            <a:ext cx="5438140" cy="3908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6" name="Footer Placeholder 5"/>
          <p:cNvSpPr>
            <a:spLocks noGrp="1"/>
          </p:cNvSpPr>
          <p:nvPr>
            <p:ph type="ftr" sz="quarter" idx="4"/>
          </p:nvPr>
        </p:nvSpPr>
        <p:spPr>
          <a:xfrm>
            <a:off x="7" y="9428591"/>
            <a:ext cx="2945659" cy="498055"/>
          </a:xfrm>
          <a:prstGeom prst="rect">
            <a:avLst/>
          </a:prstGeom>
        </p:spPr>
        <p:txBody>
          <a:bodyPr vert="horz" lIns="91440" tIns="45720" rIns="91440" bIns="45720" rtlCol="0" anchor="b"/>
          <a:lstStyle>
            <a:lvl1pPr algn="l">
              <a:defRPr sz="1200"/>
            </a:lvl1pPr>
          </a:lstStyle>
          <a:p>
            <a:endParaRPr lang="da-DK"/>
          </a:p>
        </p:txBody>
      </p:sp>
      <p:sp>
        <p:nvSpPr>
          <p:cNvPr id="7" name="Slide Number Placeholder 6"/>
          <p:cNvSpPr>
            <a:spLocks noGrp="1"/>
          </p:cNvSpPr>
          <p:nvPr>
            <p:ph type="sldNum" sz="quarter" idx="5"/>
          </p:nvPr>
        </p:nvSpPr>
        <p:spPr>
          <a:xfrm>
            <a:off x="3850451" y="9428591"/>
            <a:ext cx="2945659" cy="498055"/>
          </a:xfrm>
          <a:prstGeom prst="rect">
            <a:avLst/>
          </a:prstGeom>
        </p:spPr>
        <p:txBody>
          <a:bodyPr vert="horz" lIns="91440" tIns="45720" rIns="91440" bIns="45720" rtlCol="0" anchor="b"/>
          <a:lstStyle>
            <a:lvl1pPr algn="r">
              <a:defRPr sz="1200"/>
            </a:lvl1pPr>
          </a:lstStyle>
          <a:p>
            <a:fld id="{A1A0BE2B-A3BA-47D9-A68B-3EF11F291223}" type="slidenum">
              <a:rPr lang="da-DK" smtClean="0"/>
              <a:t>‹nr.›</a:t>
            </a:fld>
            <a:endParaRPr lang="da-DK"/>
          </a:p>
        </p:txBody>
      </p:sp>
    </p:spTree>
    <p:extLst>
      <p:ext uri="{BB962C8B-B14F-4D97-AF65-F5344CB8AC3E}">
        <p14:creationId xmlns:p14="http://schemas.microsoft.com/office/powerpoint/2010/main" val="3529599130"/>
      </p:ext>
    </p:extLst>
  </p:cSld>
  <p:clrMap bg1="lt1" tx1="dk1" bg2="lt2" tx2="dk2" accent1="accent1" accent2="accent2" accent3="accent3" accent4="accent4" accent5="accent5" accent6="accent6" hlink="hlink" folHlink="folHlink"/>
  <p:notesStyle>
    <a:lvl1pPr marL="0" algn="l" defTabSz="801746" rtl="0" eaLnBrk="1" latinLnBrk="0" hangingPunct="1">
      <a:defRPr sz="1052" kern="1200">
        <a:solidFill>
          <a:schemeClr val="tx1"/>
        </a:solidFill>
        <a:latin typeface="+mn-lt"/>
        <a:ea typeface="+mn-ea"/>
        <a:cs typeface="+mn-cs"/>
      </a:defRPr>
    </a:lvl1pPr>
    <a:lvl2pPr marL="400873" algn="l" defTabSz="801746" rtl="0" eaLnBrk="1" latinLnBrk="0" hangingPunct="1">
      <a:defRPr sz="1052" kern="1200">
        <a:solidFill>
          <a:schemeClr val="tx1"/>
        </a:solidFill>
        <a:latin typeface="+mn-lt"/>
        <a:ea typeface="+mn-ea"/>
        <a:cs typeface="+mn-cs"/>
      </a:defRPr>
    </a:lvl2pPr>
    <a:lvl3pPr marL="801746" algn="l" defTabSz="801746" rtl="0" eaLnBrk="1" latinLnBrk="0" hangingPunct="1">
      <a:defRPr sz="1052" kern="1200">
        <a:solidFill>
          <a:schemeClr val="tx1"/>
        </a:solidFill>
        <a:latin typeface="+mn-lt"/>
        <a:ea typeface="+mn-ea"/>
        <a:cs typeface="+mn-cs"/>
      </a:defRPr>
    </a:lvl3pPr>
    <a:lvl4pPr marL="1202619" algn="l" defTabSz="801746" rtl="0" eaLnBrk="1" latinLnBrk="0" hangingPunct="1">
      <a:defRPr sz="1052" kern="1200">
        <a:solidFill>
          <a:schemeClr val="tx1"/>
        </a:solidFill>
        <a:latin typeface="+mn-lt"/>
        <a:ea typeface="+mn-ea"/>
        <a:cs typeface="+mn-cs"/>
      </a:defRPr>
    </a:lvl4pPr>
    <a:lvl5pPr marL="1603492" algn="l" defTabSz="801746" rtl="0" eaLnBrk="1" latinLnBrk="0" hangingPunct="1">
      <a:defRPr sz="1052" kern="1200">
        <a:solidFill>
          <a:schemeClr val="tx1"/>
        </a:solidFill>
        <a:latin typeface="+mn-lt"/>
        <a:ea typeface="+mn-ea"/>
        <a:cs typeface="+mn-cs"/>
      </a:defRPr>
    </a:lvl5pPr>
    <a:lvl6pPr marL="2004365" algn="l" defTabSz="801746" rtl="0" eaLnBrk="1" latinLnBrk="0" hangingPunct="1">
      <a:defRPr sz="1052" kern="1200">
        <a:solidFill>
          <a:schemeClr val="tx1"/>
        </a:solidFill>
        <a:latin typeface="+mn-lt"/>
        <a:ea typeface="+mn-ea"/>
        <a:cs typeface="+mn-cs"/>
      </a:defRPr>
    </a:lvl6pPr>
    <a:lvl7pPr marL="2405238" algn="l" defTabSz="801746" rtl="0" eaLnBrk="1" latinLnBrk="0" hangingPunct="1">
      <a:defRPr sz="1052" kern="1200">
        <a:solidFill>
          <a:schemeClr val="tx1"/>
        </a:solidFill>
        <a:latin typeface="+mn-lt"/>
        <a:ea typeface="+mn-ea"/>
        <a:cs typeface="+mn-cs"/>
      </a:defRPr>
    </a:lvl7pPr>
    <a:lvl8pPr marL="2806111" algn="l" defTabSz="801746" rtl="0" eaLnBrk="1" latinLnBrk="0" hangingPunct="1">
      <a:defRPr sz="1052" kern="1200">
        <a:solidFill>
          <a:schemeClr val="tx1"/>
        </a:solidFill>
        <a:latin typeface="+mn-lt"/>
        <a:ea typeface="+mn-ea"/>
        <a:cs typeface="+mn-cs"/>
      </a:defRPr>
    </a:lvl8pPr>
    <a:lvl9pPr marL="3206984" algn="l" defTabSz="801746" rtl="0" eaLnBrk="1" latinLnBrk="0" hangingPunct="1">
      <a:defRPr sz="1052"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Forside_Produkt">
    <p:spTree>
      <p:nvGrpSpPr>
        <p:cNvPr id="1" name=""/>
        <p:cNvGrpSpPr/>
        <p:nvPr/>
      </p:nvGrpSpPr>
      <p:grpSpPr>
        <a:xfrm>
          <a:off x="0" y="0"/>
          <a:ext cx="0" cy="0"/>
          <a:chOff x="0" y="0"/>
          <a:chExt cx="0" cy="0"/>
        </a:xfrm>
      </p:grpSpPr>
      <p:pic>
        <p:nvPicPr>
          <p:cNvPr id="6" name="Billede 5" descr="Et billede, der indeholder træ, plante, udendørs, piletræ&#10;&#10;Automatisk genereret beskrivelse">
            <a:extLst>
              <a:ext uri="{FF2B5EF4-FFF2-40B4-BE49-F238E27FC236}">
                <a16:creationId xmlns:a16="http://schemas.microsoft.com/office/drawing/2014/main" id="{31EC8DED-0FD6-0054-4EA6-8530585BF190}"/>
              </a:ext>
            </a:extLst>
          </p:cNvPr>
          <p:cNvPicPr>
            <a:picLocks noChangeAspect="1"/>
          </p:cNvPicPr>
          <p:nvPr userDrawn="1"/>
        </p:nvPicPr>
        <p:blipFill>
          <a:blip r:embed="rId2">
            <a:extLst>
              <a:ext uri="{28A0092B-C50C-407E-A947-70E740481C1C}">
                <a14:useLocalDpi xmlns:a14="http://schemas.microsoft.com/office/drawing/2010/main" val="0"/>
              </a:ext>
            </a:extLst>
          </a:blip>
          <a:srcRect l="8185" t="10922" r="2694"/>
          <a:stretch/>
        </p:blipFill>
        <p:spPr>
          <a:xfrm>
            <a:off x="-1" y="0"/>
            <a:ext cx="10691813" cy="6011864"/>
          </a:xfrm>
          <a:prstGeom prst="rect">
            <a:avLst/>
          </a:prstGeom>
        </p:spPr>
      </p:pic>
      <p:sp>
        <p:nvSpPr>
          <p:cNvPr id="2" name="Titel 1">
            <a:extLst>
              <a:ext uri="{FF2B5EF4-FFF2-40B4-BE49-F238E27FC236}">
                <a16:creationId xmlns:a16="http://schemas.microsoft.com/office/drawing/2014/main" id="{BCD7D3CC-4926-73E6-AFC0-1F4011A38788}"/>
              </a:ext>
            </a:extLst>
          </p:cNvPr>
          <p:cNvSpPr>
            <a:spLocks noGrp="1"/>
          </p:cNvSpPr>
          <p:nvPr>
            <p:ph type="ctrTitle" hasCustomPrompt="1"/>
          </p:nvPr>
        </p:nvSpPr>
        <p:spPr>
          <a:xfrm>
            <a:off x="1336673" y="3421302"/>
            <a:ext cx="8018463" cy="685503"/>
          </a:xfrm>
        </p:spPr>
        <p:txBody>
          <a:bodyPr anchor="b">
            <a:normAutofit/>
          </a:bodyPr>
          <a:lstStyle>
            <a:lvl1pPr algn="ctr">
              <a:defRPr sz="3600">
                <a:solidFill>
                  <a:schemeClr val="bg1"/>
                </a:solidFill>
                <a:latin typeface="Baskerville Old Face" panose="02020602080505020303" pitchFamily="18" charset="0"/>
              </a:defRPr>
            </a:lvl1pPr>
          </a:lstStyle>
          <a:p>
            <a:r>
              <a:rPr lang="da-DK" dirty="0"/>
              <a:t>Produkttitel </a:t>
            </a:r>
          </a:p>
        </p:txBody>
      </p:sp>
      <p:sp>
        <p:nvSpPr>
          <p:cNvPr id="3" name="Undertitel 2">
            <a:extLst>
              <a:ext uri="{FF2B5EF4-FFF2-40B4-BE49-F238E27FC236}">
                <a16:creationId xmlns:a16="http://schemas.microsoft.com/office/drawing/2014/main" id="{29941FF1-F0C2-C03B-41E0-F078C4311378}"/>
              </a:ext>
            </a:extLst>
          </p:cNvPr>
          <p:cNvSpPr>
            <a:spLocks noGrp="1"/>
          </p:cNvSpPr>
          <p:nvPr>
            <p:ph type="subTitle" idx="1" hasCustomPrompt="1"/>
          </p:nvPr>
        </p:nvSpPr>
        <p:spPr>
          <a:xfrm>
            <a:off x="1336674" y="4283943"/>
            <a:ext cx="8018463" cy="685503"/>
          </a:xfrm>
        </p:spPr>
        <p:txBody>
          <a:bodyPr>
            <a:normAutofit/>
          </a:bodyPr>
          <a:lstStyle>
            <a:lvl1pPr marL="0" indent="0" algn="ctr">
              <a:buNone/>
              <a:defRPr sz="2000">
                <a:solidFill>
                  <a:schemeClr val="bg1"/>
                </a:solidFill>
                <a:latin typeface="Baskerville Old Face" panose="020206020805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a-DK" dirty="0"/>
              <a:t>Måned, år</a:t>
            </a:r>
          </a:p>
        </p:txBody>
      </p:sp>
      <p:pic>
        <p:nvPicPr>
          <p:cNvPr id="4" name="Billede 6">
            <a:extLst>
              <a:ext uri="{FF2B5EF4-FFF2-40B4-BE49-F238E27FC236}">
                <a16:creationId xmlns:a16="http://schemas.microsoft.com/office/drawing/2014/main" id="{AB47EE63-F39E-6446-BBBC-847B82478223}"/>
              </a:ext>
            </a:extLst>
          </p:cNvPr>
          <p:cNvPicPr>
            <a:picLocks noChangeAspect="1"/>
          </p:cNvPicPr>
          <p:nvPr userDrawn="1"/>
        </p:nvPicPr>
        <p:blipFill>
          <a:blip r:embed="rId3"/>
          <a:srcRect t="23273" b="25583"/>
          <a:stretch/>
        </p:blipFill>
        <p:spPr>
          <a:xfrm>
            <a:off x="1799221" y="2590559"/>
            <a:ext cx="7093366" cy="830742"/>
          </a:xfrm>
          <a:prstGeom prst="rect">
            <a:avLst/>
          </a:prstGeom>
        </p:spPr>
      </p:pic>
    </p:spTree>
    <p:extLst>
      <p:ext uri="{BB962C8B-B14F-4D97-AF65-F5344CB8AC3E}">
        <p14:creationId xmlns:p14="http://schemas.microsoft.com/office/powerpoint/2010/main" val="138081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side_kunde">
    <p:spTree>
      <p:nvGrpSpPr>
        <p:cNvPr id="1" name=""/>
        <p:cNvGrpSpPr/>
        <p:nvPr/>
      </p:nvGrpSpPr>
      <p:grpSpPr>
        <a:xfrm>
          <a:off x="0" y="0"/>
          <a:ext cx="0" cy="0"/>
          <a:chOff x="0" y="0"/>
          <a:chExt cx="0" cy="0"/>
        </a:xfrm>
      </p:grpSpPr>
      <p:pic>
        <p:nvPicPr>
          <p:cNvPr id="6" name="Billede 5" descr="Et billede, der indeholder træ, plante, udendørs, piletræ&#10;&#10;Automatisk genereret beskrivelse">
            <a:extLst>
              <a:ext uri="{FF2B5EF4-FFF2-40B4-BE49-F238E27FC236}">
                <a16:creationId xmlns:a16="http://schemas.microsoft.com/office/drawing/2014/main" id="{31EC8DED-0FD6-0054-4EA6-8530585BF190}"/>
              </a:ext>
            </a:extLst>
          </p:cNvPr>
          <p:cNvPicPr>
            <a:picLocks noChangeAspect="1"/>
          </p:cNvPicPr>
          <p:nvPr userDrawn="1"/>
        </p:nvPicPr>
        <p:blipFill>
          <a:blip r:embed="rId2">
            <a:extLst>
              <a:ext uri="{28A0092B-C50C-407E-A947-70E740481C1C}">
                <a14:useLocalDpi xmlns:a14="http://schemas.microsoft.com/office/drawing/2010/main" val="0"/>
              </a:ext>
            </a:extLst>
          </a:blip>
          <a:srcRect l="8185" t="10922" r="2694"/>
          <a:stretch/>
        </p:blipFill>
        <p:spPr>
          <a:xfrm>
            <a:off x="0" y="0"/>
            <a:ext cx="10691813" cy="6011864"/>
          </a:xfrm>
          <a:prstGeom prst="rect">
            <a:avLst/>
          </a:prstGeom>
        </p:spPr>
      </p:pic>
      <p:sp>
        <p:nvSpPr>
          <p:cNvPr id="2" name="Titel 1">
            <a:extLst>
              <a:ext uri="{FF2B5EF4-FFF2-40B4-BE49-F238E27FC236}">
                <a16:creationId xmlns:a16="http://schemas.microsoft.com/office/drawing/2014/main" id="{BCD7D3CC-4926-73E6-AFC0-1F4011A38788}"/>
              </a:ext>
            </a:extLst>
          </p:cNvPr>
          <p:cNvSpPr>
            <a:spLocks noGrp="1"/>
          </p:cNvSpPr>
          <p:nvPr>
            <p:ph type="ctrTitle" hasCustomPrompt="1"/>
          </p:nvPr>
        </p:nvSpPr>
        <p:spPr>
          <a:xfrm>
            <a:off x="1336673" y="2903515"/>
            <a:ext cx="8018463" cy="685503"/>
          </a:xfrm>
        </p:spPr>
        <p:txBody>
          <a:bodyPr anchor="b">
            <a:noAutofit/>
          </a:bodyPr>
          <a:lstStyle>
            <a:lvl1pPr algn="ctr">
              <a:defRPr sz="4800">
                <a:solidFill>
                  <a:schemeClr val="bg1"/>
                </a:solidFill>
                <a:latin typeface="Baskerville Old Face" panose="02020602080505020303" pitchFamily="18" charset="0"/>
              </a:defRPr>
            </a:lvl1pPr>
          </a:lstStyle>
          <a:p>
            <a:r>
              <a:rPr lang="da-DK" dirty="0"/>
              <a:t>KUNDENAVN</a:t>
            </a:r>
          </a:p>
        </p:txBody>
      </p:sp>
      <p:pic>
        <p:nvPicPr>
          <p:cNvPr id="4" name="Billede 6">
            <a:extLst>
              <a:ext uri="{FF2B5EF4-FFF2-40B4-BE49-F238E27FC236}">
                <a16:creationId xmlns:a16="http://schemas.microsoft.com/office/drawing/2014/main" id="{AB47EE63-F39E-6446-BBBC-847B82478223}"/>
              </a:ext>
            </a:extLst>
          </p:cNvPr>
          <p:cNvPicPr>
            <a:picLocks noChangeAspect="1"/>
          </p:cNvPicPr>
          <p:nvPr userDrawn="1"/>
        </p:nvPicPr>
        <p:blipFill>
          <a:blip r:embed="rId3"/>
          <a:srcRect t="23273" b="25583"/>
          <a:stretch/>
        </p:blipFill>
        <p:spPr>
          <a:xfrm>
            <a:off x="3297822" y="3675492"/>
            <a:ext cx="4096167" cy="479725"/>
          </a:xfrm>
          <a:prstGeom prst="rect">
            <a:avLst/>
          </a:prstGeom>
        </p:spPr>
      </p:pic>
      <p:sp>
        <p:nvSpPr>
          <p:cNvPr id="12" name="Pladsholder til tekst 11">
            <a:extLst>
              <a:ext uri="{FF2B5EF4-FFF2-40B4-BE49-F238E27FC236}">
                <a16:creationId xmlns:a16="http://schemas.microsoft.com/office/drawing/2014/main" id="{18125F78-0621-0917-5BB3-86B4D1BD620C}"/>
              </a:ext>
            </a:extLst>
          </p:cNvPr>
          <p:cNvSpPr>
            <a:spLocks noGrp="1"/>
          </p:cNvSpPr>
          <p:nvPr>
            <p:ph type="body" sz="quarter" idx="10" hasCustomPrompt="1"/>
          </p:nvPr>
        </p:nvSpPr>
        <p:spPr>
          <a:xfrm>
            <a:off x="4188618" y="4245747"/>
            <a:ext cx="2314575" cy="336824"/>
          </a:xfrm>
        </p:spPr>
        <p:txBody>
          <a:bodyPr>
            <a:normAutofit/>
          </a:bodyPr>
          <a:lstStyle>
            <a:lvl1pPr marL="0" indent="0" algn="ctr">
              <a:buNone/>
              <a:defRPr sz="1600">
                <a:solidFill>
                  <a:schemeClr val="bg1"/>
                </a:solidFill>
                <a:latin typeface="+mj-lt"/>
              </a:defRPr>
            </a:lvl1pPr>
          </a:lstStyle>
          <a:p>
            <a:pPr lvl="0"/>
            <a:r>
              <a:rPr lang="da-DK" dirty="0">
                <a:latin typeface="+mj-lt"/>
              </a:rPr>
              <a:t>Måned, år</a:t>
            </a:r>
            <a:endParaRPr lang="da-DK" dirty="0"/>
          </a:p>
        </p:txBody>
      </p:sp>
    </p:spTree>
    <p:extLst>
      <p:ext uri="{BB962C8B-B14F-4D97-AF65-F5344CB8AC3E}">
        <p14:creationId xmlns:p14="http://schemas.microsoft.com/office/powerpoint/2010/main" val="3063146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5" name="Rektangel 4">
            <a:extLst>
              <a:ext uri="{FF2B5EF4-FFF2-40B4-BE49-F238E27FC236}">
                <a16:creationId xmlns:a16="http://schemas.microsoft.com/office/drawing/2014/main" id="{B8F221D6-E011-DC32-8AF3-FF5CC65A1CA7}"/>
              </a:ext>
            </a:extLst>
          </p:cNvPr>
          <p:cNvSpPr/>
          <p:nvPr userDrawn="1"/>
        </p:nvSpPr>
        <p:spPr>
          <a:xfrm>
            <a:off x="6918715" y="996753"/>
            <a:ext cx="3161211" cy="4266121"/>
          </a:xfrm>
          <a:prstGeom prst="rect">
            <a:avLst/>
          </a:prstGeom>
          <a:solidFill>
            <a:srgbClr val="5C5F4A"/>
          </a:solidFill>
          <a:ln>
            <a:solidFill>
              <a:srgbClr val="5C5F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4" name="Pladsholder til slidenummer 3">
            <a:extLst>
              <a:ext uri="{FF2B5EF4-FFF2-40B4-BE49-F238E27FC236}">
                <a16:creationId xmlns:a16="http://schemas.microsoft.com/office/drawing/2014/main" id="{3124C1A5-FFA4-A6FE-3A14-B53198BAE780}"/>
              </a:ext>
            </a:extLst>
          </p:cNvPr>
          <p:cNvSpPr>
            <a:spLocks noGrp="1"/>
          </p:cNvSpPr>
          <p:nvPr>
            <p:ph type="sldNum" sz="quarter" idx="11"/>
          </p:nvPr>
        </p:nvSpPr>
        <p:spPr/>
        <p:txBody>
          <a:bodyPr/>
          <a:lstStyle>
            <a:lvl1pPr>
              <a:defRPr>
                <a:latin typeface="Gill Sans MT" panose="020B0502020104020203" pitchFamily="34" charset="0"/>
              </a:defRPr>
            </a:lvl1pPr>
          </a:lstStyle>
          <a:p>
            <a:fld id="{677FA8C2-600D-420D-8C79-33897368C59E}" type="slidenum">
              <a:rPr lang="da-DK" smtClean="0"/>
              <a:pPr/>
              <a:t>‹nr.›</a:t>
            </a:fld>
            <a:endParaRPr lang="da-DK" dirty="0"/>
          </a:p>
        </p:txBody>
      </p:sp>
      <p:sp>
        <p:nvSpPr>
          <p:cNvPr id="8" name="Tekstfelt 7">
            <a:extLst>
              <a:ext uri="{FF2B5EF4-FFF2-40B4-BE49-F238E27FC236}">
                <a16:creationId xmlns:a16="http://schemas.microsoft.com/office/drawing/2014/main" id="{58AA9A2B-EACE-7370-706A-E9E8833EF224}"/>
              </a:ext>
            </a:extLst>
          </p:cNvPr>
          <p:cNvSpPr txBox="1"/>
          <p:nvPr userDrawn="1"/>
        </p:nvSpPr>
        <p:spPr>
          <a:xfrm>
            <a:off x="607493" y="180544"/>
            <a:ext cx="5841670" cy="646331"/>
          </a:xfrm>
          <a:prstGeom prst="rect">
            <a:avLst/>
          </a:prstGeom>
          <a:noFill/>
        </p:spPr>
        <p:txBody>
          <a:bodyPr wrap="square" rtlCol="0">
            <a:spAutoFit/>
          </a:bodyPr>
          <a:lstStyle/>
          <a:p>
            <a:r>
              <a:rPr lang="da-DK" sz="3600" dirty="0">
                <a:latin typeface="Baskerville Old Face" panose="02020602080505020303" pitchFamily="18" charset="0"/>
              </a:rPr>
              <a:t>Agenda</a:t>
            </a:r>
          </a:p>
        </p:txBody>
      </p:sp>
      <p:sp>
        <p:nvSpPr>
          <p:cNvPr id="3" name="Pladsholder til billede 2">
            <a:extLst>
              <a:ext uri="{FF2B5EF4-FFF2-40B4-BE49-F238E27FC236}">
                <a16:creationId xmlns:a16="http://schemas.microsoft.com/office/drawing/2014/main" id="{1B1E996E-4ACD-87D3-D6C4-6915B2E711E9}"/>
              </a:ext>
            </a:extLst>
          </p:cNvPr>
          <p:cNvSpPr>
            <a:spLocks noGrp="1"/>
          </p:cNvSpPr>
          <p:nvPr>
            <p:ph type="pic" sz="quarter" idx="14" hasCustomPrompt="1"/>
          </p:nvPr>
        </p:nvSpPr>
        <p:spPr>
          <a:xfrm>
            <a:off x="7139300" y="1388731"/>
            <a:ext cx="936000" cy="936000"/>
          </a:xfrm>
        </p:spPr>
        <p:txBody>
          <a:bodyPr>
            <a:normAutofit/>
          </a:bodyPr>
          <a:lstStyle>
            <a:lvl1pPr marL="0" indent="0">
              <a:buNone/>
              <a:defRPr sz="800">
                <a:solidFill>
                  <a:schemeClr val="bg1"/>
                </a:solidFill>
              </a:defRPr>
            </a:lvl1pPr>
          </a:lstStyle>
          <a:p>
            <a:r>
              <a:rPr lang="da-DK" dirty="0"/>
              <a:t>Portrætbillede</a:t>
            </a:r>
          </a:p>
          <a:p>
            <a:r>
              <a:rPr lang="da-DK" dirty="0"/>
              <a:t>Sti: PPIM(P:),</a:t>
            </a:r>
            <a:br>
              <a:rPr lang="da-DK" dirty="0"/>
            </a:br>
            <a:r>
              <a:rPr lang="da-DK" dirty="0" err="1"/>
              <a:t>Employees</a:t>
            </a:r>
            <a:r>
              <a:rPr lang="da-DK" dirty="0"/>
              <a:t>, Billeder, </a:t>
            </a:r>
            <a:br>
              <a:rPr lang="da-DK" dirty="0"/>
            </a:br>
            <a:r>
              <a:rPr lang="da-DK" dirty="0"/>
              <a:t>Nye portrætter, </a:t>
            </a:r>
            <a:br>
              <a:rPr lang="da-DK" dirty="0"/>
            </a:br>
            <a:r>
              <a:rPr lang="da-DK" dirty="0" err="1"/>
              <a:t>pp_redigeret</a:t>
            </a:r>
            <a:r>
              <a:rPr lang="da-DK" dirty="0"/>
              <a:t>, navn</a:t>
            </a:r>
          </a:p>
        </p:txBody>
      </p:sp>
      <p:sp>
        <p:nvSpPr>
          <p:cNvPr id="12" name="Pladsholder til tekst 11">
            <a:extLst>
              <a:ext uri="{FF2B5EF4-FFF2-40B4-BE49-F238E27FC236}">
                <a16:creationId xmlns:a16="http://schemas.microsoft.com/office/drawing/2014/main" id="{A14EF73A-B1CD-2E1F-76FD-4A94A83FCA5A}"/>
              </a:ext>
            </a:extLst>
          </p:cNvPr>
          <p:cNvSpPr>
            <a:spLocks noGrp="1"/>
          </p:cNvSpPr>
          <p:nvPr>
            <p:ph type="body" sz="quarter" idx="15" hasCustomPrompt="1"/>
          </p:nvPr>
        </p:nvSpPr>
        <p:spPr>
          <a:xfrm>
            <a:off x="8147842" y="1649826"/>
            <a:ext cx="1942305" cy="206905"/>
          </a:xfrm>
        </p:spPr>
        <p:txBody>
          <a:bodyPr anchor="ctr">
            <a:noAutofit/>
          </a:bodyPr>
          <a:lstStyle>
            <a:lvl1pPr marL="0" indent="0">
              <a:lnSpc>
                <a:spcPct val="100000"/>
              </a:lnSpc>
              <a:spcBef>
                <a:spcPts val="600"/>
              </a:spcBef>
              <a:buNone/>
              <a:defRPr sz="1200" b="1">
                <a:solidFill>
                  <a:schemeClr val="bg1"/>
                </a:solidFill>
              </a:defRPr>
            </a:lvl1pPr>
          </a:lstStyle>
          <a:p>
            <a:pPr lvl="0"/>
            <a:r>
              <a:rPr lang="da-DK" dirty="0"/>
              <a:t>Navn</a:t>
            </a:r>
          </a:p>
        </p:txBody>
      </p:sp>
      <p:sp>
        <p:nvSpPr>
          <p:cNvPr id="13" name="Pladsholder til indhold 2">
            <a:extLst>
              <a:ext uri="{FF2B5EF4-FFF2-40B4-BE49-F238E27FC236}">
                <a16:creationId xmlns:a16="http://schemas.microsoft.com/office/drawing/2014/main" id="{2162AB39-D556-70FC-5487-6B4654AA00D8}"/>
              </a:ext>
            </a:extLst>
          </p:cNvPr>
          <p:cNvSpPr>
            <a:spLocks noGrp="1"/>
          </p:cNvSpPr>
          <p:nvPr>
            <p:ph idx="16" hasCustomPrompt="1"/>
          </p:nvPr>
        </p:nvSpPr>
        <p:spPr>
          <a:xfrm>
            <a:off x="601664" y="1656499"/>
            <a:ext cx="5942234" cy="312278"/>
          </a:xfrm>
        </p:spPr>
        <p:txBody>
          <a:bodyPr>
            <a:normAutofit/>
          </a:bodyPr>
          <a:lstStyle>
            <a:lvl1pPr marL="0" indent="0">
              <a:buFont typeface="Arial" panose="020B0604020202020204" pitchFamily="34" charset="0"/>
              <a:buNone/>
              <a:defRPr sz="1200" b="1"/>
            </a:lvl1pPr>
            <a:lvl2pPr algn="l">
              <a:defRPr sz="1600"/>
            </a:lvl2pPr>
            <a:lvl3pPr algn="l">
              <a:defRPr sz="1400"/>
            </a:lvl3pPr>
            <a:lvl4pPr algn="l">
              <a:defRPr sz="1200"/>
            </a:lvl4pPr>
            <a:lvl5pPr algn="l">
              <a:defRPr sz="1200"/>
            </a:lvl5pPr>
          </a:lstStyle>
          <a:p>
            <a:pPr lvl="0"/>
            <a:r>
              <a:rPr lang="da-DK" dirty="0"/>
              <a:t>Punkt 2</a:t>
            </a:r>
          </a:p>
        </p:txBody>
      </p:sp>
      <p:sp>
        <p:nvSpPr>
          <p:cNvPr id="15" name="Pladsholder til indhold 2">
            <a:extLst>
              <a:ext uri="{FF2B5EF4-FFF2-40B4-BE49-F238E27FC236}">
                <a16:creationId xmlns:a16="http://schemas.microsoft.com/office/drawing/2014/main" id="{9E70C9C7-61D2-825D-00E7-9C773629E6C4}"/>
              </a:ext>
            </a:extLst>
          </p:cNvPr>
          <p:cNvSpPr>
            <a:spLocks noGrp="1"/>
          </p:cNvSpPr>
          <p:nvPr>
            <p:ph idx="17" hasCustomPrompt="1"/>
          </p:nvPr>
        </p:nvSpPr>
        <p:spPr>
          <a:xfrm>
            <a:off x="601664" y="2314748"/>
            <a:ext cx="5942234" cy="312278"/>
          </a:xfrm>
        </p:spPr>
        <p:txBody>
          <a:bodyPr>
            <a:normAutofit/>
          </a:bodyPr>
          <a:lstStyle>
            <a:lvl1pPr marL="0" indent="0">
              <a:buFont typeface="Arial" panose="020B0604020202020204" pitchFamily="34" charset="0"/>
              <a:buNone/>
              <a:defRPr sz="1200" b="1"/>
            </a:lvl1pPr>
            <a:lvl2pPr algn="l">
              <a:defRPr sz="1600"/>
            </a:lvl2pPr>
            <a:lvl3pPr algn="l">
              <a:defRPr sz="1400"/>
            </a:lvl3pPr>
            <a:lvl4pPr algn="l">
              <a:defRPr sz="1200"/>
            </a:lvl4pPr>
            <a:lvl5pPr algn="l">
              <a:defRPr sz="1200"/>
            </a:lvl5pPr>
          </a:lstStyle>
          <a:p>
            <a:pPr lvl="0"/>
            <a:r>
              <a:rPr lang="da-DK" dirty="0"/>
              <a:t>Punkt 3</a:t>
            </a:r>
          </a:p>
        </p:txBody>
      </p:sp>
      <p:sp>
        <p:nvSpPr>
          <p:cNvPr id="16" name="Pladsholder til indhold 2">
            <a:extLst>
              <a:ext uri="{FF2B5EF4-FFF2-40B4-BE49-F238E27FC236}">
                <a16:creationId xmlns:a16="http://schemas.microsoft.com/office/drawing/2014/main" id="{AE46D414-F20B-6263-B59C-E70B1D79D589}"/>
              </a:ext>
            </a:extLst>
          </p:cNvPr>
          <p:cNvSpPr>
            <a:spLocks noGrp="1"/>
          </p:cNvSpPr>
          <p:nvPr>
            <p:ph idx="18" hasCustomPrompt="1"/>
          </p:nvPr>
        </p:nvSpPr>
        <p:spPr>
          <a:xfrm>
            <a:off x="601664" y="2972997"/>
            <a:ext cx="5942234" cy="312278"/>
          </a:xfrm>
        </p:spPr>
        <p:txBody>
          <a:bodyPr>
            <a:normAutofit/>
          </a:bodyPr>
          <a:lstStyle>
            <a:lvl1pPr marL="0" indent="0">
              <a:buFont typeface="Arial" panose="020B0604020202020204" pitchFamily="34" charset="0"/>
              <a:buNone/>
              <a:defRPr sz="1200" b="1"/>
            </a:lvl1pPr>
            <a:lvl2pPr algn="l">
              <a:defRPr sz="1600"/>
            </a:lvl2pPr>
            <a:lvl3pPr algn="l">
              <a:defRPr sz="1400"/>
            </a:lvl3pPr>
            <a:lvl4pPr algn="l">
              <a:defRPr sz="1200"/>
            </a:lvl4pPr>
            <a:lvl5pPr algn="l">
              <a:defRPr sz="1200"/>
            </a:lvl5pPr>
          </a:lstStyle>
          <a:p>
            <a:pPr lvl="0"/>
            <a:r>
              <a:rPr lang="da-DK" dirty="0"/>
              <a:t>Punkt 4</a:t>
            </a:r>
          </a:p>
        </p:txBody>
      </p:sp>
      <p:sp>
        <p:nvSpPr>
          <p:cNvPr id="17" name="Pladsholder til indhold 2">
            <a:extLst>
              <a:ext uri="{FF2B5EF4-FFF2-40B4-BE49-F238E27FC236}">
                <a16:creationId xmlns:a16="http://schemas.microsoft.com/office/drawing/2014/main" id="{D8094254-FFBE-EB65-06DE-9141FB2312D2}"/>
              </a:ext>
            </a:extLst>
          </p:cNvPr>
          <p:cNvSpPr>
            <a:spLocks noGrp="1"/>
          </p:cNvSpPr>
          <p:nvPr>
            <p:ph idx="19" hasCustomPrompt="1"/>
          </p:nvPr>
        </p:nvSpPr>
        <p:spPr>
          <a:xfrm>
            <a:off x="601664" y="3631246"/>
            <a:ext cx="5942234" cy="312278"/>
          </a:xfrm>
        </p:spPr>
        <p:txBody>
          <a:bodyPr>
            <a:normAutofit/>
          </a:bodyPr>
          <a:lstStyle>
            <a:lvl1pPr marL="0" indent="0">
              <a:buFont typeface="Arial" panose="020B0604020202020204" pitchFamily="34" charset="0"/>
              <a:buNone/>
              <a:defRPr sz="1200" b="1"/>
            </a:lvl1pPr>
            <a:lvl2pPr algn="l">
              <a:defRPr sz="1600"/>
            </a:lvl2pPr>
            <a:lvl3pPr algn="l">
              <a:defRPr sz="1400"/>
            </a:lvl3pPr>
            <a:lvl4pPr algn="l">
              <a:defRPr sz="1200"/>
            </a:lvl4pPr>
            <a:lvl5pPr algn="l">
              <a:defRPr sz="1200"/>
            </a:lvl5pPr>
          </a:lstStyle>
          <a:p>
            <a:pPr lvl="0"/>
            <a:r>
              <a:rPr lang="da-DK" dirty="0"/>
              <a:t>Punkt 5</a:t>
            </a:r>
          </a:p>
        </p:txBody>
      </p:sp>
      <p:sp>
        <p:nvSpPr>
          <p:cNvPr id="18" name="Pladsholder til indhold 2">
            <a:extLst>
              <a:ext uri="{FF2B5EF4-FFF2-40B4-BE49-F238E27FC236}">
                <a16:creationId xmlns:a16="http://schemas.microsoft.com/office/drawing/2014/main" id="{F22020D3-40DD-982A-7B55-6B7917A8894C}"/>
              </a:ext>
            </a:extLst>
          </p:cNvPr>
          <p:cNvSpPr>
            <a:spLocks noGrp="1"/>
          </p:cNvSpPr>
          <p:nvPr>
            <p:ph idx="20" hasCustomPrompt="1"/>
          </p:nvPr>
        </p:nvSpPr>
        <p:spPr>
          <a:xfrm>
            <a:off x="601664" y="4289495"/>
            <a:ext cx="5942234" cy="312278"/>
          </a:xfrm>
        </p:spPr>
        <p:txBody>
          <a:bodyPr>
            <a:normAutofit/>
          </a:bodyPr>
          <a:lstStyle>
            <a:lvl1pPr marL="0" indent="0">
              <a:buFont typeface="Arial" panose="020B0604020202020204" pitchFamily="34" charset="0"/>
              <a:buNone/>
              <a:defRPr sz="1200" b="1"/>
            </a:lvl1pPr>
            <a:lvl2pPr algn="l">
              <a:defRPr sz="1600"/>
            </a:lvl2pPr>
            <a:lvl3pPr algn="l">
              <a:defRPr sz="1400"/>
            </a:lvl3pPr>
            <a:lvl4pPr algn="l">
              <a:defRPr sz="1200"/>
            </a:lvl4pPr>
            <a:lvl5pPr algn="l">
              <a:defRPr sz="1200"/>
            </a:lvl5pPr>
          </a:lstStyle>
          <a:p>
            <a:pPr lvl="0"/>
            <a:r>
              <a:rPr lang="da-DK" dirty="0"/>
              <a:t>Punkt 6</a:t>
            </a:r>
          </a:p>
        </p:txBody>
      </p:sp>
      <p:sp>
        <p:nvSpPr>
          <p:cNvPr id="19" name="Pladsholder til tekst 11">
            <a:extLst>
              <a:ext uri="{FF2B5EF4-FFF2-40B4-BE49-F238E27FC236}">
                <a16:creationId xmlns:a16="http://schemas.microsoft.com/office/drawing/2014/main" id="{C860063A-C63E-FE57-1B74-302F8D6FCDB6}"/>
              </a:ext>
            </a:extLst>
          </p:cNvPr>
          <p:cNvSpPr>
            <a:spLocks noGrp="1"/>
          </p:cNvSpPr>
          <p:nvPr>
            <p:ph type="body" sz="quarter" idx="21" hasCustomPrompt="1"/>
          </p:nvPr>
        </p:nvSpPr>
        <p:spPr>
          <a:xfrm>
            <a:off x="8147843" y="1856732"/>
            <a:ext cx="1864590" cy="190500"/>
          </a:xfrm>
        </p:spPr>
        <p:txBody>
          <a:bodyPr anchor="ctr">
            <a:noAutofit/>
          </a:bodyPr>
          <a:lstStyle>
            <a:lvl1pPr marL="0" indent="0">
              <a:lnSpc>
                <a:spcPct val="100000"/>
              </a:lnSpc>
              <a:spcBef>
                <a:spcPts val="600"/>
              </a:spcBef>
              <a:buNone/>
              <a:defRPr sz="1200" b="0">
                <a:solidFill>
                  <a:schemeClr val="bg1"/>
                </a:solidFill>
              </a:defRPr>
            </a:lvl1pPr>
          </a:lstStyle>
          <a:p>
            <a:pPr lvl="0"/>
            <a:r>
              <a:rPr lang="da-DK" dirty="0"/>
              <a:t>Jobtitel</a:t>
            </a:r>
          </a:p>
        </p:txBody>
      </p:sp>
      <p:sp>
        <p:nvSpPr>
          <p:cNvPr id="20" name="Pladsholder til indhold 2">
            <a:extLst>
              <a:ext uri="{FF2B5EF4-FFF2-40B4-BE49-F238E27FC236}">
                <a16:creationId xmlns:a16="http://schemas.microsoft.com/office/drawing/2014/main" id="{EE9B3102-1696-B945-0E96-916FD32D8401}"/>
              </a:ext>
            </a:extLst>
          </p:cNvPr>
          <p:cNvSpPr>
            <a:spLocks noGrp="1"/>
          </p:cNvSpPr>
          <p:nvPr>
            <p:ph idx="22" hasCustomPrompt="1"/>
          </p:nvPr>
        </p:nvSpPr>
        <p:spPr>
          <a:xfrm>
            <a:off x="601664" y="4947744"/>
            <a:ext cx="5942234" cy="312278"/>
          </a:xfrm>
        </p:spPr>
        <p:txBody>
          <a:bodyPr>
            <a:normAutofit/>
          </a:bodyPr>
          <a:lstStyle>
            <a:lvl1pPr marL="0" indent="0">
              <a:buFont typeface="Arial" panose="020B0604020202020204" pitchFamily="34" charset="0"/>
              <a:buNone/>
              <a:defRPr sz="1200" b="1"/>
            </a:lvl1pPr>
            <a:lvl2pPr algn="l">
              <a:defRPr sz="1600"/>
            </a:lvl2pPr>
            <a:lvl3pPr algn="l">
              <a:defRPr sz="1400"/>
            </a:lvl3pPr>
            <a:lvl4pPr algn="l">
              <a:defRPr sz="1200"/>
            </a:lvl4pPr>
            <a:lvl5pPr algn="l">
              <a:defRPr sz="1200"/>
            </a:lvl5pPr>
          </a:lstStyle>
          <a:p>
            <a:pPr lvl="0"/>
            <a:r>
              <a:rPr lang="da-DK" dirty="0"/>
              <a:t>Punkt 7</a:t>
            </a:r>
          </a:p>
        </p:txBody>
      </p:sp>
      <p:sp>
        <p:nvSpPr>
          <p:cNvPr id="21" name="Pladsholder til billede 2">
            <a:extLst>
              <a:ext uri="{FF2B5EF4-FFF2-40B4-BE49-F238E27FC236}">
                <a16:creationId xmlns:a16="http://schemas.microsoft.com/office/drawing/2014/main" id="{2D3351B4-C01B-1226-0072-27E55E5EACD6}"/>
              </a:ext>
            </a:extLst>
          </p:cNvPr>
          <p:cNvSpPr>
            <a:spLocks noGrp="1"/>
          </p:cNvSpPr>
          <p:nvPr>
            <p:ph type="pic" sz="quarter" idx="23" hasCustomPrompt="1"/>
          </p:nvPr>
        </p:nvSpPr>
        <p:spPr>
          <a:xfrm>
            <a:off x="7139300" y="2658961"/>
            <a:ext cx="936000" cy="936000"/>
          </a:xfrm>
        </p:spPr>
        <p:txBody>
          <a:bodyPr>
            <a:normAutofit/>
          </a:bodyPr>
          <a:lstStyle>
            <a:lvl1pPr marL="0" indent="0">
              <a:buNone/>
              <a:defRPr sz="800">
                <a:solidFill>
                  <a:schemeClr val="bg1"/>
                </a:solidFill>
              </a:defRPr>
            </a:lvl1pPr>
          </a:lstStyle>
          <a:p>
            <a:r>
              <a:rPr lang="da-DK" dirty="0"/>
              <a:t>Portrætbillede</a:t>
            </a:r>
          </a:p>
          <a:p>
            <a:r>
              <a:rPr lang="da-DK" dirty="0"/>
              <a:t>Sti: PPIM(P:),</a:t>
            </a:r>
            <a:br>
              <a:rPr lang="da-DK" dirty="0"/>
            </a:br>
            <a:r>
              <a:rPr lang="da-DK" dirty="0" err="1"/>
              <a:t>Employees</a:t>
            </a:r>
            <a:r>
              <a:rPr lang="da-DK" dirty="0"/>
              <a:t>, Fotos, </a:t>
            </a:r>
            <a:br>
              <a:rPr lang="da-DK" dirty="0"/>
            </a:br>
            <a:r>
              <a:rPr lang="da-DK" dirty="0"/>
              <a:t>Nye portrætter, </a:t>
            </a:r>
            <a:br>
              <a:rPr lang="da-DK" dirty="0"/>
            </a:br>
            <a:r>
              <a:rPr lang="da-DK" dirty="0" err="1"/>
              <a:t>pp_redigeret</a:t>
            </a:r>
            <a:r>
              <a:rPr lang="da-DK" dirty="0"/>
              <a:t>, navn</a:t>
            </a:r>
          </a:p>
        </p:txBody>
      </p:sp>
      <p:sp>
        <p:nvSpPr>
          <p:cNvPr id="24" name="Pladsholder til billede 2">
            <a:extLst>
              <a:ext uri="{FF2B5EF4-FFF2-40B4-BE49-F238E27FC236}">
                <a16:creationId xmlns:a16="http://schemas.microsoft.com/office/drawing/2014/main" id="{F3FAB199-F174-695E-92B4-B4F42DFD24DD}"/>
              </a:ext>
            </a:extLst>
          </p:cNvPr>
          <p:cNvSpPr>
            <a:spLocks noGrp="1"/>
          </p:cNvSpPr>
          <p:nvPr>
            <p:ph type="pic" sz="quarter" idx="26" hasCustomPrompt="1"/>
          </p:nvPr>
        </p:nvSpPr>
        <p:spPr>
          <a:xfrm>
            <a:off x="7139300" y="3915895"/>
            <a:ext cx="936000" cy="936000"/>
          </a:xfrm>
        </p:spPr>
        <p:txBody>
          <a:bodyPr>
            <a:normAutofit/>
          </a:bodyPr>
          <a:lstStyle>
            <a:lvl1pPr marL="0" indent="0">
              <a:buNone/>
              <a:defRPr sz="800">
                <a:solidFill>
                  <a:schemeClr val="bg1"/>
                </a:solidFill>
              </a:defRPr>
            </a:lvl1pPr>
          </a:lstStyle>
          <a:p>
            <a:r>
              <a:rPr lang="da-DK" dirty="0"/>
              <a:t>Portrætbillede</a:t>
            </a:r>
          </a:p>
          <a:p>
            <a:r>
              <a:rPr lang="da-DK" dirty="0"/>
              <a:t>Sti: PPIM(P:),</a:t>
            </a:r>
            <a:br>
              <a:rPr lang="da-DK" dirty="0"/>
            </a:br>
            <a:r>
              <a:rPr lang="da-DK" dirty="0" err="1"/>
              <a:t>Employees</a:t>
            </a:r>
            <a:r>
              <a:rPr lang="da-DK" dirty="0"/>
              <a:t>, Fotos, </a:t>
            </a:r>
            <a:br>
              <a:rPr lang="da-DK" dirty="0"/>
            </a:br>
            <a:r>
              <a:rPr lang="da-DK" dirty="0"/>
              <a:t>Nye portrætter, </a:t>
            </a:r>
            <a:br>
              <a:rPr lang="da-DK" dirty="0"/>
            </a:br>
            <a:r>
              <a:rPr lang="da-DK" dirty="0" err="1"/>
              <a:t>pp_redigeret</a:t>
            </a:r>
            <a:r>
              <a:rPr lang="da-DK" dirty="0"/>
              <a:t>, navn</a:t>
            </a:r>
          </a:p>
        </p:txBody>
      </p:sp>
      <p:sp>
        <p:nvSpPr>
          <p:cNvPr id="27" name="Pladsholder til tekst 11">
            <a:extLst>
              <a:ext uri="{FF2B5EF4-FFF2-40B4-BE49-F238E27FC236}">
                <a16:creationId xmlns:a16="http://schemas.microsoft.com/office/drawing/2014/main" id="{647B847D-7936-3658-C42F-7F1C00F9CED6}"/>
              </a:ext>
            </a:extLst>
          </p:cNvPr>
          <p:cNvSpPr>
            <a:spLocks noGrp="1"/>
          </p:cNvSpPr>
          <p:nvPr>
            <p:ph type="body" sz="quarter" idx="27" hasCustomPrompt="1"/>
          </p:nvPr>
        </p:nvSpPr>
        <p:spPr>
          <a:xfrm>
            <a:off x="8147843" y="2905103"/>
            <a:ext cx="1942304" cy="224711"/>
          </a:xfrm>
        </p:spPr>
        <p:txBody>
          <a:bodyPr anchor="ctr">
            <a:noAutofit/>
          </a:bodyPr>
          <a:lstStyle>
            <a:lvl1pPr marL="0" indent="0">
              <a:lnSpc>
                <a:spcPct val="100000"/>
              </a:lnSpc>
              <a:spcBef>
                <a:spcPts val="600"/>
              </a:spcBef>
              <a:buNone/>
              <a:defRPr sz="1200" b="1">
                <a:solidFill>
                  <a:schemeClr val="bg1"/>
                </a:solidFill>
              </a:defRPr>
            </a:lvl1pPr>
          </a:lstStyle>
          <a:p>
            <a:pPr lvl="0"/>
            <a:r>
              <a:rPr lang="da-DK" dirty="0"/>
              <a:t>Navn</a:t>
            </a:r>
          </a:p>
        </p:txBody>
      </p:sp>
      <p:sp>
        <p:nvSpPr>
          <p:cNvPr id="28" name="Pladsholder til tekst 11">
            <a:extLst>
              <a:ext uri="{FF2B5EF4-FFF2-40B4-BE49-F238E27FC236}">
                <a16:creationId xmlns:a16="http://schemas.microsoft.com/office/drawing/2014/main" id="{1B1F5555-70E6-B4ED-8338-2098BFDDE710}"/>
              </a:ext>
            </a:extLst>
          </p:cNvPr>
          <p:cNvSpPr>
            <a:spLocks noGrp="1"/>
          </p:cNvSpPr>
          <p:nvPr>
            <p:ph type="body" sz="quarter" idx="28" hasCustomPrompt="1"/>
          </p:nvPr>
        </p:nvSpPr>
        <p:spPr>
          <a:xfrm>
            <a:off x="8147843" y="3129815"/>
            <a:ext cx="1864588" cy="190499"/>
          </a:xfrm>
        </p:spPr>
        <p:txBody>
          <a:bodyPr anchor="ctr">
            <a:noAutofit/>
          </a:bodyPr>
          <a:lstStyle>
            <a:lvl1pPr marL="0" indent="0">
              <a:lnSpc>
                <a:spcPct val="100000"/>
              </a:lnSpc>
              <a:spcBef>
                <a:spcPts val="600"/>
              </a:spcBef>
              <a:buNone/>
              <a:defRPr sz="1200" b="0">
                <a:solidFill>
                  <a:schemeClr val="bg1"/>
                </a:solidFill>
              </a:defRPr>
            </a:lvl1pPr>
          </a:lstStyle>
          <a:p>
            <a:pPr lvl="0"/>
            <a:r>
              <a:rPr lang="da-DK" dirty="0"/>
              <a:t>Jobtitel</a:t>
            </a:r>
          </a:p>
        </p:txBody>
      </p:sp>
      <p:sp>
        <p:nvSpPr>
          <p:cNvPr id="29" name="Pladsholder til tekst 11">
            <a:extLst>
              <a:ext uri="{FF2B5EF4-FFF2-40B4-BE49-F238E27FC236}">
                <a16:creationId xmlns:a16="http://schemas.microsoft.com/office/drawing/2014/main" id="{25EC2F06-74B2-5D89-F8A2-6BF625B06B29}"/>
              </a:ext>
            </a:extLst>
          </p:cNvPr>
          <p:cNvSpPr>
            <a:spLocks noGrp="1"/>
          </p:cNvSpPr>
          <p:nvPr>
            <p:ph type="body" sz="quarter" idx="29" hasCustomPrompt="1"/>
          </p:nvPr>
        </p:nvSpPr>
        <p:spPr>
          <a:xfrm>
            <a:off x="8147842" y="4170429"/>
            <a:ext cx="1942304" cy="217630"/>
          </a:xfrm>
        </p:spPr>
        <p:txBody>
          <a:bodyPr anchor="ctr">
            <a:noAutofit/>
          </a:bodyPr>
          <a:lstStyle>
            <a:lvl1pPr marL="0" indent="0">
              <a:lnSpc>
                <a:spcPct val="100000"/>
              </a:lnSpc>
              <a:spcBef>
                <a:spcPts val="600"/>
              </a:spcBef>
              <a:buNone/>
              <a:defRPr sz="1200" b="1">
                <a:solidFill>
                  <a:schemeClr val="bg1"/>
                </a:solidFill>
              </a:defRPr>
            </a:lvl1pPr>
          </a:lstStyle>
          <a:p>
            <a:pPr lvl="0"/>
            <a:r>
              <a:rPr lang="da-DK" dirty="0"/>
              <a:t>Navn</a:t>
            </a:r>
          </a:p>
        </p:txBody>
      </p:sp>
      <p:sp>
        <p:nvSpPr>
          <p:cNvPr id="30" name="Pladsholder til tekst 11">
            <a:extLst>
              <a:ext uri="{FF2B5EF4-FFF2-40B4-BE49-F238E27FC236}">
                <a16:creationId xmlns:a16="http://schemas.microsoft.com/office/drawing/2014/main" id="{76756BB5-4266-15BC-1D8F-5A27AFEDAA21}"/>
              </a:ext>
            </a:extLst>
          </p:cNvPr>
          <p:cNvSpPr>
            <a:spLocks noGrp="1"/>
          </p:cNvSpPr>
          <p:nvPr>
            <p:ph type="body" sz="quarter" idx="30" hasCustomPrompt="1"/>
          </p:nvPr>
        </p:nvSpPr>
        <p:spPr>
          <a:xfrm>
            <a:off x="8147843" y="4388059"/>
            <a:ext cx="1862064" cy="190499"/>
          </a:xfrm>
        </p:spPr>
        <p:txBody>
          <a:bodyPr anchor="ctr">
            <a:noAutofit/>
          </a:bodyPr>
          <a:lstStyle>
            <a:lvl1pPr marL="0" indent="0">
              <a:lnSpc>
                <a:spcPct val="100000"/>
              </a:lnSpc>
              <a:spcBef>
                <a:spcPts val="600"/>
              </a:spcBef>
              <a:buNone/>
              <a:defRPr sz="1200" b="0">
                <a:solidFill>
                  <a:schemeClr val="bg1"/>
                </a:solidFill>
              </a:defRPr>
            </a:lvl1pPr>
          </a:lstStyle>
          <a:p>
            <a:pPr lvl="0"/>
            <a:r>
              <a:rPr lang="da-DK" dirty="0"/>
              <a:t>Jobtitel</a:t>
            </a:r>
          </a:p>
        </p:txBody>
      </p:sp>
      <p:cxnSp>
        <p:nvCxnSpPr>
          <p:cNvPr id="6" name="Lige forbindelse 5">
            <a:extLst>
              <a:ext uri="{FF2B5EF4-FFF2-40B4-BE49-F238E27FC236}">
                <a16:creationId xmlns:a16="http://schemas.microsoft.com/office/drawing/2014/main" id="{ADAD11A8-867D-B827-7EA3-9264E6B18CE0}"/>
              </a:ext>
            </a:extLst>
          </p:cNvPr>
          <p:cNvCxnSpPr>
            <a:cxnSpLocks/>
          </p:cNvCxnSpPr>
          <p:nvPr userDrawn="1"/>
        </p:nvCxnSpPr>
        <p:spPr>
          <a:xfrm>
            <a:off x="601664" y="1314130"/>
            <a:ext cx="5942234" cy="0"/>
          </a:xfrm>
          <a:prstGeom prst="line">
            <a:avLst/>
          </a:prstGeom>
          <a:ln w="9525">
            <a:solidFill>
              <a:schemeClr val="tx2">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0" name="Lige forbindelse 9">
            <a:extLst>
              <a:ext uri="{FF2B5EF4-FFF2-40B4-BE49-F238E27FC236}">
                <a16:creationId xmlns:a16="http://schemas.microsoft.com/office/drawing/2014/main" id="{227F1D06-D6D9-C361-6E32-EB35CF2184DD}"/>
              </a:ext>
            </a:extLst>
          </p:cNvPr>
          <p:cNvCxnSpPr>
            <a:cxnSpLocks/>
          </p:cNvCxnSpPr>
          <p:nvPr userDrawn="1"/>
        </p:nvCxnSpPr>
        <p:spPr>
          <a:xfrm>
            <a:off x="601664" y="1968777"/>
            <a:ext cx="5942234" cy="0"/>
          </a:xfrm>
          <a:prstGeom prst="line">
            <a:avLst/>
          </a:prstGeom>
          <a:ln w="9525">
            <a:solidFill>
              <a:schemeClr val="tx2">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9" name="Lige forbindelse 8">
            <a:extLst>
              <a:ext uri="{FF2B5EF4-FFF2-40B4-BE49-F238E27FC236}">
                <a16:creationId xmlns:a16="http://schemas.microsoft.com/office/drawing/2014/main" id="{7609AF06-79DF-4C39-6B29-B4C6D3EC8FE0}"/>
              </a:ext>
            </a:extLst>
          </p:cNvPr>
          <p:cNvCxnSpPr>
            <a:cxnSpLocks/>
          </p:cNvCxnSpPr>
          <p:nvPr userDrawn="1"/>
        </p:nvCxnSpPr>
        <p:spPr>
          <a:xfrm>
            <a:off x="601664" y="2627026"/>
            <a:ext cx="5942234" cy="0"/>
          </a:xfrm>
          <a:prstGeom prst="line">
            <a:avLst/>
          </a:prstGeom>
          <a:ln w="9525">
            <a:solidFill>
              <a:schemeClr val="tx2">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1" name="Lige forbindelse 10">
            <a:extLst>
              <a:ext uri="{FF2B5EF4-FFF2-40B4-BE49-F238E27FC236}">
                <a16:creationId xmlns:a16="http://schemas.microsoft.com/office/drawing/2014/main" id="{3FFAE6D5-BA54-9F54-1879-708418448AD7}"/>
              </a:ext>
            </a:extLst>
          </p:cNvPr>
          <p:cNvCxnSpPr>
            <a:cxnSpLocks/>
          </p:cNvCxnSpPr>
          <p:nvPr userDrawn="1"/>
        </p:nvCxnSpPr>
        <p:spPr>
          <a:xfrm>
            <a:off x="601664" y="3279055"/>
            <a:ext cx="5942234" cy="0"/>
          </a:xfrm>
          <a:prstGeom prst="line">
            <a:avLst/>
          </a:prstGeom>
          <a:ln w="9525">
            <a:solidFill>
              <a:schemeClr val="tx2">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4" name="Lige forbindelse 13">
            <a:extLst>
              <a:ext uri="{FF2B5EF4-FFF2-40B4-BE49-F238E27FC236}">
                <a16:creationId xmlns:a16="http://schemas.microsoft.com/office/drawing/2014/main" id="{407D21F2-7731-4C06-5AC0-F5CD40146339}"/>
              </a:ext>
            </a:extLst>
          </p:cNvPr>
          <p:cNvCxnSpPr>
            <a:cxnSpLocks/>
          </p:cNvCxnSpPr>
          <p:nvPr userDrawn="1"/>
        </p:nvCxnSpPr>
        <p:spPr>
          <a:xfrm>
            <a:off x="601664" y="3943524"/>
            <a:ext cx="5942234" cy="0"/>
          </a:xfrm>
          <a:prstGeom prst="line">
            <a:avLst/>
          </a:prstGeom>
          <a:ln w="9525">
            <a:solidFill>
              <a:schemeClr val="tx2">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22" name="Lige forbindelse 21">
            <a:extLst>
              <a:ext uri="{FF2B5EF4-FFF2-40B4-BE49-F238E27FC236}">
                <a16:creationId xmlns:a16="http://schemas.microsoft.com/office/drawing/2014/main" id="{75DFE266-4C00-288A-6578-65BEA677A22E}"/>
              </a:ext>
            </a:extLst>
          </p:cNvPr>
          <p:cNvCxnSpPr>
            <a:cxnSpLocks/>
          </p:cNvCxnSpPr>
          <p:nvPr userDrawn="1"/>
        </p:nvCxnSpPr>
        <p:spPr>
          <a:xfrm>
            <a:off x="601664" y="4601773"/>
            <a:ext cx="5942234" cy="0"/>
          </a:xfrm>
          <a:prstGeom prst="line">
            <a:avLst/>
          </a:prstGeom>
          <a:ln w="9525">
            <a:solidFill>
              <a:schemeClr val="tx2">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23" name="Lige forbindelse 22">
            <a:extLst>
              <a:ext uri="{FF2B5EF4-FFF2-40B4-BE49-F238E27FC236}">
                <a16:creationId xmlns:a16="http://schemas.microsoft.com/office/drawing/2014/main" id="{975A9891-D5AC-FC01-B241-849B1B8B4761}"/>
              </a:ext>
            </a:extLst>
          </p:cNvPr>
          <p:cNvCxnSpPr>
            <a:cxnSpLocks/>
          </p:cNvCxnSpPr>
          <p:nvPr userDrawn="1"/>
        </p:nvCxnSpPr>
        <p:spPr>
          <a:xfrm>
            <a:off x="601664" y="5261894"/>
            <a:ext cx="5942234" cy="0"/>
          </a:xfrm>
          <a:prstGeom prst="line">
            <a:avLst/>
          </a:prstGeom>
          <a:ln w="9525">
            <a:solidFill>
              <a:schemeClr val="tx2">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6" name="Pladsholder til tekst 11">
            <a:extLst>
              <a:ext uri="{FF2B5EF4-FFF2-40B4-BE49-F238E27FC236}">
                <a16:creationId xmlns:a16="http://schemas.microsoft.com/office/drawing/2014/main" id="{DCB1AD7A-D615-E361-45EF-481F413EFD6C}"/>
              </a:ext>
            </a:extLst>
          </p:cNvPr>
          <p:cNvSpPr>
            <a:spLocks noGrp="1"/>
          </p:cNvSpPr>
          <p:nvPr>
            <p:ph type="body" sz="quarter" idx="31" hasCustomPrompt="1"/>
          </p:nvPr>
        </p:nvSpPr>
        <p:spPr>
          <a:xfrm>
            <a:off x="8147842" y="2075203"/>
            <a:ext cx="1864590" cy="190500"/>
          </a:xfrm>
        </p:spPr>
        <p:txBody>
          <a:bodyPr anchor="ctr">
            <a:noAutofit/>
          </a:bodyPr>
          <a:lstStyle>
            <a:lvl1pPr marL="0" indent="0">
              <a:lnSpc>
                <a:spcPct val="100000"/>
              </a:lnSpc>
              <a:spcBef>
                <a:spcPts val="600"/>
              </a:spcBef>
              <a:buNone/>
              <a:defRPr sz="1200" b="0">
                <a:solidFill>
                  <a:schemeClr val="bg1"/>
                </a:solidFill>
              </a:defRPr>
            </a:lvl1pPr>
          </a:lstStyle>
          <a:p>
            <a:pPr lvl="0"/>
            <a:r>
              <a:rPr lang="da-DK" dirty="0"/>
              <a:t>Mail</a:t>
            </a:r>
          </a:p>
        </p:txBody>
      </p:sp>
      <p:sp>
        <p:nvSpPr>
          <p:cNvPr id="31" name="Pladsholder til tekst 11">
            <a:extLst>
              <a:ext uri="{FF2B5EF4-FFF2-40B4-BE49-F238E27FC236}">
                <a16:creationId xmlns:a16="http://schemas.microsoft.com/office/drawing/2014/main" id="{65AC8B09-7B44-D29E-995A-F1E7F38D7067}"/>
              </a:ext>
            </a:extLst>
          </p:cNvPr>
          <p:cNvSpPr>
            <a:spLocks noGrp="1"/>
          </p:cNvSpPr>
          <p:nvPr>
            <p:ph type="body" sz="quarter" idx="32" hasCustomPrompt="1"/>
          </p:nvPr>
        </p:nvSpPr>
        <p:spPr>
          <a:xfrm>
            <a:off x="8145319" y="3329638"/>
            <a:ext cx="1864588" cy="190499"/>
          </a:xfrm>
        </p:spPr>
        <p:txBody>
          <a:bodyPr anchor="ctr">
            <a:noAutofit/>
          </a:bodyPr>
          <a:lstStyle>
            <a:lvl1pPr marL="0" indent="0">
              <a:lnSpc>
                <a:spcPct val="100000"/>
              </a:lnSpc>
              <a:spcBef>
                <a:spcPts val="600"/>
              </a:spcBef>
              <a:buNone/>
              <a:defRPr sz="1200" b="0">
                <a:solidFill>
                  <a:schemeClr val="bg1"/>
                </a:solidFill>
              </a:defRPr>
            </a:lvl1pPr>
          </a:lstStyle>
          <a:p>
            <a:pPr lvl="0"/>
            <a:r>
              <a:rPr lang="da-DK" dirty="0"/>
              <a:t>Mail</a:t>
            </a:r>
          </a:p>
        </p:txBody>
      </p:sp>
      <p:sp>
        <p:nvSpPr>
          <p:cNvPr id="32" name="Pladsholder til tekst 11">
            <a:extLst>
              <a:ext uri="{FF2B5EF4-FFF2-40B4-BE49-F238E27FC236}">
                <a16:creationId xmlns:a16="http://schemas.microsoft.com/office/drawing/2014/main" id="{9A7A1F1D-1C15-7D76-9A3C-ECBE35EDC8B1}"/>
              </a:ext>
            </a:extLst>
          </p:cNvPr>
          <p:cNvSpPr>
            <a:spLocks noGrp="1"/>
          </p:cNvSpPr>
          <p:nvPr>
            <p:ph type="body" sz="quarter" idx="33" hasCustomPrompt="1"/>
          </p:nvPr>
        </p:nvSpPr>
        <p:spPr>
          <a:xfrm>
            <a:off x="8147843" y="4594964"/>
            <a:ext cx="1862064" cy="190499"/>
          </a:xfrm>
        </p:spPr>
        <p:txBody>
          <a:bodyPr anchor="ctr">
            <a:noAutofit/>
          </a:bodyPr>
          <a:lstStyle>
            <a:lvl1pPr marL="0" indent="0">
              <a:lnSpc>
                <a:spcPct val="100000"/>
              </a:lnSpc>
              <a:spcBef>
                <a:spcPts val="600"/>
              </a:spcBef>
              <a:buNone/>
              <a:defRPr sz="1200" b="0">
                <a:solidFill>
                  <a:schemeClr val="bg1"/>
                </a:solidFill>
              </a:defRPr>
            </a:lvl1pPr>
          </a:lstStyle>
          <a:p>
            <a:pPr lvl="0"/>
            <a:r>
              <a:rPr lang="da-DK" dirty="0"/>
              <a:t>Mail</a:t>
            </a:r>
          </a:p>
        </p:txBody>
      </p:sp>
      <p:sp>
        <p:nvSpPr>
          <p:cNvPr id="7" name="Pladsholder til indhold 2">
            <a:extLst>
              <a:ext uri="{FF2B5EF4-FFF2-40B4-BE49-F238E27FC236}">
                <a16:creationId xmlns:a16="http://schemas.microsoft.com/office/drawing/2014/main" id="{5198BE0A-F49A-B111-CE54-889144867132}"/>
              </a:ext>
            </a:extLst>
          </p:cNvPr>
          <p:cNvSpPr>
            <a:spLocks noGrp="1"/>
          </p:cNvSpPr>
          <p:nvPr>
            <p:ph idx="34" hasCustomPrompt="1"/>
          </p:nvPr>
        </p:nvSpPr>
        <p:spPr>
          <a:xfrm>
            <a:off x="591443" y="995465"/>
            <a:ext cx="5942234" cy="312278"/>
          </a:xfrm>
        </p:spPr>
        <p:txBody>
          <a:bodyPr>
            <a:normAutofit/>
          </a:bodyPr>
          <a:lstStyle>
            <a:lvl1pPr marL="0" indent="0">
              <a:buFont typeface="Arial" panose="020B0604020202020204" pitchFamily="34" charset="0"/>
              <a:buNone/>
              <a:defRPr sz="1200" b="1"/>
            </a:lvl1pPr>
            <a:lvl2pPr algn="l">
              <a:defRPr sz="1600"/>
            </a:lvl2pPr>
            <a:lvl3pPr algn="l">
              <a:defRPr sz="1400"/>
            </a:lvl3pPr>
            <a:lvl4pPr algn="l">
              <a:defRPr sz="1200"/>
            </a:lvl4pPr>
            <a:lvl5pPr algn="l">
              <a:defRPr sz="1200"/>
            </a:lvl5pPr>
          </a:lstStyle>
          <a:p>
            <a:pPr lvl="0"/>
            <a:r>
              <a:rPr lang="da-DK" dirty="0"/>
              <a:t>Punkt 1</a:t>
            </a:r>
          </a:p>
        </p:txBody>
      </p:sp>
    </p:spTree>
    <p:extLst>
      <p:ext uri="{BB962C8B-B14F-4D97-AF65-F5344CB8AC3E}">
        <p14:creationId xmlns:p14="http://schemas.microsoft.com/office/powerpoint/2010/main" val="3594787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ayout_basic">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A2F76D-8C3D-D9B4-166E-45A7C692A8B9}"/>
              </a:ext>
            </a:extLst>
          </p:cNvPr>
          <p:cNvSpPr>
            <a:spLocks noGrp="1"/>
          </p:cNvSpPr>
          <p:nvPr>
            <p:ph type="title" hasCustomPrompt="1"/>
          </p:nvPr>
        </p:nvSpPr>
        <p:spPr/>
        <p:txBody>
          <a:bodyPr/>
          <a:lstStyle>
            <a:lvl1pPr>
              <a:defRPr/>
            </a:lvl1pPr>
          </a:lstStyle>
          <a:p>
            <a:r>
              <a:rPr lang="da-DK" dirty="0"/>
              <a:t>Slide-overskrift </a:t>
            </a:r>
          </a:p>
        </p:txBody>
      </p:sp>
      <p:sp>
        <p:nvSpPr>
          <p:cNvPr id="3" name="Pladsholder til slidenummer 2">
            <a:extLst>
              <a:ext uri="{FF2B5EF4-FFF2-40B4-BE49-F238E27FC236}">
                <a16:creationId xmlns:a16="http://schemas.microsoft.com/office/drawing/2014/main" id="{C53BF383-5C61-7D90-AEE5-1D7C31705271}"/>
              </a:ext>
            </a:extLst>
          </p:cNvPr>
          <p:cNvSpPr>
            <a:spLocks noGrp="1"/>
          </p:cNvSpPr>
          <p:nvPr>
            <p:ph type="sldNum" sz="quarter" idx="10"/>
          </p:nvPr>
        </p:nvSpPr>
        <p:spPr/>
        <p:txBody>
          <a:bodyPr/>
          <a:lstStyle/>
          <a:p>
            <a:fld id="{677FA8C2-600D-420D-8C79-33897368C59E}" type="slidenum">
              <a:rPr lang="da-DK" smtClean="0"/>
              <a:t>‹nr.›</a:t>
            </a:fld>
            <a:endParaRPr lang="da-DK" dirty="0"/>
          </a:p>
        </p:txBody>
      </p:sp>
      <p:sp>
        <p:nvSpPr>
          <p:cNvPr id="4" name="Pladsholder til indhold 2">
            <a:extLst>
              <a:ext uri="{FF2B5EF4-FFF2-40B4-BE49-F238E27FC236}">
                <a16:creationId xmlns:a16="http://schemas.microsoft.com/office/drawing/2014/main" id="{9FC0E0F2-C6CB-CE3D-3B25-D7F860E4369A}"/>
              </a:ext>
            </a:extLst>
          </p:cNvPr>
          <p:cNvSpPr>
            <a:spLocks noGrp="1"/>
          </p:cNvSpPr>
          <p:nvPr>
            <p:ph idx="14" hasCustomPrompt="1"/>
          </p:nvPr>
        </p:nvSpPr>
        <p:spPr>
          <a:xfrm>
            <a:off x="607493" y="1306179"/>
            <a:ext cx="9482656" cy="4101844"/>
          </a:xfrm>
        </p:spPr>
        <p:txBody>
          <a:bodyPr>
            <a:normAutofit/>
          </a:bodyPr>
          <a:lstStyle>
            <a:lvl1pPr marL="171450" indent="-171450">
              <a:buFont typeface="Arial" panose="020B0604020202020204" pitchFamily="34" charset="0"/>
              <a:buChar char="•"/>
              <a:defRPr sz="1200" b="0"/>
            </a:lvl1pPr>
            <a:lvl2pPr algn="l">
              <a:defRPr sz="1200"/>
            </a:lvl2pPr>
            <a:lvl3pPr algn="l">
              <a:defRPr sz="1200"/>
            </a:lvl3pPr>
            <a:lvl4pPr algn="l">
              <a:defRPr sz="1200"/>
            </a:lvl4pPr>
            <a:lvl5pPr algn="l">
              <a:defRPr sz="1200"/>
            </a:lvl5pPr>
            <a:lvl6pPr>
              <a:defRPr sz="1200"/>
            </a:lvl6pPr>
            <a:lvl7pPr>
              <a:defRPr sz="1200"/>
            </a:lvl7pPr>
            <a:lvl8pPr>
              <a:defRPr sz="1200"/>
            </a:lvl8pPr>
            <a:lvl9pPr marL="3657600" indent="0">
              <a:buNone/>
              <a:defRPr sz="1200"/>
            </a:lvl9pPr>
          </a:lstStyle>
          <a:p>
            <a:pPr lvl="0"/>
            <a:r>
              <a:rPr lang="da-DK" dirty="0"/>
              <a:t>Indsæt tekst</a:t>
            </a:r>
          </a:p>
          <a:p>
            <a:pPr lvl="8"/>
            <a:r>
              <a:rPr lang="da-DK" dirty="0"/>
              <a:t>						</a:t>
            </a:r>
          </a:p>
        </p:txBody>
      </p:sp>
      <p:sp>
        <p:nvSpPr>
          <p:cNvPr id="5" name="Pladsholder til indhold 2">
            <a:extLst>
              <a:ext uri="{FF2B5EF4-FFF2-40B4-BE49-F238E27FC236}">
                <a16:creationId xmlns:a16="http://schemas.microsoft.com/office/drawing/2014/main" id="{B297B3A9-0236-A163-750F-36C60B6DDC55}"/>
              </a:ext>
            </a:extLst>
          </p:cNvPr>
          <p:cNvSpPr>
            <a:spLocks noGrp="1"/>
          </p:cNvSpPr>
          <p:nvPr>
            <p:ph idx="12" hasCustomPrompt="1"/>
          </p:nvPr>
        </p:nvSpPr>
        <p:spPr>
          <a:xfrm>
            <a:off x="601662" y="993901"/>
            <a:ext cx="9482656" cy="312278"/>
          </a:xfrm>
        </p:spPr>
        <p:txBody>
          <a:bodyPr anchor="ctr">
            <a:normAutofit/>
          </a:bodyPr>
          <a:lstStyle>
            <a:lvl1pPr marL="0" indent="0">
              <a:buNone/>
              <a:defRPr sz="1200" b="1"/>
            </a:lvl1pPr>
            <a:lvl2pPr algn="l">
              <a:defRPr sz="1600"/>
            </a:lvl2pPr>
            <a:lvl3pPr algn="l">
              <a:defRPr sz="1400"/>
            </a:lvl3pPr>
            <a:lvl4pPr algn="l">
              <a:defRPr sz="1200"/>
            </a:lvl4pPr>
            <a:lvl5pPr algn="l">
              <a:defRPr sz="1200"/>
            </a:lvl5pPr>
          </a:lstStyle>
          <a:p>
            <a:pPr lvl="0"/>
            <a:r>
              <a:rPr lang="da-DK" dirty="0"/>
              <a:t>Underoverskrift</a:t>
            </a:r>
          </a:p>
        </p:txBody>
      </p:sp>
    </p:spTree>
    <p:extLst>
      <p:ext uri="{BB962C8B-B14F-4D97-AF65-F5344CB8AC3E}">
        <p14:creationId xmlns:p14="http://schemas.microsoft.com/office/powerpoint/2010/main" val="8944872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yout_basic_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A2F76D-8C3D-D9B4-166E-45A7C692A8B9}"/>
              </a:ext>
            </a:extLst>
          </p:cNvPr>
          <p:cNvSpPr>
            <a:spLocks noGrp="1"/>
          </p:cNvSpPr>
          <p:nvPr>
            <p:ph type="title" hasCustomPrompt="1"/>
          </p:nvPr>
        </p:nvSpPr>
        <p:spPr/>
        <p:txBody>
          <a:bodyPr/>
          <a:lstStyle>
            <a:lvl1pPr>
              <a:defRPr/>
            </a:lvl1pPr>
          </a:lstStyle>
          <a:p>
            <a:r>
              <a:rPr lang="da-DK" dirty="0"/>
              <a:t>Slide-overskrift </a:t>
            </a:r>
          </a:p>
        </p:txBody>
      </p:sp>
      <p:sp>
        <p:nvSpPr>
          <p:cNvPr id="3" name="Pladsholder til slidenummer 2">
            <a:extLst>
              <a:ext uri="{FF2B5EF4-FFF2-40B4-BE49-F238E27FC236}">
                <a16:creationId xmlns:a16="http://schemas.microsoft.com/office/drawing/2014/main" id="{C53BF383-5C61-7D90-AEE5-1D7C31705271}"/>
              </a:ext>
            </a:extLst>
          </p:cNvPr>
          <p:cNvSpPr>
            <a:spLocks noGrp="1"/>
          </p:cNvSpPr>
          <p:nvPr>
            <p:ph type="sldNum" sz="quarter" idx="10"/>
          </p:nvPr>
        </p:nvSpPr>
        <p:spPr/>
        <p:txBody>
          <a:bodyPr/>
          <a:lstStyle/>
          <a:p>
            <a:fld id="{677FA8C2-600D-420D-8C79-33897368C59E}" type="slidenum">
              <a:rPr lang="da-DK" smtClean="0"/>
              <a:t>‹nr.›</a:t>
            </a:fld>
            <a:endParaRPr lang="da-DK" dirty="0"/>
          </a:p>
        </p:txBody>
      </p:sp>
      <p:sp>
        <p:nvSpPr>
          <p:cNvPr id="4" name="Pladsholder til indhold 2">
            <a:extLst>
              <a:ext uri="{FF2B5EF4-FFF2-40B4-BE49-F238E27FC236}">
                <a16:creationId xmlns:a16="http://schemas.microsoft.com/office/drawing/2014/main" id="{9FC0E0F2-C6CB-CE3D-3B25-D7F860E4369A}"/>
              </a:ext>
            </a:extLst>
          </p:cNvPr>
          <p:cNvSpPr>
            <a:spLocks noGrp="1"/>
          </p:cNvSpPr>
          <p:nvPr>
            <p:ph idx="14" hasCustomPrompt="1"/>
          </p:nvPr>
        </p:nvSpPr>
        <p:spPr>
          <a:xfrm>
            <a:off x="607493" y="1019971"/>
            <a:ext cx="9482656" cy="4388052"/>
          </a:xfrm>
        </p:spPr>
        <p:txBody>
          <a:bodyPr>
            <a:normAutofit/>
          </a:bodyPr>
          <a:lstStyle>
            <a:lvl1pPr marL="171450" indent="-171450">
              <a:buFont typeface="Arial" panose="020B0604020202020204" pitchFamily="34" charset="0"/>
              <a:buChar char="•"/>
              <a:defRPr sz="1200" b="0"/>
            </a:lvl1pPr>
            <a:lvl2pPr algn="l">
              <a:defRPr sz="1200"/>
            </a:lvl2pPr>
            <a:lvl3pPr algn="l">
              <a:defRPr sz="1200"/>
            </a:lvl3pPr>
            <a:lvl4pPr algn="l">
              <a:defRPr sz="1200"/>
            </a:lvl4pPr>
            <a:lvl5pPr marL="1828800" indent="0" algn="l">
              <a:buNone/>
              <a:defRPr sz="1200"/>
            </a:lvl5pPr>
            <a:lvl6pPr>
              <a:defRPr sz="1200"/>
            </a:lvl6pPr>
            <a:lvl7pPr>
              <a:defRPr sz="1200"/>
            </a:lvl7pPr>
            <a:lvl8pPr>
              <a:defRPr sz="1200"/>
            </a:lvl8pPr>
            <a:lvl9pPr marL="3657600" indent="0">
              <a:buNone/>
              <a:defRPr sz="1200"/>
            </a:lvl9pPr>
          </a:lstStyle>
          <a:p>
            <a:pPr lvl="0"/>
            <a:r>
              <a:rPr lang="da-DK" dirty="0"/>
              <a:t>Indsæt tekst</a:t>
            </a:r>
          </a:p>
          <a:p>
            <a:pPr lvl="8"/>
            <a:r>
              <a:rPr lang="da-DK" dirty="0"/>
              <a:t>						</a:t>
            </a:r>
          </a:p>
        </p:txBody>
      </p:sp>
    </p:spTree>
    <p:extLst>
      <p:ext uri="{BB962C8B-B14F-4D97-AF65-F5344CB8AC3E}">
        <p14:creationId xmlns:p14="http://schemas.microsoft.com/office/powerpoint/2010/main" val="672851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yout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92F4A6A-0396-2181-2023-7FE8177FF033}"/>
              </a:ext>
            </a:extLst>
          </p:cNvPr>
          <p:cNvSpPr>
            <a:spLocks noGrp="1"/>
          </p:cNvSpPr>
          <p:nvPr>
            <p:ph type="title" hasCustomPrompt="1"/>
          </p:nvPr>
        </p:nvSpPr>
        <p:spPr/>
        <p:txBody>
          <a:bodyPr/>
          <a:lstStyle>
            <a:lvl1pPr>
              <a:defRPr/>
            </a:lvl1pPr>
          </a:lstStyle>
          <a:p>
            <a:r>
              <a:rPr lang="da-DK" dirty="0"/>
              <a:t>Slide-overskrift </a:t>
            </a:r>
          </a:p>
        </p:txBody>
      </p:sp>
      <p:sp>
        <p:nvSpPr>
          <p:cNvPr id="4" name="Pladsholder til indhold 2">
            <a:extLst>
              <a:ext uri="{FF2B5EF4-FFF2-40B4-BE49-F238E27FC236}">
                <a16:creationId xmlns:a16="http://schemas.microsoft.com/office/drawing/2014/main" id="{53CBA301-B944-0713-C143-CED9615A9844}"/>
              </a:ext>
            </a:extLst>
          </p:cNvPr>
          <p:cNvSpPr>
            <a:spLocks noGrp="1"/>
          </p:cNvSpPr>
          <p:nvPr>
            <p:ph idx="12" hasCustomPrompt="1"/>
          </p:nvPr>
        </p:nvSpPr>
        <p:spPr>
          <a:xfrm>
            <a:off x="601662" y="993901"/>
            <a:ext cx="4574638" cy="312278"/>
          </a:xfrm>
        </p:spPr>
        <p:txBody>
          <a:bodyPr anchor="ctr">
            <a:normAutofit/>
          </a:bodyPr>
          <a:lstStyle>
            <a:lvl1pPr marL="0" indent="0">
              <a:buNone/>
              <a:defRPr sz="1200" b="1"/>
            </a:lvl1pPr>
            <a:lvl2pPr algn="l">
              <a:defRPr sz="1600"/>
            </a:lvl2pPr>
            <a:lvl3pPr algn="l">
              <a:defRPr sz="1400"/>
            </a:lvl3pPr>
            <a:lvl4pPr algn="l">
              <a:defRPr sz="1200"/>
            </a:lvl4pPr>
            <a:lvl5pPr algn="l">
              <a:defRPr sz="1200"/>
            </a:lvl5pPr>
          </a:lstStyle>
          <a:p>
            <a:pPr lvl="0"/>
            <a:r>
              <a:rPr lang="da-DK" dirty="0"/>
              <a:t>Underoverskrift</a:t>
            </a:r>
          </a:p>
        </p:txBody>
      </p:sp>
      <p:sp>
        <p:nvSpPr>
          <p:cNvPr id="5" name="Pladsholder til indhold 2">
            <a:extLst>
              <a:ext uri="{FF2B5EF4-FFF2-40B4-BE49-F238E27FC236}">
                <a16:creationId xmlns:a16="http://schemas.microsoft.com/office/drawing/2014/main" id="{6D45304E-6E66-9C2A-934C-9A0F5DF0FD19}"/>
              </a:ext>
            </a:extLst>
          </p:cNvPr>
          <p:cNvSpPr>
            <a:spLocks noGrp="1"/>
          </p:cNvSpPr>
          <p:nvPr>
            <p:ph idx="13" hasCustomPrompt="1"/>
          </p:nvPr>
        </p:nvSpPr>
        <p:spPr>
          <a:xfrm>
            <a:off x="601662" y="1306180"/>
            <a:ext cx="4574638" cy="1833728"/>
          </a:xfrm>
        </p:spPr>
        <p:txBody>
          <a:bodyPr>
            <a:normAutofit/>
          </a:bodyPr>
          <a:lstStyle>
            <a:lvl1pPr marL="171450" indent="-171450">
              <a:buFont typeface="Arial" panose="020B0604020202020204" pitchFamily="34" charset="0"/>
              <a:buChar char="•"/>
              <a:defRPr sz="1200" b="0"/>
            </a:lvl1pPr>
            <a:lvl2pPr algn="l">
              <a:defRPr sz="1200"/>
            </a:lvl2pPr>
            <a:lvl3pPr algn="l">
              <a:defRPr sz="1200"/>
            </a:lvl3pPr>
            <a:lvl4pPr algn="l">
              <a:defRPr sz="1200"/>
            </a:lvl4pPr>
            <a:lvl5pPr algn="l">
              <a:defRPr sz="1200"/>
            </a:lvl5pPr>
            <a:lvl6pPr>
              <a:defRPr sz="1200"/>
            </a:lvl6pPr>
            <a:lvl7pPr>
              <a:defRPr sz="1200"/>
            </a:lvl7pPr>
            <a:lvl8pPr>
              <a:defRPr sz="1200"/>
            </a:lvl8pPr>
            <a:lvl9pPr>
              <a:defRPr sz="1200"/>
            </a:lvl9pPr>
          </a:lstStyle>
          <a:p>
            <a:pPr lvl="0"/>
            <a:r>
              <a:rPr lang="da-DK" dirty="0"/>
              <a:t>Indsæt tekst</a:t>
            </a:r>
          </a:p>
          <a:p>
            <a:pPr lvl="0"/>
            <a:endParaRPr lang="da-DK" dirty="0"/>
          </a:p>
          <a:p>
            <a:pPr lvl="8"/>
            <a:endParaRPr lang="da-DK" dirty="0"/>
          </a:p>
          <a:p>
            <a:pPr lvl="0"/>
            <a:endParaRPr lang="da-DK" dirty="0"/>
          </a:p>
        </p:txBody>
      </p:sp>
      <p:sp>
        <p:nvSpPr>
          <p:cNvPr id="7" name="Pladsholder til diagram 6">
            <a:extLst>
              <a:ext uri="{FF2B5EF4-FFF2-40B4-BE49-F238E27FC236}">
                <a16:creationId xmlns:a16="http://schemas.microsoft.com/office/drawing/2014/main" id="{B1696B58-07E6-8F7D-01EA-0E7676197A31}"/>
              </a:ext>
            </a:extLst>
          </p:cNvPr>
          <p:cNvSpPr>
            <a:spLocks noGrp="1"/>
          </p:cNvSpPr>
          <p:nvPr>
            <p:ph type="chart" sz="quarter" idx="14" hasCustomPrompt="1"/>
          </p:nvPr>
        </p:nvSpPr>
        <p:spPr>
          <a:xfrm>
            <a:off x="5515509" y="993901"/>
            <a:ext cx="4574638" cy="4379913"/>
          </a:xfrm>
        </p:spPr>
        <p:txBody>
          <a:bodyPr>
            <a:normAutofit/>
          </a:bodyPr>
          <a:lstStyle>
            <a:lvl1pPr marL="171450" indent="-171450">
              <a:buFont typeface="Arial" panose="020B0604020202020204" pitchFamily="34" charset="0"/>
              <a:buChar char="•"/>
              <a:defRPr sz="1200"/>
            </a:lvl1pPr>
            <a:lvl6pPr>
              <a:defRPr sz="1200"/>
            </a:lvl6pPr>
            <a:lvl7pPr>
              <a:defRPr sz="1200"/>
            </a:lvl7pPr>
            <a:lvl8pPr>
              <a:defRPr sz="1200"/>
            </a:lvl8pPr>
            <a:lvl9pPr>
              <a:defRPr sz="1200"/>
            </a:lvl9pPr>
          </a:lstStyle>
          <a:p>
            <a:r>
              <a:rPr lang="da-DK" dirty="0"/>
              <a:t>Indsæt evt. diagram eller lign.</a:t>
            </a:r>
          </a:p>
          <a:p>
            <a:pPr lvl="8"/>
            <a:endParaRPr lang="da-DK" dirty="0"/>
          </a:p>
        </p:txBody>
      </p:sp>
      <p:sp>
        <p:nvSpPr>
          <p:cNvPr id="8" name="Pladsholder til indhold 2">
            <a:extLst>
              <a:ext uri="{FF2B5EF4-FFF2-40B4-BE49-F238E27FC236}">
                <a16:creationId xmlns:a16="http://schemas.microsoft.com/office/drawing/2014/main" id="{54A9F537-DA9B-33DB-4DBE-F294AC487EF2}"/>
              </a:ext>
            </a:extLst>
          </p:cNvPr>
          <p:cNvSpPr>
            <a:spLocks noGrp="1"/>
          </p:cNvSpPr>
          <p:nvPr>
            <p:ph idx="15" hasCustomPrompt="1"/>
          </p:nvPr>
        </p:nvSpPr>
        <p:spPr>
          <a:xfrm>
            <a:off x="601660" y="3139908"/>
            <a:ext cx="4574638" cy="312278"/>
          </a:xfrm>
        </p:spPr>
        <p:txBody>
          <a:bodyPr anchor="ctr">
            <a:normAutofit/>
          </a:bodyPr>
          <a:lstStyle>
            <a:lvl1pPr marL="0" indent="0">
              <a:buNone/>
              <a:defRPr sz="1200" b="1"/>
            </a:lvl1pPr>
            <a:lvl2pPr algn="l">
              <a:defRPr sz="1600"/>
            </a:lvl2pPr>
            <a:lvl3pPr algn="l">
              <a:defRPr sz="1400"/>
            </a:lvl3pPr>
            <a:lvl4pPr algn="l">
              <a:defRPr sz="1200"/>
            </a:lvl4pPr>
            <a:lvl5pPr algn="l">
              <a:defRPr sz="1200"/>
            </a:lvl5pPr>
          </a:lstStyle>
          <a:p>
            <a:pPr lvl="0"/>
            <a:r>
              <a:rPr lang="da-DK" dirty="0"/>
              <a:t>Underoverskrift</a:t>
            </a:r>
          </a:p>
        </p:txBody>
      </p:sp>
      <p:sp>
        <p:nvSpPr>
          <p:cNvPr id="6" name="Pladsholder til slidenummer 3">
            <a:extLst>
              <a:ext uri="{FF2B5EF4-FFF2-40B4-BE49-F238E27FC236}">
                <a16:creationId xmlns:a16="http://schemas.microsoft.com/office/drawing/2014/main" id="{A2839847-992A-BF5B-902A-FF08B624AC08}"/>
              </a:ext>
            </a:extLst>
          </p:cNvPr>
          <p:cNvSpPr>
            <a:spLocks noGrp="1"/>
          </p:cNvSpPr>
          <p:nvPr>
            <p:ph type="sldNum" sz="quarter" idx="11"/>
          </p:nvPr>
        </p:nvSpPr>
        <p:spPr>
          <a:xfrm>
            <a:off x="7685085" y="5676167"/>
            <a:ext cx="2405062" cy="320675"/>
          </a:xfrm>
        </p:spPr>
        <p:txBody>
          <a:bodyPr/>
          <a:lstStyle>
            <a:lvl1pPr>
              <a:defRPr>
                <a:latin typeface="Gill Sans MT" panose="020B0502020104020203" pitchFamily="34" charset="0"/>
              </a:defRPr>
            </a:lvl1pPr>
          </a:lstStyle>
          <a:p>
            <a:fld id="{677FA8C2-600D-420D-8C79-33897368C59E}" type="slidenum">
              <a:rPr lang="da-DK" smtClean="0"/>
              <a:pPr/>
              <a:t>‹nr.›</a:t>
            </a:fld>
            <a:endParaRPr lang="da-DK" dirty="0"/>
          </a:p>
        </p:txBody>
      </p:sp>
      <p:sp>
        <p:nvSpPr>
          <p:cNvPr id="3" name="Pladsholder til indhold 2">
            <a:extLst>
              <a:ext uri="{FF2B5EF4-FFF2-40B4-BE49-F238E27FC236}">
                <a16:creationId xmlns:a16="http://schemas.microsoft.com/office/drawing/2014/main" id="{1A46EC64-466A-9A68-91E2-7569DBA2B22A}"/>
              </a:ext>
            </a:extLst>
          </p:cNvPr>
          <p:cNvSpPr>
            <a:spLocks noGrp="1"/>
          </p:cNvSpPr>
          <p:nvPr>
            <p:ph idx="18" hasCustomPrompt="1"/>
          </p:nvPr>
        </p:nvSpPr>
        <p:spPr>
          <a:xfrm>
            <a:off x="601660" y="3452186"/>
            <a:ext cx="4574638" cy="1833728"/>
          </a:xfrm>
        </p:spPr>
        <p:txBody>
          <a:bodyPr>
            <a:normAutofit/>
          </a:bodyPr>
          <a:lstStyle>
            <a:lvl1pPr marL="171450" indent="-171450">
              <a:buFont typeface="Arial" panose="020B0604020202020204" pitchFamily="34" charset="0"/>
              <a:buChar char="•"/>
              <a:defRPr sz="1200" b="0"/>
            </a:lvl1pPr>
            <a:lvl2pPr algn="l">
              <a:defRPr sz="1200"/>
            </a:lvl2pPr>
            <a:lvl3pPr algn="l">
              <a:defRPr sz="1200"/>
            </a:lvl3pPr>
            <a:lvl4pPr algn="l">
              <a:defRPr sz="1200"/>
            </a:lvl4pPr>
            <a:lvl5pPr algn="l">
              <a:defRPr sz="1200"/>
            </a:lvl5pPr>
            <a:lvl6pPr>
              <a:defRPr sz="1200"/>
            </a:lvl6pPr>
            <a:lvl7pPr>
              <a:defRPr sz="1200"/>
            </a:lvl7pPr>
            <a:lvl8pPr>
              <a:defRPr sz="1200"/>
            </a:lvl8pPr>
            <a:lvl9pPr>
              <a:defRPr sz="1200"/>
            </a:lvl9pPr>
          </a:lstStyle>
          <a:p>
            <a:pPr lvl="0"/>
            <a:r>
              <a:rPr lang="da-DK" dirty="0"/>
              <a:t>Indsæt tekst</a:t>
            </a:r>
          </a:p>
          <a:p>
            <a:pPr lvl="8"/>
            <a:endParaRPr lang="da-DK" dirty="0"/>
          </a:p>
          <a:p>
            <a:pPr lvl="0"/>
            <a:endParaRPr lang="da-DK" dirty="0"/>
          </a:p>
        </p:txBody>
      </p:sp>
    </p:spTree>
    <p:extLst>
      <p:ext uri="{BB962C8B-B14F-4D97-AF65-F5344CB8AC3E}">
        <p14:creationId xmlns:p14="http://schemas.microsoft.com/office/powerpoint/2010/main" val="621815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yout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535FACF-2F5B-04CA-C311-4AE20478A586}"/>
              </a:ext>
            </a:extLst>
          </p:cNvPr>
          <p:cNvSpPr>
            <a:spLocks noGrp="1"/>
          </p:cNvSpPr>
          <p:nvPr>
            <p:ph type="title" hasCustomPrompt="1"/>
          </p:nvPr>
        </p:nvSpPr>
        <p:spPr/>
        <p:txBody>
          <a:bodyPr/>
          <a:lstStyle>
            <a:lvl1pPr>
              <a:defRPr/>
            </a:lvl1pPr>
          </a:lstStyle>
          <a:p>
            <a:r>
              <a:rPr lang="da-DK" dirty="0"/>
              <a:t>Slide-overskrift </a:t>
            </a:r>
          </a:p>
        </p:txBody>
      </p:sp>
      <p:sp>
        <p:nvSpPr>
          <p:cNvPr id="3" name="Pladsholder til slidenummer 2">
            <a:extLst>
              <a:ext uri="{FF2B5EF4-FFF2-40B4-BE49-F238E27FC236}">
                <a16:creationId xmlns:a16="http://schemas.microsoft.com/office/drawing/2014/main" id="{7AC9407E-D366-0290-86AC-EA551781C9C3}"/>
              </a:ext>
            </a:extLst>
          </p:cNvPr>
          <p:cNvSpPr>
            <a:spLocks noGrp="1"/>
          </p:cNvSpPr>
          <p:nvPr>
            <p:ph type="sldNum" sz="quarter" idx="10"/>
          </p:nvPr>
        </p:nvSpPr>
        <p:spPr/>
        <p:txBody>
          <a:bodyPr/>
          <a:lstStyle/>
          <a:p>
            <a:fld id="{677FA8C2-600D-420D-8C79-33897368C59E}" type="slidenum">
              <a:rPr lang="da-DK" smtClean="0"/>
              <a:t>‹nr.›</a:t>
            </a:fld>
            <a:endParaRPr lang="da-DK"/>
          </a:p>
        </p:txBody>
      </p:sp>
      <p:sp>
        <p:nvSpPr>
          <p:cNvPr id="6" name="Pladsholder til indhold 2">
            <a:extLst>
              <a:ext uri="{FF2B5EF4-FFF2-40B4-BE49-F238E27FC236}">
                <a16:creationId xmlns:a16="http://schemas.microsoft.com/office/drawing/2014/main" id="{D993580B-C89F-804A-8144-F62569BC1416}"/>
              </a:ext>
            </a:extLst>
          </p:cNvPr>
          <p:cNvSpPr>
            <a:spLocks noGrp="1"/>
          </p:cNvSpPr>
          <p:nvPr>
            <p:ph idx="14" hasCustomPrompt="1"/>
          </p:nvPr>
        </p:nvSpPr>
        <p:spPr>
          <a:xfrm>
            <a:off x="601660" y="1306179"/>
            <a:ext cx="4574639" cy="4101844"/>
          </a:xfrm>
        </p:spPr>
        <p:txBody>
          <a:bodyPr>
            <a:normAutofit/>
          </a:bodyPr>
          <a:lstStyle>
            <a:lvl1pPr marL="171450" indent="-171450">
              <a:buFont typeface="Arial" panose="020B0604020202020204" pitchFamily="34" charset="0"/>
              <a:buChar char="•"/>
              <a:defRPr sz="1200" b="0"/>
            </a:lvl1pPr>
            <a:lvl2pPr algn="l">
              <a:defRPr sz="1200"/>
            </a:lvl2pPr>
            <a:lvl3pPr algn="l">
              <a:defRPr sz="1200"/>
            </a:lvl3pPr>
            <a:lvl4pPr algn="l">
              <a:defRPr sz="1200"/>
            </a:lvl4pPr>
            <a:lvl5pPr algn="l">
              <a:defRPr sz="1200"/>
            </a:lvl5pPr>
            <a:lvl6pPr>
              <a:defRPr sz="1200"/>
            </a:lvl6pPr>
            <a:lvl7pPr>
              <a:defRPr sz="1200"/>
            </a:lvl7pPr>
            <a:lvl8pPr>
              <a:defRPr sz="1200"/>
            </a:lvl8pPr>
            <a:lvl9pPr>
              <a:defRPr sz="1200"/>
            </a:lvl9pPr>
          </a:lstStyle>
          <a:p>
            <a:pPr lvl="0"/>
            <a:r>
              <a:rPr lang="da-DK" dirty="0"/>
              <a:t>Indsæt tekst</a:t>
            </a:r>
          </a:p>
          <a:p>
            <a:pPr lvl="8"/>
            <a:endParaRPr lang="da-DK" dirty="0"/>
          </a:p>
        </p:txBody>
      </p:sp>
      <p:sp>
        <p:nvSpPr>
          <p:cNvPr id="7" name="Pladsholder til indhold 2">
            <a:extLst>
              <a:ext uri="{FF2B5EF4-FFF2-40B4-BE49-F238E27FC236}">
                <a16:creationId xmlns:a16="http://schemas.microsoft.com/office/drawing/2014/main" id="{718B46CE-FE35-DE36-B501-AABCB5F67A9D}"/>
              </a:ext>
            </a:extLst>
          </p:cNvPr>
          <p:cNvSpPr>
            <a:spLocks noGrp="1"/>
          </p:cNvSpPr>
          <p:nvPr>
            <p:ph idx="15" hasCustomPrompt="1"/>
          </p:nvPr>
        </p:nvSpPr>
        <p:spPr>
          <a:xfrm>
            <a:off x="601661" y="993901"/>
            <a:ext cx="4574639" cy="312278"/>
          </a:xfrm>
        </p:spPr>
        <p:txBody>
          <a:bodyPr anchor="ctr">
            <a:normAutofit/>
          </a:bodyPr>
          <a:lstStyle>
            <a:lvl1pPr marL="0" indent="0">
              <a:buNone/>
              <a:defRPr sz="1200" b="1"/>
            </a:lvl1pPr>
            <a:lvl2pPr algn="l">
              <a:defRPr sz="1600"/>
            </a:lvl2pPr>
            <a:lvl3pPr algn="l">
              <a:defRPr sz="1400"/>
            </a:lvl3pPr>
            <a:lvl4pPr algn="l">
              <a:defRPr sz="1200"/>
            </a:lvl4pPr>
            <a:lvl5pPr algn="l">
              <a:defRPr sz="1200"/>
            </a:lvl5pPr>
          </a:lstStyle>
          <a:p>
            <a:pPr lvl="0"/>
            <a:r>
              <a:rPr lang="da-DK" dirty="0"/>
              <a:t>Underoverskrift</a:t>
            </a:r>
          </a:p>
        </p:txBody>
      </p:sp>
      <p:sp>
        <p:nvSpPr>
          <p:cNvPr id="8" name="Pladsholder til diagram 6">
            <a:extLst>
              <a:ext uri="{FF2B5EF4-FFF2-40B4-BE49-F238E27FC236}">
                <a16:creationId xmlns:a16="http://schemas.microsoft.com/office/drawing/2014/main" id="{421B4D2E-D8C2-4F79-05B9-D1118A1E269A}"/>
              </a:ext>
            </a:extLst>
          </p:cNvPr>
          <p:cNvSpPr>
            <a:spLocks noGrp="1"/>
          </p:cNvSpPr>
          <p:nvPr>
            <p:ph type="chart" sz="quarter" idx="16" hasCustomPrompt="1"/>
          </p:nvPr>
        </p:nvSpPr>
        <p:spPr>
          <a:xfrm>
            <a:off x="5515507" y="993901"/>
            <a:ext cx="4574640" cy="4379913"/>
          </a:xfrm>
        </p:spPr>
        <p:txBody>
          <a:bodyPr>
            <a:normAutofit/>
          </a:bodyPr>
          <a:lstStyle>
            <a:lvl1pPr marL="171450" indent="-171450">
              <a:buFont typeface="Arial" panose="020B0604020202020204" pitchFamily="34" charset="0"/>
              <a:buChar char="•"/>
              <a:defRPr sz="1200"/>
            </a:lvl1pPr>
            <a:lvl6pPr>
              <a:defRPr sz="1200"/>
            </a:lvl6pPr>
            <a:lvl7pPr>
              <a:defRPr sz="1200"/>
            </a:lvl7pPr>
            <a:lvl8pPr>
              <a:defRPr sz="1200"/>
            </a:lvl8pPr>
            <a:lvl9pPr>
              <a:defRPr sz="1200"/>
            </a:lvl9pPr>
          </a:lstStyle>
          <a:p>
            <a:r>
              <a:rPr lang="da-DK" dirty="0"/>
              <a:t>Indsæt evt. diagram eller lign.</a:t>
            </a:r>
          </a:p>
          <a:p>
            <a:pPr lvl="8"/>
            <a:endParaRPr lang="da-DK" dirty="0"/>
          </a:p>
        </p:txBody>
      </p:sp>
    </p:spTree>
    <p:extLst>
      <p:ext uri="{BB962C8B-B14F-4D97-AF65-F5344CB8AC3E}">
        <p14:creationId xmlns:p14="http://schemas.microsoft.com/office/powerpoint/2010/main" val="7002165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ayout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2536AF7-FD91-4C61-6854-502A41EA0B9B}"/>
              </a:ext>
            </a:extLst>
          </p:cNvPr>
          <p:cNvSpPr>
            <a:spLocks noGrp="1"/>
          </p:cNvSpPr>
          <p:nvPr>
            <p:ph type="title" hasCustomPrompt="1"/>
          </p:nvPr>
        </p:nvSpPr>
        <p:spPr/>
        <p:txBody>
          <a:bodyPr/>
          <a:lstStyle>
            <a:lvl1pPr>
              <a:defRPr/>
            </a:lvl1pPr>
          </a:lstStyle>
          <a:p>
            <a:r>
              <a:rPr lang="da-DK" dirty="0"/>
              <a:t>Slide-overskrift </a:t>
            </a:r>
          </a:p>
        </p:txBody>
      </p:sp>
      <p:sp>
        <p:nvSpPr>
          <p:cNvPr id="3" name="Pladsholder til slidenummer 2">
            <a:extLst>
              <a:ext uri="{FF2B5EF4-FFF2-40B4-BE49-F238E27FC236}">
                <a16:creationId xmlns:a16="http://schemas.microsoft.com/office/drawing/2014/main" id="{CFB2A234-F16A-10B1-30DF-9227C1DD8CC4}"/>
              </a:ext>
            </a:extLst>
          </p:cNvPr>
          <p:cNvSpPr>
            <a:spLocks noGrp="1"/>
          </p:cNvSpPr>
          <p:nvPr>
            <p:ph type="sldNum" sz="quarter" idx="10"/>
          </p:nvPr>
        </p:nvSpPr>
        <p:spPr/>
        <p:txBody>
          <a:bodyPr/>
          <a:lstStyle/>
          <a:p>
            <a:fld id="{677FA8C2-600D-420D-8C79-33897368C59E}" type="slidenum">
              <a:rPr lang="da-DK" smtClean="0"/>
              <a:t>‹nr.›</a:t>
            </a:fld>
            <a:endParaRPr lang="da-DK"/>
          </a:p>
        </p:txBody>
      </p:sp>
      <p:sp>
        <p:nvSpPr>
          <p:cNvPr id="4" name="Pladsholder til indhold 2">
            <a:extLst>
              <a:ext uri="{FF2B5EF4-FFF2-40B4-BE49-F238E27FC236}">
                <a16:creationId xmlns:a16="http://schemas.microsoft.com/office/drawing/2014/main" id="{4A4D1AC3-552B-DB70-AA8C-36BA5CF2FE9E}"/>
              </a:ext>
            </a:extLst>
          </p:cNvPr>
          <p:cNvSpPr>
            <a:spLocks noGrp="1"/>
          </p:cNvSpPr>
          <p:nvPr>
            <p:ph idx="12" hasCustomPrompt="1"/>
          </p:nvPr>
        </p:nvSpPr>
        <p:spPr>
          <a:xfrm>
            <a:off x="601662" y="993901"/>
            <a:ext cx="4558735" cy="312278"/>
          </a:xfrm>
        </p:spPr>
        <p:txBody>
          <a:bodyPr anchor="ctr">
            <a:normAutofit/>
          </a:bodyPr>
          <a:lstStyle>
            <a:lvl1pPr marL="0" indent="0">
              <a:buNone/>
              <a:defRPr sz="1200" b="1"/>
            </a:lvl1pPr>
            <a:lvl2pPr algn="l">
              <a:defRPr sz="1600"/>
            </a:lvl2pPr>
            <a:lvl3pPr algn="l">
              <a:defRPr sz="1400"/>
            </a:lvl3pPr>
            <a:lvl4pPr algn="l">
              <a:defRPr sz="1200"/>
            </a:lvl4pPr>
            <a:lvl5pPr algn="l">
              <a:defRPr sz="1200"/>
            </a:lvl5pPr>
          </a:lstStyle>
          <a:p>
            <a:pPr lvl="0"/>
            <a:r>
              <a:rPr lang="da-DK" dirty="0"/>
              <a:t>Underoverskrift</a:t>
            </a:r>
          </a:p>
        </p:txBody>
      </p:sp>
      <p:sp>
        <p:nvSpPr>
          <p:cNvPr id="5" name="Pladsholder til indhold 2">
            <a:extLst>
              <a:ext uri="{FF2B5EF4-FFF2-40B4-BE49-F238E27FC236}">
                <a16:creationId xmlns:a16="http://schemas.microsoft.com/office/drawing/2014/main" id="{C44BAFA0-55E3-572F-6A8B-FF96FAB6CAAF}"/>
              </a:ext>
            </a:extLst>
          </p:cNvPr>
          <p:cNvSpPr>
            <a:spLocks noGrp="1"/>
          </p:cNvSpPr>
          <p:nvPr>
            <p:ph idx="13" hasCustomPrompt="1"/>
          </p:nvPr>
        </p:nvSpPr>
        <p:spPr>
          <a:xfrm>
            <a:off x="601662" y="1306180"/>
            <a:ext cx="4558735" cy="1833728"/>
          </a:xfrm>
        </p:spPr>
        <p:txBody>
          <a:bodyPr>
            <a:normAutofit/>
          </a:bodyPr>
          <a:lstStyle>
            <a:lvl1pPr marL="171450" indent="-171450">
              <a:buFont typeface="Arial" panose="020B0604020202020204" pitchFamily="34" charset="0"/>
              <a:buChar char="•"/>
              <a:defRPr sz="1200" b="0"/>
            </a:lvl1pPr>
            <a:lvl2pPr algn="l">
              <a:defRPr sz="1200"/>
            </a:lvl2pPr>
            <a:lvl3pPr algn="l">
              <a:defRPr sz="1200"/>
            </a:lvl3pPr>
            <a:lvl4pPr algn="l">
              <a:defRPr sz="1200"/>
            </a:lvl4pPr>
            <a:lvl5pPr algn="l">
              <a:defRPr sz="1200"/>
            </a:lvl5pPr>
            <a:lvl6pPr>
              <a:defRPr sz="1200"/>
            </a:lvl6pPr>
            <a:lvl7pPr>
              <a:defRPr sz="1200"/>
            </a:lvl7pPr>
            <a:lvl8pPr>
              <a:defRPr sz="1200"/>
            </a:lvl8pPr>
            <a:lvl9pPr>
              <a:defRPr sz="1200"/>
            </a:lvl9pPr>
          </a:lstStyle>
          <a:p>
            <a:pPr lvl="0"/>
            <a:r>
              <a:rPr lang="da-DK" dirty="0"/>
              <a:t>Indsæt tekst</a:t>
            </a:r>
          </a:p>
          <a:p>
            <a:pPr lvl="8"/>
            <a:endParaRPr lang="da-DK" dirty="0"/>
          </a:p>
        </p:txBody>
      </p:sp>
      <p:sp>
        <p:nvSpPr>
          <p:cNvPr id="6" name="Pladsholder til indhold 2">
            <a:extLst>
              <a:ext uri="{FF2B5EF4-FFF2-40B4-BE49-F238E27FC236}">
                <a16:creationId xmlns:a16="http://schemas.microsoft.com/office/drawing/2014/main" id="{0753B8BC-27B9-DADC-AA1B-C9A0779662C3}"/>
              </a:ext>
            </a:extLst>
          </p:cNvPr>
          <p:cNvSpPr>
            <a:spLocks noGrp="1"/>
          </p:cNvSpPr>
          <p:nvPr>
            <p:ph idx="15" hasCustomPrompt="1"/>
          </p:nvPr>
        </p:nvSpPr>
        <p:spPr>
          <a:xfrm>
            <a:off x="601660" y="3139908"/>
            <a:ext cx="4558735" cy="312278"/>
          </a:xfrm>
        </p:spPr>
        <p:txBody>
          <a:bodyPr anchor="ctr">
            <a:normAutofit/>
          </a:bodyPr>
          <a:lstStyle>
            <a:lvl1pPr marL="0" indent="0">
              <a:buNone/>
              <a:defRPr sz="1200" b="1"/>
            </a:lvl1pPr>
            <a:lvl2pPr algn="l">
              <a:defRPr sz="1600"/>
            </a:lvl2pPr>
            <a:lvl3pPr algn="l">
              <a:defRPr sz="1400"/>
            </a:lvl3pPr>
            <a:lvl4pPr algn="l">
              <a:defRPr sz="1200"/>
            </a:lvl4pPr>
            <a:lvl5pPr algn="l">
              <a:defRPr sz="1200"/>
            </a:lvl5pPr>
          </a:lstStyle>
          <a:p>
            <a:pPr lvl="0"/>
            <a:r>
              <a:rPr lang="da-DK" dirty="0"/>
              <a:t>Underoverskrift</a:t>
            </a:r>
          </a:p>
        </p:txBody>
      </p:sp>
      <p:sp>
        <p:nvSpPr>
          <p:cNvPr id="7" name="Pladsholder til indhold 2">
            <a:extLst>
              <a:ext uri="{FF2B5EF4-FFF2-40B4-BE49-F238E27FC236}">
                <a16:creationId xmlns:a16="http://schemas.microsoft.com/office/drawing/2014/main" id="{D0A205AC-0B49-F258-301F-ABADCBD9A6DF}"/>
              </a:ext>
            </a:extLst>
          </p:cNvPr>
          <p:cNvSpPr>
            <a:spLocks noGrp="1"/>
          </p:cNvSpPr>
          <p:nvPr>
            <p:ph idx="17" hasCustomPrompt="1"/>
          </p:nvPr>
        </p:nvSpPr>
        <p:spPr>
          <a:xfrm>
            <a:off x="601660" y="3452186"/>
            <a:ext cx="4558735" cy="1921628"/>
          </a:xfrm>
        </p:spPr>
        <p:txBody>
          <a:bodyPr>
            <a:normAutofit/>
          </a:bodyPr>
          <a:lstStyle>
            <a:lvl1pPr marL="171450" indent="-171450">
              <a:buFont typeface="Arial" panose="020B0604020202020204" pitchFamily="34" charset="0"/>
              <a:buChar char="•"/>
              <a:defRPr sz="1200" b="0"/>
            </a:lvl1pPr>
            <a:lvl2pPr algn="l">
              <a:defRPr sz="1200"/>
            </a:lvl2pPr>
            <a:lvl3pPr algn="l">
              <a:defRPr sz="1200"/>
            </a:lvl3pPr>
            <a:lvl4pPr algn="l">
              <a:defRPr sz="1200"/>
            </a:lvl4pPr>
            <a:lvl5pPr algn="l">
              <a:defRPr sz="1200"/>
            </a:lvl5pPr>
            <a:lvl6pPr>
              <a:defRPr sz="1200"/>
            </a:lvl6pPr>
            <a:lvl7pPr>
              <a:defRPr sz="1200"/>
            </a:lvl7pPr>
            <a:lvl8pPr>
              <a:defRPr sz="1200"/>
            </a:lvl8pPr>
            <a:lvl9pPr>
              <a:defRPr sz="1200"/>
            </a:lvl9pPr>
          </a:lstStyle>
          <a:p>
            <a:pPr lvl="0"/>
            <a:r>
              <a:rPr lang="da-DK" dirty="0"/>
              <a:t>Indsæt tekst</a:t>
            </a:r>
          </a:p>
          <a:p>
            <a:pPr lvl="8"/>
            <a:endParaRPr lang="da-DK" dirty="0"/>
          </a:p>
        </p:txBody>
      </p:sp>
      <p:sp>
        <p:nvSpPr>
          <p:cNvPr id="8" name="Pladsholder til indhold 2">
            <a:extLst>
              <a:ext uri="{FF2B5EF4-FFF2-40B4-BE49-F238E27FC236}">
                <a16:creationId xmlns:a16="http://schemas.microsoft.com/office/drawing/2014/main" id="{A4FA6E19-7E1F-3688-C668-909202F7B26A}"/>
              </a:ext>
            </a:extLst>
          </p:cNvPr>
          <p:cNvSpPr>
            <a:spLocks noGrp="1"/>
          </p:cNvSpPr>
          <p:nvPr>
            <p:ph idx="18" hasCustomPrompt="1"/>
          </p:nvPr>
        </p:nvSpPr>
        <p:spPr>
          <a:xfrm>
            <a:off x="5531413" y="993900"/>
            <a:ext cx="4558735" cy="312278"/>
          </a:xfrm>
        </p:spPr>
        <p:txBody>
          <a:bodyPr anchor="ctr">
            <a:normAutofit/>
          </a:bodyPr>
          <a:lstStyle>
            <a:lvl1pPr marL="0" indent="0">
              <a:buNone/>
              <a:defRPr sz="1200" b="1"/>
            </a:lvl1pPr>
            <a:lvl2pPr algn="l">
              <a:defRPr sz="1600"/>
            </a:lvl2pPr>
            <a:lvl3pPr algn="l">
              <a:defRPr sz="1400"/>
            </a:lvl3pPr>
            <a:lvl4pPr algn="l">
              <a:defRPr sz="1200"/>
            </a:lvl4pPr>
            <a:lvl5pPr algn="l">
              <a:defRPr sz="1200"/>
            </a:lvl5pPr>
          </a:lstStyle>
          <a:p>
            <a:pPr lvl="0"/>
            <a:r>
              <a:rPr lang="da-DK" dirty="0"/>
              <a:t>Underoverskrift</a:t>
            </a:r>
          </a:p>
        </p:txBody>
      </p:sp>
      <p:sp>
        <p:nvSpPr>
          <p:cNvPr id="9" name="Pladsholder til indhold 2">
            <a:extLst>
              <a:ext uri="{FF2B5EF4-FFF2-40B4-BE49-F238E27FC236}">
                <a16:creationId xmlns:a16="http://schemas.microsoft.com/office/drawing/2014/main" id="{B107BDB8-A406-64AC-EDF4-F77F87B1901E}"/>
              </a:ext>
            </a:extLst>
          </p:cNvPr>
          <p:cNvSpPr>
            <a:spLocks noGrp="1"/>
          </p:cNvSpPr>
          <p:nvPr>
            <p:ph idx="19" hasCustomPrompt="1"/>
          </p:nvPr>
        </p:nvSpPr>
        <p:spPr>
          <a:xfrm>
            <a:off x="5531413" y="1306179"/>
            <a:ext cx="4558735" cy="1833728"/>
          </a:xfrm>
        </p:spPr>
        <p:txBody>
          <a:bodyPr>
            <a:normAutofit/>
          </a:bodyPr>
          <a:lstStyle>
            <a:lvl1pPr marL="171450" indent="-171450">
              <a:buFont typeface="Arial" panose="020B0604020202020204" pitchFamily="34" charset="0"/>
              <a:buChar char="•"/>
              <a:defRPr sz="1200" b="0"/>
            </a:lvl1pPr>
            <a:lvl2pPr algn="l">
              <a:defRPr sz="1400"/>
            </a:lvl2pPr>
            <a:lvl3pPr algn="l">
              <a:defRPr sz="1400"/>
            </a:lvl3pPr>
            <a:lvl4pPr algn="l">
              <a:defRPr sz="1200"/>
            </a:lvl4pPr>
            <a:lvl5pPr algn="l">
              <a:defRPr sz="1200"/>
            </a:lvl5pPr>
          </a:lstStyle>
          <a:p>
            <a:pPr lvl="0"/>
            <a:r>
              <a:rPr lang="da-DK" dirty="0"/>
              <a:t>Indsæt tekst</a:t>
            </a:r>
          </a:p>
          <a:p>
            <a:pPr lvl="0"/>
            <a:endParaRPr lang="da-DK" dirty="0"/>
          </a:p>
        </p:txBody>
      </p:sp>
      <p:sp>
        <p:nvSpPr>
          <p:cNvPr id="10" name="Pladsholder til indhold 2">
            <a:extLst>
              <a:ext uri="{FF2B5EF4-FFF2-40B4-BE49-F238E27FC236}">
                <a16:creationId xmlns:a16="http://schemas.microsoft.com/office/drawing/2014/main" id="{148702E3-2384-CCAA-20D9-ABECC81C68CC}"/>
              </a:ext>
            </a:extLst>
          </p:cNvPr>
          <p:cNvSpPr>
            <a:spLocks noGrp="1"/>
          </p:cNvSpPr>
          <p:nvPr>
            <p:ph idx="20" hasCustomPrompt="1"/>
          </p:nvPr>
        </p:nvSpPr>
        <p:spPr>
          <a:xfrm>
            <a:off x="5531411" y="3139907"/>
            <a:ext cx="4558735" cy="312278"/>
          </a:xfrm>
        </p:spPr>
        <p:txBody>
          <a:bodyPr anchor="ctr">
            <a:normAutofit/>
          </a:bodyPr>
          <a:lstStyle>
            <a:lvl1pPr marL="0" indent="0">
              <a:buNone/>
              <a:defRPr sz="1200" b="1"/>
            </a:lvl1pPr>
            <a:lvl2pPr algn="l">
              <a:defRPr sz="1600"/>
            </a:lvl2pPr>
            <a:lvl3pPr algn="l">
              <a:defRPr sz="1400"/>
            </a:lvl3pPr>
            <a:lvl4pPr algn="l">
              <a:defRPr sz="1200"/>
            </a:lvl4pPr>
            <a:lvl5pPr algn="l">
              <a:defRPr sz="1200"/>
            </a:lvl5pPr>
          </a:lstStyle>
          <a:p>
            <a:pPr lvl="0"/>
            <a:r>
              <a:rPr lang="da-DK" dirty="0"/>
              <a:t>Underoverskrift</a:t>
            </a:r>
          </a:p>
        </p:txBody>
      </p:sp>
      <p:sp>
        <p:nvSpPr>
          <p:cNvPr id="11" name="Pladsholder til indhold 2">
            <a:extLst>
              <a:ext uri="{FF2B5EF4-FFF2-40B4-BE49-F238E27FC236}">
                <a16:creationId xmlns:a16="http://schemas.microsoft.com/office/drawing/2014/main" id="{77721F27-26C0-9FBD-B97B-92A9204CB163}"/>
              </a:ext>
            </a:extLst>
          </p:cNvPr>
          <p:cNvSpPr>
            <a:spLocks noGrp="1"/>
          </p:cNvSpPr>
          <p:nvPr>
            <p:ph idx="21" hasCustomPrompt="1"/>
          </p:nvPr>
        </p:nvSpPr>
        <p:spPr>
          <a:xfrm>
            <a:off x="5531411" y="3452185"/>
            <a:ext cx="4558735" cy="1921628"/>
          </a:xfrm>
        </p:spPr>
        <p:txBody>
          <a:bodyPr>
            <a:normAutofit/>
          </a:bodyPr>
          <a:lstStyle>
            <a:lvl1pPr marL="171450" indent="-171450">
              <a:buFont typeface="Arial" panose="020B0604020202020204" pitchFamily="34" charset="0"/>
              <a:buChar char="•"/>
              <a:defRPr sz="1200" b="0"/>
            </a:lvl1pPr>
            <a:lvl2pPr algn="l">
              <a:defRPr sz="1200"/>
            </a:lvl2pPr>
            <a:lvl3pPr algn="l">
              <a:defRPr sz="1200"/>
            </a:lvl3pPr>
            <a:lvl4pPr algn="l">
              <a:defRPr sz="1200"/>
            </a:lvl4pPr>
            <a:lvl5pPr algn="l">
              <a:defRPr sz="1200"/>
            </a:lvl5pPr>
            <a:lvl6pPr>
              <a:defRPr sz="1200"/>
            </a:lvl6pPr>
            <a:lvl7pPr>
              <a:defRPr sz="1200"/>
            </a:lvl7pPr>
            <a:lvl8pPr>
              <a:defRPr sz="1200"/>
            </a:lvl8pPr>
            <a:lvl9pPr>
              <a:defRPr sz="1200"/>
            </a:lvl9pPr>
          </a:lstStyle>
          <a:p>
            <a:pPr lvl="0"/>
            <a:r>
              <a:rPr lang="da-DK" dirty="0"/>
              <a:t>Indsæt tekst</a:t>
            </a:r>
          </a:p>
          <a:p>
            <a:pPr lvl="8"/>
            <a:endParaRPr lang="da-DK" dirty="0"/>
          </a:p>
          <a:p>
            <a:pPr lvl="8"/>
            <a:endParaRPr lang="da-DK" dirty="0"/>
          </a:p>
        </p:txBody>
      </p:sp>
    </p:spTree>
    <p:extLst>
      <p:ext uri="{BB962C8B-B14F-4D97-AF65-F5344CB8AC3E}">
        <p14:creationId xmlns:p14="http://schemas.microsoft.com/office/powerpoint/2010/main" val="49780525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yout 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FF5E46D-170C-3C9C-74EE-8A136A69E1A6}"/>
              </a:ext>
            </a:extLst>
          </p:cNvPr>
          <p:cNvSpPr>
            <a:spLocks noGrp="1"/>
          </p:cNvSpPr>
          <p:nvPr>
            <p:ph type="title" hasCustomPrompt="1"/>
          </p:nvPr>
        </p:nvSpPr>
        <p:spPr/>
        <p:txBody>
          <a:bodyPr/>
          <a:lstStyle>
            <a:lvl1pPr>
              <a:defRPr/>
            </a:lvl1pPr>
          </a:lstStyle>
          <a:p>
            <a:r>
              <a:rPr lang="da-DK" dirty="0"/>
              <a:t>Slide-overskrift </a:t>
            </a:r>
          </a:p>
        </p:txBody>
      </p:sp>
      <p:sp>
        <p:nvSpPr>
          <p:cNvPr id="3" name="Pladsholder til slidenummer 2">
            <a:extLst>
              <a:ext uri="{FF2B5EF4-FFF2-40B4-BE49-F238E27FC236}">
                <a16:creationId xmlns:a16="http://schemas.microsoft.com/office/drawing/2014/main" id="{DB555930-4310-37A4-61A9-24A68A419A83}"/>
              </a:ext>
            </a:extLst>
          </p:cNvPr>
          <p:cNvSpPr>
            <a:spLocks noGrp="1"/>
          </p:cNvSpPr>
          <p:nvPr>
            <p:ph type="sldNum" sz="quarter" idx="10"/>
          </p:nvPr>
        </p:nvSpPr>
        <p:spPr/>
        <p:txBody>
          <a:bodyPr/>
          <a:lstStyle/>
          <a:p>
            <a:fld id="{677FA8C2-600D-420D-8C79-33897368C59E}" type="slidenum">
              <a:rPr lang="da-DK" smtClean="0"/>
              <a:t>‹nr.›</a:t>
            </a:fld>
            <a:endParaRPr lang="da-DK" dirty="0"/>
          </a:p>
        </p:txBody>
      </p:sp>
      <p:sp>
        <p:nvSpPr>
          <p:cNvPr id="6" name="Pladsholder til indhold 2">
            <a:extLst>
              <a:ext uri="{FF2B5EF4-FFF2-40B4-BE49-F238E27FC236}">
                <a16:creationId xmlns:a16="http://schemas.microsoft.com/office/drawing/2014/main" id="{17DF1A56-17CD-40AB-B3EC-97D6625FC0FA}"/>
              </a:ext>
            </a:extLst>
          </p:cNvPr>
          <p:cNvSpPr>
            <a:spLocks noGrp="1"/>
          </p:cNvSpPr>
          <p:nvPr>
            <p:ph idx="12" hasCustomPrompt="1"/>
          </p:nvPr>
        </p:nvSpPr>
        <p:spPr>
          <a:xfrm>
            <a:off x="601662" y="993901"/>
            <a:ext cx="4548088" cy="312278"/>
          </a:xfrm>
        </p:spPr>
        <p:txBody>
          <a:bodyPr anchor="ctr">
            <a:normAutofit/>
          </a:bodyPr>
          <a:lstStyle>
            <a:lvl1pPr marL="0" indent="0">
              <a:buNone/>
              <a:defRPr sz="1200" b="1"/>
            </a:lvl1pPr>
            <a:lvl2pPr algn="l">
              <a:defRPr sz="1600"/>
            </a:lvl2pPr>
            <a:lvl3pPr algn="l">
              <a:defRPr sz="1400"/>
            </a:lvl3pPr>
            <a:lvl4pPr algn="l">
              <a:defRPr sz="1200"/>
            </a:lvl4pPr>
            <a:lvl5pPr algn="l">
              <a:defRPr sz="1200"/>
            </a:lvl5pPr>
          </a:lstStyle>
          <a:p>
            <a:pPr lvl="0"/>
            <a:r>
              <a:rPr lang="da-DK" dirty="0"/>
              <a:t>Underoverskrift</a:t>
            </a:r>
          </a:p>
        </p:txBody>
      </p:sp>
      <p:sp>
        <p:nvSpPr>
          <p:cNvPr id="7" name="Pladsholder til indhold 2">
            <a:extLst>
              <a:ext uri="{FF2B5EF4-FFF2-40B4-BE49-F238E27FC236}">
                <a16:creationId xmlns:a16="http://schemas.microsoft.com/office/drawing/2014/main" id="{A8C71F77-BB7D-21B9-9C5A-2A8D7B5DBE47}"/>
              </a:ext>
            </a:extLst>
          </p:cNvPr>
          <p:cNvSpPr>
            <a:spLocks noGrp="1"/>
          </p:cNvSpPr>
          <p:nvPr>
            <p:ph idx="13" hasCustomPrompt="1"/>
          </p:nvPr>
        </p:nvSpPr>
        <p:spPr>
          <a:xfrm>
            <a:off x="601662" y="1306180"/>
            <a:ext cx="4548088" cy="1144412"/>
          </a:xfrm>
        </p:spPr>
        <p:txBody>
          <a:bodyPr>
            <a:normAutofit/>
          </a:bodyPr>
          <a:lstStyle>
            <a:lvl1pPr marL="171450" indent="-171450">
              <a:buFont typeface="Arial" panose="020B0604020202020204" pitchFamily="34" charset="0"/>
              <a:buChar char="•"/>
              <a:defRPr sz="1200" b="0"/>
            </a:lvl1pPr>
            <a:lvl2pPr algn="l">
              <a:defRPr sz="1200"/>
            </a:lvl2pPr>
            <a:lvl3pPr algn="l">
              <a:defRPr sz="1200"/>
            </a:lvl3pPr>
            <a:lvl4pPr algn="l">
              <a:defRPr sz="1200"/>
            </a:lvl4pPr>
            <a:lvl5pPr algn="l">
              <a:defRPr sz="1200"/>
            </a:lvl5pPr>
            <a:lvl6pPr>
              <a:defRPr sz="1200"/>
            </a:lvl6pPr>
            <a:lvl7pPr>
              <a:defRPr sz="1200"/>
            </a:lvl7pPr>
            <a:lvl8pPr>
              <a:defRPr sz="1200"/>
            </a:lvl8pPr>
            <a:lvl9pPr>
              <a:defRPr sz="1200"/>
            </a:lvl9pPr>
          </a:lstStyle>
          <a:p>
            <a:pPr lvl="0"/>
            <a:r>
              <a:rPr lang="da-DK" dirty="0"/>
              <a:t>Indsæt tekst</a:t>
            </a:r>
          </a:p>
          <a:p>
            <a:pPr lvl="8"/>
            <a:endParaRPr lang="da-DK" dirty="0"/>
          </a:p>
          <a:p>
            <a:pPr lvl="0"/>
            <a:endParaRPr lang="da-DK" dirty="0"/>
          </a:p>
        </p:txBody>
      </p:sp>
      <p:sp>
        <p:nvSpPr>
          <p:cNvPr id="8" name="Pladsholder til indhold 2">
            <a:extLst>
              <a:ext uri="{FF2B5EF4-FFF2-40B4-BE49-F238E27FC236}">
                <a16:creationId xmlns:a16="http://schemas.microsoft.com/office/drawing/2014/main" id="{E8E3216B-9AF5-3B4D-BC47-FC3FFEBC5AC1}"/>
              </a:ext>
            </a:extLst>
          </p:cNvPr>
          <p:cNvSpPr>
            <a:spLocks noGrp="1"/>
          </p:cNvSpPr>
          <p:nvPr>
            <p:ph idx="14" hasCustomPrompt="1"/>
          </p:nvPr>
        </p:nvSpPr>
        <p:spPr>
          <a:xfrm>
            <a:off x="601662" y="2450592"/>
            <a:ext cx="4548088" cy="312278"/>
          </a:xfrm>
        </p:spPr>
        <p:txBody>
          <a:bodyPr anchor="ctr">
            <a:normAutofit/>
          </a:bodyPr>
          <a:lstStyle>
            <a:lvl1pPr marL="0" indent="0">
              <a:buNone/>
              <a:defRPr sz="1200" b="1"/>
            </a:lvl1pPr>
            <a:lvl2pPr algn="l">
              <a:defRPr sz="1600"/>
            </a:lvl2pPr>
            <a:lvl3pPr algn="l">
              <a:defRPr sz="1400"/>
            </a:lvl3pPr>
            <a:lvl4pPr algn="l">
              <a:defRPr sz="1200"/>
            </a:lvl4pPr>
            <a:lvl5pPr algn="l">
              <a:defRPr sz="1200"/>
            </a:lvl5pPr>
          </a:lstStyle>
          <a:p>
            <a:pPr lvl="0"/>
            <a:r>
              <a:rPr lang="da-DK" dirty="0"/>
              <a:t>Underoverskrift</a:t>
            </a:r>
          </a:p>
        </p:txBody>
      </p:sp>
      <p:sp>
        <p:nvSpPr>
          <p:cNvPr id="9" name="Pladsholder til indhold 2">
            <a:extLst>
              <a:ext uri="{FF2B5EF4-FFF2-40B4-BE49-F238E27FC236}">
                <a16:creationId xmlns:a16="http://schemas.microsoft.com/office/drawing/2014/main" id="{ABFBEF50-DA2A-A01A-086F-940AAAD0FF53}"/>
              </a:ext>
            </a:extLst>
          </p:cNvPr>
          <p:cNvSpPr>
            <a:spLocks noGrp="1"/>
          </p:cNvSpPr>
          <p:nvPr>
            <p:ph idx="15" hasCustomPrompt="1"/>
          </p:nvPr>
        </p:nvSpPr>
        <p:spPr>
          <a:xfrm>
            <a:off x="601662" y="2762871"/>
            <a:ext cx="4548088" cy="1144412"/>
          </a:xfrm>
        </p:spPr>
        <p:txBody>
          <a:bodyPr>
            <a:normAutofit/>
          </a:bodyPr>
          <a:lstStyle>
            <a:lvl1pPr marL="171450" indent="-171450">
              <a:buFont typeface="Arial" panose="020B0604020202020204" pitchFamily="34" charset="0"/>
              <a:buChar char="•"/>
              <a:defRPr sz="1200" b="0"/>
            </a:lvl1pPr>
            <a:lvl2pPr algn="l">
              <a:defRPr sz="1200"/>
            </a:lvl2pPr>
            <a:lvl3pPr algn="l">
              <a:defRPr sz="1200"/>
            </a:lvl3pPr>
            <a:lvl4pPr algn="l">
              <a:defRPr sz="1200"/>
            </a:lvl4pPr>
            <a:lvl5pPr algn="l">
              <a:defRPr sz="1200"/>
            </a:lvl5pPr>
            <a:lvl6pPr>
              <a:defRPr sz="1200"/>
            </a:lvl6pPr>
            <a:lvl7pPr>
              <a:defRPr sz="1200"/>
            </a:lvl7pPr>
            <a:lvl8pPr>
              <a:defRPr sz="1200"/>
            </a:lvl8pPr>
            <a:lvl9pPr>
              <a:defRPr sz="1200"/>
            </a:lvl9pPr>
          </a:lstStyle>
          <a:p>
            <a:pPr lvl="0"/>
            <a:r>
              <a:rPr lang="da-DK" dirty="0"/>
              <a:t>Indsæt tekst</a:t>
            </a:r>
          </a:p>
          <a:p>
            <a:pPr lvl="8"/>
            <a:endParaRPr lang="da-DK" dirty="0"/>
          </a:p>
          <a:p>
            <a:pPr lvl="3"/>
            <a:endParaRPr lang="da-DK" dirty="0"/>
          </a:p>
          <a:p>
            <a:pPr lvl="0"/>
            <a:endParaRPr lang="da-DK" dirty="0"/>
          </a:p>
        </p:txBody>
      </p:sp>
      <p:sp>
        <p:nvSpPr>
          <p:cNvPr id="10" name="Pladsholder til indhold 2">
            <a:extLst>
              <a:ext uri="{FF2B5EF4-FFF2-40B4-BE49-F238E27FC236}">
                <a16:creationId xmlns:a16="http://schemas.microsoft.com/office/drawing/2014/main" id="{EC834F2A-DF7D-380E-261C-C4440419E3C7}"/>
              </a:ext>
            </a:extLst>
          </p:cNvPr>
          <p:cNvSpPr>
            <a:spLocks noGrp="1"/>
          </p:cNvSpPr>
          <p:nvPr>
            <p:ph idx="16" hasCustomPrompt="1"/>
          </p:nvPr>
        </p:nvSpPr>
        <p:spPr>
          <a:xfrm>
            <a:off x="601662" y="3907282"/>
            <a:ext cx="4548088" cy="312278"/>
          </a:xfrm>
        </p:spPr>
        <p:txBody>
          <a:bodyPr anchor="ctr">
            <a:normAutofit/>
          </a:bodyPr>
          <a:lstStyle>
            <a:lvl1pPr marL="0" indent="0">
              <a:buNone/>
              <a:defRPr sz="1200" b="1"/>
            </a:lvl1pPr>
            <a:lvl2pPr algn="l">
              <a:defRPr sz="1600"/>
            </a:lvl2pPr>
            <a:lvl3pPr algn="l">
              <a:defRPr sz="1400"/>
            </a:lvl3pPr>
            <a:lvl4pPr algn="l">
              <a:defRPr sz="1200"/>
            </a:lvl4pPr>
            <a:lvl5pPr algn="l">
              <a:defRPr sz="1200"/>
            </a:lvl5pPr>
          </a:lstStyle>
          <a:p>
            <a:pPr lvl="0"/>
            <a:r>
              <a:rPr lang="da-DK" dirty="0"/>
              <a:t>Underoverskrift</a:t>
            </a:r>
          </a:p>
        </p:txBody>
      </p:sp>
      <p:sp>
        <p:nvSpPr>
          <p:cNvPr id="11" name="Pladsholder til indhold 2">
            <a:extLst>
              <a:ext uri="{FF2B5EF4-FFF2-40B4-BE49-F238E27FC236}">
                <a16:creationId xmlns:a16="http://schemas.microsoft.com/office/drawing/2014/main" id="{57F148AC-32C4-9832-E9F6-E81B8DA95839}"/>
              </a:ext>
            </a:extLst>
          </p:cNvPr>
          <p:cNvSpPr>
            <a:spLocks noGrp="1"/>
          </p:cNvSpPr>
          <p:nvPr>
            <p:ph idx="17" hasCustomPrompt="1"/>
          </p:nvPr>
        </p:nvSpPr>
        <p:spPr>
          <a:xfrm>
            <a:off x="601662" y="4219561"/>
            <a:ext cx="4548088" cy="1154253"/>
          </a:xfrm>
        </p:spPr>
        <p:txBody>
          <a:bodyPr>
            <a:normAutofit/>
          </a:bodyPr>
          <a:lstStyle>
            <a:lvl1pPr marL="171450" indent="-171450">
              <a:buFont typeface="Arial" panose="020B0604020202020204" pitchFamily="34" charset="0"/>
              <a:buChar char="•"/>
              <a:defRPr sz="1200" b="0"/>
            </a:lvl1pPr>
            <a:lvl2pPr algn="l">
              <a:defRPr sz="1200"/>
            </a:lvl2pPr>
            <a:lvl3pPr algn="l">
              <a:defRPr sz="1200"/>
            </a:lvl3pPr>
            <a:lvl4pPr algn="l">
              <a:defRPr sz="1200"/>
            </a:lvl4pPr>
            <a:lvl5pPr algn="l">
              <a:defRPr sz="1200"/>
            </a:lvl5pPr>
            <a:lvl6pPr>
              <a:defRPr sz="1200"/>
            </a:lvl6pPr>
            <a:lvl7pPr>
              <a:defRPr sz="1200"/>
            </a:lvl7pPr>
            <a:lvl8pPr>
              <a:defRPr sz="1200"/>
            </a:lvl8pPr>
            <a:lvl9pPr>
              <a:defRPr sz="1200"/>
            </a:lvl9pPr>
          </a:lstStyle>
          <a:p>
            <a:pPr lvl="0"/>
            <a:r>
              <a:rPr lang="da-DK" dirty="0"/>
              <a:t>Indsæt tekst</a:t>
            </a:r>
          </a:p>
          <a:p>
            <a:pPr lvl="8"/>
            <a:endParaRPr lang="da-DK" dirty="0"/>
          </a:p>
          <a:p>
            <a:pPr lvl="0"/>
            <a:endParaRPr lang="da-DK" dirty="0"/>
          </a:p>
        </p:txBody>
      </p:sp>
      <p:sp>
        <p:nvSpPr>
          <p:cNvPr id="12" name="Pladsholder til diagram 6">
            <a:extLst>
              <a:ext uri="{FF2B5EF4-FFF2-40B4-BE49-F238E27FC236}">
                <a16:creationId xmlns:a16="http://schemas.microsoft.com/office/drawing/2014/main" id="{E3022A72-A833-CE2F-A4B4-9E6CE90F5A7C}"/>
              </a:ext>
            </a:extLst>
          </p:cNvPr>
          <p:cNvSpPr>
            <a:spLocks noGrp="1"/>
          </p:cNvSpPr>
          <p:nvPr>
            <p:ph type="chart" sz="quarter" idx="18" hasCustomPrompt="1"/>
          </p:nvPr>
        </p:nvSpPr>
        <p:spPr>
          <a:xfrm>
            <a:off x="5542059" y="993901"/>
            <a:ext cx="4548088" cy="4379913"/>
          </a:xfrm>
        </p:spPr>
        <p:txBody>
          <a:bodyPr>
            <a:normAutofit/>
          </a:bodyPr>
          <a:lstStyle>
            <a:lvl1pPr marL="171450" indent="-171450">
              <a:buFont typeface="Arial" panose="020B0604020202020204" pitchFamily="34" charset="0"/>
              <a:buChar char="•"/>
              <a:defRPr sz="1200"/>
            </a:lvl1pPr>
            <a:lvl6pPr>
              <a:defRPr sz="1200"/>
            </a:lvl6pPr>
            <a:lvl7pPr>
              <a:defRPr sz="1200"/>
            </a:lvl7pPr>
            <a:lvl8pPr>
              <a:defRPr sz="1200"/>
            </a:lvl8pPr>
            <a:lvl9pPr>
              <a:defRPr sz="1200"/>
            </a:lvl9pPr>
          </a:lstStyle>
          <a:p>
            <a:r>
              <a:rPr lang="da-DK" dirty="0"/>
              <a:t>Indsæt evt. diagram eller lign.</a:t>
            </a:r>
          </a:p>
          <a:p>
            <a:pPr lvl="8"/>
            <a:endParaRPr lang="da-DK" dirty="0"/>
          </a:p>
        </p:txBody>
      </p:sp>
    </p:spTree>
    <p:extLst>
      <p:ext uri="{BB962C8B-B14F-4D97-AF65-F5344CB8AC3E}">
        <p14:creationId xmlns:p14="http://schemas.microsoft.com/office/powerpoint/2010/main" val="1249261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7FDC814A-3A22-099F-3144-B4E8C4E88959}"/>
              </a:ext>
            </a:extLst>
          </p:cNvPr>
          <p:cNvSpPr>
            <a:spLocks noGrp="1"/>
          </p:cNvSpPr>
          <p:nvPr>
            <p:ph type="sldNum" sz="quarter" idx="10"/>
          </p:nvPr>
        </p:nvSpPr>
        <p:spPr/>
        <p:txBody>
          <a:bodyPr/>
          <a:lstStyle/>
          <a:p>
            <a:fld id="{677FA8C2-600D-420D-8C79-33897368C59E}" type="slidenum">
              <a:rPr lang="da-DK" smtClean="0"/>
              <a:pPr/>
              <a:t>‹nr.›</a:t>
            </a:fld>
            <a:endParaRPr lang="da-DK" dirty="0"/>
          </a:p>
        </p:txBody>
      </p:sp>
      <p:sp>
        <p:nvSpPr>
          <p:cNvPr id="4" name="Rektangel 3">
            <a:extLst>
              <a:ext uri="{FF2B5EF4-FFF2-40B4-BE49-F238E27FC236}">
                <a16:creationId xmlns:a16="http://schemas.microsoft.com/office/drawing/2014/main" id="{38E8B17F-14DD-C0BB-D06B-11D7D3D1EDE0}"/>
              </a:ext>
            </a:extLst>
          </p:cNvPr>
          <p:cNvSpPr>
            <a:spLocks noGrp="1" noRot="1" noMove="1" noResize="1" noEditPoints="1" noAdjustHandles="1" noChangeArrowheads="1" noChangeShapeType="1"/>
          </p:cNvSpPr>
          <p:nvPr userDrawn="1"/>
        </p:nvSpPr>
        <p:spPr>
          <a:xfrm>
            <a:off x="565554" y="671265"/>
            <a:ext cx="9524593" cy="1427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Tree>
    <p:extLst>
      <p:ext uri="{BB962C8B-B14F-4D97-AF65-F5344CB8AC3E}">
        <p14:creationId xmlns:p14="http://schemas.microsoft.com/office/powerpoint/2010/main" val="520907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kildeslide 1">
    <p:spTree>
      <p:nvGrpSpPr>
        <p:cNvPr id="1" name=""/>
        <p:cNvGrpSpPr/>
        <p:nvPr/>
      </p:nvGrpSpPr>
      <p:grpSpPr>
        <a:xfrm>
          <a:off x="0" y="0"/>
          <a:ext cx="0" cy="0"/>
          <a:chOff x="0" y="0"/>
          <a:chExt cx="0" cy="0"/>
        </a:xfrm>
      </p:grpSpPr>
      <p:pic>
        <p:nvPicPr>
          <p:cNvPr id="5" name="Billede 4" descr="Et billede, der indeholder udendørs, efterår, landskab, vildnis&#10;&#10;Automatisk genereret beskrivelse">
            <a:extLst>
              <a:ext uri="{FF2B5EF4-FFF2-40B4-BE49-F238E27FC236}">
                <a16:creationId xmlns:a16="http://schemas.microsoft.com/office/drawing/2014/main" id="{30251998-021E-3DDD-5D43-D97FEDED3FE4}"/>
              </a:ext>
            </a:extLst>
          </p:cNvPr>
          <p:cNvPicPr>
            <a:picLocks noChangeAspect="1"/>
          </p:cNvPicPr>
          <p:nvPr userDrawn="1"/>
        </p:nvPicPr>
        <p:blipFill>
          <a:blip r:embed="rId2">
            <a:extLst>
              <a:ext uri="{28A0092B-C50C-407E-A947-70E740481C1C}">
                <a14:useLocalDpi xmlns:a14="http://schemas.microsoft.com/office/drawing/2010/main" val="0"/>
              </a:ext>
            </a:extLst>
          </a:blip>
          <a:srcRect l="3488" t="4325" r="19343"/>
          <a:stretch/>
        </p:blipFill>
        <p:spPr>
          <a:xfrm>
            <a:off x="-1" y="-1"/>
            <a:ext cx="10691813" cy="6011863"/>
          </a:xfrm>
          <a:prstGeom prst="rect">
            <a:avLst/>
          </a:prstGeom>
        </p:spPr>
      </p:pic>
      <p:sp>
        <p:nvSpPr>
          <p:cNvPr id="6" name="Title 1">
            <a:extLst>
              <a:ext uri="{FF2B5EF4-FFF2-40B4-BE49-F238E27FC236}">
                <a16:creationId xmlns:a16="http://schemas.microsoft.com/office/drawing/2014/main" id="{5223F7AC-C4FD-EC7C-6A97-299DE2FC0BB7}"/>
              </a:ext>
            </a:extLst>
          </p:cNvPr>
          <p:cNvSpPr>
            <a:spLocks noGrp="1"/>
          </p:cNvSpPr>
          <p:nvPr>
            <p:ph type="title" hasCustomPrompt="1"/>
          </p:nvPr>
        </p:nvSpPr>
        <p:spPr>
          <a:xfrm>
            <a:off x="609599" y="2642868"/>
            <a:ext cx="9488488" cy="726129"/>
          </a:xfrm>
        </p:spPr>
        <p:txBody>
          <a:bodyPr>
            <a:normAutofit/>
          </a:bodyPr>
          <a:lstStyle>
            <a:lvl1pPr>
              <a:defRPr sz="3600">
                <a:solidFill>
                  <a:schemeClr val="bg1"/>
                </a:solidFill>
              </a:defRPr>
            </a:lvl1pPr>
          </a:lstStyle>
          <a:p>
            <a:r>
              <a:rPr lang="da-DK" noProof="0" dirty="0"/>
              <a:t>Skriv titel </a:t>
            </a:r>
          </a:p>
        </p:txBody>
      </p:sp>
    </p:spTree>
    <p:extLst>
      <p:ext uri="{BB962C8B-B14F-4D97-AF65-F5344CB8AC3E}">
        <p14:creationId xmlns:p14="http://schemas.microsoft.com/office/powerpoint/2010/main" val="14848921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kildeslide 2">
    <p:spTree>
      <p:nvGrpSpPr>
        <p:cNvPr id="1" name=""/>
        <p:cNvGrpSpPr/>
        <p:nvPr/>
      </p:nvGrpSpPr>
      <p:grpSpPr>
        <a:xfrm>
          <a:off x="0" y="0"/>
          <a:ext cx="0" cy="0"/>
          <a:chOff x="0" y="0"/>
          <a:chExt cx="0" cy="0"/>
        </a:xfrm>
      </p:grpSpPr>
      <p:pic>
        <p:nvPicPr>
          <p:cNvPr id="3" name="Billede 2" descr="Et billede, der indeholder udendørs, vand, sky, Kystformationer&#10;&#10;Automatisk genereret beskrivelse">
            <a:extLst>
              <a:ext uri="{FF2B5EF4-FFF2-40B4-BE49-F238E27FC236}">
                <a16:creationId xmlns:a16="http://schemas.microsoft.com/office/drawing/2014/main" id="{555503A5-3C08-E3F1-6678-097515C7FF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028" y="0"/>
            <a:ext cx="10687756" cy="6011863"/>
          </a:xfrm>
          <a:prstGeom prst="rect">
            <a:avLst/>
          </a:prstGeom>
        </p:spPr>
      </p:pic>
      <p:sp>
        <p:nvSpPr>
          <p:cNvPr id="6" name="Title 1">
            <a:extLst>
              <a:ext uri="{FF2B5EF4-FFF2-40B4-BE49-F238E27FC236}">
                <a16:creationId xmlns:a16="http://schemas.microsoft.com/office/drawing/2014/main" id="{0C4AF617-45D2-6F22-32BA-A5B403693782}"/>
              </a:ext>
            </a:extLst>
          </p:cNvPr>
          <p:cNvSpPr>
            <a:spLocks noGrp="1"/>
          </p:cNvSpPr>
          <p:nvPr>
            <p:ph type="title" hasCustomPrompt="1"/>
          </p:nvPr>
        </p:nvSpPr>
        <p:spPr>
          <a:xfrm>
            <a:off x="609599" y="2642868"/>
            <a:ext cx="9488488" cy="726129"/>
          </a:xfrm>
        </p:spPr>
        <p:txBody>
          <a:bodyPr>
            <a:normAutofit/>
          </a:bodyPr>
          <a:lstStyle>
            <a:lvl1pPr>
              <a:defRPr sz="3600">
                <a:solidFill>
                  <a:schemeClr val="tx1"/>
                </a:solidFill>
              </a:defRPr>
            </a:lvl1pPr>
          </a:lstStyle>
          <a:p>
            <a:r>
              <a:rPr lang="da-DK" noProof="0" dirty="0"/>
              <a:t>Skriv titel </a:t>
            </a:r>
          </a:p>
        </p:txBody>
      </p:sp>
    </p:spTree>
    <p:extLst>
      <p:ext uri="{BB962C8B-B14F-4D97-AF65-F5344CB8AC3E}">
        <p14:creationId xmlns:p14="http://schemas.microsoft.com/office/powerpoint/2010/main" val="18107900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kildeslide 3">
    <p:spTree>
      <p:nvGrpSpPr>
        <p:cNvPr id="1" name=""/>
        <p:cNvGrpSpPr/>
        <p:nvPr/>
      </p:nvGrpSpPr>
      <p:grpSpPr>
        <a:xfrm>
          <a:off x="0" y="0"/>
          <a:ext cx="0" cy="0"/>
          <a:chOff x="0" y="0"/>
          <a:chExt cx="0" cy="0"/>
        </a:xfrm>
      </p:grpSpPr>
      <p:pic>
        <p:nvPicPr>
          <p:cNvPr id="5" name="Billede 4" descr="Et billede, der indeholder bygning, bygningsmateriale, sten, klippe&#10;&#10;Automatisk genereret beskrivelse">
            <a:extLst>
              <a:ext uri="{FF2B5EF4-FFF2-40B4-BE49-F238E27FC236}">
                <a16:creationId xmlns:a16="http://schemas.microsoft.com/office/drawing/2014/main" id="{6C2EB764-0B56-697E-8A4E-5D9141C1B943}"/>
              </a:ext>
            </a:extLst>
          </p:cNvPr>
          <p:cNvPicPr>
            <a:picLocks noChangeAspect="1"/>
          </p:cNvPicPr>
          <p:nvPr userDrawn="1"/>
        </p:nvPicPr>
        <p:blipFill>
          <a:blip r:embed="rId2">
            <a:extLst>
              <a:ext uri="{28A0092B-C50C-407E-A947-70E740481C1C}">
                <a14:useLocalDpi xmlns:a14="http://schemas.microsoft.com/office/drawing/2010/main" val="0"/>
              </a:ext>
            </a:extLst>
          </a:blip>
          <a:srcRect l="16028" r="29145"/>
          <a:stretch/>
        </p:blipFill>
        <p:spPr>
          <a:xfrm>
            <a:off x="-1" y="-1"/>
            <a:ext cx="10691813" cy="6011863"/>
          </a:xfrm>
          <a:prstGeom prst="rect">
            <a:avLst/>
          </a:prstGeom>
        </p:spPr>
      </p:pic>
      <p:sp>
        <p:nvSpPr>
          <p:cNvPr id="6" name="Title 1">
            <a:extLst>
              <a:ext uri="{FF2B5EF4-FFF2-40B4-BE49-F238E27FC236}">
                <a16:creationId xmlns:a16="http://schemas.microsoft.com/office/drawing/2014/main" id="{4408C568-D796-5135-C9F1-7B8AD9A7C8C2}"/>
              </a:ext>
            </a:extLst>
          </p:cNvPr>
          <p:cNvSpPr>
            <a:spLocks noGrp="1"/>
          </p:cNvSpPr>
          <p:nvPr>
            <p:ph type="title" hasCustomPrompt="1"/>
          </p:nvPr>
        </p:nvSpPr>
        <p:spPr>
          <a:xfrm>
            <a:off x="609599" y="2642868"/>
            <a:ext cx="9488488" cy="726129"/>
          </a:xfrm>
        </p:spPr>
        <p:txBody>
          <a:bodyPr>
            <a:normAutofit/>
          </a:bodyPr>
          <a:lstStyle>
            <a:lvl1pPr>
              <a:defRPr sz="3600">
                <a:solidFill>
                  <a:schemeClr val="bg1"/>
                </a:solidFill>
              </a:defRPr>
            </a:lvl1pPr>
          </a:lstStyle>
          <a:p>
            <a:r>
              <a:rPr lang="da-DK" noProof="0" dirty="0"/>
              <a:t>Skriv titel </a:t>
            </a:r>
          </a:p>
        </p:txBody>
      </p:sp>
    </p:spTree>
    <p:extLst>
      <p:ext uri="{BB962C8B-B14F-4D97-AF65-F5344CB8AC3E}">
        <p14:creationId xmlns:p14="http://schemas.microsoft.com/office/powerpoint/2010/main" val="39680133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kildeslide 4">
    <p:spTree>
      <p:nvGrpSpPr>
        <p:cNvPr id="1" name=""/>
        <p:cNvGrpSpPr/>
        <p:nvPr/>
      </p:nvGrpSpPr>
      <p:grpSpPr>
        <a:xfrm>
          <a:off x="0" y="0"/>
          <a:ext cx="0" cy="0"/>
          <a:chOff x="0" y="0"/>
          <a:chExt cx="0" cy="0"/>
        </a:xfrm>
      </p:grpSpPr>
      <p:pic>
        <p:nvPicPr>
          <p:cNvPr id="3" name="Billede 2" descr="Et billede, der indeholder udendørs, sky, vand, solnedgang&#10;&#10;Automatisk genereret beskrivelse">
            <a:extLst>
              <a:ext uri="{FF2B5EF4-FFF2-40B4-BE49-F238E27FC236}">
                <a16:creationId xmlns:a16="http://schemas.microsoft.com/office/drawing/2014/main" id="{116486B9-CE4E-9687-AB79-B9BF4ED810E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06" y="0"/>
            <a:ext cx="10686001" cy="6011863"/>
          </a:xfrm>
          <a:prstGeom prst="rect">
            <a:avLst/>
          </a:prstGeom>
        </p:spPr>
      </p:pic>
      <p:sp>
        <p:nvSpPr>
          <p:cNvPr id="6" name="Title 1">
            <a:extLst>
              <a:ext uri="{FF2B5EF4-FFF2-40B4-BE49-F238E27FC236}">
                <a16:creationId xmlns:a16="http://schemas.microsoft.com/office/drawing/2014/main" id="{76F49D34-DD7C-A2CF-2633-FDB1384E0C39}"/>
              </a:ext>
            </a:extLst>
          </p:cNvPr>
          <p:cNvSpPr>
            <a:spLocks noGrp="1"/>
          </p:cNvSpPr>
          <p:nvPr>
            <p:ph type="title" hasCustomPrompt="1"/>
          </p:nvPr>
        </p:nvSpPr>
        <p:spPr>
          <a:xfrm>
            <a:off x="609599" y="2642868"/>
            <a:ext cx="9488488" cy="726129"/>
          </a:xfrm>
        </p:spPr>
        <p:txBody>
          <a:bodyPr>
            <a:normAutofit/>
          </a:bodyPr>
          <a:lstStyle>
            <a:lvl1pPr>
              <a:defRPr sz="3600">
                <a:solidFill>
                  <a:schemeClr val="tx1"/>
                </a:solidFill>
              </a:defRPr>
            </a:lvl1pPr>
          </a:lstStyle>
          <a:p>
            <a:r>
              <a:rPr lang="da-DK" noProof="0" dirty="0"/>
              <a:t>Overskrift </a:t>
            </a:r>
          </a:p>
        </p:txBody>
      </p:sp>
    </p:spTree>
    <p:extLst>
      <p:ext uri="{BB962C8B-B14F-4D97-AF65-F5344CB8AC3E}">
        <p14:creationId xmlns:p14="http://schemas.microsoft.com/office/powerpoint/2010/main" val="27163894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lut-slide fondmægler">
    <p:spTree>
      <p:nvGrpSpPr>
        <p:cNvPr id="1" name=""/>
        <p:cNvGrpSpPr/>
        <p:nvPr/>
      </p:nvGrpSpPr>
      <p:grpSpPr>
        <a:xfrm>
          <a:off x="0" y="0"/>
          <a:ext cx="0" cy="0"/>
          <a:chOff x="0" y="0"/>
          <a:chExt cx="0" cy="0"/>
        </a:xfrm>
      </p:grpSpPr>
      <p:sp>
        <p:nvSpPr>
          <p:cNvPr id="4" name="Rektangel 3">
            <a:extLst>
              <a:ext uri="{FF2B5EF4-FFF2-40B4-BE49-F238E27FC236}">
                <a16:creationId xmlns:a16="http://schemas.microsoft.com/office/drawing/2014/main" id="{222EA6B8-5D74-4032-E779-328C20128EE6}"/>
              </a:ext>
            </a:extLst>
          </p:cNvPr>
          <p:cNvSpPr/>
          <p:nvPr userDrawn="1"/>
        </p:nvSpPr>
        <p:spPr>
          <a:xfrm>
            <a:off x="-1" y="-1"/>
            <a:ext cx="10691813" cy="6011863"/>
          </a:xfrm>
          <a:prstGeom prst="rect">
            <a:avLst/>
          </a:prstGeom>
          <a:solidFill>
            <a:srgbClr val="5C5F4A"/>
          </a:solidFill>
          <a:ln>
            <a:solidFill>
              <a:srgbClr val="5C5F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pic>
        <p:nvPicPr>
          <p:cNvPr id="5" name="Billede 6">
            <a:extLst>
              <a:ext uri="{FF2B5EF4-FFF2-40B4-BE49-F238E27FC236}">
                <a16:creationId xmlns:a16="http://schemas.microsoft.com/office/drawing/2014/main" id="{1B138904-4C7F-4ED8-7C72-760B1313F2AA}"/>
              </a:ext>
            </a:extLst>
          </p:cNvPr>
          <p:cNvPicPr>
            <a:picLocks noChangeAspect="1"/>
          </p:cNvPicPr>
          <p:nvPr userDrawn="1"/>
        </p:nvPicPr>
        <p:blipFill>
          <a:blip r:embed="rId2"/>
          <a:stretch>
            <a:fillRect/>
          </a:stretch>
        </p:blipFill>
        <p:spPr>
          <a:xfrm>
            <a:off x="3095773" y="2490679"/>
            <a:ext cx="4500264" cy="1030501"/>
          </a:xfrm>
          <a:prstGeom prst="rect">
            <a:avLst/>
          </a:prstGeom>
        </p:spPr>
      </p:pic>
    </p:spTree>
    <p:extLst>
      <p:ext uri="{BB962C8B-B14F-4D97-AF65-F5344CB8AC3E}">
        <p14:creationId xmlns:p14="http://schemas.microsoft.com/office/powerpoint/2010/main" val="38240549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lut-slide Holding">
    <p:spTree>
      <p:nvGrpSpPr>
        <p:cNvPr id="1" name=""/>
        <p:cNvGrpSpPr/>
        <p:nvPr/>
      </p:nvGrpSpPr>
      <p:grpSpPr>
        <a:xfrm>
          <a:off x="0" y="0"/>
          <a:ext cx="0" cy="0"/>
          <a:chOff x="0" y="0"/>
          <a:chExt cx="0" cy="0"/>
        </a:xfrm>
      </p:grpSpPr>
      <p:sp>
        <p:nvSpPr>
          <p:cNvPr id="4" name="Rektangel 3">
            <a:extLst>
              <a:ext uri="{FF2B5EF4-FFF2-40B4-BE49-F238E27FC236}">
                <a16:creationId xmlns:a16="http://schemas.microsoft.com/office/drawing/2014/main" id="{3BCFA539-EC01-BEE6-51FE-AEE93DB3AD8C}"/>
              </a:ext>
            </a:extLst>
          </p:cNvPr>
          <p:cNvSpPr/>
          <p:nvPr userDrawn="1"/>
        </p:nvSpPr>
        <p:spPr>
          <a:xfrm>
            <a:off x="-1" y="-1"/>
            <a:ext cx="10691813" cy="6011863"/>
          </a:xfrm>
          <a:prstGeom prst="rect">
            <a:avLst/>
          </a:prstGeom>
          <a:solidFill>
            <a:srgbClr val="5C5F4A"/>
          </a:solidFill>
          <a:ln>
            <a:solidFill>
              <a:srgbClr val="5C5F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pic>
        <p:nvPicPr>
          <p:cNvPr id="5" name="Billede 6">
            <a:extLst>
              <a:ext uri="{FF2B5EF4-FFF2-40B4-BE49-F238E27FC236}">
                <a16:creationId xmlns:a16="http://schemas.microsoft.com/office/drawing/2014/main" id="{666F66D6-B38A-36BF-AB87-447BCE7633E7}"/>
              </a:ext>
            </a:extLst>
          </p:cNvPr>
          <p:cNvPicPr>
            <a:picLocks noChangeAspect="1"/>
          </p:cNvPicPr>
          <p:nvPr userDrawn="1"/>
        </p:nvPicPr>
        <p:blipFill>
          <a:blip r:embed="rId2"/>
          <a:srcRect t="23273" b="25583"/>
          <a:stretch/>
        </p:blipFill>
        <p:spPr>
          <a:xfrm>
            <a:off x="3095774" y="2742406"/>
            <a:ext cx="4500264" cy="527050"/>
          </a:xfrm>
          <a:prstGeom prst="rect">
            <a:avLst/>
          </a:prstGeom>
        </p:spPr>
      </p:pic>
    </p:spTree>
    <p:extLst>
      <p:ext uri="{BB962C8B-B14F-4D97-AF65-F5344CB8AC3E}">
        <p14:creationId xmlns:p14="http://schemas.microsoft.com/office/powerpoint/2010/main" val="3303251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Pladsholder til titel 1">
            <a:extLst>
              <a:ext uri="{FF2B5EF4-FFF2-40B4-BE49-F238E27FC236}">
                <a16:creationId xmlns:a16="http://schemas.microsoft.com/office/drawing/2014/main" id="{C3CEAA3F-C1D0-637A-0E27-B06ECCFB80F2}"/>
              </a:ext>
            </a:extLst>
          </p:cNvPr>
          <p:cNvSpPr>
            <a:spLocks noGrp="1"/>
          </p:cNvSpPr>
          <p:nvPr>
            <p:ph type="title"/>
          </p:nvPr>
        </p:nvSpPr>
        <p:spPr>
          <a:xfrm>
            <a:off x="601659" y="245493"/>
            <a:ext cx="9488489" cy="774478"/>
          </a:xfrm>
          <a:prstGeom prst="rect">
            <a:avLst/>
          </a:prstGeom>
        </p:spPr>
        <p:txBody>
          <a:bodyPr vert="horz" lIns="91440" tIns="45720" rIns="91440" bIns="45720" rtlCol="0" anchor="t">
            <a:normAutofit/>
          </a:bodyPr>
          <a:lstStyle/>
          <a:p>
            <a:r>
              <a:rPr lang="da-DK" dirty="0"/>
              <a:t>Overskrift</a:t>
            </a:r>
          </a:p>
        </p:txBody>
      </p:sp>
      <p:sp>
        <p:nvSpPr>
          <p:cNvPr id="3" name="Pladsholder til tekst 2">
            <a:extLst>
              <a:ext uri="{FF2B5EF4-FFF2-40B4-BE49-F238E27FC236}">
                <a16:creationId xmlns:a16="http://schemas.microsoft.com/office/drawing/2014/main" id="{F512D528-1B9A-5314-9FF3-CE63ABD8C9D2}"/>
              </a:ext>
            </a:extLst>
          </p:cNvPr>
          <p:cNvSpPr>
            <a:spLocks noGrp="1"/>
          </p:cNvSpPr>
          <p:nvPr>
            <p:ph type="body" idx="1"/>
          </p:nvPr>
        </p:nvSpPr>
        <p:spPr>
          <a:xfrm>
            <a:off x="601659" y="1564368"/>
            <a:ext cx="9488489" cy="3814763"/>
          </a:xfrm>
          <a:prstGeom prst="rect">
            <a:avLst/>
          </a:prstGeom>
        </p:spPr>
        <p:txBody>
          <a:bodyPr vert="horz" lIns="91440" tIns="45720" rIns="91440" bIns="45720" rtlCol="0">
            <a:normAutofit/>
          </a:bodyPr>
          <a:lstStyle/>
          <a:p>
            <a:pPr lvl="0"/>
            <a:r>
              <a:rPr lang="da-DK" dirty="0"/>
              <a:t>Klik for at redigere teksttypografierne i masteren</a:t>
            </a:r>
          </a:p>
          <a:p>
            <a:pPr lvl="1"/>
            <a:r>
              <a:rPr lang="da-DK" dirty="0"/>
              <a:t>Andet niveau</a:t>
            </a:r>
          </a:p>
          <a:p>
            <a:pPr lvl="2"/>
            <a:r>
              <a:rPr lang="da-DK" dirty="0"/>
              <a:t>Tredje niveau</a:t>
            </a:r>
          </a:p>
          <a:p>
            <a:pPr lvl="3"/>
            <a:r>
              <a:rPr lang="da-DK" dirty="0"/>
              <a:t>Fjerde niveau</a:t>
            </a:r>
          </a:p>
          <a:p>
            <a:pPr lvl="4"/>
            <a:r>
              <a:rPr lang="da-DK" dirty="0"/>
              <a:t>Femte niveau</a:t>
            </a:r>
          </a:p>
        </p:txBody>
      </p:sp>
      <p:sp>
        <p:nvSpPr>
          <p:cNvPr id="6" name="Pladsholder til slidenummer 5">
            <a:extLst>
              <a:ext uri="{FF2B5EF4-FFF2-40B4-BE49-F238E27FC236}">
                <a16:creationId xmlns:a16="http://schemas.microsoft.com/office/drawing/2014/main" id="{FBBBE7F2-6A4E-FCBB-1309-2DE7F5892085}"/>
              </a:ext>
            </a:extLst>
          </p:cNvPr>
          <p:cNvSpPr>
            <a:spLocks noGrp="1"/>
          </p:cNvSpPr>
          <p:nvPr>
            <p:ph type="sldNum" sz="quarter" idx="4"/>
          </p:nvPr>
        </p:nvSpPr>
        <p:spPr>
          <a:xfrm>
            <a:off x="7685085" y="5687409"/>
            <a:ext cx="2405062" cy="320675"/>
          </a:xfrm>
          <a:prstGeom prst="rect">
            <a:avLst/>
          </a:prstGeom>
        </p:spPr>
        <p:txBody>
          <a:bodyPr vert="horz" lIns="91440" tIns="45720" rIns="91440" bIns="45720" rtlCol="0" anchor="ctr"/>
          <a:lstStyle>
            <a:lvl1pPr algn="r">
              <a:defRPr sz="800">
                <a:solidFill>
                  <a:schemeClr val="tx1">
                    <a:tint val="82000"/>
                  </a:schemeClr>
                </a:solidFill>
              </a:defRPr>
            </a:lvl1pPr>
          </a:lstStyle>
          <a:p>
            <a:fld id="{677FA8C2-600D-420D-8C79-33897368C59E}" type="slidenum">
              <a:rPr lang="da-DK" smtClean="0"/>
              <a:pPr/>
              <a:t>‹nr.›</a:t>
            </a:fld>
            <a:endParaRPr lang="da-DK" dirty="0"/>
          </a:p>
        </p:txBody>
      </p:sp>
      <p:cxnSp>
        <p:nvCxnSpPr>
          <p:cNvPr id="8" name="Straight Connector 10">
            <a:extLst>
              <a:ext uri="{FF2B5EF4-FFF2-40B4-BE49-F238E27FC236}">
                <a16:creationId xmlns:a16="http://schemas.microsoft.com/office/drawing/2014/main" id="{1F70A783-DA69-A7E7-792F-2CF95760B1E4}"/>
              </a:ext>
            </a:extLst>
          </p:cNvPr>
          <p:cNvCxnSpPr>
            <a:cxnSpLocks/>
          </p:cNvCxnSpPr>
          <p:nvPr userDrawn="1"/>
        </p:nvCxnSpPr>
        <p:spPr>
          <a:xfrm>
            <a:off x="601658" y="746699"/>
            <a:ext cx="9488489" cy="0"/>
          </a:xfrm>
          <a:prstGeom prst="line">
            <a:avLst/>
          </a:prstGeom>
          <a:ln w="95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73" name="Picture 8">
            <a:extLst>
              <a:ext uri="{FF2B5EF4-FFF2-40B4-BE49-F238E27FC236}">
                <a16:creationId xmlns:a16="http://schemas.microsoft.com/office/drawing/2014/main" id="{FD26F04E-1C8E-AFF9-38B3-0E08555BBB75}"/>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601658" y="5802695"/>
            <a:ext cx="1666874" cy="90101"/>
          </a:xfrm>
          <a:prstGeom prst="rect">
            <a:avLst/>
          </a:prstGeom>
        </p:spPr>
      </p:pic>
    </p:spTree>
    <p:extLst>
      <p:ext uri="{BB962C8B-B14F-4D97-AF65-F5344CB8AC3E}">
        <p14:creationId xmlns:p14="http://schemas.microsoft.com/office/powerpoint/2010/main" val="1502496747"/>
      </p:ext>
    </p:extLst>
  </p:cSld>
  <p:clrMap bg1="lt1" tx1="dk1" bg2="lt2" tx2="dk2" accent1="accent1" accent2="accent2" accent3="accent3" accent4="accent4" accent5="accent5" accent6="accent6" hlink="hlink" folHlink="folHlink"/>
  <p:sldLayoutIdLst>
    <p:sldLayoutId id="2147483677" r:id="rId1"/>
    <p:sldLayoutId id="2147483701" r:id="rId2"/>
    <p:sldLayoutId id="2147483688" r:id="rId3"/>
    <p:sldLayoutId id="2147483702" r:id="rId4"/>
    <p:sldLayoutId id="2147483726" r:id="rId5"/>
    <p:sldLayoutId id="2147483693" r:id="rId6"/>
    <p:sldLayoutId id="2147483694" r:id="rId7"/>
    <p:sldLayoutId id="2147483695" r:id="rId8"/>
    <p:sldLayoutId id="2147483698" r:id="rId9"/>
    <p:sldLayoutId id="2147483703" r:id="rId10"/>
    <p:sldLayoutId id="2147483689" r:id="rId11"/>
    <p:sldLayoutId id="2147483699" r:id="rId12"/>
    <p:sldLayoutId id="2147483690" r:id="rId13"/>
    <p:sldLayoutId id="2147483691" r:id="rId14"/>
    <p:sldLayoutId id="2147483700" r:id="rId15"/>
    <p:sldLayoutId id="2147483692" r:id="rId16"/>
  </p:sldLayoutIdLst>
  <p:hf hdr="0" ftr="0" dt="0"/>
  <p:txStyles>
    <p:titleStyle>
      <a:lvl1pPr algn="l" defTabSz="914400" rtl="0" eaLnBrk="1" latinLnBrk="0" hangingPunct="1">
        <a:lnSpc>
          <a:spcPct val="90000"/>
        </a:lnSpc>
        <a:spcBef>
          <a:spcPct val="0"/>
        </a:spcBef>
        <a:buNone/>
        <a:defRPr sz="3600" kern="1200">
          <a:solidFill>
            <a:schemeClr val="tx1"/>
          </a:solidFill>
          <a:latin typeface="Baskerville Old Face" panose="020206020805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A/S Motortramp – private equity</a:t>
            </a:r>
          </a:p>
        </p:txBody>
      </p:sp>
      <p:sp>
        <p:nvSpPr>
          <p:cNvPr id="3" name="Subtitle 2"/>
          <p:cNvSpPr>
            <a:spLocks noGrp="1"/>
          </p:cNvSpPr>
          <p:nvPr>
            <p:ph type="subTitle" idx="1"/>
          </p:nvPr>
        </p:nvSpPr>
        <p:spPr/>
        <p:txBody>
          <a:bodyPr/>
          <a:lstStyle/>
          <a:p>
            <a:r>
              <a:t>Fondsrapport pr. 30.06.2026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Porteføljeoversigt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0"/>
          <a:lstStyle/>
          <a:p>
            <a:r>
              <a:t>Porteføljeoversigt</a:t>
            </a:r>
          </a:p>
        </p:txBody>
      </p:sp>
      <p:sp>
        <p:nvSpPr>
          <p:cNvPr id="3" name="TextBox 2"/>
          <p:cNvSpPr txBox="1"/>
          <p:nvPr/>
        </p:nvSpPr>
        <p:spPr>
          <a:xfrm>
            <a:off x="603504" y="786384"/>
            <a:ext cx="9491472" cy="201168"/>
          </a:xfrm>
          <a:prstGeom prst="rect">
            <a:avLst/>
          </a:prstGeom>
          <a:noFill/>
        </p:spPr>
        <p:txBody>
          <a:bodyPr wrap="square" lIns="0" tIns="0" rIns="0" bIns="0" anchor="t">
            <a:spAutoFit/>
          </a:bodyPr>
          <a:lstStyle/>
          <a:p>
            <a:pPr algn="l"/>
            <a:r>
              <a:rPr sz="950" b="0" i="0">
                <a:solidFill>
                  <a:srgbClr val="1E1E1E"/>
                </a:solidFill>
                <a:latin typeface="Gill Sans MT"/>
              </a:rPr>
              <a:t>A/S Motortramp  ·  pr. 30.06.2026  ·  beløb i tDKK</a:t>
            </a:r>
          </a:p>
        </p:txBody>
      </p:sp>
      <p:graphicFrame>
        <p:nvGraphicFramePr>
          <p:cNvPr id="4" name="Table 3"/>
          <p:cNvGraphicFramePr>
            <a:graphicFrameLocks noGrp="1"/>
          </p:cNvGraphicFramePr>
          <p:nvPr/>
        </p:nvGraphicFramePr>
        <p:xfrm>
          <a:off x="603504" y="1115568"/>
          <a:ext cx="9491467" cy="1938528"/>
        </p:xfrm>
        <a:graphic>
          <a:graphicData uri="http://schemas.openxmlformats.org/drawingml/2006/table">
            <a:tbl>
              <a:tblPr>
                <a:tableStyleId>{2D5ABB26-0587-4C30-8999-92F81FD0307C}</a:tableStyleId>
              </a:tblPr>
              <a:tblGrid>
                <a:gridCol w="2215907">
                  <a:extLst>
                    <a:ext uri="{9D8B030D-6E8A-4147-A177-3AD203B41FA5}">
                      <a16:colId xmlns:a16="http://schemas.microsoft.com/office/drawing/2014/main" val="20000"/>
                    </a:ext>
                  </a:extLst>
                </a:gridCol>
                <a:gridCol w="1292612">
                  <a:extLst>
                    <a:ext uri="{9D8B030D-6E8A-4147-A177-3AD203B41FA5}">
                      <a16:colId xmlns:a16="http://schemas.microsoft.com/office/drawing/2014/main" val="20001"/>
                    </a:ext>
                  </a:extLst>
                </a:gridCol>
                <a:gridCol w="517045">
                  <a:extLst>
                    <a:ext uri="{9D8B030D-6E8A-4147-A177-3AD203B41FA5}">
                      <a16:colId xmlns:a16="http://schemas.microsoft.com/office/drawing/2014/main" val="20002"/>
                    </a:ext>
                  </a:extLst>
                </a:gridCol>
                <a:gridCol w="480113">
                  <a:extLst>
                    <a:ext uri="{9D8B030D-6E8A-4147-A177-3AD203B41FA5}">
                      <a16:colId xmlns:a16="http://schemas.microsoft.com/office/drawing/2014/main" val="20003"/>
                    </a:ext>
                  </a:extLst>
                </a:gridCol>
                <a:gridCol w="701704">
                  <a:extLst>
                    <a:ext uri="{9D8B030D-6E8A-4147-A177-3AD203B41FA5}">
                      <a16:colId xmlns:a16="http://schemas.microsoft.com/office/drawing/2014/main" val="20004"/>
                    </a:ext>
                  </a:extLst>
                </a:gridCol>
                <a:gridCol w="701704">
                  <a:extLst>
                    <a:ext uri="{9D8B030D-6E8A-4147-A177-3AD203B41FA5}">
                      <a16:colId xmlns:a16="http://schemas.microsoft.com/office/drawing/2014/main" val="20005"/>
                    </a:ext>
                  </a:extLst>
                </a:gridCol>
                <a:gridCol w="590908">
                  <a:extLst>
                    <a:ext uri="{9D8B030D-6E8A-4147-A177-3AD203B41FA5}">
                      <a16:colId xmlns:a16="http://schemas.microsoft.com/office/drawing/2014/main" val="20006"/>
                    </a:ext>
                  </a:extLst>
                </a:gridCol>
                <a:gridCol w="701704">
                  <a:extLst>
                    <a:ext uri="{9D8B030D-6E8A-4147-A177-3AD203B41FA5}">
                      <a16:colId xmlns:a16="http://schemas.microsoft.com/office/drawing/2014/main" val="20007"/>
                    </a:ext>
                  </a:extLst>
                </a:gridCol>
                <a:gridCol w="701704">
                  <a:extLst>
                    <a:ext uri="{9D8B030D-6E8A-4147-A177-3AD203B41FA5}">
                      <a16:colId xmlns:a16="http://schemas.microsoft.com/office/drawing/2014/main" val="20008"/>
                    </a:ext>
                  </a:extLst>
                </a:gridCol>
                <a:gridCol w="517045">
                  <a:extLst>
                    <a:ext uri="{9D8B030D-6E8A-4147-A177-3AD203B41FA5}">
                      <a16:colId xmlns:a16="http://schemas.microsoft.com/office/drawing/2014/main" val="20009"/>
                    </a:ext>
                  </a:extLst>
                </a:gridCol>
                <a:gridCol w="517045">
                  <a:extLst>
                    <a:ext uri="{9D8B030D-6E8A-4147-A177-3AD203B41FA5}">
                      <a16:colId xmlns:a16="http://schemas.microsoft.com/office/drawing/2014/main" val="20010"/>
                    </a:ext>
                  </a:extLst>
                </a:gridCol>
                <a:gridCol w="553976">
                  <a:extLst>
                    <a:ext uri="{9D8B030D-6E8A-4147-A177-3AD203B41FA5}">
                      <a16:colId xmlns:a16="http://schemas.microsoft.com/office/drawing/2014/main" val="20011"/>
                    </a:ext>
                  </a:extLst>
                </a:gridCol>
              </a:tblGrid>
              <a:tr h="274320">
                <a:tc>
                  <a:txBody>
                    <a:bodyPr/>
                    <a:lstStyle/>
                    <a:p>
                      <a:pPr algn="l"/>
                      <a:r>
                        <a:rPr sz="900" b="1" i="0">
                          <a:solidFill>
                            <a:srgbClr val="FFFFFF"/>
                          </a:solidFill>
                          <a:latin typeface="Gill Sans MT"/>
                        </a:rPr>
                        <a:t>Fond</a:t>
                      </a:r>
                    </a:p>
                  </a:txBody>
                  <a:tcPr marL="45720" marR="45720" marT="9144" marB="9144" anchor="ctr">
                    <a:solidFill>
                      <a:srgbClr val="545B4A"/>
                    </a:solidFill>
                  </a:tcPr>
                </a:tc>
                <a:tc>
                  <a:txBody>
                    <a:bodyPr/>
                    <a:lstStyle/>
                    <a:p>
                      <a:pPr algn="l"/>
                      <a:r>
                        <a:rPr sz="900" b="1" i="0">
                          <a:solidFill>
                            <a:srgbClr val="FFFFFF"/>
                          </a:solidFill>
                          <a:latin typeface="Gill Sans MT"/>
                        </a:rPr>
                        <a:t>Segment</a:t>
                      </a:r>
                    </a:p>
                  </a:txBody>
                  <a:tcPr marL="45720" marR="45720" marT="9144" marB="9144" anchor="ctr">
                    <a:solidFill>
                      <a:srgbClr val="545B4A"/>
                    </a:solidFill>
                  </a:tcPr>
                </a:tc>
                <a:tc>
                  <a:txBody>
                    <a:bodyPr/>
                    <a:lstStyle/>
                    <a:p>
                      <a:pPr algn="ctr"/>
                      <a:r>
                        <a:rPr sz="900" b="1" i="0">
                          <a:solidFill>
                            <a:srgbClr val="FFFFFF"/>
                          </a:solidFill>
                          <a:latin typeface="Gill Sans MT"/>
                        </a:rPr>
                        <a:t>Vintage</a:t>
                      </a:r>
                    </a:p>
                  </a:txBody>
                  <a:tcPr marL="45720" marR="45720" marT="9144" marB="9144" anchor="ctr">
                    <a:solidFill>
                      <a:srgbClr val="545B4A"/>
                    </a:solidFill>
                  </a:tcPr>
                </a:tc>
                <a:tc>
                  <a:txBody>
                    <a:bodyPr/>
                    <a:lstStyle/>
                    <a:p>
                      <a:pPr algn="ctr"/>
                      <a:r>
                        <a:rPr sz="900" b="1" i="0">
                          <a:solidFill>
                            <a:srgbClr val="FFFFFF"/>
                          </a:solidFill>
                          <a:latin typeface="Gill Sans MT"/>
                        </a:rPr>
                        <a:t>Valuta</a:t>
                      </a:r>
                    </a:p>
                  </a:txBody>
                  <a:tcPr marL="45720" marR="45720" marT="9144" marB="9144" anchor="ctr">
                    <a:solidFill>
                      <a:srgbClr val="545B4A"/>
                    </a:solidFill>
                  </a:tcPr>
                </a:tc>
                <a:tc>
                  <a:txBody>
                    <a:bodyPr/>
                    <a:lstStyle/>
                    <a:p>
                      <a:pPr algn="r"/>
                      <a:r>
                        <a:rPr sz="900" b="1" i="0">
                          <a:solidFill>
                            <a:srgbClr val="FFFFFF"/>
                          </a:solidFill>
                          <a:latin typeface="Gill Sans MT"/>
                        </a:rPr>
                        <a:t>Tilsagn</a:t>
                      </a:r>
                    </a:p>
                  </a:txBody>
                  <a:tcPr marL="45720" marR="45720" marT="9144" marB="9144" anchor="ctr">
                    <a:solidFill>
                      <a:srgbClr val="545B4A"/>
                    </a:solidFill>
                  </a:tcPr>
                </a:tc>
                <a:tc>
                  <a:txBody>
                    <a:bodyPr/>
                    <a:lstStyle/>
                    <a:p>
                      <a:pPr algn="r"/>
                      <a:r>
                        <a:rPr sz="900" b="1" i="0">
                          <a:solidFill>
                            <a:srgbClr val="FFFFFF"/>
                          </a:solidFill>
                          <a:latin typeface="Gill Sans MT"/>
                        </a:rPr>
                        <a:t>Indbetalt</a:t>
                      </a:r>
                    </a:p>
                  </a:txBody>
                  <a:tcPr marL="45720" marR="45720" marT="9144" marB="9144" anchor="ctr">
                    <a:solidFill>
                      <a:srgbClr val="545B4A"/>
                    </a:solidFill>
                  </a:tcPr>
                </a:tc>
                <a:tc>
                  <a:txBody>
                    <a:bodyPr/>
                    <a:lstStyle/>
                    <a:p>
                      <a:pPr algn="r"/>
                      <a:r>
                        <a:rPr sz="900" b="1" i="0">
                          <a:solidFill>
                            <a:srgbClr val="FFFFFF"/>
                          </a:solidFill>
                          <a:latin typeface="Gill Sans MT"/>
                        </a:rPr>
                        <a:t>PICC</a:t>
                      </a:r>
                    </a:p>
                  </a:txBody>
                  <a:tcPr marL="45720" marR="45720" marT="9144" marB="9144" anchor="ctr">
                    <a:solidFill>
                      <a:srgbClr val="545B4A"/>
                    </a:solidFill>
                  </a:tcPr>
                </a:tc>
                <a:tc>
                  <a:txBody>
                    <a:bodyPr/>
                    <a:lstStyle/>
                    <a:p>
                      <a:pPr algn="r"/>
                      <a:r>
                        <a:rPr sz="900" b="1" i="0">
                          <a:solidFill>
                            <a:srgbClr val="FFFFFF"/>
                          </a:solidFill>
                          <a:latin typeface="Gill Sans MT"/>
                        </a:rPr>
                        <a:t>Udloddet</a:t>
                      </a:r>
                    </a:p>
                  </a:txBody>
                  <a:tcPr marL="45720" marR="45720" marT="9144" marB="9144" anchor="ctr">
                    <a:solidFill>
                      <a:srgbClr val="545B4A"/>
                    </a:solidFill>
                  </a:tcPr>
                </a:tc>
                <a:tc>
                  <a:txBody>
                    <a:bodyPr/>
                    <a:lstStyle/>
                    <a:p>
                      <a:pPr algn="r"/>
                      <a:r>
                        <a:rPr sz="900" b="1" i="0">
                          <a:solidFill>
                            <a:srgbClr val="FFFFFF"/>
                          </a:solidFill>
                          <a:latin typeface="Gill Sans MT"/>
                        </a:rPr>
                        <a:t>NAV</a:t>
                      </a:r>
                    </a:p>
                  </a:txBody>
                  <a:tcPr marL="45720" marR="45720" marT="9144" marB="9144" anchor="ctr">
                    <a:solidFill>
                      <a:srgbClr val="545B4A"/>
                    </a:solidFill>
                  </a:tcPr>
                </a:tc>
                <a:tc>
                  <a:txBody>
                    <a:bodyPr/>
                    <a:lstStyle/>
                    <a:p>
                      <a:pPr algn="r"/>
                      <a:r>
                        <a:rPr sz="900" b="1" i="0">
                          <a:solidFill>
                            <a:srgbClr val="FFFFFF"/>
                          </a:solidFill>
                          <a:latin typeface="Gill Sans MT"/>
                        </a:rPr>
                        <a:t>DPI</a:t>
                      </a:r>
                    </a:p>
                  </a:txBody>
                  <a:tcPr marL="45720" marR="45720" marT="9144" marB="9144" anchor="ctr">
                    <a:solidFill>
                      <a:srgbClr val="545B4A"/>
                    </a:solidFill>
                  </a:tcPr>
                </a:tc>
                <a:tc>
                  <a:txBody>
                    <a:bodyPr/>
                    <a:lstStyle/>
                    <a:p>
                      <a:pPr algn="r"/>
                      <a:r>
                        <a:rPr sz="900" b="1" i="0">
                          <a:solidFill>
                            <a:srgbClr val="FFFFFF"/>
                          </a:solidFill>
                          <a:latin typeface="Gill Sans MT"/>
                        </a:rPr>
                        <a:t>TVPI</a:t>
                      </a:r>
                    </a:p>
                  </a:txBody>
                  <a:tcPr marL="45720" marR="45720" marT="9144" marB="9144" anchor="ctr">
                    <a:solidFill>
                      <a:srgbClr val="545B4A"/>
                    </a:solidFill>
                  </a:tcPr>
                </a:tc>
                <a:tc>
                  <a:txBody>
                    <a:bodyPr/>
                    <a:lstStyle/>
                    <a:p>
                      <a:pPr algn="r"/>
                      <a:r>
                        <a:rPr sz="900" b="1" i="0">
                          <a:solidFill>
                            <a:srgbClr val="FFFFFF"/>
                          </a:solidFill>
                          <a:latin typeface="Gill Sans MT"/>
                        </a:rPr>
                        <a:t>IRR</a:t>
                      </a:r>
                    </a:p>
                  </a:txBody>
                  <a:tcPr marL="45720" marR="45720" marT="9144" marB="9144" anchor="ctr">
                    <a:solidFill>
                      <a:srgbClr val="545B4A"/>
                    </a:solidFill>
                  </a:tcPr>
                </a:tc>
                <a:extLst>
                  <a:ext uri="{0D108BD9-81ED-4DB2-BD59-A6C34878D82A}">
                    <a16:rowId xmlns:a16="http://schemas.microsoft.com/office/drawing/2014/main" val="10000"/>
                  </a:ext>
                </a:extLst>
              </a:tr>
              <a:tr h="274320">
                <a:tc>
                  <a:txBody>
                    <a:bodyPr/>
                    <a:lstStyle/>
                    <a:p>
                      <a:pPr algn="l"/>
                      <a:r>
                        <a:rPr sz="900" b="0" i="0">
                          <a:solidFill>
                            <a:srgbClr val="1E1E1E"/>
                          </a:solidFill>
                          <a:latin typeface="Gill Sans MT"/>
                        </a:rPr>
                        <a:t>CataCap III K/S</a:t>
                      </a:r>
                    </a:p>
                  </a:txBody>
                  <a:tcPr marL="45720" marR="45720" marT="9144" marB="9144" anchor="ctr">
                    <a:noFill/>
                  </a:tcPr>
                </a:tc>
                <a:tc>
                  <a:txBody>
                    <a:bodyPr/>
                    <a:lstStyle/>
                    <a:p>
                      <a:pPr algn="l"/>
                      <a:r>
                        <a:rPr sz="900" b="0" i="0">
                          <a:solidFill>
                            <a:srgbClr val="1E1E1E"/>
                          </a:solidFill>
                          <a:latin typeface="Gill Sans MT"/>
                        </a:rPr>
                        <a:t>Small/mid-cap buyout</a:t>
                      </a:r>
                    </a:p>
                  </a:txBody>
                  <a:tcPr marL="45720" marR="45720" marT="9144" marB="9144" anchor="ctr">
                    <a:noFill/>
                  </a:tcPr>
                </a:tc>
                <a:tc>
                  <a:txBody>
                    <a:bodyPr/>
                    <a:lstStyle/>
                    <a:p>
                      <a:pPr algn="ctr"/>
                      <a:r>
                        <a:rPr sz="900" b="0" i="0">
                          <a:solidFill>
                            <a:srgbClr val="1E1E1E"/>
                          </a:solidFill>
                          <a:latin typeface="Gill Sans MT"/>
                        </a:rPr>
                        <a:t>2023</a:t>
                      </a:r>
                    </a:p>
                  </a:txBody>
                  <a:tcPr marL="45720" marR="45720" marT="9144" marB="9144" anchor="ctr">
                    <a:noFill/>
                  </a:tcPr>
                </a:tc>
                <a:tc>
                  <a:txBody>
                    <a:bodyPr/>
                    <a:lstStyle/>
                    <a:p>
                      <a:pPr algn="ctr"/>
                      <a:r>
                        <a:rPr sz="900" b="0" i="0">
                          <a:solidFill>
                            <a:srgbClr val="1E1E1E"/>
                          </a:solidFill>
                          <a:latin typeface="Gill Sans MT"/>
                        </a:rPr>
                        <a:t>DKK</a:t>
                      </a:r>
                    </a:p>
                  </a:txBody>
                  <a:tcPr marL="45720" marR="45720" marT="9144" marB="9144" anchor="ctr">
                    <a:noFill/>
                  </a:tcPr>
                </a:tc>
                <a:tc>
                  <a:txBody>
                    <a:bodyPr/>
                    <a:lstStyle/>
                    <a:p>
                      <a:pPr algn="r"/>
                      <a:r>
                        <a:rPr sz="900" b="0" i="0">
                          <a:solidFill>
                            <a:srgbClr val="1E1E1E"/>
                          </a:solidFill>
                          <a:latin typeface="Gill Sans MT"/>
                        </a:rPr>
                        <a:t>37.500</a:t>
                      </a:r>
                    </a:p>
                  </a:txBody>
                  <a:tcPr marL="45720" marR="45720" marT="9144" marB="9144" anchor="ctr">
                    <a:noFill/>
                  </a:tcPr>
                </a:tc>
                <a:tc>
                  <a:txBody>
                    <a:bodyPr/>
                    <a:lstStyle/>
                    <a:p>
                      <a:pPr algn="r"/>
                      <a:r>
                        <a:rPr sz="900" b="0" i="0">
                          <a:solidFill>
                            <a:srgbClr val="1E1E1E"/>
                          </a:solidFill>
                          <a:latin typeface="Gill Sans MT"/>
                        </a:rPr>
                        <a:t>20.512</a:t>
                      </a:r>
                    </a:p>
                  </a:txBody>
                  <a:tcPr marL="45720" marR="45720" marT="9144" marB="9144" anchor="ctr">
                    <a:noFill/>
                  </a:tcPr>
                </a:tc>
                <a:tc>
                  <a:txBody>
                    <a:bodyPr/>
                    <a:lstStyle/>
                    <a:p>
                      <a:pPr algn="r"/>
                      <a:r>
                        <a:rPr sz="900" b="0" i="0">
                          <a:solidFill>
                            <a:srgbClr val="1E1E1E"/>
                          </a:solidFill>
                          <a:latin typeface="Gill Sans MT"/>
                        </a:rPr>
                        <a:t>54,7 %</a:t>
                      </a:r>
                    </a:p>
                  </a:txBody>
                  <a:tcPr marL="45720" marR="45720" marT="9144" marB="9144" anchor="ctr">
                    <a:noFill/>
                  </a:tcPr>
                </a:tc>
                <a:tc>
                  <a:txBody>
                    <a:bodyPr/>
                    <a:lstStyle/>
                    <a:p>
                      <a:pPr algn="r"/>
                      <a:r>
                        <a:rPr sz="900" b="0" i="0">
                          <a:solidFill>
                            <a:srgbClr val="1E1E1E"/>
                          </a:solidFill>
                          <a:latin typeface="Gill Sans MT"/>
                        </a:rPr>
                        <a:t>1.026</a:t>
                      </a:r>
                    </a:p>
                  </a:txBody>
                  <a:tcPr marL="45720" marR="45720" marT="9144" marB="9144" anchor="ctr">
                    <a:noFill/>
                  </a:tcPr>
                </a:tc>
                <a:tc>
                  <a:txBody>
                    <a:bodyPr/>
                    <a:lstStyle/>
                    <a:p>
                      <a:pPr algn="r"/>
                      <a:r>
                        <a:rPr sz="900" b="0" i="0">
                          <a:solidFill>
                            <a:srgbClr val="1E1E1E"/>
                          </a:solidFill>
                          <a:latin typeface="Gill Sans MT"/>
                        </a:rPr>
                        <a:t>25.897</a:t>
                      </a:r>
                    </a:p>
                  </a:txBody>
                  <a:tcPr marL="45720" marR="45720" marT="9144" marB="9144" anchor="ctr">
                    <a:noFill/>
                  </a:tcPr>
                </a:tc>
                <a:tc>
                  <a:txBody>
                    <a:bodyPr/>
                    <a:lstStyle/>
                    <a:p>
                      <a:pPr algn="r"/>
                      <a:r>
                        <a:rPr sz="900" b="0" i="0">
                          <a:solidFill>
                            <a:srgbClr val="1E1E1E"/>
                          </a:solidFill>
                          <a:latin typeface="Gill Sans MT"/>
                        </a:rPr>
                        <a:t>0,05x</a:t>
                      </a:r>
                    </a:p>
                  </a:txBody>
                  <a:tcPr marL="45720" marR="45720" marT="9144" marB="9144" anchor="ctr">
                    <a:noFill/>
                  </a:tcPr>
                </a:tc>
                <a:tc>
                  <a:txBody>
                    <a:bodyPr/>
                    <a:lstStyle/>
                    <a:p>
                      <a:pPr algn="r"/>
                      <a:r>
                        <a:rPr sz="900" b="0" i="0">
                          <a:solidFill>
                            <a:srgbClr val="1E1E1E"/>
                          </a:solidFill>
                          <a:latin typeface="Gill Sans MT"/>
                        </a:rPr>
                        <a:t>1,31x</a:t>
                      </a:r>
                    </a:p>
                  </a:txBody>
                  <a:tcPr marL="45720" marR="45720" marT="9144" marB="9144" anchor="ctr">
                    <a:noFill/>
                  </a:tcPr>
                </a:tc>
                <a:tc>
                  <a:txBody>
                    <a:bodyPr/>
                    <a:lstStyle/>
                    <a:p>
                      <a:pPr algn="r"/>
                      <a:r>
                        <a:rPr sz="900" b="0" i="0">
                          <a:solidFill>
                            <a:srgbClr val="1E1E1E"/>
                          </a:solidFill>
                          <a:latin typeface="Gill Sans MT"/>
                        </a:rPr>
                        <a:t>17,4 %</a:t>
                      </a:r>
                    </a:p>
                  </a:txBody>
                  <a:tcPr marL="45720" marR="45720" marT="9144" marB="9144" anchor="ctr">
                    <a:noFill/>
                  </a:tcPr>
                </a:tc>
                <a:extLst>
                  <a:ext uri="{0D108BD9-81ED-4DB2-BD59-A6C34878D82A}">
                    <a16:rowId xmlns:a16="http://schemas.microsoft.com/office/drawing/2014/main" val="10001"/>
                  </a:ext>
                </a:extLst>
              </a:tr>
              <a:tr h="274320">
                <a:tc>
                  <a:txBody>
                    <a:bodyPr/>
                    <a:lstStyle/>
                    <a:p>
                      <a:pPr algn="l"/>
                      <a:r>
                        <a:rPr sz="900" b="0" i="0">
                          <a:solidFill>
                            <a:srgbClr val="1E1E1E"/>
                          </a:solidFill>
                          <a:latin typeface="Gill Sans MT"/>
                        </a:rPr>
                        <a:t>K Alternativ Private Equity 2020 K/S</a:t>
                      </a:r>
                    </a:p>
                  </a:txBody>
                  <a:tcPr marL="45720" marR="45720" marT="9144" marB="9144" anchor="ctr">
                    <a:solidFill>
                      <a:srgbClr val="F4F2EB"/>
                    </a:solidFill>
                  </a:tcPr>
                </a:tc>
                <a:tc>
                  <a:txBody>
                    <a:bodyPr/>
                    <a:lstStyle/>
                    <a:p>
                      <a:pPr algn="l"/>
                      <a:r>
                        <a:rPr sz="900" b="0" i="0">
                          <a:solidFill>
                            <a:srgbClr val="1E1E1E"/>
                          </a:solidFill>
                          <a:latin typeface="Gill Sans MT"/>
                        </a:rPr>
                        <a:t>Fund of funds</a:t>
                      </a:r>
                    </a:p>
                  </a:txBody>
                  <a:tcPr marL="45720" marR="45720" marT="9144" marB="9144" anchor="ctr">
                    <a:solidFill>
                      <a:srgbClr val="F4F2EB"/>
                    </a:solidFill>
                  </a:tcPr>
                </a:tc>
                <a:tc>
                  <a:txBody>
                    <a:bodyPr/>
                    <a:lstStyle/>
                    <a:p>
                      <a:pPr algn="ctr"/>
                      <a:r>
                        <a:rPr sz="900" b="0" i="0">
                          <a:solidFill>
                            <a:srgbClr val="1E1E1E"/>
                          </a:solidFill>
                          <a:latin typeface="Gill Sans MT"/>
                        </a:rPr>
                        <a:t>2020</a:t>
                      </a:r>
                    </a:p>
                  </a:txBody>
                  <a:tcPr marL="45720" marR="45720" marT="9144" marB="9144" anchor="ctr">
                    <a:solidFill>
                      <a:srgbClr val="F4F2EB"/>
                    </a:solidFill>
                  </a:tcPr>
                </a:tc>
                <a:tc>
                  <a:txBody>
                    <a:bodyPr/>
                    <a:lstStyle/>
                    <a:p>
                      <a:pPr algn="ctr"/>
                      <a:r>
                        <a:rPr sz="900" b="0" i="0">
                          <a:solidFill>
                            <a:srgbClr val="1E1E1E"/>
                          </a:solidFill>
                          <a:latin typeface="Gill Sans MT"/>
                        </a:rPr>
                        <a:t>DKK</a:t>
                      </a:r>
                    </a:p>
                  </a:txBody>
                  <a:tcPr marL="45720" marR="45720" marT="9144" marB="9144" anchor="ctr">
                    <a:solidFill>
                      <a:srgbClr val="F4F2EB"/>
                    </a:solidFill>
                  </a:tcPr>
                </a:tc>
                <a:tc>
                  <a:txBody>
                    <a:bodyPr/>
                    <a:lstStyle/>
                    <a:p>
                      <a:pPr algn="r"/>
                      <a:r>
                        <a:rPr sz="900" b="0" i="0">
                          <a:solidFill>
                            <a:srgbClr val="1E1E1E"/>
                          </a:solidFill>
                          <a:latin typeface="Gill Sans MT"/>
                        </a:rPr>
                        <a:t>25.000</a:t>
                      </a:r>
                    </a:p>
                  </a:txBody>
                  <a:tcPr marL="45720" marR="45720" marT="9144" marB="9144" anchor="ctr">
                    <a:solidFill>
                      <a:srgbClr val="F4F2EB"/>
                    </a:solidFill>
                  </a:tcPr>
                </a:tc>
                <a:tc>
                  <a:txBody>
                    <a:bodyPr/>
                    <a:lstStyle/>
                    <a:p>
                      <a:pPr algn="r"/>
                      <a:r>
                        <a:rPr sz="900" b="0" i="0">
                          <a:solidFill>
                            <a:srgbClr val="1E1E1E"/>
                          </a:solidFill>
                          <a:latin typeface="Gill Sans MT"/>
                        </a:rPr>
                        <a:t>21.530</a:t>
                      </a:r>
                    </a:p>
                  </a:txBody>
                  <a:tcPr marL="45720" marR="45720" marT="9144" marB="9144" anchor="ctr">
                    <a:solidFill>
                      <a:srgbClr val="F4F2EB"/>
                    </a:solidFill>
                  </a:tcPr>
                </a:tc>
                <a:tc>
                  <a:txBody>
                    <a:bodyPr/>
                    <a:lstStyle/>
                    <a:p>
                      <a:pPr algn="r"/>
                      <a:r>
                        <a:rPr sz="900" b="0" i="0">
                          <a:solidFill>
                            <a:srgbClr val="1E1E1E"/>
                          </a:solidFill>
                          <a:latin typeface="Gill Sans MT"/>
                        </a:rPr>
                        <a:t>86,1 %</a:t>
                      </a:r>
                    </a:p>
                  </a:txBody>
                  <a:tcPr marL="45720" marR="45720" marT="9144" marB="9144" anchor="ctr">
                    <a:solidFill>
                      <a:srgbClr val="F4F2EB"/>
                    </a:solidFill>
                  </a:tcPr>
                </a:tc>
                <a:tc>
                  <a:txBody>
                    <a:bodyPr/>
                    <a:lstStyle/>
                    <a:p>
                      <a:pPr algn="r"/>
                      <a:r>
                        <a:rPr sz="900" b="0" i="0">
                          <a:solidFill>
                            <a:srgbClr val="1E1E1E"/>
                          </a:solidFill>
                          <a:latin typeface="Gill Sans MT"/>
                        </a:rPr>
                        <a:t>6.371</a:t>
                      </a:r>
                    </a:p>
                  </a:txBody>
                  <a:tcPr marL="45720" marR="45720" marT="9144" marB="9144" anchor="ctr">
                    <a:solidFill>
                      <a:srgbClr val="F4F2EB"/>
                    </a:solidFill>
                  </a:tcPr>
                </a:tc>
                <a:tc>
                  <a:txBody>
                    <a:bodyPr/>
                    <a:lstStyle/>
                    <a:p>
                      <a:pPr algn="r"/>
                      <a:r>
                        <a:rPr sz="900" b="0" i="0">
                          <a:solidFill>
                            <a:srgbClr val="1E1E1E"/>
                          </a:solidFill>
                          <a:latin typeface="Gill Sans MT"/>
                        </a:rPr>
                        <a:t>23.210</a:t>
                      </a:r>
                    </a:p>
                  </a:txBody>
                  <a:tcPr marL="45720" marR="45720" marT="9144" marB="9144" anchor="ctr">
                    <a:solidFill>
                      <a:srgbClr val="F4F2EB"/>
                    </a:solidFill>
                  </a:tcPr>
                </a:tc>
                <a:tc>
                  <a:txBody>
                    <a:bodyPr/>
                    <a:lstStyle/>
                    <a:p>
                      <a:pPr algn="r"/>
                      <a:r>
                        <a:rPr sz="900" b="0" i="0">
                          <a:solidFill>
                            <a:srgbClr val="1E1E1E"/>
                          </a:solidFill>
                          <a:latin typeface="Gill Sans MT"/>
                        </a:rPr>
                        <a:t>0,30x</a:t>
                      </a:r>
                    </a:p>
                  </a:txBody>
                  <a:tcPr marL="45720" marR="45720" marT="9144" marB="9144" anchor="ctr">
                    <a:solidFill>
                      <a:srgbClr val="F4F2EB"/>
                    </a:solidFill>
                  </a:tcPr>
                </a:tc>
                <a:tc>
                  <a:txBody>
                    <a:bodyPr/>
                    <a:lstStyle/>
                    <a:p>
                      <a:pPr algn="r"/>
                      <a:r>
                        <a:rPr sz="900" b="0" i="0">
                          <a:solidFill>
                            <a:srgbClr val="1E1E1E"/>
                          </a:solidFill>
                          <a:latin typeface="Gill Sans MT"/>
                        </a:rPr>
                        <a:t>1,37x</a:t>
                      </a:r>
                    </a:p>
                  </a:txBody>
                  <a:tcPr marL="45720" marR="45720" marT="9144" marB="9144" anchor="ctr">
                    <a:solidFill>
                      <a:srgbClr val="F4F2EB"/>
                    </a:solidFill>
                  </a:tcPr>
                </a:tc>
                <a:tc>
                  <a:txBody>
                    <a:bodyPr/>
                    <a:lstStyle/>
                    <a:p>
                      <a:pPr algn="r"/>
                      <a:r>
                        <a:rPr sz="900" b="0" i="0">
                          <a:solidFill>
                            <a:srgbClr val="1E1E1E"/>
                          </a:solidFill>
                          <a:latin typeface="Gill Sans MT"/>
                        </a:rPr>
                        <a:t>11,6 %</a:t>
                      </a:r>
                    </a:p>
                  </a:txBody>
                  <a:tcPr marL="45720" marR="45720" marT="9144" marB="9144" anchor="ctr">
                    <a:solidFill>
                      <a:srgbClr val="F4F2EB"/>
                    </a:solidFill>
                  </a:tcPr>
                </a:tc>
                <a:extLst>
                  <a:ext uri="{0D108BD9-81ED-4DB2-BD59-A6C34878D82A}">
                    <a16:rowId xmlns:a16="http://schemas.microsoft.com/office/drawing/2014/main" val="10002"/>
                  </a:ext>
                </a:extLst>
              </a:tr>
              <a:tr h="274320">
                <a:tc>
                  <a:txBody>
                    <a:bodyPr/>
                    <a:lstStyle/>
                    <a:p>
                      <a:pPr algn="l"/>
                      <a:r>
                        <a:rPr sz="900" b="0" i="0">
                          <a:solidFill>
                            <a:srgbClr val="1E1E1E"/>
                          </a:solidFill>
                          <a:latin typeface="Gill Sans MT"/>
                        </a:rPr>
                        <a:t>K Alternativ Private Equity 2021 K/S</a:t>
                      </a:r>
                    </a:p>
                  </a:txBody>
                  <a:tcPr marL="45720" marR="45720" marT="9144" marB="9144" anchor="ctr">
                    <a:noFill/>
                  </a:tcPr>
                </a:tc>
                <a:tc>
                  <a:txBody>
                    <a:bodyPr/>
                    <a:lstStyle/>
                    <a:p>
                      <a:pPr algn="l"/>
                      <a:r>
                        <a:rPr sz="900" b="0" i="0">
                          <a:solidFill>
                            <a:srgbClr val="1E1E1E"/>
                          </a:solidFill>
                          <a:latin typeface="Gill Sans MT"/>
                        </a:rPr>
                        <a:t>Fund of funds</a:t>
                      </a:r>
                    </a:p>
                  </a:txBody>
                  <a:tcPr marL="45720" marR="45720" marT="9144" marB="9144" anchor="ctr">
                    <a:noFill/>
                  </a:tcPr>
                </a:tc>
                <a:tc>
                  <a:txBody>
                    <a:bodyPr/>
                    <a:lstStyle/>
                    <a:p>
                      <a:pPr algn="ctr"/>
                      <a:r>
                        <a:rPr sz="900" b="0" i="0">
                          <a:solidFill>
                            <a:srgbClr val="1E1E1E"/>
                          </a:solidFill>
                          <a:latin typeface="Gill Sans MT"/>
                        </a:rPr>
                        <a:t>2021</a:t>
                      </a:r>
                    </a:p>
                  </a:txBody>
                  <a:tcPr marL="45720" marR="45720" marT="9144" marB="9144" anchor="ctr">
                    <a:noFill/>
                  </a:tcPr>
                </a:tc>
                <a:tc>
                  <a:txBody>
                    <a:bodyPr/>
                    <a:lstStyle/>
                    <a:p>
                      <a:pPr algn="ctr"/>
                      <a:r>
                        <a:rPr sz="900" b="0" i="0">
                          <a:solidFill>
                            <a:srgbClr val="1E1E1E"/>
                          </a:solidFill>
                          <a:latin typeface="Gill Sans MT"/>
                        </a:rPr>
                        <a:t>DKK</a:t>
                      </a:r>
                    </a:p>
                  </a:txBody>
                  <a:tcPr marL="45720" marR="45720" marT="9144" marB="9144" anchor="ctr">
                    <a:noFill/>
                  </a:tcPr>
                </a:tc>
                <a:tc>
                  <a:txBody>
                    <a:bodyPr/>
                    <a:lstStyle/>
                    <a:p>
                      <a:pPr algn="r"/>
                      <a:r>
                        <a:rPr sz="900" b="0" i="0">
                          <a:solidFill>
                            <a:srgbClr val="1E1E1E"/>
                          </a:solidFill>
                          <a:latin typeface="Gill Sans MT"/>
                        </a:rPr>
                        <a:t>25.000</a:t>
                      </a:r>
                    </a:p>
                  </a:txBody>
                  <a:tcPr marL="45720" marR="45720" marT="9144" marB="9144" anchor="ctr">
                    <a:noFill/>
                  </a:tcPr>
                </a:tc>
                <a:tc>
                  <a:txBody>
                    <a:bodyPr/>
                    <a:lstStyle/>
                    <a:p>
                      <a:pPr algn="r"/>
                      <a:r>
                        <a:rPr sz="900" b="0" i="0">
                          <a:solidFill>
                            <a:srgbClr val="1E1E1E"/>
                          </a:solidFill>
                          <a:latin typeface="Gill Sans MT"/>
                        </a:rPr>
                        <a:t>22.389</a:t>
                      </a:r>
                    </a:p>
                  </a:txBody>
                  <a:tcPr marL="45720" marR="45720" marT="9144" marB="9144" anchor="ctr">
                    <a:noFill/>
                  </a:tcPr>
                </a:tc>
                <a:tc>
                  <a:txBody>
                    <a:bodyPr/>
                    <a:lstStyle/>
                    <a:p>
                      <a:pPr algn="r"/>
                      <a:r>
                        <a:rPr sz="900" b="0" i="0">
                          <a:solidFill>
                            <a:srgbClr val="1E1E1E"/>
                          </a:solidFill>
                          <a:latin typeface="Gill Sans MT"/>
                        </a:rPr>
                        <a:t>89,6 %</a:t>
                      </a:r>
                    </a:p>
                  </a:txBody>
                  <a:tcPr marL="45720" marR="45720" marT="9144" marB="9144" anchor="ctr">
                    <a:noFill/>
                  </a:tcPr>
                </a:tc>
                <a:tc>
                  <a:txBody>
                    <a:bodyPr/>
                    <a:lstStyle/>
                    <a:p>
                      <a:pPr algn="r"/>
                      <a:r>
                        <a:rPr sz="900" b="0" i="0">
                          <a:solidFill>
                            <a:srgbClr val="1E1E1E"/>
                          </a:solidFill>
                          <a:latin typeface="Gill Sans MT"/>
                        </a:rPr>
                        <a:t>94</a:t>
                      </a:r>
                    </a:p>
                  </a:txBody>
                  <a:tcPr marL="45720" marR="45720" marT="9144" marB="9144" anchor="ctr">
                    <a:noFill/>
                  </a:tcPr>
                </a:tc>
                <a:tc>
                  <a:txBody>
                    <a:bodyPr/>
                    <a:lstStyle/>
                    <a:p>
                      <a:pPr algn="r"/>
                      <a:r>
                        <a:rPr sz="900" b="0" i="0">
                          <a:solidFill>
                            <a:srgbClr val="1E1E1E"/>
                          </a:solidFill>
                          <a:latin typeface="Gill Sans MT"/>
                        </a:rPr>
                        <a:t>30.611</a:t>
                      </a:r>
                    </a:p>
                  </a:txBody>
                  <a:tcPr marL="45720" marR="45720" marT="9144" marB="9144" anchor="ctr">
                    <a:noFill/>
                  </a:tcPr>
                </a:tc>
                <a:tc>
                  <a:txBody>
                    <a:bodyPr/>
                    <a:lstStyle/>
                    <a:p>
                      <a:pPr algn="r"/>
                      <a:r>
                        <a:rPr sz="900" b="0" i="0">
                          <a:solidFill>
                            <a:srgbClr val="1E1E1E"/>
                          </a:solidFill>
                          <a:latin typeface="Gill Sans MT"/>
                        </a:rPr>
                        <a:t>0,00x</a:t>
                      </a:r>
                    </a:p>
                  </a:txBody>
                  <a:tcPr marL="45720" marR="45720" marT="9144" marB="9144" anchor="ctr">
                    <a:noFill/>
                  </a:tcPr>
                </a:tc>
                <a:tc>
                  <a:txBody>
                    <a:bodyPr/>
                    <a:lstStyle/>
                    <a:p>
                      <a:pPr algn="r"/>
                      <a:r>
                        <a:rPr sz="900" b="0" i="0">
                          <a:solidFill>
                            <a:srgbClr val="1E1E1E"/>
                          </a:solidFill>
                          <a:latin typeface="Gill Sans MT"/>
                        </a:rPr>
                        <a:t>1,37x</a:t>
                      </a:r>
                    </a:p>
                  </a:txBody>
                  <a:tcPr marL="45720" marR="45720" marT="9144" marB="9144" anchor="ctr">
                    <a:noFill/>
                  </a:tcPr>
                </a:tc>
                <a:tc>
                  <a:txBody>
                    <a:bodyPr/>
                    <a:lstStyle/>
                    <a:p>
                      <a:pPr algn="r"/>
                      <a:r>
                        <a:rPr sz="900" b="0" i="0">
                          <a:solidFill>
                            <a:srgbClr val="1E1E1E"/>
                          </a:solidFill>
                          <a:latin typeface="Gill Sans MT"/>
                        </a:rPr>
                        <a:t>9,3 %</a:t>
                      </a:r>
                    </a:p>
                  </a:txBody>
                  <a:tcPr marL="45720" marR="45720" marT="9144" marB="9144" anchor="ctr">
                    <a:noFill/>
                  </a:tcPr>
                </a:tc>
                <a:extLst>
                  <a:ext uri="{0D108BD9-81ED-4DB2-BD59-A6C34878D82A}">
                    <a16:rowId xmlns:a16="http://schemas.microsoft.com/office/drawing/2014/main" val="10003"/>
                  </a:ext>
                </a:extLst>
              </a:tr>
              <a:tr h="274320">
                <a:tc>
                  <a:txBody>
                    <a:bodyPr/>
                    <a:lstStyle/>
                    <a:p>
                      <a:pPr algn="l"/>
                      <a:r>
                        <a:rPr sz="900" b="0" i="0">
                          <a:solidFill>
                            <a:srgbClr val="1E1E1E"/>
                          </a:solidFill>
                          <a:latin typeface="Gill Sans MT"/>
                        </a:rPr>
                        <a:t>K Alternativ Private Equity 2022 K/S</a:t>
                      </a:r>
                    </a:p>
                  </a:txBody>
                  <a:tcPr marL="45720" marR="45720" marT="9144" marB="9144" anchor="ctr">
                    <a:solidFill>
                      <a:srgbClr val="F4F2EB"/>
                    </a:solidFill>
                  </a:tcPr>
                </a:tc>
                <a:tc>
                  <a:txBody>
                    <a:bodyPr/>
                    <a:lstStyle/>
                    <a:p>
                      <a:pPr algn="l"/>
                      <a:r>
                        <a:rPr sz="900" b="0" i="0">
                          <a:solidFill>
                            <a:srgbClr val="1E1E1E"/>
                          </a:solidFill>
                          <a:latin typeface="Gill Sans MT"/>
                        </a:rPr>
                        <a:t>Fund of funds</a:t>
                      </a:r>
                    </a:p>
                  </a:txBody>
                  <a:tcPr marL="45720" marR="45720" marT="9144" marB="9144" anchor="ctr">
                    <a:solidFill>
                      <a:srgbClr val="F4F2EB"/>
                    </a:solidFill>
                  </a:tcPr>
                </a:tc>
                <a:tc>
                  <a:txBody>
                    <a:bodyPr/>
                    <a:lstStyle/>
                    <a:p>
                      <a:pPr algn="ctr"/>
                      <a:r>
                        <a:rPr sz="900" b="0" i="0">
                          <a:solidFill>
                            <a:srgbClr val="1E1E1E"/>
                          </a:solidFill>
                          <a:latin typeface="Gill Sans MT"/>
                        </a:rPr>
                        <a:t>2022</a:t>
                      </a:r>
                    </a:p>
                  </a:txBody>
                  <a:tcPr marL="45720" marR="45720" marT="9144" marB="9144" anchor="ctr">
                    <a:solidFill>
                      <a:srgbClr val="F4F2EB"/>
                    </a:solidFill>
                  </a:tcPr>
                </a:tc>
                <a:tc>
                  <a:txBody>
                    <a:bodyPr/>
                    <a:lstStyle/>
                    <a:p>
                      <a:pPr algn="ctr"/>
                      <a:r>
                        <a:rPr sz="900" b="0" i="0">
                          <a:solidFill>
                            <a:srgbClr val="1E1E1E"/>
                          </a:solidFill>
                          <a:latin typeface="Gill Sans MT"/>
                        </a:rPr>
                        <a:t>DKK</a:t>
                      </a:r>
                    </a:p>
                  </a:txBody>
                  <a:tcPr marL="45720" marR="45720" marT="9144" marB="9144" anchor="ctr">
                    <a:solidFill>
                      <a:srgbClr val="F4F2EB"/>
                    </a:solidFill>
                  </a:tcPr>
                </a:tc>
                <a:tc>
                  <a:txBody>
                    <a:bodyPr/>
                    <a:lstStyle/>
                    <a:p>
                      <a:pPr algn="r"/>
                      <a:r>
                        <a:rPr sz="900" b="0" i="0">
                          <a:solidFill>
                            <a:srgbClr val="1E1E1E"/>
                          </a:solidFill>
                          <a:latin typeface="Gill Sans MT"/>
                        </a:rPr>
                        <a:t>14.000</a:t>
                      </a:r>
                    </a:p>
                  </a:txBody>
                  <a:tcPr marL="45720" marR="45720" marT="9144" marB="9144" anchor="ctr">
                    <a:solidFill>
                      <a:srgbClr val="F4F2EB"/>
                    </a:solidFill>
                  </a:tcPr>
                </a:tc>
                <a:tc>
                  <a:txBody>
                    <a:bodyPr/>
                    <a:lstStyle/>
                    <a:p>
                      <a:pPr algn="r"/>
                      <a:r>
                        <a:rPr sz="900" b="0" i="0">
                          <a:solidFill>
                            <a:srgbClr val="1E1E1E"/>
                          </a:solidFill>
                          <a:latin typeface="Gill Sans MT"/>
                        </a:rPr>
                        <a:t>6.880</a:t>
                      </a:r>
                    </a:p>
                  </a:txBody>
                  <a:tcPr marL="45720" marR="45720" marT="9144" marB="9144" anchor="ctr">
                    <a:solidFill>
                      <a:srgbClr val="F4F2EB"/>
                    </a:solidFill>
                  </a:tcPr>
                </a:tc>
                <a:tc>
                  <a:txBody>
                    <a:bodyPr/>
                    <a:lstStyle/>
                    <a:p>
                      <a:pPr algn="r"/>
                      <a:r>
                        <a:rPr sz="900" b="0" i="0">
                          <a:solidFill>
                            <a:srgbClr val="1E1E1E"/>
                          </a:solidFill>
                          <a:latin typeface="Gill Sans MT"/>
                        </a:rPr>
                        <a:t>49,1 %</a:t>
                      </a:r>
                    </a:p>
                  </a:txBody>
                  <a:tcPr marL="45720" marR="45720" marT="9144" marB="9144" anchor="ctr">
                    <a:solidFill>
                      <a:srgbClr val="F4F2EB"/>
                    </a:solidFill>
                  </a:tcPr>
                </a:tc>
                <a:tc>
                  <a:txBody>
                    <a:bodyPr/>
                    <a:lstStyle/>
                    <a:p>
                      <a:pPr algn="r"/>
                      <a:r>
                        <a:rPr sz="900" b="0" i="0">
                          <a:solidFill>
                            <a:srgbClr val="1E1E1E"/>
                          </a:solidFill>
                          <a:latin typeface="Gill Sans MT"/>
                        </a:rPr>
                        <a:t>68</a:t>
                      </a:r>
                    </a:p>
                  </a:txBody>
                  <a:tcPr marL="45720" marR="45720" marT="9144" marB="9144" anchor="ctr">
                    <a:solidFill>
                      <a:srgbClr val="F4F2EB"/>
                    </a:solidFill>
                  </a:tcPr>
                </a:tc>
                <a:tc>
                  <a:txBody>
                    <a:bodyPr/>
                    <a:lstStyle/>
                    <a:p>
                      <a:pPr algn="r"/>
                      <a:r>
                        <a:rPr sz="900" b="0" i="0">
                          <a:solidFill>
                            <a:srgbClr val="1E1E1E"/>
                          </a:solidFill>
                          <a:latin typeface="Gill Sans MT"/>
                        </a:rPr>
                        <a:t>9.128</a:t>
                      </a:r>
                    </a:p>
                  </a:txBody>
                  <a:tcPr marL="45720" marR="45720" marT="9144" marB="9144" anchor="ctr">
                    <a:solidFill>
                      <a:srgbClr val="F4F2EB"/>
                    </a:solidFill>
                  </a:tcPr>
                </a:tc>
                <a:tc>
                  <a:txBody>
                    <a:bodyPr/>
                    <a:lstStyle/>
                    <a:p>
                      <a:pPr algn="r"/>
                      <a:r>
                        <a:rPr sz="900" b="0" i="0">
                          <a:solidFill>
                            <a:srgbClr val="1E1E1E"/>
                          </a:solidFill>
                          <a:latin typeface="Gill Sans MT"/>
                        </a:rPr>
                        <a:t>0,01x</a:t>
                      </a:r>
                    </a:p>
                  </a:txBody>
                  <a:tcPr marL="45720" marR="45720" marT="9144" marB="9144" anchor="ctr">
                    <a:solidFill>
                      <a:srgbClr val="F4F2EB"/>
                    </a:solidFill>
                  </a:tcPr>
                </a:tc>
                <a:tc>
                  <a:txBody>
                    <a:bodyPr/>
                    <a:lstStyle/>
                    <a:p>
                      <a:pPr algn="r"/>
                      <a:r>
                        <a:rPr sz="900" b="0" i="0">
                          <a:solidFill>
                            <a:srgbClr val="1E1E1E"/>
                          </a:solidFill>
                          <a:latin typeface="Gill Sans MT"/>
                        </a:rPr>
                        <a:t>1,34x</a:t>
                      </a:r>
                    </a:p>
                  </a:txBody>
                  <a:tcPr marL="45720" marR="45720" marT="9144" marB="9144" anchor="ctr">
                    <a:solidFill>
                      <a:srgbClr val="F4F2EB"/>
                    </a:solidFill>
                  </a:tcPr>
                </a:tc>
                <a:tc>
                  <a:txBody>
                    <a:bodyPr/>
                    <a:lstStyle/>
                    <a:p>
                      <a:pPr algn="r"/>
                      <a:r>
                        <a:rPr sz="900" b="0" i="0">
                          <a:solidFill>
                            <a:srgbClr val="1E1E1E"/>
                          </a:solidFill>
                          <a:latin typeface="Gill Sans MT"/>
                        </a:rPr>
                        <a:t>17,9 %</a:t>
                      </a:r>
                    </a:p>
                  </a:txBody>
                  <a:tcPr marL="45720" marR="45720" marT="9144" marB="9144" anchor="ctr">
                    <a:solidFill>
                      <a:srgbClr val="F4F2EB"/>
                    </a:solidFill>
                  </a:tcPr>
                </a:tc>
                <a:extLst>
                  <a:ext uri="{0D108BD9-81ED-4DB2-BD59-A6C34878D82A}">
                    <a16:rowId xmlns:a16="http://schemas.microsoft.com/office/drawing/2014/main" val="10004"/>
                  </a:ext>
                </a:extLst>
              </a:tr>
              <a:tr h="274320">
                <a:tc>
                  <a:txBody>
                    <a:bodyPr/>
                    <a:lstStyle/>
                    <a:p>
                      <a:pPr algn="l"/>
                      <a:r>
                        <a:rPr sz="900" b="0" i="0">
                          <a:solidFill>
                            <a:srgbClr val="1E1E1E"/>
                          </a:solidFill>
                          <a:latin typeface="Gill Sans MT"/>
                        </a:rPr>
                        <a:t>Seed Capital Denmark IV K/S</a:t>
                      </a:r>
                    </a:p>
                  </a:txBody>
                  <a:tcPr marL="45720" marR="45720" marT="9144" marB="9144" anchor="ctr">
                    <a:noFill/>
                  </a:tcPr>
                </a:tc>
                <a:tc>
                  <a:txBody>
                    <a:bodyPr/>
                    <a:lstStyle/>
                    <a:p>
                      <a:pPr algn="l"/>
                      <a:r>
                        <a:rPr sz="900" b="0" i="0">
                          <a:solidFill>
                            <a:srgbClr val="1E1E1E"/>
                          </a:solidFill>
                          <a:latin typeface="Gill Sans MT"/>
                        </a:rPr>
                        <a:t>Venture (seed)</a:t>
                      </a:r>
                    </a:p>
                  </a:txBody>
                  <a:tcPr marL="45720" marR="45720" marT="9144" marB="9144" anchor="ctr">
                    <a:noFill/>
                  </a:tcPr>
                </a:tc>
                <a:tc>
                  <a:txBody>
                    <a:bodyPr/>
                    <a:lstStyle/>
                    <a:p>
                      <a:pPr algn="ctr"/>
                      <a:r>
                        <a:rPr sz="900" b="0" i="0">
                          <a:solidFill>
                            <a:srgbClr val="1E1E1E"/>
                          </a:solidFill>
                          <a:latin typeface="Gill Sans MT"/>
                        </a:rPr>
                        <a:t>2021</a:t>
                      </a:r>
                    </a:p>
                  </a:txBody>
                  <a:tcPr marL="45720" marR="45720" marT="9144" marB="9144" anchor="ctr">
                    <a:noFill/>
                  </a:tcPr>
                </a:tc>
                <a:tc>
                  <a:txBody>
                    <a:bodyPr/>
                    <a:lstStyle/>
                    <a:p>
                      <a:pPr algn="ctr"/>
                      <a:r>
                        <a:rPr sz="900" b="0" i="0">
                          <a:solidFill>
                            <a:srgbClr val="1E1E1E"/>
                          </a:solidFill>
                          <a:latin typeface="Gill Sans MT"/>
                        </a:rPr>
                        <a:t>DKK</a:t>
                      </a:r>
                    </a:p>
                  </a:txBody>
                  <a:tcPr marL="45720" marR="45720" marT="9144" marB="9144" anchor="ctr">
                    <a:noFill/>
                  </a:tcPr>
                </a:tc>
                <a:tc>
                  <a:txBody>
                    <a:bodyPr/>
                    <a:lstStyle/>
                    <a:p>
                      <a:pPr algn="r"/>
                      <a:r>
                        <a:rPr sz="900" b="0" i="0">
                          <a:solidFill>
                            <a:srgbClr val="1E1E1E"/>
                          </a:solidFill>
                          <a:latin typeface="Gill Sans MT"/>
                        </a:rPr>
                        <a:t>30.000</a:t>
                      </a:r>
                    </a:p>
                  </a:txBody>
                  <a:tcPr marL="45720" marR="45720" marT="9144" marB="9144" anchor="ctr">
                    <a:noFill/>
                  </a:tcPr>
                </a:tc>
                <a:tc>
                  <a:txBody>
                    <a:bodyPr/>
                    <a:lstStyle/>
                    <a:p>
                      <a:pPr algn="r"/>
                      <a:r>
                        <a:rPr sz="900" b="0" i="0">
                          <a:solidFill>
                            <a:srgbClr val="1E1E1E"/>
                          </a:solidFill>
                          <a:latin typeface="Gill Sans MT"/>
                        </a:rPr>
                        <a:t>22.735</a:t>
                      </a:r>
                    </a:p>
                  </a:txBody>
                  <a:tcPr marL="45720" marR="45720" marT="9144" marB="9144" anchor="ctr">
                    <a:noFill/>
                  </a:tcPr>
                </a:tc>
                <a:tc>
                  <a:txBody>
                    <a:bodyPr/>
                    <a:lstStyle/>
                    <a:p>
                      <a:pPr algn="r"/>
                      <a:r>
                        <a:rPr sz="900" b="0" i="0">
                          <a:solidFill>
                            <a:srgbClr val="1E1E1E"/>
                          </a:solidFill>
                          <a:latin typeface="Gill Sans MT"/>
                        </a:rPr>
                        <a:t>75,8 %</a:t>
                      </a:r>
                    </a:p>
                  </a:txBody>
                  <a:tcPr marL="45720" marR="45720" marT="9144" marB="9144" anchor="ctr">
                    <a:noFill/>
                  </a:tcPr>
                </a:tc>
                <a:tc>
                  <a:txBody>
                    <a:bodyPr/>
                    <a:lstStyle/>
                    <a:p>
                      <a:pPr algn="r"/>
                      <a:r>
                        <a:rPr sz="900" b="0" i="0">
                          <a:solidFill>
                            <a:srgbClr val="1E1E1E"/>
                          </a:solidFill>
                          <a:latin typeface="Gill Sans MT"/>
                        </a:rPr>
                        <a:t>1.361</a:t>
                      </a:r>
                    </a:p>
                  </a:txBody>
                  <a:tcPr marL="45720" marR="45720" marT="9144" marB="9144" anchor="ctr">
                    <a:noFill/>
                  </a:tcPr>
                </a:tc>
                <a:tc>
                  <a:txBody>
                    <a:bodyPr/>
                    <a:lstStyle/>
                    <a:p>
                      <a:pPr algn="r"/>
                      <a:r>
                        <a:rPr sz="900" b="0" i="0">
                          <a:solidFill>
                            <a:srgbClr val="1E1E1E"/>
                          </a:solidFill>
                          <a:latin typeface="Gill Sans MT"/>
                        </a:rPr>
                        <a:t>54.956</a:t>
                      </a:r>
                    </a:p>
                  </a:txBody>
                  <a:tcPr marL="45720" marR="45720" marT="9144" marB="9144" anchor="ctr">
                    <a:noFill/>
                  </a:tcPr>
                </a:tc>
                <a:tc>
                  <a:txBody>
                    <a:bodyPr/>
                    <a:lstStyle/>
                    <a:p>
                      <a:pPr algn="r"/>
                      <a:r>
                        <a:rPr sz="900" b="0" i="0">
                          <a:solidFill>
                            <a:srgbClr val="1E1E1E"/>
                          </a:solidFill>
                          <a:latin typeface="Gill Sans MT"/>
                        </a:rPr>
                        <a:t>0,06x</a:t>
                      </a:r>
                    </a:p>
                  </a:txBody>
                  <a:tcPr marL="45720" marR="45720" marT="9144" marB="9144" anchor="ctr">
                    <a:noFill/>
                  </a:tcPr>
                </a:tc>
                <a:tc>
                  <a:txBody>
                    <a:bodyPr/>
                    <a:lstStyle/>
                    <a:p>
                      <a:pPr algn="r"/>
                      <a:r>
                        <a:rPr sz="900" b="0" i="0">
                          <a:solidFill>
                            <a:srgbClr val="1E1E1E"/>
                          </a:solidFill>
                          <a:latin typeface="Gill Sans MT"/>
                        </a:rPr>
                        <a:t>2,48x</a:t>
                      </a:r>
                    </a:p>
                  </a:txBody>
                  <a:tcPr marL="45720" marR="45720" marT="9144" marB="9144" anchor="ctr">
                    <a:noFill/>
                  </a:tcPr>
                </a:tc>
                <a:tc>
                  <a:txBody>
                    <a:bodyPr/>
                    <a:lstStyle/>
                    <a:p>
                      <a:pPr algn="r"/>
                      <a:r>
                        <a:rPr sz="900" b="0" i="0">
                          <a:solidFill>
                            <a:srgbClr val="1E1E1E"/>
                          </a:solidFill>
                          <a:latin typeface="Gill Sans MT"/>
                        </a:rPr>
                        <a:t>31,6 %</a:t>
                      </a:r>
                    </a:p>
                  </a:txBody>
                  <a:tcPr marL="45720" marR="45720" marT="9144" marB="9144" anchor="ctr">
                    <a:noFill/>
                  </a:tcPr>
                </a:tc>
                <a:extLst>
                  <a:ext uri="{0D108BD9-81ED-4DB2-BD59-A6C34878D82A}">
                    <a16:rowId xmlns:a16="http://schemas.microsoft.com/office/drawing/2014/main" val="10005"/>
                  </a:ext>
                </a:extLst>
              </a:tr>
              <a:tr h="274320">
                <a:tc>
                  <a:txBody>
                    <a:bodyPr/>
                    <a:lstStyle/>
                    <a:p>
                      <a:pPr algn="l"/>
                      <a:r>
                        <a:rPr sz="900" b="1" i="0">
                          <a:solidFill>
                            <a:srgbClr val="1E1E1E"/>
                          </a:solidFill>
                          <a:latin typeface="Gill Sans MT"/>
                        </a:rPr>
                        <a:t>I alt</a:t>
                      </a:r>
                    </a:p>
                  </a:txBody>
                  <a:tcPr marL="45720" marR="45720" marT="9144" marB="9144" anchor="ctr">
                    <a:solidFill>
                      <a:srgbClr val="C9CCB8"/>
                    </a:solidFill>
                  </a:tcPr>
                </a:tc>
                <a:tc>
                  <a:txBody>
                    <a:bodyPr/>
                    <a:lstStyle/>
                    <a:p>
                      <a:pPr algn="l"/>
                      <a:endParaRPr/>
                    </a:p>
                  </a:txBody>
                  <a:tcPr marL="45720" marR="45720" marT="9144" marB="9144" anchor="ctr">
                    <a:solidFill>
                      <a:srgbClr val="C9CCB8"/>
                    </a:solidFill>
                  </a:tcPr>
                </a:tc>
                <a:tc>
                  <a:txBody>
                    <a:bodyPr/>
                    <a:lstStyle/>
                    <a:p>
                      <a:pPr algn="ctr"/>
                      <a:endParaRPr/>
                    </a:p>
                  </a:txBody>
                  <a:tcPr marL="45720" marR="45720" marT="9144" marB="9144" anchor="ctr">
                    <a:solidFill>
                      <a:srgbClr val="C9CCB8"/>
                    </a:solidFill>
                  </a:tcPr>
                </a:tc>
                <a:tc>
                  <a:txBody>
                    <a:bodyPr/>
                    <a:lstStyle/>
                    <a:p>
                      <a:pPr algn="ctr"/>
                      <a:r>
                        <a:rPr sz="900" b="1" i="0">
                          <a:solidFill>
                            <a:srgbClr val="1E1E1E"/>
                          </a:solidFill>
                          <a:latin typeface="Gill Sans MT"/>
                        </a:rPr>
                        <a:t>DKK</a:t>
                      </a:r>
                    </a:p>
                  </a:txBody>
                  <a:tcPr marL="45720" marR="45720" marT="9144" marB="9144" anchor="ctr">
                    <a:solidFill>
                      <a:srgbClr val="C9CCB8"/>
                    </a:solidFill>
                  </a:tcPr>
                </a:tc>
                <a:tc>
                  <a:txBody>
                    <a:bodyPr/>
                    <a:lstStyle/>
                    <a:p>
                      <a:pPr algn="r"/>
                      <a:r>
                        <a:rPr sz="900" b="1" i="0">
                          <a:solidFill>
                            <a:srgbClr val="1E1E1E"/>
                          </a:solidFill>
                          <a:latin typeface="Gill Sans MT"/>
                        </a:rPr>
                        <a:t>131.500</a:t>
                      </a:r>
                    </a:p>
                  </a:txBody>
                  <a:tcPr marL="45720" marR="45720" marT="9144" marB="9144" anchor="ctr">
                    <a:solidFill>
                      <a:srgbClr val="C9CCB8"/>
                    </a:solidFill>
                  </a:tcPr>
                </a:tc>
                <a:tc>
                  <a:txBody>
                    <a:bodyPr/>
                    <a:lstStyle/>
                    <a:p>
                      <a:pPr algn="r"/>
                      <a:r>
                        <a:rPr sz="900" b="1" i="0">
                          <a:solidFill>
                            <a:srgbClr val="1E1E1E"/>
                          </a:solidFill>
                          <a:latin typeface="Gill Sans MT"/>
                        </a:rPr>
                        <a:t>94.045</a:t>
                      </a:r>
                    </a:p>
                  </a:txBody>
                  <a:tcPr marL="45720" marR="45720" marT="9144" marB="9144" anchor="ctr">
                    <a:solidFill>
                      <a:srgbClr val="C9CCB8"/>
                    </a:solidFill>
                  </a:tcPr>
                </a:tc>
                <a:tc>
                  <a:txBody>
                    <a:bodyPr/>
                    <a:lstStyle/>
                    <a:p>
                      <a:pPr algn="r"/>
                      <a:r>
                        <a:rPr sz="900" b="1" i="0">
                          <a:solidFill>
                            <a:srgbClr val="1E1E1E"/>
                          </a:solidFill>
                          <a:latin typeface="Gill Sans MT"/>
                        </a:rPr>
                        <a:t>71,5 %</a:t>
                      </a:r>
                    </a:p>
                  </a:txBody>
                  <a:tcPr marL="45720" marR="45720" marT="9144" marB="9144" anchor="ctr">
                    <a:solidFill>
                      <a:srgbClr val="C9CCB8"/>
                    </a:solidFill>
                  </a:tcPr>
                </a:tc>
                <a:tc>
                  <a:txBody>
                    <a:bodyPr/>
                    <a:lstStyle/>
                    <a:p>
                      <a:pPr algn="r"/>
                      <a:r>
                        <a:rPr sz="900" b="1" i="0">
                          <a:solidFill>
                            <a:srgbClr val="1E1E1E"/>
                          </a:solidFill>
                          <a:latin typeface="Gill Sans MT"/>
                        </a:rPr>
                        <a:t>8.920</a:t>
                      </a:r>
                    </a:p>
                  </a:txBody>
                  <a:tcPr marL="45720" marR="45720" marT="9144" marB="9144" anchor="ctr">
                    <a:solidFill>
                      <a:srgbClr val="C9CCB8"/>
                    </a:solidFill>
                  </a:tcPr>
                </a:tc>
                <a:tc>
                  <a:txBody>
                    <a:bodyPr/>
                    <a:lstStyle/>
                    <a:p>
                      <a:pPr algn="r"/>
                      <a:r>
                        <a:rPr sz="900" b="1" i="0">
                          <a:solidFill>
                            <a:srgbClr val="1E1E1E"/>
                          </a:solidFill>
                          <a:latin typeface="Gill Sans MT"/>
                        </a:rPr>
                        <a:t>143.803</a:t>
                      </a:r>
                    </a:p>
                  </a:txBody>
                  <a:tcPr marL="45720" marR="45720" marT="9144" marB="9144" anchor="ctr">
                    <a:solidFill>
                      <a:srgbClr val="C9CCB8"/>
                    </a:solidFill>
                  </a:tcPr>
                </a:tc>
                <a:tc>
                  <a:txBody>
                    <a:bodyPr/>
                    <a:lstStyle/>
                    <a:p>
                      <a:pPr algn="r"/>
                      <a:r>
                        <a:rPr sz="900" b="1" i="0">
                          <a:solidFill>
                            <a:srgbClr val="1E1E1E"/>
                          </a:solidFill>
                          <a:latin typeface="Gill Sans MT"/>
                        </a:rPr>
                        <a:t>0,09x</a:t>
                      </a:r>
                    </a:p>
                  </a:txBody>
                  <a:tcPr marL="45720" marR="45720" marT="9144" marB="9144" anchor="ctr">
                    <a:solidFill>
                      <a:srgbClr val="C9CCB8"/>
                    </a:solidFill>
                  </a:tcPr>
                </a:tc>
                <a:tc>
                  <a:txBody>
                    <a:bodyPr/>
                    <a:lstStyle/>
                    <a:p>
                      <a:pPr algn="r"/>
                      <a:r>
                        <a:rPr sz="900" b="1" i="0">
                          <a:solidFill>
                            <a:srgbClr val="1E1E1E"/>
                          </a:solidFill>
                          <a:latin typeface="Gill Sans MT"/>
                        </a:rPr>
                        <a:t>1,62x</a:t>
                      </a:r>
                    </a:p>
                  </a:txBody>
                  <a:tcPr marL="45720" marR="45720" marT="9144" marB="9144" anchor="ctr">
                    <a:solidFill>
                      <a:srgbClr val="C9CCB8"/>
                    </a:solidFill>
                  </a:tcPr>
                </a:tc>
                <a:tc>
                  <a:txBody>
                    <a:bodyPr/>
                    <a:lstStyle/>
                    <a:p>
                      <a:pPr algn="r"/>
                      <a:r>
                        <a:rPr sz="900" b="1" i="0">
                          <a:solidFill>
                            <a:srgbClr val="1E1E1E"/>
                          </a:solidFill>
                          <a:latin typeface="Gill Sans MT"/>
                        </a:rPr>
                        <a:t>18,5 %</a:t>
                      </a:r>
                    </a:p>
                  </a:txBody>
                  <a:tcPr marL="45720" marR="45720" marT="9144" marB="9144" anchor="ctr">
                    <a:solidFill>
                      <a:srgbClr val="C9CCB8"/>
                    </a:solidFill>
                  </a:tcPr>
                </a:tc>
                <a:extLst>
                  <a:ext uri="{0D108BD9-81ED-4DB2-BD59-A6C34878D82A}">
                    <a16:rowId xmlns:a16="http://schemas.microsoft.com/office/drawing/2014/main" val="10006"/>
                  </a:ext>
                </a:extLst>
              </a:tr>
            </a:tbl>
          </a:graphicData>
        </a:graphic>
      </p:graphicFrame>
      <p:sp>
        <p:nvSpPr>
          <p:cNvPr id="5" name="TextBox 4"/>
          <p:cNvSpPr txBox="1"/>
          <p:nvPr/>
        </p:nvSpPr>
        <p:spPr>
          <a:xfrm>
            <a:off x="670006" y="4857404"/>
            <a:ext cx="9491472" cy="457200"/>
          </a:xfrm>
          <a:prstGeom prst="rect">
            <a:avLst/>
          </a:prstGeom>
          <a:noFill/>
        </p:spPr>
        <p:txBody>
          <a:bodyPr wrap="square" lIns="0" tIns="0" rIns="0" bIns="0" anchor="t">
            <a:spAutoFit/>
          </a:bodyPr>
          <a:lstStyle/>
          <a:p>
            <a:pPr algn="l"/>
            <a:r>
              <a:rPr sz="700" b="0" i="1">
                <a:solidFill>
                  <a:srgbClr val="1E1E1E"/>
                </a:solidFill>
                <a:latin typeface="Gill Sans MT"/>
              </a:rPr>
              <a:t>Kilde: GP-rapporter og egne beregninger. IRR er beregnet på investors cash flows og NAV; samlet IRR er poolet over alle fonde. Seed Capital Denmark IV K/S: Indbetalt kapital er GP'ens opgørelse (22.735 tDKK); de registrerede kapitalkald summerer til 19.619 tDKK.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0"/>
          <a:lstStyle/>
          <a:p>
            <a:r>
              <a:t>Geografisk fordeling efter indbetalt kapital</a:t>
            </a:r>
          </a:p>
        </p:txBody>
      </p:sp>
      <p:sp>
        <p:nvSpPr>
          <p:cNvPr id="3" name="TextBox 2"/>
          <p:cNvSpPr txBox="1"/>
          <p:nvPr/>
        </p:nvSpPr>
        <p:spPr>
          <a:xfrm>
            <a:off x="603504" y="786384"/>
            <a:ext cx="9491472" cy="201168"/>
          </a:xfrm>
          <a:prstGeom prst="rect">
            <a:avLst/>
          </a:prstGeom>
          <a:noFill/>
        </p:spPr>
        <p:txBody>
          <a:bodyPr wrap="square" lIns="0" tIns="0" rIns="0" bIns="0" anchor="t">
            <a:spAutoFit/>
          </a:bodyPr>
          <a:lstStyle/>
          <a:p>
            <a:pPr algn="l"/>
            <a:r>
              <a:rPr sz="950" b="0" i="0">
                <a:solidFill>
                  <a:srgbClr val="1E1E1E"/>
                </a:solidFill>
                <a:latin typeface="Gill Sans MT"/>
              </a:rPr>
              <a:t>A/S Motortramp  ·  pr. 30.06.2026  ·  beløb i tDKK</a:t>
            </a:r>
          </a:p>
        </p:txBody>
      </p:sp>
      <p:graphicFrame>
        <p:nvGraphicFramePr>
          <p:cNvPr id="4" name="Table 3"/>
          <p:cNvGraphicFramePr>
            <a:graphicFrameLocks noGrp="1"/>
          </p:cNvGraphicFramePr>
          <p:nvPr/>
        </p:nvGraphicFramePr>
        <p:xfrm>
          <a:off x="603504" y="1115568"/>
          <a:ext cx="9491468" cy="2743200"/>
        </p:xfrm>
        <a:graphic>
          <a:graphicData uri="http://schemas.openxmlformats.org/drawingml/2006/table">
            <a:tbl>
              <a:tblPr>
                <a:tableStyleId>{2D5ABB26-0587-4C30-8999-92F81FD0307C}</a:tableStyleId>
              </a:tblPr>
              <a:tblGrid>
                <a:gridCol w="4158168">
                  <a:extLst>
                    <a:ext uri="{9D8B030D-6E8A-4147-A177-3AD203B41FA5}">
                      <a16:colId xmlns:a16="http://schemas.microsoft.com/office/drawing/2014/main" val="20000"/>
                    </a:ext>
                  </a:extLst>
                </a:gridCol>
                <a:gridCol w="813554">
                  <a:extLst>
                    <a:ext uri="{9D8B030D-6E8A-4147-A177-3AD203B41FA5}">
                      <a16:colId xmlns:a16="http://schemas.microsoft.com/office/drawing/2014/main" val="20001"/>
                    </a:ext>
                  </a:extLst>
                </a:gridCol>
                <a:gridCol w="1175134">
                  <a:extLst>
                    <a:ext uri="{9D8B030D-6E8A-4147-A177-3AD203B41FA5}">
                      <a16:colId xmlns:a16="http://schemas.microsoft.com/office/drawing/2014/main" val="20002"/>
                    </a:ext>
                  </a:extLst>
                </a:gridCol>
                <a:gridCol w="1355924">
                  <a:extLst>
                    <a:ext uri="{9D8B030D-6E8A-4147-A177-3AD203B41FA5}">
                      <a16:colId xmlns:a16="http://schemas.microsoft.com/office/drawing/2014/main" val="20003"/>
                    </a:ext>
                  </a:extLst>
                </a:gridCol>
                <a:gridCol w="1175134">
                  <a:extLst>
                    <a:ext uri="{9D8B030D-6E8A-4147-A177-3AD203B41FA5}">
                      <a16:colId xmlns:a16="http://schemas.microsoft.com/office/drawing/2014/main" val="20004"/>
                    </a:ext>
                  </a:extLst>
                </a:gridCol>
                <a:gridCol w="813554">
                  <a:extLst>
                    <a:ext uri="{9D8B030D-6E8A-4147-A177-3AD203B41FA5}">
                      <a16:colId xmlns:a16="http://schemas.microsoft.com/office/drawing/2014/main" val="20005"/>
                    </a:ext>
                  </a:extLst>
                </a:gridCol>
              </a:tblGrid>
              <a:tr h="274320">
                <a:tc>
                  <a:txBody>
                    <a:bodyPr/>
                    <a:lstStyle/>
                    <a:p>
                      <a:pPr algn="l"/>
                      <a:endParaRPr/>
                    </a:p>
                  </a:txBody>
                  <a:tcPr marL="45720" marR="45720" marT="9144" marB="9144" anchor="ctr">
                    <a:solidFill>
                      <a:srgbClr val="545B4A"/>
                    </a:solidFill>
                  </a:tcPr>
                </a:tc>
                <a:tc>
                  <a:txBody>
                    <a:bodyPr/>
                    <a:lstStyle/>
                    <a:p>
                      <a:pPr algn="ctr"/>
                      <a:r>
                        <a:rPr sz="900" b="1" i="0">
                          <a:solidFill>
                            <a:srgbClr val="FFFFFF"/>
                          </a:solidFill>
                          <a:latin typeface="Gill Sans MT"/>
                        </a:rPr>
                        <a:t>Valuta</a:t>
                      </a:r>
                    </a:p>
                  </a:txBody>
                  <a:tcPr marL="45720" marR="45720" marT="9144" marB="9144" anchor="ctr">
                    <a:solidFill>
                      <a:srgbClr val="545B4A"/>
                    </a:solidFill>
                  </a:tcPr>
                </a:tc>
                <a:tc>
                  <a:txBody>
                    <a:bodyPr/>
                    <a:lstStyle/>
                    <a:p>
                      <a:pPr algn="r"/>
                      <a:r>
                        <a:rPr sz="900" b="1" i="0">
                          <a:solidFill>
                            <a:srgbClr val="FFFFFF"/>
                          </a:solidFill>
                          <a:latin typeface="Gill Sans MT"/>
                        </a:rPr>
                        <a:t>Tilsagn</a:t>
                      </a:r>
                    </a:p>
                  </a:txBody>
                  <a:tcPr marL="45720" marR="45720" marT="9144" marB="9144" anchor="ctr">
                    <a:solidFill>
                      <a:srgbClr val="545B4A"/>
                    </a:solidFill>
                  </a:tcPr>
                </a:tc>
                <a:tc>
                  <a:txBody>
                    <a:bodyPr/>
                    <a:lstStyle/>
                    <a:p>
                      <a:pPr algn="r"/>
                      <a:r>
                        <a:rPr sz="900" b="1" i="0">
                          <a:solidFill>
                            <a:srgbClr val="FFFFFF"/>
                          </a:solidFill>
                          <a:latin typeface="Gill Sans MT"/>
                        </a:rPr>
                        <a:t>Indbetalt kapital</a:t>
                      </a:r>
                    </a:p>
                  </a:txBody>
                  <a:tcPr marL="45720" marR="45720" marT="9144" marB="9144" anchor="ctr">
                    <a:solidFill>
                      <a:srgbClr val="545B4A"/>
                    </a:solidFill>
                  </a:tcPr>
                </a:tc>
                <a:tc>
                  <a:txBody>
                    <a:bodyPr/>
                    <a:lstStyle/>
                    <a:p>
                      <a:pPr algn="r"/>
                      <a:r>
                        <a:rPr sz="900" b="1" i="0">
                          <a:solidFill>
                            <a:srgbClr val="FFFFFF"/>
                          </a:solidFill>
                          <a:latin typeface="Gill Sans MT"/>
                        </a:rPr>
                        <a:t>NAV</a:t>
                      </a:r>
                    </a:p>
                  </a:txBody>
                  <a:tcPr marL="45720" marR="45720" marT="9144" marB="9144" anchor="ctr">
                    <a:solidFill>
                      <a:srgbClr val="545B4A"/>
                    </a:solidFill>
                  </a:tcPr>
                </a:tc>
                <a:tc>
                  <a:txBody>
                    <a:bodyPr/>
                    <a:lstStyle/>
                    <a:p>
                      <a:pPr algn="r"/>
                      <a:r>
                        <a:rPr sz="900" b="1" i="0">
                          <a:solidFill>
                            <a:srgbClr val="FFFFFF"/>
                          </a:solidFill>
                          <a:latin typeface="Gill Sans MT"/>
                        </a:rPr>
                        <a:t>TVPI</a:t>
                      </a:r>
                    </a:p>
                  </a:txBody>
                  <a:tcPr marL="45720" marR="45720" marT="9144" marB="9144" anchor="ctr">
                    <a:solidFill>
                      <a:srgbClr val="545B4A"/>
                    </a:solidFill>
                  </a:tcPr>
                </a:tc>
                <a:extLst>
                  <a:ext uri="{0D108BD9-81ED-4DB2-BD59-A6C34878D82A}">
                    <a16:rowId xmlns:a16="http://schemas.microsoft.com/office/drawing/2014/main" val="10000"/>
                  </a:ext>
                </a:extLst>
              </a:tr>
              <a:tr h="274320">
                <a:tc>
                  <a:txBody>
                    <a:bodyPr/>
                    <a:lstStyle/>
                    <a:p>
                      <a:pPr algn="l"/>
                      <a:r>
                        <a:rPr sz="900" b="1" i="0">
                          <a:solidFill>
                            <a:srgbClr val="1E1E1E"/>
                          </a:solidFill>
                          <a:latin typeface="Gill Sans MT"/>
                        </a:rPr>
                        <a:t>Europa og Nordamerika (54,0 %)</a:t>
                      </a:r>
                    </a:p>
                  </a:txBody>
                  <a:tcPr marL="45720" marR="45720" marT="9144" marB="9144" anchor="ctr">
                    <a:solidFill>
                      <a:srgbClr val="F4F2EB"/>
                    </a:solidFill>
                  </a:tcPr>
                </a:tc>
                <a:tc>
                  <a:txBody>
                    <a:bodyPr/>
                    <a:lstStyle/>
                    <a:p>
                      <a:pPr algn="ctr"/>
                      <a:endParaRPr/>
                    </a:p>
                  </a:txBody>
                  <a:tcPr marL="45720" marR="45720" marT="9144" marB="9144" anchor="ctr">
                    <a:solidFill>
                      <a:srgbClr val="F4F2EB"/>
                    </a:solidFill>
                  </a:tcPr>
                </a:tc>
                <a:tc>
                  <a:txBody>
                    <a:bodyPr/>
                    <a:lstStyle/>
                    <a:p>
                      <a:pPr algn="r"/>
                      <a:r>
                        <a:rPr sz="900" b="1" i="0">
                          <a:solidFill>
                            <a:srgbClr val="1E1E1E"/>
                          </a:solidFill>
                          <a:latin typeface="Gill Sans MT"/>
                        </a:rPr>
                        <a:t>64.000</a:t>
                      </a:r>
                    </a:p>
                  </a:txBody>
                  <a:tcPr marL="45720" marR="45720" marT="9144" marB="9144" anchor="ctr">
                    <a:solidFill>
                      <a:srgbClr val="F4F2EB"/>
                    </a:solidFill>
                  </a:tcPr>
                </a:tc>
                <a:tc>
                  <a:txBody>
                    <a:bodyPr/>
                    <a:lstStyle/>
                    <a:p>
                      <a:pPr algn="r"/>
                      <a:r>
                        <a:rPr sz="900" b="1" i="0">
                          <a:solidFill>
                            <a:srgbClr val="1E1E1E"/>
                          </a:solidFill>
                          <a:latin typeface="Gill Sans MT"/>
                        </a:rPr>
                        <a:t>50.798</a:t>
                      </a:r>
                    </a:p>
                  </a:txBody>
                  <a:tcPr marL="45720" marR="45720" marT="9144" marB="9144" anchor="ctr">
                    <a:solidFill>
                      <a:srgbClr val="F4F2EB"/>
                    </a:solidFill>
                  </a:tcPr>
                </a:tc>
                <a:tc>
                  <a:txBody>
                    <a:bodyPr/>
                    <a:lstStyle/>
                    <a:p>
                      <a:pPr algn="r"/>
                      <a:r>
                        <a:rPr sz="900" b="1" i="0">
                          <a:solidFill>
                            <a:srgbClr val="1E1E1E"/>
                          </a:solidFill>
                          <a:latin typeface="Gill Sans MT"/>
                        </a:rPr>
                        <a:t>62.949</a:t>
                      </a:r>
                    </a:p>
                  </a:txBody>
                  <a:tcPr marL="45720" marR="45720" marT="9144" marB="9144" anchor="ctr">
                    <a:solidFill>
                      <a:srgbClr val="F4F2EB"/>
                    </a:solidFill>
                  </a:tcPr>
                </a:tc>
                <a:tc>
                  <a:txBody>
                    <a:bodyPr/>
                    <a:lstStyle/>
                    <a:p>
                      <a:pPr algn="r"/>
                      <a:r>
                        <a:rPr sz="900" b="1" i="0">
                          <a:solidFill>
                            <a:srgbClr val="1E1E1E"/>
                          </a:solidFill>
                          <a:latin typeface="Gill Sans MT"/>
                        </a:rPr>
                        <a:t>1,37x</a:t>
                      </a:r>
                    </a:p>
                  </a:txBody>
                  <a:tcPr marL="45720" marR="45720" marT="9144" marB="9144" anchor="ctr">
                    <a:solidFill>
                      <a:srgbClr val="F4F2EB"/>
                    </a:solidFill>
                  </a:tcPr>
                </a:tc>
                <a:extLst>
                  <a:ext uri="{0D108BD9-81ED-4DB2-BD59-A6C34878D82A}">
                    <a16:rowId xmlns:a16="http://schemas.microsoft.com/office/drawing/2014/main" val="10001"/>
                  </a:ext>
                </a:extLst>
              </a:tr>
              <a:tr h="274320">
                <a:tc>
                  <a:txBody>
                    <a:bodyPr/>
                    <a:lstStyle/>
                    <a:p>
                      <a:pPr algn="l"/>
                      <a:r>
                        <a:rPr sz="900" b="0" i="0">
                          <a:solidFill>
                            <a:srgbClr val="1E1E1E"/>
                          </a:solidFill>
                          <a:latin typeface="Gill Sans MT"/>
                        </a:rPr>
                        <a:t>      K Alternativ Private Equity 2020 K/S</a:t>
                      </a:r>
                    </a:p>
                  </a:txBody>
                  <a:tcPr marL="45720" marR="45720" marT="9144" marB="9144" anchor="ctr">
                    <a:noFill/>
                  </a:tcPr>
                </a:tc>
                <a:tc>
                  <a:txBody>
                    <a:bodyPr/>
                    <a:lstStyle/>
                    <a:p>
                      <a:pPr algn="ctr"/>
                      <a:r>
                        <a:rPr sz="900" b="0" i="0">
                          <a:solidFill>
                            <a:srgbClr val="1E1E1E"/>
                          </a:solidFill>
                          <a:latin typeface="Gill Sans MT"/>
                        </a:rPr>
                        <a:t>DKK</a:t>
                      </a:r>
                    </a:p>
                  </a:txBody>
                  <a:tcPr marL="45720" marR="45720" marT="9144" marB="9144" anchor="ctr">
                    <a:noFill/>
                  </a:tcPr>
                </a:tc>
                <a:tc>
                  <a:txBody>
                    <a:bodyPr/>
                    <a:lstStyle/>
                    <a:p>
                      <a:pPr algn="r"/>
                      <a:r>
                        <a:rPr sz="900" b="0" i="0">
                          <a:solidFill>
                            <a:srgbClr val="1E1E1E"/>
                          </a:solidFill>
                          <a:latin typeface="Gill Sans MT"/>
                        </a:rPr>
                        <a:t>25.000</a:t>
                      </a:r>
                    </a:p>
                  </a:txBody>
                  <a:tcPr marL="45720" marR="45720" marT="9144" marB="9144" anchor="ctr">
                    <a:noFill/>
                  </a:tcPr>
                </a:tc>
                <a:tc>
                  <a:txBody>
                    <a:bodyPr/>
                    <a:lstStyle/>
                    <a:p>
                      <a:pPr algn="r"/>
                      <a:r>
                        <a:rPr sz="900" b="0" i="0">
                          <a:solidFill>
                            <a:srgbClr val="1E1E1E"/>
                          </a:solidFill>
                          <a:latin typeface="Gill Sans MT"/>
                        </a:rPr>
                        <a:t>21.530</a:t>
                      </a:r>
                    </a:p>
                  </a:txBody>
                  <a:tcPr marL="45720" marR="45720" marT="9144" marB="9144" anchor="ctr">
                    <a:noFill/>
                  </a:tcPr>
                </a:tc>
                <a:tc>
                  <a:txBody>
                    <a:bodyPr/>
                    <a:lstStyle/>
                    <a:p>
                      <a:pPr algn="r"/>
                      <a:r>
                        <a:rPr sz="900" b="0" i="0">
                          <a:solidFill>
                            <a:srgbClr val="1E1E1E"/>
                          </a:solidFill>
                          <a:latin typeface="Gill Sans MT"/>
                        </a:rPr>
                        <a:t>23.210</a:t>
                      </a:r>
                    </a:p>
                  </a:txBody>
                  <a:tcPr marL="45720" marR="45720" marT="9144" marB="9144" anchor="ctr">
                    <a:noFill/>
                  </a:tcPr>
                </a:tc>
                <a:tc>
                  <a:txBody>
                    <a:bodyPr/>
                    <a:lstStyle/>
                    <a:p>
                      <a:pPr algn="r"/>
                      <a:r>
                        <a:rPr sz="900" b="0" i="0">
                          <a:solidFill>
                            <a:srgbClr val="1E1E1E"/>
                          </a:solidFill>
                          <a:latin typeface="Gill Sans MT"/>
                        </a:rPr>
                        <a:t>1,37x</a:t>
                      </a:r>
                    </a:p>
                  </a:txBody>
                  <a:tcPr marL="45720" marR="45720" marT="9144" marB="9144" anchor="ctr">
                    <a:noFill/>
                  </a:tcPr>
                </a:tc>
                <a:extLst>
                  <a:ext uri="{0D108BD9-81ED-4DB2-BD59-A6C34878D82A}">
                    <a16:rowId xmlns:a16="http://schemas.microsoft.com/office/drawing/2014/main" val="10002"/>
                  </a:ext>
                </a:extLst>
              </a:tr>
              <a:tr h="274320">
                <a:tc>
                  <a:txBody>
                    <a:bodyPr/>
                    <a:lstStyle/>
                    <a:p>
                      <a:pPr algn="l"/>
                      <a:r>
                        <a:rPr sz="900" b="0" i="0">
                          <a:solidFill>
                            <a:srgbClr val="1E1E1E"/>
                          </a:solidFill>
                          <a:latin typeface="Gill Sans MT"/>
                        </a:rPr>
                        <a:t>      K Alternativ Private Equity 2021 K/S</a:t>
                      </a:r>
                    </a:p>
                  </a:txBody>
                  <a:tcPr marL="45720" marR="45720" marT="9144" marB="9144" anchor="ctr">
                    <a:noFill/>
                  </a:tcPr>
                </a:tc>
                <a:tc>
                  <a:txBody>
                    <a:bodyPr/>
                    <a:lstStyle/>
                    <a:p>
                      <a:pPr algn="ctr"/>
                      <a:r>
                        <a:rPr sz="900" b="0" i="0">
                          <a:solidFill>
                            <a:srgbClr val="1E1E1E"/>
                          </a:solidFill>
                          <a:latin typeface="Gill Sans MT"/>
                        </a:rPr>
                        <a:t>DKK</a:t>
                      </a:r>
                    </a:p>
                  </a:txBody>
                  <a:tcPr marL="45720" marR="45720" marT="9144" marB="9144" anchor="ctr">
                    <a:noFill/>
                  </a:tcPr>
                </a:tc>
                <a:tc>
                  <a:txBody>
                    <a:bodyPr/>
                    <a:lstStyle/>
                    <a:p>
                      <a:pPr algn="r"/>
                      <a:r>
                        <a:rPr sz="900" b="0" i="0">
                          <a:solidFill>
                            <a:srgbClr val="1E1E1E"/>
                          </a:solidFill>
                          <a:latin typeface="Gill Sans MT"/>
                        </a:rPr>
                        <a:t>25.000</a:t>
                      </a:r>
                    </a:p>
                  </a:txBody>
                  <a:tcPr marL="45720" marR="45720" marT="9144" marB="9144" anchor="ctr">
                    <a:noFill/>
                  </a:tcPr>
                </a:tc>
                <a:tc>
                  <a:txBody>
                    <a:bodyPr/>
                    <a:lstStyle/>
                    <a:p>
                      <a:pPr algn="r"/>
                      <a:r>
                        <a:rPr sz="900" b="0" i="0">
                          <a:solidFill>
                            <a:srgbClr val="1E1E1E"/>
                          </a:solidFill>
                          <a:latin typeface="Gill Sans MT"/>
                        </a:rPr>
                        <a:t>22.389</a:t>
                      </a:r>
                    </a:p>
                  </a:txBody>
                  <a:tcPr marL="45720" marR="45720" marT="9144" marB="9144" anchor="ctr">
                    <a:noFill/>
                  </a:tcPr>
                </a:tc>
                <a:tc>
                  <a:txBody>
                    <a:bodyPr/>
                    <a:lstStyle/>
                    <a:p>
                      <a:pPr algn="r"/>
                      <a:r>
                        <a:rPr sz="900" b="0" i="0">
                          <a:solidFill>
                            <a:srgbClr val="1E1E1E"/>
                          </a:solidFill>
                          <a:latin typeface="Gill Sans MT"/>
                        </a:rPr>
                        <a:t>30.611</a:t>
                      </a:r>
                    </a:p>
                  </a:txBody>
                  <a:tcPr marL="45720" marR="45720" marT="9144" marB="9144" anchor="ctr">
                    <a:noFill/>
                  </a:tcPr>
                </a:tc>
                <a:tc>
                  <a:txBody>
                    <a:bodyPr/>
                    <a:lstStyle/>
                    <a:p>
                      <a:pPr algn="r"/>
                      <a:r>
                        <a:rPr sz="900" b="0" i="0">
                          <a:solidFill>
                            <a:srgbClr val="1E1E1E"/>
                          </a:solidFill>
                          <a:latin typeface="Gill Sans MT"/>
                        </a:rPr>
                        <a:t>1,37x</a:t>
                      </a:r>
                    </a:p>
                  </a:txBody>
                  <a:tcPr marL="45720" marR="45720" marT="9144" marB="9144" anchor="ctr">
                    <a:noFill/>
                  </a:tcPr>
                </a:tc>
                <a:extLst>
                  <a:ext uri="{0D108BD9-81ED-4DB2-BD59-A6C34878D82A}">
                    <a16:rowId xmlns:a16="http://schemas.microsoft.com/office/drawing/2014/main" val="10003"/>
                  </a:ext>
                </a:extLst>
              </a:tr>
              <a:tr h="274320">
                <a:tc>
                  <a:txBody>
                    <a:bodyPr/>
                    <a:lstStyle/>
                    <a:p>
                      <a:pPr algn="l"/>
                      <a:r>
                        <a:rPr sz="900" b="0" i="0">
                          <a:solidFill>
                            <a:srgbClr val="1E1E1E"/>
                          </a:solidFill>
                          <a:latin typeface="Gill Sans MT"/>
                        </a:rPr>
                        <a:t>      K Alternativ Private Equity 2022 K/S</a:t>
                      </a:r>
                    </a:p>
                  </a:txBody>
                  <a:tcPr marL="45720" marR="45720" marT="9144" marB="9144" anchor="ctr">
                    <a:noFill/>
                  </a:tcPr>
                </a:tc>
                <a:tc>
                  <a:txBody>
                    <a:bodyPr/>
                    <a:lstStyle/>
                    <a:p>
                      <a:pPr algn="ctr"/>
                      <a:r>
                        <a:rPr sz="900" b="0" i="0">
                          <a:solidFill>
                            <a:srgbClr val="1E1E1E"/>
                          </a:solidFill>
                          <a:latin typeface="Gill Sans MT"/>
                        </a:rPr>
                        <a:t>DKK</a:t>
                      </a:r>
                    </a:p>
                  </a:txBody>
                  <a:tcPr marL="45720" marR="45720" marT="9144" marB="9144" anchor="ctr">
                    <a:noFill/>
                  </a:tcPr>
                </a:tc>
                <a:tc>
                  <a:txBody>
                    <a:bodyPr/>
                    <a:lstStyle/>
                    <a:p>
                      <a:pPr algn="r"/>
                      <a:r>
                        <a:rPr sz="900" b="0" i="0">
                          <a:solidFill>
                            <a:srgbClr val="1E1E1E"/>
                          </a:solidFill>
                          <a:latin typeface="Gill Sans MT"/>
                        </a:rPr>
                        <a:t>14.000</a:t>
                      </a:r>
                    </a:p>
                  </a:txBody>
                  <a:tcPr marL="45720" marR="45720" marT="9144" marB="9144" anchor="ctr">
                    <a:noFill/>
                  </a:tcPr>
                </a:tc>
                <a:tc>
                  <a:txBody>
                    <a:bodyPr/>
                    <a:lstStyle/>
                    <a:p>
                      <a:pPr algn="r"/>
                      <a:r>
                        <a:rPr sz="900" b="0" i="0">
                          <a:solidFill>
                            <a:srgbClr val="1E1E1E"/>
                          </a:solidFill>
                          <a:latin typeface="Gill Sans MT"/>
                        </a:rPr>
                        <a:t>6.880</a:t>
                      </a:r>
                    </a:p>
                  </a:txBody>
                  <a:tcPr marL="45720" marR="45720" marT="9144" marB="9144" anchor="ctr">
                    <a:noFill/>
                  </a:tcPr>
                </a:tc>
                <a:tc>
                  <a:txBody>
                    <a:bodyPr/>
                    <a:lstStyle/>
                    <a:p>
                      <a:pPr algn="r"/>
                      <a:r>
                        <a:rPr sz="900" b="0" i="0">
                          <a:solidFill>
                            <a:srgbClr val="1E1E1E"/>
                          </a:solidFill>
                          <a:latin typeface="Gill Sans MT"/>
                        </a:rPr>
                        <a:t>9.128</a:t>
                      </a:r>
                    </a:p>
                  </a:txBody>
                  <a:tcPr marL="45720" marR="45720" marT="9144" marB="9144" anchor="ctr">
                    <a:noFill/>
                  </a:tcPr>
                </a:tc>
                <a:tc>
                  <a:txBody>
                    <a:bodyPr/>
                    <a:lstStyle/>
                    <a:p>
                      <a:pPr algn="r"/>
                      <a:r>
                        <a:rPr sz="900" b="0" i="0">
                          <a:solidFill>
                            <a:srgbClr val="1E1E1E"/>
                          </a:solidFill>
                          <a:latin typeface="Gill Sans MT"/>
                        </a:rPr>
                        <a:t>1,34x</a:t>
                      </a:r>
                    </a:p>
                  </a:txBody>
                  <a:tcPr marL="45720" marR="45720" marT="9144" marB="9144" anchor="ctr">
                    <a:noFill/>
                  </a:tcPr>
                </a:tc>
                <a:extLst>
                  <a:ext uri="{0D108BD9-81ED-4DB2-BD59-A6C34878D82A}">
                    <a16:rowId xmlns:a16="http://schemas.microsoft.com/office/drawing/2014/main" val="10004"/>
                  </a:ext>
                </a:extLst>
              </a:tr>
              <a:tr h="274320">
                <a:tc>
                  <a:txBody>
                    <a:bodyPr/>
                    <a:lstStyle/>
                    <a:p>
                      <a:pPr algn="l"/>
                      <a:r>
                        <a:rPr sz="900" b="1" i="0">
                          <a:solidFill>
                            <a:srgbClr val="1E1E1E"/>
                          </a:solidFill>
                          <a:latin typeface="Gill Sans MT"/>
                        </a:rPr>
                        <a:t>Danmark / Norden (24,2 %)</a:t>
                      </a:r>
                    </a:p>
                  </a:txBody>
                  <a:tcPr marL="45720" marR="45720" marT="9144" marB="9144" anchor="ctr">
                    <a:solidFill>
                      <a:srgbClr val="F4F2EB"/>
                    </a:solidFill>
                  </a:tcPr>
                </a:tc>
                <a:tc>
                  <a:txBody>
                    <a:bodyPr/>
                    <a:lstStyle/>
                    <a:p>
                      <a:pPr algn="ctr"/>
                      <a:endParaRPr/>
                    </a:p>
                  </a:txBody>
                  <a:tcPr marL="45720" marR="45720" marT="9144" marB="9144" anchor="ctr">
                    <a:solidFill>
                      <a:srgbClr val="F4F2EB"/>
                    </a:solidFill>
                  </a:tcPr>
                </a:tc>
                <a:tc>
                  <a:txBody>
                    <a:bodyPr/>
                    <a:lstStyle/>
                    <a:p>
                      <a:pPr algn="r"/>
                      <a:r>
                        <a:rPr sz="900" b="1" i="0">
                          <a:solidFill>
                            <a:srgbClr val="1E1E1E"/>
                          </a:solidFill>
                          <a:latin typeface="Gill Sans MT"/>
                        </a:rPr>
                        <a:t>30.000</a:t>
                      </a:r>
                    </a:p>
                  </a:txBody>
                  <a:tcPr marL="45720" marR="45720" marT="9144" marB="9144" anchor="ctr">
                    <a:solidFill>
                      <a:srgbClr val="F4F2EB"/>
                    </a:solidFill>
                  </a:tcPr>
                </a:tc>
                <a:tc>
                  <a:txBody>
                    <a:bodyPr/>
                    <a:lstStyle/>
                    <a:p>
                      <a:pPr algn="r"/>
                      <a:r>
                        <a:rPr sz="900" b="1" i="0">
                          <a:solidFill>
                            <a:srgbClr val="1E1E1E"/>
                          </a:solidFill>
                          <a:latin typeface="Gill Sans MT"/>
                        </a:rPr>
                        <a:t>22.735</a:t>
                      </a:r>
                    </a:p>
                  </a:txBody>
                  <a:tcPr marL="45720" marR="45720" marT="9144" marB="9144" anchor="ctr">
                    <a:solidFill>
                      <a:srgbClr val="F4F2EB"/>
                    </a:solidFill>
                  </a:tcPr>
                </a:tc>
                <a:tc>
                  <a:txBody>
                    <a:bodyPr/>
                    <a:lstStyle/>
                    <a:p>
                      <a:pPr algn="r"/>
                      <a:r>
                        <a:rPr sz="900" b="1" i="0">
                          <a:solidFill>
                            <a:srgbClr val="1E1E1E"/>
                          </a:solidFill>
                          <a:latin typeface="Gill Sans MT"/>
                        </a:rPr>
                        <a:t>54.956</a:t>
                      </a:r>
                    </a:p>
                  </a:txBody>
                  <a:tcPr marL="45720" marR="45720" marT="9144" marB="9144" anchor="ctr">
                    <a:solidFill>
                      <a:srgbClr val="F4F2EB"/>
                    </a:solidFill>
                  </a:tcPr>
                </a:tc>
                <a:tc>
                  <a:txBody>
                    <a:bodyPr/>
                    <a:lstStyle/>
                    <a:p>
                      <a:pPr algn="r"/>
                      <a:r>
                        <a:rPr sz="900" b="1" i="0">
                          <a:solidFill>
                            <a:srgbClr val="1E1E1E"/>
                          </a:solidFill>
                          <a:latin typeface="Gill Sans MT"/>
                        </a:rPr>
                        <a:t>2,48x</a:t>
                      </a:r>
                    </a:p>
                  </a:txBody>
                  <a:tcPr marL="45720" marR="45720" marT="9144" marB="9144" anchor="ctr">
                    <a:solidFill>
                      <a:srgbClr val="F4F2EB"/>
                    </a:solidFill>
                  </a:tcPr>
                </a:tc>
                <a:extLst>
                  <a:ext uri="{0D108BD9-81ED-4DB2-BD59-A6C34878D82A}">
                    <a16:rowId xmlns:a16="http://schemas.microsoft.com/office/drawing/2014/main" val="10005"/>
                  </a:ext>
                </a:extLst>
              </a:tr>
              <a:tr h="274320">
                <a:tc>
                  <a:txBody>
                    <a:bodyPr/>
                    <a:lstStyle/>
                    <a:p>
                      <a:pPr algn="l"/>
                      <a:r>
                        <a:rPr sz="900" b="0" i="0">
                          <a:solidFill>
                            <a:srgbClr val="1E1E1E"/>
                          </a:solidFill>
                          <a:latin typeface="Gill Sans MT"/>
                        </a:rPr>
                        <a:t>      Seed Capital Denmark IV K/S</a:t>
                      </a:r>
                    </a:p>
                  </a:txBody>
                  <a:tcPr marL="45720" marR="45720" marT="9144" marB="9144" anchor="ctr">
                    <a:noFill/>
                  </a:tcPr>
                </a:tc>
                <a:tc>
                  <a:txBody>
                    <a:bodyPr/>
                    <a:lstStyle/>
                    <a:p>
                      <a:pPr algn="ctr"/>
                      <a:r>
                        <a:rPr sz="900" b="0" i="0">
                          <a:solidFill>
                            <a:srgbClr val="1E1E1E"/>
                          </a:solidFill>
                          <a:latin typeface="Gill Sans MT"/>
                        </a:rPr>
                        <a:t>DKK</a:t>
                      </a:r>
                    </a:p>
                  </a:txBody>
                  <a:tcPr marL="45720" marR="45720" marT="9144" marB="9144" anchor="ctr">
                    <a:noFill/>
                  </a:tcPr>
                </a:tc>
                <a:tc>
                  <a:txBody>
                    <a:bodyPr/>
                    <a:lstStyle/>
                    <a:p>
                      <a:pPr algn="r"/>
                      <a:r>
                        <a:rPr sz="900" b="0" i="0">
                          <a:solidFill>
                            <a:srgbClr val="1E1E1E"/>
                          </a:solidFill>
                          <a:latin typeface="Gill Sans MT"/>
                        </a:rPr>
                        <a:t>30.000</a:t>
                      </a:r>
                    </a:p>
                  </a:txBody>
                  <a:tcPr marL="45720" marR="45720" marT="9144" marB="9144" anchor="ctr">
                    <a:noFill/>
                  </a:tcPr>
                </a:tc>
                <a:tc>
                  <a:txBody>
                    <a:bodyPr/>
                    <a:lstStyle/>
                    <a:p>
                      <a:pPr algn="r"/>
                      <a:r>
                        <a:rPr sz="900" b="0" i="0">
                          <a:solidFill>
                            <a:srgbClr val="1E1E1E"/>
                          </a:solidFill>
                          <a:latin typeface="Gill Sans MT"/>
                        </a:rPr>
                        <a:t>22.735</a:t>
                      </a:r>
                    </a:p>
                  </a:txBody>
                  <a:tcPr marL="45720" marR="45720" marT="9144" marB="9144" anchor="ctr">
                    <a:noFill/>
                  </a:tcPr>
                </a:tc>
                <a:tc>
                  <a:txBody>
                    <a:bodyPr/>
                    <a:lstStyle/>
                    <a:p>
                      <a:pPr algn="r"/>
                      <a:r>
                        <a:rPr sz="900" b="0" i="0">
                          <a:solidFill>
                            <a:srgbClr val="1E1E1E"/>
                          </a:solidFill>
                          <a:latin typeface="Gill Sans MT"/>
                        </a:rPr>
                        <a:t>54.956</a:t>
                      </a:r>
                    </a:p>
                  </a:txBody>
                  <a:tcPr marL="45720" marR="45720" marT="9144" marB="9144" anchor="ctr">
                    <a:noFill/>
                  </a:tcPr>
                </a:tc>
                <a:tc>
                  <a:txBody>
                    <a:bodyPr/>
                    <a:lstStyle/>
                    <a:p>
                      <a:pPr algn="r"/>
                      <a:r>
                        <a:rPr sz="900" b="0" i="0">
                          <a:solidFill>
                            <a:srgbClr val="1E1E1E"/>
                          </a:solidFill>
                          <a:latin typeface="Gill Sans MT"/>
                        </a:rPr>
                        <a:t>2,48x</a:t>
                      </a:r>
                    </a:p>
                  </a:txBody>
                  <a:tcPr marL="45720" marR="45720" marT="9144" marB="9144" anchor="ctr">
                    <a:noFill/>
                  </a:tcPr>
                </a:tc>
                <a:extLst>
                  <a:ext uri="{0D108BD9-81ED-4DB2-BD59-A6C34878D82A}">
                    <a16:rowId xmlns:a16="http://schemas.microsoft.com/office/drawing/2014/main" val="10006"/>
                  </a:ext>
                </a:extLst>
              </a:tr>
              <a:tr h="274320">
                <a:tc>
                  <a:txBody>
                    <a:bodyPr/>
                    <a:lstStyle/>
                    <a:p>
                      <a:pPr algn="l"/>
                      <a:r>
                        <a:rPr sz="900" b="1" i="0">
                          <a:solidFill>
                            <a:srgbClr val="1E1E1E"/>
                          </a:solidFill>
                          <a:latin typeface="Gill Sans MT"/>
                        </a:rPr>
                        <a:t>Danmark (21,8 %)</a:t>
                      </a:r>
                    </a:p>
                  </a:txBody>
                  <a:tcPr marL="45720" marR="45720" marT="9144" marB="9144" anchor="ctr">
                    <a:solidFill>
                      <a:srgbClr val="F4F2EB"/>
                    </a:solidFill>
                  </a:tcPr>
                </a:tc>
                <a:tc>
                  <a:txBody>
                    <a:bodyPr/>
                    <a:lstStyle/>
                    <a:p>
                      <a:pPr algn="ctr"/>
                      <a:endParaRPr/>
                    </a:p>
                  </a:txBody>
                  <a:tcPr marL="45720" marR="45720" marT="9144" marB="9144" anchor="ctr">
                    <a:solidFill>
                      <a:srgbClr val="F4F2EB"/>
                    </a:solidFill>
                  </a:tcPr>
                </a:tc>
                <a:tc>
                  <a:txBody>
                    <a:bodyPr/>
                    <a:lstStyle/>
                    <a:p>
                      <a:pPr algn="r"/>
                      <a:r>
                        <a:rPr sz="900" b="1" i="0">
                          <a:solidFill>
                            <a:srgbClr val="1E1E1E"/>
                          </a:solidFill>
                          <a:latin typeface="Gill Sans MT"/>
                        </a:rPr>
                        <a:t>37.500</a:t>
                      </a:r>
                    </a:p>
                  </a:txBody>
                  <a:tcPr marL="45720" marR="45720" marT="9144" marB="9144" anchor="ctr">
                    <a:solidFill>
                      <a:srgbClr val="F4F2EB"/>
                    </a:solidFill>
                  </a:tcPr>
                </a:tc>
                <a:tc>
                  <a:txBody>
                    <a:bodyPr/>
                    <a:lstStyle/>
                    <a:p>
                      <a:pPr algn="r"/>
                      <a:r>
                        <a:rPr sz="900" b="1" i="0">
                          <a:solidFill>
                            <a:srgbClr val="1E1E1E"/>
                          </a:solidFill>
                          <a:latin typeface="Gill Sans MT"/>
                        </a:rPr>
                        <a:t>20.512</a:t>
                      </a:r>
                    </a:p>
                  </a:txBody>
                  <a:tcPr marL="45720" marR="45720" marT="9144" marB="9144" anchor="ctr">
                    <a:solidFill>
                      <a:srgbClr val="F4F2EB"/>
                    </a:solidFill>
                  </a:tcPr>
                </a:tc>
                <a:tc>
                  <a:txBody>
                    <a:bodyPr/>
                    <a:lstStyle/>
                    <a:p>
                      <a:pPr algn="r"/>
                      <a:r>
                        <a:rPr sz="900" b="1" i="0">
                          <a:solidFill>
                            <a:srgbClr val="1E1E1E"/>
                          </a:solidFill>
                          <a:latin typeface="Gill Sans MT"/>
                        </a:rPr>
                        <a:t>25.897</a:t>
                      </a:r>
                    </a:p>
                  </a:txBody>
                  <a:tcPr marL="45720" marR="45720" marT="9144" marB="9144" anchor="ctr">
                    <a:solidFill>
                      <a:srgbClr val="F4F2EB"/>
                    </a:solidFill>
                  </a:tcPr>
                </a:tc>
                <a:tc>
                  <a:txBody>
                    <a:bodyPr/>
                    <a:lstStyle/>
                    <a:p>
                      <a:pPr algn="r"/>
                      <a:r>
                        <a:rPr sz="900" b="1" i="0">
                          <a:solidFill>
                            <a:srgbClr val="1E1E1E"/>
                          </a:solidFill>
                          <a:latin typeface="Gill Sans MT"/>
                        </a:rPr>
                        <a:t>1,31x</a:t>
                      </a:r>
                    </a:p>
                  </a:txBody>
                  <a:tcPr marL="45720" marR="45720" marT="9144" marB="9144" anchor="ctr">
                    <a:solidFill>
                      <a:srgbClr val="F4F2EB"/>
                    </a:solidFill>
                  </a:tcPr>
                </a:tc>
                <a:extLst>
                  <a:ext uri="{0D108BD9-81ED-4DB2-BD59-A6C34878D82A}">
                    <a16:rowId xmlns:a16="http://schemas.microsoft.com/office/drawing/2014/main" val="10007"/>
                  </a:ext>
                </a:extLst>
              </a:tr>
              <a:tr h="274320">
                <a:tc>
                  <a:txBody>
                    <a:bodyPr/>
                    <a:lstStyle/>
                    <a:p>
                      <a:pPr algn="l"/>
                      <a:r>
                        <a:rPr sz="900" b="0" i="0">
                          <a:solidFill>
                            <a:srgbClr val="1E1E1E"/>
                          </a:solidFill>
                          <a:latin typeface="Gill Sans MT"/>
                        </a:rPr>
                        <a:t>      CataCap III K/S</a:t>
                      </a:r>
                    </a:p>
                  </a:txBody>
                  <a:tcPr marL="45720" marR="45720" marT="9144" marB="9144" anchor="ctr">
                    <a:noFill/>
                  </a:tcPr>
                </a:tc>
                <a:tc>
                  <a:txBody>
                    <a:bodyPr/>
                    <a:lstStyle/>
                    <a:p>
                      <a:pPr algn="ctr"/>
                      <a:r>
                        <a:rPr sz="900" b="0" i="0">
                          <a:solidFill>
                            <a:srgbClr val="1E1E1E"/>
                          </a:solidFill>
                          <a:latin typeface="Gill Sans MT"/>
                        </a:rPr>
                        <a:t>DKK</a:t>
                      </a:r>
                    </a:p>
                  </a:txBody>
                  <a:tcPr marL="45720" marR="45720" marT="9144" marB="9144" anchor="ctr">
                    <a:noFill/>
                  </a:tcPr>
                </a:tc>
                <a:tc>
                  <a:txBody>
                    <a:bodyPr/>
                    <a:lstStyle/>
                    <a:p>
                      <a:pPr algn="r"/>
                      <a:r>
                        <a:rPr sz="900" b="0" i="0">
                          <a:solidFill>
                            <a:srgbClr val="1E1E1E"/>
                          </a:solidFill>
                          <a:latin typeface="Gill Sans MT"/>
                        </a:rPr>
                        <a:t>37.500</a:t>
                      </a:r>
                    </a:p>
                  </a:txBody>
                  <a:tcPr marL="45720" marR="45720" marT="9144" marB="9144" anchor="ctr">
                    <a:noFill/>
                  </a:tcPr>
                </a:tc>
                <a:tc>
                  <a:txBody>
                    <a:bodyPr/>
                    <a:lstStyle/>
                    <a:p>
                      <a:pPr algn="r"/>
                      <a:r>
                        <a:rPr sz="900" b="0" i="0">
                          <a:solidFill>
                            <a:srgbClr val="1E1E1E"/>
                          </a:solidFill>
                          <a:latin typeface="Gill Sans MT"/>
                        </a:rPr>
                        <a:t>20.512</a:t>
                      </a:r>
                    </a:p>
                  </a:txBody>
                  <a:tcPr marL="45720" marR="45720" marT="9144" marB="9144" anchor="ctr">
                    <a:noFill/>
                  </a:tcPr>
                </a:tc>
                <a:tc>
                  <a:txBody>
                    <a:bodyPr/>
                    <a:lstStyle/>
                    <a:p>
                      <a:pPr algn="r"/>
                      <a:r>
                        <a:rPr sz="900" b="0" i="0">
                          <a:solidFill>
                            <a:srgbClr val="1E1E1E"/>
                          </a:solidFill>
                          <a:latin typeface="Gill Sans MT"/>
                        </a:rPr>
                        <a:t>25.897</a:t>
                      </a:r>
                    </a:p>
                  </a:txBody>
                  <a:tcPr marL="45720" marR="45720" marT="9144" marB="9144" anchor="ctr">
                    <a:noFill/>
                  </a:tcPr>
                </a:tc>
                <a:tc>
                  <a:txBody>
                    <a:bodyPr/>
                    <a:lstStyle/>
                    <a:p>
                      <a:pPr algn="r"/>
                      <a:r>
                        <a:rPr sz="900" b="0" i="0">
                          <a:solidFill>
                            <a:srgbClr val="1E1E1E"/>
                          </a:solidFill>
                          <a:latin typeface="Gill Sans MT"/>
                        </a:rPr>
                        <a:t>1,31x</a:t>
                      </a:r>
                    </a:p>
                  </a:txBody>
                  <a:tcPr marL="45720" marR="45720" marT="9144" marB="9144" anchor="ctr">
                    <a:noFill/>
                  </a:tcPr>
                </a:tc>
                <a:extLst>
                  <a:ext uri="{0D108BD9-81ED-4DB2-BD59-A6C34878D82A}">
                    <a16:rowId xmlns:a16="http://schemas.microsoft.com/office/drawing/2014/main" val="10008"/>
                  </a:ext>
                </a:extLst>
              </a:tr>
              <a:tr h="274320">
                <a:tc>
                  <a:txBody>
                    <a:bodyPr/>
                    <a:lstStyle/>
                    <a:p>
                      <a:pPr algn="l"/>
                      <a:r>
                        <a:rPr sz="900" b="1" i="0">
                          <a:solidFill>
                            <a:srgbClr val="1E1E1E"/>
                          </a:solidFill>
                          <a:latin typeface="Gill Sans MT"/>
                        </a:rPr>
                        <a:t>I alt</a:t>
                      </a:r>
                    </a:p>
                  </a:txBody>
                  <a:tcPr marL="45720" marR="45720" marT="9144" marB="9144" anchor="ctr">
                    <a:solidFill>
                      <a:srgbClr val="C9CCB8"/>
                    </a:solidFill>
                  </a:tcPr>
                </a:tc>
                <a:tc>
                  <a:txBody>
                    <a:bodyPr/>
                    <a:lstStyle/>
                    <a:p>
                      <a:pPr algn="ctr"/>
                      <a:r>
                        <a:rPr sz="900" b="1" i="0">
                          <a:solidFill>
                            <a:srgbClr val="1E1E1E"/>
                          </a:solidFill>
                          <a:latin typeface="Gill Sans MT"/>
                        </a:rPr>
                        <a:t>DKK</a:t>
                      </a:r>
                    </a:p>
                  </a:txBody>
                  <a:tcPr marL="45720" marR="45720" marT="9144" marB="9144" anchor="ctr">
                    <a:solidFill>
                      <a:srgbClr val="C9CCB8"/>
                    </a:solidFill>
                  </a:tcPr>
                </a:tc>
                <a:tc>
                  <a:txBody>
                    <a:bodyPr/>
                    <a:lstStyle/>
                    <a:p>
                      <a:pPr algn="r"/>
                      <a:r>
                        <a:rPr sz="900" b="1" i="0">
                          <a:solidFill>
                            <a:srgbClr val="1E1E1E"/>
                          </a:solidFill>
                          <a:latin typeface="Gill Sans MT"/>
                        </a:rPr>
                        <a:t>131.500</a:t>
                      </a:r>
                    </a:p>
                  </a:txBody>
                  <a:tcPr marL="45720" marR="45720" marT="9144" marB="9144" anchor="ctr">
                    <a:solidFill>
                      <a:srgbClr val="C9CCB8"/>
                    </a:solidFill>
                  </a:tcPr>
                </a:tc>
                <a:tc>
                  <a:txBody>
                    <a:bodyPr/>
                    <a:lstStyle/>
                    <a:p>
                      <a:pPr algn="r"/>
                      <a:r>
                        <a:rPr sz="900" b="1" i="0">
                          <a:solidFill>
                            <a:srgbClr val="1E1E1E"/>
                          </a:solidFill>
                          <a:latin typeface="Gill Sans MT"/>
                        </a:rPr>
                        <a:t>94.045</a:t>
                      </a:r>
                    </a:p>
                  </a:txBody>
                  <a:tcPr marL="45720" marR="45720" marT="9144" marB="9144" anchor="ctr">
                    <a:solidFill>
                      <a:srgbClr val="C9CCB8"/>
                    </a:solidFill>
                  </a:tcPr>
                </a:tc>
                <a:tc>
                  <a:txBody>
                    <a:bodyPr/>
                    <a:lstStyle/>
                    <a:p>
                      <a:pPr algn="r"/>
                      <a:r>
                        <a:rPr sz="900" b="1" i="0">
                          <a:solidFill>
                            <a:srgbClr val="1E1E1E"/>
                          </a:solidFill>
                          <a:latin typeface="Gill Sans MT"/>
                        </a:rPr>
                        <a:t>143.803</a:t>
                      </a:r>
                    </a:p>
                  </a:txBody>
                  <a:tcPr marL="45720" marR="45720" marT="9144" marB="9144" anchor="ctr">
                    <a:solidFill>
                      <a:srgbClr val="C9CCB8"/>
                    </a:solidFill>
                  </a:tcPr>
                </a:tc>
                <a:tc>
                  <a:txBody>
                    <a:bodyPr/>
                    <a:lstStyle/>
                    <a:p>
                      <a:pPr algn="r"/>
                      <a:r>
                        <a:rPr sz="900" b="1" i="0">
                          <a:solidFill>
                            <a:srgbClr val="1E1E1E"/>
                          </a:solidFill>
                          <a:latin typeface="Gill Sans MT"/>
                        </a:rPr>
                        <a:t>1,62x</a:t>
                      </a:r>
                    </a:p>
                  </a:txBody>
                  <a:tcPr marL="45720" marR="45720" marT="9144" marB="9144" anchor="ctr">
                    <a:solidFill>
                      <a:srgbClr val="C9CCB8"/>
                    </a:solidFill>
                  </a:tcPr>
                </a:tc>
                <a:extLst>
                  <a:ext uri="{0D108BD9-81ED-4DB2-BD59-A6C34878D82A}">
                    <a16:rowId xmlns:a16="http://schemas.microsoft.com/office/drawing/2014/main" val="10009"/>
                  </a:ext>
                </a:extLst>
              </a:tr>
            </a:tbl>
          </a:graphicData>
        </a:graphic>
      </p:graphicFrame>
      <p:sp>
        <p:nvSpPr>
          <p:cNvPr id="5" name="TextBox 4"/>
          <p:cNvSpPr txBox="1"/>
          <p:nvPr/>
        </p:nvSpPr>
        <p:spPr>
          <a:xfrm>
            <a:off x="603504" y="5394960"/>
            <a:ext cx="9491472" cy="457200"/>
          </a:xfrm>
          <a:prstGeom prst="rect">
            <a:avLst/>
          </a:prstGeom>
          <a:noFill/>
        </p:spPr>
        <p:txBody>
          <a:bodyPr wrap="square" lIns="0" tIns="0" rIns="0" bIns="0" anchor="t">
            <a:spAutoFit/>
          </a:bodyPr>
          <a:lstStyle/>
          <a:p>
            <a:pPr algn="l"/>
            <a:r>
              <a:rPr sz="700" b="0" i="1">
                <a:solidFill>
                  <a:srgbClr val="1E1E1E"/>
                </a:solidFill>
                <a:latin typeface="Gill Sans MT"/>
              </a:rPr>
              <a:t>Kilde: GP-rapporter og egne beregninger. Procenten er gruppens andel af indbetalt kapital. Geografi og segment er et udkast og ikke gennemgået.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0"/>
          <a:lstStyle/>
          <a:p>
            <a:r>
              <a:t>Segmentfordeling efter indbetalt kapital</a:t>
            </a:r>
          </a:p>
        </p:txBody>
      </p:sp>
      <p:sp>
        <p:nvSpPr>
          <p:cNvPr id="3" name="TextBox 2"/>
          <p:cNvSpPr txBox="1"/>
          <p:nvPr/>
        </p:nvSpPr>
        <p:spPr>
          <a:xfrm>
            <a:off x="603504" y="786384"/>
            <a:ext cx="9491472" cy="201168"/>
          </a:xfrm>
          <a:prstGeom prst="rect">
            <a:avLst/>
          </a:prstGeom>
          <a:noFill/>
        </p:spPr>
        <p:txBody>
          <a:bodyPr wrap="square" lIns="0" tIns="0" rIns="0" bIns="0" anchor="t">
            <a:spAutoFit/>
          </a:bodyPr>
          <a:lstStyle/>
          <a:p>
            <a:pPr algn="l"/>
            <a:r>
              <a:rPr sz="950" b="0" i="0">
                <a:solidFill>
                  <a:srgbClr val="1E1E1E"/>
                </a:solidFill>
                <a:latin typeface="Gill Sans MT"/>
              </a:rPr>
              <a:t>A/S Motortramp  ·  pr. 30.06.2026  ·  beløb i tDKK</a:t>
            </a:r>
          </a:p>
        </p:txBody>
      </p:sp>
      <p:graphicFrame>
        <p:nvGraphicFramePr>
          <p:cNvPr id="4" name="Table 3"/>
          <p:cNvGraphicFramePr>
            <a:graphicFrameLocks noGrp="1"/>
          </p:cNvGraphicFramePr>
          <p:nvPr/>
        </p:nvGraphicFramePr>
        <p:xfrm>
          <a:off x="603504" y="1115568"/>
          <a:ext cx="9491468" cy="2743200"/>
        </p:xfrm>
        <a:graphic>
          <a:graphicData uri="http://schemas.openxmlformats.org/drawingml/2006/table">
            <a:tbl>
              <a:tblPr>
                <a:tableStyleId>{2D5ABB26-0587-4C30-8999-92F81FD0307C}</a:tableStyleId>
              </a:tblPr>
              <a:tblGrid>
                <a:gridCol w="4158168">
                  <a:extLst>
                    <a:ext uri="{9D8B030D-6E8A-4147-A177-3AD203B41FA5}">
                      <a16:colId xmlns:a16="http://schemas.microsoft.com/office/drawing/2014/main" val="20000"/>
                    </a:ext>
                  </a:extLst>
                </a:gridCol>
                <a:gridCol w="813554">
                  <a:extLst>
                    <a:ext uri="{9D8B030D-6E8A-4147-A177-3AD203B41FA5}">
                      <a16:colId xmlns:a16="http://schemas.microsoft.com/office/drawing/2014/main" val="20001"/>
                    </a:ext>
                  </a:extLst>
                </a:gridCol>
                <a:gridCol w="1175134">
                  <a:extLst>
                    <a:ext uri="{9D8B030D-6E8A-4147-A177-3AD203B41FA5}">
                      <a16:colId xmlns:a16="http://schemas.microsoft.com/office/drawing/2014/main" val="20002"/>
                    </a:ext>
                  </a:extLst>
                </a:gridCol>
                <a:gridCol w="1355924">
                  <a:extLst>
                    <a:ext uri="{9D8B030D-6E8A-4147-A177-3AD203B41FA5}">
                      <a16:colId xmlns:a16="http://schemas.microsoft.com/office/drawing/2014/main" val="20003"/>
                    </a:ext>
                  </a:extLst>
                </a:gridCol>
                <a:gridCol w="1175134">
                  <a:extLst>
                    <a:ext uri="{9D8B030D-6E8A-4147-A177-3AD203B41FA5}">
                      <a16:colId xmlns:a16="http://schemas.microsoft.com/office/drawing/2014/main" val="20004"/>
                    </a:ext>
                  </a:extLst>
                </a:gridCol>
                <a:gridCol w="813554">
                  <a:extLst>
                    <a:ext uri="{9D8B030D-6E8A-4147-A177-3AD203B41FA5}">
                      <a16:colId xmlns:a16="http://schemas.microsoft.com/office/drawing/2014/main" val="20005"/>
                    </a:ext>
                  </a:extLst>
                </a:gridCol>
              </a:tblGrid>
              <a:tr h="274320">
                <a:tc>
                  <a:txBody>
                    <a:bodyPr/>
                    <a:lstStyle/>
                    <a:p>
                      <a:pPr algn="l"/>
                      <a:endParaRPr/>
                    </a:p>
                  </a:txBody>
                  <a:tcPr marL="45720" marR="45720" marT="9144" marB="9144" anchor="ctr">
                    <a:solidFill>
                      <a:srgbClr val="545B4A"/>
                    </a:solidFill>
                  </a:tcPr>
                </a:tc>
                <a:tc>
                  <a:txBody>
                    <a:bodyPr/>
                    <a:lstStyle/>
                    <a:p>
                      <a:pPr algn="ctr"/>
                      <a:r>
                        <a:rPr sz="900" b="1" i="0">
                          <a:solidFill>
                            <a:srgbClr val="FFFFFF"/>
                          </a:solidFill>
                          <a:latin typeface="Gill Sans MT"/>
                        </a:rPr>
                        <a:t>Valuta</a:t>
                      </a:r>
                    </a:p>
                  </a:txBody>
                  <a:tcPr marL="45720" marR="45720" marT="9144" marB="9144" anchor="ctr">
                    <a:solidFill>
                      <a:srgbClr val="545B4A"/>
                    </a:solidFill>
                  </a:tcPr>
                </a:tc>
                <a:tc>
                  <a:txBody>
                    <a:bodyPr/>
                    <a:lstStyle/>
                    <a:p>
                      <a:pPr algn="r"/>
                      <a:r>
                        <a:rPr sz="900" b="1" i="0">
                          <a:solidFill>
                            <a:srgbClr val="FFFFFF"/>
                          </a:solidFill>
                          <a:latin typeface="Gill Sans MT"/>
                        </a:rPr>
                        <a:t>Tilsagn</a:t>
                      </a:r>
                    </a:p>
                  </a:txBody>
                  <a:tcPr marL="45720" marR="45720" marT="9144" marB="9144" anchor="ctr">
                    <a:solidFill>
                      <a:srgbClr val="545B4A"/>
                    </a:solidFill>
                  </a:tcPr>
                </a:tc>
                <a:tc>
                  <a:txBody>
                    <a:bodyPr/>
                    <a:lstStyle/>
                    <a:p>
                      <a:pPr algn="r"/>
                      <a:r>
                        <a:rPr sz="900" b="1" i="0">
                          <a:solidFill>
                            <a:srgbClr val="FFFFFF"/>
                          </a:solidFill>
                          <a:latin typeface="Gill Sans MT"/>
                        </a:rPr>
                        <a:t>Indbetalt kapital</a:t>
                      </a:r>
                    </a:p>
                  </a:txBody>
                  <a:tcPr marL="45720" marR="45720" marT="9144" marB="9144" anchor="ctr">
                    <a:solidFill>
                      <a:srgbClr val="545B4A"/>
                    </a:solidFill>
                  </a:tcPr>
                </a:tc>
                <a:tc>
                  <a:txBody>
                    <a:bodyPr/>
                    <a:lstStyle/>
                    <a:p>
                      <a:pPr algn="r"/>
                      <a:r>
                        <a:rPr sz="900" b="1" i="0">
                          <a:solidFill>
                            <a:srgbClr val="FFFFFF"/>
                          </a:solidFill>
                          <a:latin typeface="Gill Sans MT"/>
                        </a:rPr>
                        <a:t>NAV</a:t>
                      </a:r>
                    </a:p>
                  </a:txBody>
                  <a:tcPr marL="45720" marR="45720" marT="9144" marB="9144" anchor="ctr">
                    <a:solidFill>
                      <a:srgbClr val="545B4A"/>
                    </a:solidFill>
                  </a:tcPr>
                </a:tc>
                <a:tc>
                  <a:txBody>
                    <a:bodyPr/>
                    <a:lstStyle/>
                    <a:p>
                      <a:pPr algn="r"/>
                      <a:r>
                        <a:rPr sz="900" b="1" i="0">
                          <a:solidFill>
                            <a:srgbClr val="FFFFFF"/>
                          </a:solidFill>
                          <a:latin typeface="Gill Sans MT"/>
                        </a:rPr>
                        <a:t>TVPI</a:t>
                      </a:r>
                    </a:p>
                  </a:txBody>
                  <a:tcPr marL="45720" marR="45720" marT="9144" marB="9144" anchor="ctr">
                    <a:solidFill>
                      <a:srgbClr val="545B4A"/>
                    </a:solidFill>
                  </a:tcPr>
                </a:tc>
                <a:extLst>
                  <a:ext uri="{0D108BD9-81ED-4DB2-BD59-A6C34878D82A}">
                    <a16:rowId xmlns:a16="http://schemas.microsoft.com/office/drawing/2014/main" val="10000"/>
                  </a:ext>
                </a:extLst>
              </a:tr>
              <a:tr h="274320">
                <a:tc>
                  <a:txBody>
                    <a:bodyPr/>
                    <a:lstStyle/>
                    <a:p>
                      <a:pPr algn="l"/>
                      <a:r>
                        <a:rPr sz="900" b="1" i="0">
                          <a:solidFill>
                            <a:srgbClr val="1E1E1E"/>
                          </a:solidFill>
                          <a:latin typeface="Gill Sans MT"/>
                        </a:rPr>
                        <a:t>Fund of funds (54,0 %)</a:t>
                      </a:r>
                    </a:p>
                  </a:txBody>
                  <a:tcPr marL="45720" marR="45720" marT="9144" marB="9144" anchor="ctr">
                    <a:solidFill>
                      <a:srgbClr val="F4F2EB"/>
                    </a:solidFill>
                  </a:tcPr>
                </a:tc>
                <a:tc>
                  <a:txBody>
                    <a:bodyPr/>
                    <a:lstStyle/>
                    <a:p>
                      <a:pPr algn="ctr"/>
                      <a:endParaRPr/>
                    </a:p>
                  </a:txBody>
                  <a:tcPr marL="45720" marR="45720" marT="9144" marB="9144" anchor="ctr">
                    <a:solidFill>
                      <a:srgbClr val="F4F2EB"/>
                    </a:solidFill>
                  </a:tcPr>
                </a:tc>
                <a:tc>
                  <a:txBody>
                    <a:bodyPr/>
                    <a:lstStyle/>
                    <a:p>
                      <a:pPr algn="r"/>
                      <a:r>
                        <a:rPr sz="900" b="1" i="0">
                          <a:solidFill>
                            <a:srgbClr val="1E1E1E"/>
                          </a:solidFill>
                          <a:latin typeface="Gill Sans MT"/>
                        </a:rPr>
                        <a:t>64.000</a:t>
                      </a:r>
                    </a:p>
                  </a:txBody>
                  <a:tcPr marL="45720" marR="45720" marT="9144" marB="9144" anchor="ctr">
                    <a:solidFill>
                      <a:srgbClr val="F4F2EB"/>
                    </a:solidFill>
                  </a:tcPr>
                </a:tc>
                <a:tc>
                  <a:txBody>
                    <a:bodyPr/>
                    <a:lstStyle/>
                    <a:p>
                      <a:pPr algn="r"/>
                      <a:r>
                        <a:rPr sz="900" b="1" i="0">
                          <a:solidFill>
                            <a:srgbClr val="1E1E1E"/>
                          </a:solidFill>
                          <a:latin typeface="Gill Sans MT"/>
                        </a:rPr>
                        <a:t>50.798</a:t>
                      </a:r>
                    </a:p>
                  </a:txBody>
                  <a:tcPr marL="45720" marR="45720" marT="9144" marB="9144" anchor="ctr">
                    <a:solidFill>
                      <a:srgbClr val="F4F2EB"/>
                    </a:solidFill>
                  </a:tcPr>
                </a:tc>
                <a:tc>
                  <a:txBody>
                    <a:bodyPr/>
                    <a:lstStyle/>
                    <a:p>
                      <a:pPr algn="r"/>
                      <a:r>
                        <a:rPr sz="900" b="1" i="0">
                          <a:solidFill>
                            <a:srgbClr val="1E1E1E"/>
                          </a:solidFill>
                          <a:latin typeface="Gill Sans MT"/>
                        </a:rPr>
                        <a:t>62.949</a:t>
                      </a:r>
                    </a:p>
                  </a:txBody>
                  <a:tcPr marL="45720" marR="45720" marT="9144" marB="9144" anchor="ctr">
                    <a:solidFill>
                      <a:srgbClr val="F4F2EB"/>
                    </a:solidFill>
                  </a:tcPr>
                </a:tc>
                <a:tc>
                  <a:txBody>
                    <a:bodyPr/>
                    <a:lstStyle/>
                    <a:p>
                      <a:pPr algn="r"/>
                      <a:r>
                        <a:rPr sz="900" b="1" i="0">
                          <a:solidFill>
                            <a:srgbClr val="1E1E1E"/>
                          </a:solidFill>
                          <a:latin typeface="Gill Sans MT"/>
                        </a:rPr>
                        <a:t>1,37x</a:t>
                      </a:r>
                    </a:p>
                  </a:txBody>
                  <a:tcPr marL="45720" marR="45720" marT="9144" marB="9144" anchor="ctr">
                    <a:solidFill>
                      <a:srgbClr val="F4F2EB"/>
                    </a:solidFill>
                  </a:tcPr>
                </a:tc>
                <a:extLst>
                  <a:ext uri="{0D108BD9-81ED-4DB2-BD59-A6C34878D82A}">
                    <a16:rowId xmlns:a16="http://schemas.microsoft.com/office/drawing/2014/main" val="10001"/>
                  </a:ext>
                </a:extLst>
              </a:tr>
              <a:tr h="274320">
                <a:tc>
                  <a:txBody>
                    <a:bodyPr/>
                    <a:lstStyle/>
                    <a:p>
                      <a:pPr algn="l"/>
                      <a:r>
                        <a:rPr sz="900" b="0" i="0">
                          <a:solidFill>
                            <a:srgbClr val="1E1E1E"/>
                          </a:solidFill>
                          <a:latin typeface="Gill Sans MT"/>
                        </a:rPr>
                        <a:t>      K Alternativ Private Equity 2020 K/S</a:t>
                      </a:r>
                    </a:p>
                  </a:txBody>
                  <a:tcPr marL="45720" marR="45720" marT="9144" marB="9144" anchor="ctr">
                    <a:noFill/>
                  </a:tcPr>
                </a:tc>
                <a:tc>
                  <a:txBody>
                    <a:bodyPr/>
                    <a:lstStyle/>
                    <a:p>
                      <a:pPr algn="ctr"/>
                      <a:r>
                        <a:rPr sz="900" b="0" i="0">
                          <a:solidFill>
                            <a:srgbClr val="1E1E1E"/>
                          </a:solidFill>
                          <a:latin typeface="Gill Sans MT"/>
                        </a:rPr>
                        <a:t>DKK</a:t>
                      </a:r>
                    </a:p>
                  </a:txBody>
                  <a:tcPr marL="45720" marR="45720" marT="9144" marB="9144" anchor="ctr">
                    <a:noFill/>
                  </a:tcPr>
                </a:tc>
                <a:tc>
                  <a:txBody>
                    <a:bodyPr/>
                    <a:lstStyle/>
                    <a:p>
                      <a:pPr algn="r"/>
                      <a:r>
                        <a:rPr sz="900" b="0" i="0">
                          <a:solidFill>
                            <a:srgbClr val="1E1E1E"/>
                          </a:solidFill>
                          <a:latin typeface="Gill Sans MT"/>
                        </a:rPr>
                        <a:t>25.000</a:t>
                      </a:r>
                    </a:p>
                  </a:txBody>
                  <a:tcPr marL="45720" marR="45720" marT="9144" marB="9144" anchor="ctr">
                    <a:noFill/>
                  </a:tcPr>
                </a:tc>
                <a:tc>
                  <a:txBody>
                    <a:bodyPr/>
                    <a:lstStyle/>
                    <a:p>
                      <a:pPr algn="r"/>
                      <a:r>
                        <a:rPr sz="900" b="0" i="0">
                          <a:solidFill>
                            <a:srgbClr val="1E1E1E"/>
                          </a:solidFill>
                          <a:latin typeface="Gill Sans MT"/>
                        </a:rPr>
                        <a:t>21.530</a:t>
                      </a:r>
                    </a:p>
                  </a:txBody>
                  <a:tcPr marL="45720" marR="45720" marT="9144" marB="9144" anchor="ctr">
                    <a:noFill/>
                  </a:tcPr>
                </a:tc>
                <a:tc>
                  <a:txBody>
                    <a:bodyPr/>
                    <a:lstStyle/>
                    <a:p>
                      <a:pPr algn="r"/>
                      <a:r>
                        <a:rPr sz="900" b="0" i="0">
                          <a:solidFill>
                            <a:srgbClr val="1E1E1E"/>
                          </a:solidFill>
                          <a:latin typeface="Gill Sans MT"/>
                        </a:rPr>
                        <a:t>23.210</a:t>
                      </a:r>
                    </a:p>
                  </a:txBody>
                  <a:tcPr marL="45720" marR="45720" marT="9144" marB="9144" anchor="ctr">
                    <a:noFill/>
                  </a:tcPr>
                </a:tc>
                <a:tc>
                  <a:txBody>
                    <a:bodyPr/>
                    <a:lstStyle/>
                    <a:p>
                      <a:pPr algn="r"/>
                      <a:r>
                        <a:rPr sz="900" b="0" i="0">
                          <a:solidFill>
                            <a:srgbClr val="1E1E1E"/>
                          </a:solidFill>
                          <a:latin typeface="Gill Sans MT"/>
                        </a:rPr>
                        <a:t>1,37x</a:t>
                      </a:r>
                    </a:p>
                  </a:txBody>
                  <a:tcPr marL="45720" marR="45720" marT="9144" marB="9144" anchor="ctr">
                    <a:noFill/>
                  </a:tcPr>
                </a:tc>
                <a:extLst>
                  <a:ext uri="{0D108BD9-81ED-4DB2-BD59-A6C34878D82A}">
                    <a16:rowId xmlns:a16="http://schemas.microsoft.com/office/drawing/2014/main" val="10002"/>
                  </a:ext>
                </a:extLst>
              </a:tr>
              <a:tr h="274320">
                <a:tc>
                  <a:txBody>
                    <a:bodyPr/>
                    <a:lstStyle/>
                    <a:p>
                      <a:pPr algn="l"/>
                      <a:r>
                        <a:rPr sz="900" b="0" i="0">
                          <a:solidFill>
                            <a:srgbClr val="1E1E1E"/>
                          </a:solidFill>
                          <a:latin typeface="Gill Sans MT"/>
                        </a:rPr>
                        <a:t>      K Alternativ Private Equity 2021 K/S</a:t>
                      </a:r>
                    </a:p>
                  </a:txBody>
                  <a:tcPr marL="45720" marR="45720" marT="9144" marB="9144" anchor="ctr">
                    <a:noFill/>
                  </a:tcPr>
                </a:tc>
                <a:tc>
                  <a:txBody>
                    <a:bodyPr/>
                    <a:lstStyle/>
                    <a:p>
                      <a:pPr algn="ctr"/>
                      <a:r>
                        <a:rPr sz="900" b="0" i="0">
                          <a:solidFill>
                            <a:srgbClr val="1E1E1E"/>
                          </a:solidFill>
                          <a:latin typeface="Gill Sans MT"/>
                        </a:rPr>
                        <a:t>DKK</a:t>
                      </a:r>
                    </a:p>
                  </a:txBody>
                  <a:tcPr marL="45720" marR="45720" marT="9144" marB="9144" anchor="ctr">
                    <a:noFill/>
                  </a:tcPr>
                </a:tc>
                <a:tc>
                  <a:txBody>
                    <a:bodyPr/>
                    <a:lstStyle/>
                    <a:p>
                      <a:pPr algn="r"/>
                      <a:r>
                        <a:rPr sz="900" b="0" i="0">
                          <a:solidFill>
                            <a:srgbClr val="1E1E1E"/>
                          </a:solidFill>
                          <a:latin typeface="Gill Sans MT"/>
                        </a:rPr>
                        <a:t>25.000</a:t>
                      </a:r>
                    </a:p>
                  </a:txBody>
                  <a:tcPr marL="45720" marR="45720" marT="9144" marB="9144" anchor="ctr">
                    <a:noFill/>
                  </a:tcPr>
                </a:tc>
                <a:tc>
                  <a:txBody>
                    <a:bodyPr/>
                    <a:lstStyle/>
                    <a:p>
                      <a:pPr algn="r"/>
                      <a:r>
                        <a:rPr sz="900" b="0" i="0">
                          <a:solidFill>
                            <a:srgbClr val="1E1E1E"/>
                          </a:solidFill>
                          <a:latin typeface="Gill Sans MT"/>
                        </a:rPr>
                        <a:t>22.389</a:t>
                      </a:r>
                    </a:p>
                  </a:txBody>
                  <a:tcPr marL="45720" marR="45720" marT="9144" marB="9144" anchor="ctr">
                    <a:noFill/>
                  </a:tcPr>
                </a:tc>
                <a:tc>
                  <a:txBody>
                    <a:bodyPr/>
                    <a:lstStyle/>
                    <a:p>
                      <a:pPr algn="r"/>
                      <a:r>
                        <a:rPr sz="900" b="0" i="0">
                          <a:solidFill>
                            <a:srgbClr val="1E1E1E"/>
                          </a:solidFill>
                          <a:latin typeface="Gill Sans MT"/>
                        </a:rPr>
                        <a:t>30.611</a:t>
                      </a:r>
                    </a:p>
                  </a:txBody>
                  <a:tcPr marL="45720" marR="45720" marT="9144" marB="9144" anchor="ctr">
                    <a:noFill/>
                  </a:tcPr>
                </a:tc>
                <a:tc>
                  <a:txBody>
                    <a:bodyPr/>
                    <a:lstStyle/>
                    <a:p>
                      <a:pPr algn="r"/>
                      <a:r>
                        <a:rPr sz="900" b="0" i="0">
                          <a:solidFill>
                            <a:srgbClr val="1E1E1E"/>
                          </a:solidFill>
                          <a:latin typeface="Gill Sans MT"/>
                        </a:rPr>
                        <a:t>1,37x</a:t>
                      </a:r>
                    </a:p>
                  </a:txBody>
                  <a:tcPr marL="45720" marR="45720" marT="9144" marB="9144" anchor="ctr">
                    <a:noFill/>
                  </a:tcPr>
                </a:tc>
                <a:extLst>
                  <a:ext uri="{0D108BD9-81ED-4DB2-BD59-A6C34878D82A}">
                    <a16:rowId xmlns:a16="http://schemas.microsoft.com/office/drawing/2014/main" val="10003"/>
                  </a:ext>
                </a:extLst>
              </a:tr>
              <a:tr h="274320">
                <a:tc>
                  <a:txBody>
                    <a:bodyPr/>
                    <a:lstStyle/>
                    <a:p>
                      <a:pPr algn="l"/>
                      <a:r>
                        <a:rPr sz="900" b="0" i="0">
                          <a:solidFill>
                            <a:srgbClr val="1E1E1E"/>
                          </a:solidFill>
                          <a:latin typeface="Gill Sans MT"/>
                        </a:rPr>
                        <a:t>      K Alternativ Private Equity 2022 K/S</a:t>
                      </a:r>
                    </a:p>
                  </a:txBody>
                  <a:tcPr marL="45720" marR="45720" marT="9144" marB="9144" anchor="ctr">
                    <a:noFill/>
                  </a:tcPr>
                </a:tc>
                <a:tc>
                  <a:txBody>
                    <a:bodyPr/>
                    <a:lstStyle/>
                    <a:p>
                      <a:pPr algn="ctr"/>
                      <a:r>
                        <a:rPr sz="900" b="0" i="0">
                          <a:solidFill>
                            <a:srgbClr val="1E1E1E"/>
                          </a:solidFill>
                          <a:latin typeface="Gill Sans MT"/>
                        </a:rPr>
                        <a:t>DKK</a:t>
                      </a:r>
                    </a:p>
                  </a:txBody>
                  <a:tcPr marL="45720" marR="45720" marT="9144" marB="9144" anchor="ctr">
                    <a:noFill/>
                  </a:tcPr>
                </a:tc>
                <a:tc>
                  <a:txBody>
                    <a:bodyPr/>
                    <a:lstStyle/>
                    <a:p>
                      <a:pPr algn="r"/>
                      <a:r>
                        <a:rPr sz="900" b="0" i="0">
                          <a:solidFill>
                            <a:srgbClr val="1E1E1E"/>
                          </a:solidFill>
                          <a:latin typeface="Gill Sans MT"/>
                        </a:rPr>
                        <a:t>14.000</a:t>
                      </a:r>
                    </a:p>
                  </a:txBody>
                  <a:tcPr marL="45720" marR="45720" marT="9144" marB="9144" anchor="ctr">
                    <a:noFill/>
                  </a:tcPr>
                </a:tc>
                <a:tc>
                  <a:txBody>
                    <a:bodyPr/>
                    <a:lstStyle/>
                    <a:p>
                      <a:pPr algn="r"/>
                      <a:r>
                        <a:rPr sz="900" b="0" i="0">
                          <a:solidFill>
                            <a:srgbClr val="1E1E1E"/>
                          </a:solidFill>
                          <a:latin typeface="Gill Sans MT"/>
                        </a:rPr>
                        <a:t>6.880</a:t>
                      </a:r>
                    </a:p>
                  </a:txBody>
                  <a:tcPr marL="45720" marR="45720" marT="9144" marB="9144" anchor="ctr">
                    <a:noFill/>
                  </a:tcPr>
                </a:tc>
                <a:tc>
                  <a:txBody>
                    <a:bodyPr/>
                    <a:lstStyle/>
                    <a:p>
                      <a:pPr algn="r"/>
                      <a:r>
                        <a:rPr sz="900" b="0" i="0">
                          <a:solidFill>
                            <a:srgbClr val="1E1E1E"/>
                          </a:solidFill>
                          <a:latin typeface="Gill Sans MT"/>
                        </a:rPr>
                        <a:t>9.128</a:t>
                      </a:r>
                    </a:p>
                  </a:txBody>
                  <a:tcPr marL="45720" marR="45720" marT="9144" marB="9144" anchor="ctr">
                    <a:noFill/>
                  </a:tcPr>
                </a:tc>
                <a:tc>
                  <a:txBody>
                    <a:bodyPr/>
                    <a:lstStyle/>
                    <a:p>
                      <a:pPr algn="r"/>
                      <a:r>
                        <a:rPr sz="900" b="0" i="0">
                          <a:solidFill>
                            <a:srgbClr val="1E1E1E"/>
                          </a:solidFill>
                          <a:latin typeface="Gill Sans MT"/>
                        </a:rPr>
                        <a:t>1,34x</a:t>
                      </a:r>
                    </a:p>
                  </a:txBody>
                  <a:tcPr marL="45720" marR="45720" marT="9144" marB="9144" anchor="ctr">
                    <a:noFill/>
                  </a:tcPr>
                </a:tc>
                <a:extLst>
                  <a:ext uri="{0D108BD9-81ED-4DB2-BD59-A6C34878D82A}">
                    <a16:rowId xmlns:a16="http://schemas.microsoft.com/office/drawing/2014/main" val="10004"/>
                  </a:ext>
                </a:extLst>
              </a:tr>
              <a:tr h="274320">
                <a:tc>
                  <a:txBody>
                    <a:bodyPr/>
                    <a:lstStyle/>
                    <a:p>
                      <a:pPr algn="l"/>
                      <a:r>
                        <a:rPr sz="900" b="1" i="0">
                          <a:solidFill>
                            <a:srgbClr val="1E1E1E"/>
                          </a:solidFill>
                          <a:latin typeface="Gill Sans MT"/>
                        </a:rPr>
                        <a:t>Venture (seed) (24,2 %)</a:t>
                      </a:r>
                    </a:p>
                  </a:txBody>
                  <a:tcPr marL="45720" marR="45720" marT="9144" marB="9144" anchor="ctr">
                    <a:solidFill>
                      <a:srgbClr val="F4F2EB"/>
                    </a:solidFill>
                  </a:tcPr>
                </a:tc>
                <a:tc>
                  <a:txBody>
                    <a:bodyPr/>
                    <a:lstStyle/>
                    <a:p>
                      <a:pPr algn="ctr"/>
                      <a:endParaRPr/>
                    </a:p>
                  </a:txBody>
                  <a:tcPr marL="45720" marR="45720" marT="9144" marB="9144" anchor="ctr">
                    <a:solidFill>
                      <a:srgbClr val="F4F2EB"/>
                    </a:solidFill>
                  </a:tcPr>
                </a:tc>
                <a:tc>
                  <a:txBody>
                    <a:bodyPr/>
                    <a:lstStyle/>
                    <a:p>
                      <a:pPr algn="r"/>
                      <a:r>
                        <a:rPr sz="900" b="1" i="0">
                          <a:solidFill>
                            <a:srgbClr val="1E1E1E"/>
                          </a:solidFill>
                          <a:latin typeface="Gill Sans MT"/>
                        </a:rPr>
                        <a:t>30.000</a:t>
                      </a:r>
                    </a:p>
                  </a:txBody>
                  <a:tcPr marL="45720" marR="45720" marT="9144" marB="9144" anchor="ctr">
                    <a:solidFill>
                      <a:srgbClr val="F4F2EB"/>
                    </a:solidFill>
                  </a:tcPr>
                </a:tc>
                <a:tc>
                  <a:txBody>
                    <a:bodyPr/>
                    <a:lstStyle/>
                    <a:p>
                      <a:pPr algn="r"/>
                      <a:r>
                        <a:rPr sz="900" b="1" i="0">
                          <a:solidFill>
                            <a:srgbClr val="1E1E1E"/>
                          </a:solidFill>
                          <a:latin typeface="Gill Sans MT"/>
                        </a:rPr>
                        <a:t>22.735</a:t>
                      </a:r>
                    </a:p>
                  </a:txBody>
                  <a:tcPr marL="45720" marR="45720" marT="9144" marB="9144" anchor="ctr">
                    <a:solidFill>
                      <a:srgbClr val="F4F2EB"/>
                    </a:solidFill>
                  </a:tcPr>
                </a:tc>
                <a:tc>
                  <a:txBody>
                    <a:bodyPr/>
                    <a:lstStyle/>
                    <a:p>
                      <a:pPr algn="r"/>
                      <a:r>
                        <a:rPr sz="900" b="1" i="0">
                          <a:solidFill>
                            <a:srgbClr val="1E1E1E"/>
                          </a:solidFill>
                          <a:latin typeface="Gill Sans MT"/>
                        </a:rPr>
                        <a:t>54.956</a:t>
                      </a:r>
                    </a:p>
                  </a:txBody>
                  <a:tcPr marL="45720" marR="45720" marT="9144" marB="9144" anchor="ctr">
                    <a:solidFill>
                      <a:srgbClr val="F4F2EB"/>
                    </a:solidFill>
                  </a:tcPr>
                </a:tc>
                <a:tc>
                  <a:txBody>
                    <a:bodyPr/>
                    <a:lstStyle/>
                    <a:p>
                      <a:pPr algn="r"/>
                      <a:r>
                        <a:rPr sz="900" b="1" i="0">
                          <a:solidFill>
                            <a:srgbClr val="1E1E1E"/>
                          </a:solidFill>
                          <a:latin typeface="Gill Sans MT"/>
                        </a:rPr>
                        <a:t>2,48x</a:t>
                      </a:r>
                    </a:p>
                  </a:txBody>
                  <a:tcPr marL="45720" marR="45720" marT="9144" marB="9144" anchor="ctr">
                    <a:solidFill>
                      <a:srgbClr val="F4F2EB"/>
                    </a:solidFill>
                  </a:tcPr>
                </a:tc>
                <a:extLst>
                  <a:ext uri="{0D108BD9-81ED-4DB2-BD59-A6C34878D82A}">
                    <a16:rowId xmlns:a16="http://schemas.microsoft.com/office/drawing/2014/main" val="10005"/>
                  </a:ext>
                </a:extLst>
              </a:tr>
              <a:tr h="274320">
                <a:tc>
                  <a:txBody>
                    <a:bodyPr/>
                    <a:lstStyle/>
                    <a:p>
                      <a:pPr algn="l"/>
                      <a:r>
                        <a:rPr sz="900" b="0" i="0">
                          <a:solidFill>
                            <a:srgbClr val="1E1E1E"/>
                          </a:solidFill>
                          <a:latin typeface="Gill Sans MT"/>
                        </a:rPr>
                        <a:t>      Seed Capital Denmark IV K/S</a:t>
                      </a:r>
                    </a:p>
                  </a:txBody>
                  <a:tcPr marL="45720" marR="45720" marT="9144" marB="9144" anchor="ctr">
                    <a:noFill/>
                  </a:tcPr>
                </a:tc>
                <a:tc>
                  <a:txBody>
                    <a:bodyPr/>
                    <a:lstStyle/>
                    <a:p>
                      <a:pPr algn="ctr"/>
                      <a:r>
                        <a:rPr sz="900" b="0" i="0">
                          <a:solidFill>
                            <a:srgbClr val="1E1E1E"/>
                          </a:solidFill>
                          <a:latin typeface="Gill Sans MT"/>
                        </a:rPr>
                        <a:t>DKK</a:t>
                      </a:r>
                    </a:p>
                  </a:txBody>
                  <a:tcPr marL="45720" marR="45720" marT="9144" marB="9144" anchor="ctr">
                    <a:noFill/>
                  </a:tcPr>
                </a:tc>
                <a:tc>
                  <a:txBody>
                    <a:bodyPr/>
                    <a:lstStyle/>
                    <a:p>
                      <a:pPr algn="r"/>
                      <a:r>
                        <a:rPr sz="900" b="0" i="0">
                          <a:solidFill>
                            <a:srgbClr val="1E1E1E"/>
                          </a:solidFill>
                          <a:latin typeface="Gill Sans MT"/>
                        </a:rPr>
                        <a:t>30.000</a:t>
                      </a:r>
                    </a:p>
                  </a:txBody>
                  <a:tcPr marL="45720" marR="45720" marT="9144" marB="9144" anchor="ctr">
                    <a:noFill/>
                  </a:tcPr>
                </a:tc>
                <a:tc>
                  <a:txBody>
                    <a:bodyPr/>
                    <a:lstStyle/>
                    <a:p>
                      <a:pPr algn="r"/>
                      <a:r>
                        <a:rPr sz="900" b="0" i="0">
                          <a:solidFill>
                            <a:srgbClr val="1E1E1E"/>
                          </a:solidFill>
                          <a:latin typeface="Gill Sans MT"/>
                        </a:rPr>
                        <a:t>22.735</a:t>
                      </a:r>
                    </a:p>
                  </a:txBody>
                  <a:tcPr marL="45720" marR="45720" marT="9144" marB="9144" anchor="ctr">
                    <a:noFill/>
                  </a:tcPr>
                </a:tc>
                <a:tc>
                  <a:txBody>
                    <a:bodyPr/>
                    <a:lstStyle/>
                    <a:p>
                      <a:pPr algn="r"/>
                      <a:r>
                        <a:rPr sz="900" b="0" i="0">
                          <a:solidFill>
                            <a:srgbClr val="1E1E1E"/>
                          </a:solidFill>
                          <a:latin typeface="Gill Sans MT"/>
                        </a:rPr>
                        <a:t>54.956</a:t>
                      </a:r>
                    </a:p>
                  </a:txBody>
                  <a:tcPr marL="45720" marR="45720" marT="9144" marB="9144" anchor="ctr">
                    <a:noFill/>
                  </a:tcPr>
                </a:tc>
                <a:tc>
                  <a:txBody>
                    <a:bodyPr/>
                    <a:lstStyle/>
                    <a:p>
                      <a:pPr algn="r"/>
                      <a:r>
                        <a:rPr sz="900" b="0" i="0">
                          <a:solidFill>
                            <a:srgbClr val="1E1E1E"/>
                          </a:solidFill>
                          <a:latin typeface="Gill Sans MT"/>
                        </a:rPr>
                        <a:t>2,48x</a:t>
                      </a:r>
                    </a:p>
                  </a:txBody>
                  <a:tcPr marL="45720" marR="45720" marT="9144" marB="9144" anchor="ctr">
                    <a:noFill/>
                  </a:tcPr>
                </a:tc>
                <a:extLst>
                  <a:ext uri="{0D108BD9-81ED-4DB2-BD59-A6C34878D82A}">
                    <a16:rowId xmlns:a16="http://schemas.microsoft.com/office/drawing/2014/main" val="10006"/>
                  </a:ext>
                </a:extLst>
              </a:tr>
              <a:tr h="274320">
                <a:tc>
                  <a:txBody>
                    <a:bodyPr/>
                    <a:lstStyle/>
                    <a:p>
                      <a:pPr algn="l"/>
                      <a:r>
                        <a:rPr sz="900" b="1" i="0">
                          <a:solidFill>
                            <a:srgbClr val="1E1E1E"/>
                          </a:solidFill>
                          <a:latin typeface="Gill Sans MT"/>
                        </a:rPr>
                        <a:t>Small/mid-cap buyout (21,8 %)</a:t>
                      </a:r>
                    </a:p>
                  </a:txBody>
                  <a:tcPr marL="45720" marR="45720" marT="9144" marB="9144" anchor="ctr">
                    <a:solidFill>
                      <a:srgbClr val="F4F2EB"/>
                    </a:solidFill>
                  </a:tcPr>
                </a:tc>
                <a:tc>
                  <a:txBody>
                    <a:bodyPr/>
                    <a:lstStyle/>
                    <a:p>
                      <a:pPr algn="ctr"/>
                      <a:endParaRPr/>
                    </a:p>
                  </a:txBody>
                  <a:tcPr marL="45720" marR="45720" marT="9144" marB="9144" anchor="ctr">
                    <a:solidFill>
                      <a:srgbClr val="F4F2EB"/>
                    </a:solidFill>
                  </a:tcPr>
                </a:tc>
                <a:tc>
                  <a:txBody>
                    <a:bodyPr/>
                    <a:lstStyle/>
                    <a:p>
                      <a:pPr algn="r"/>
                      <a:r>
                        <a:rPr sz="900" b="1" i="0">
                          <a:solidFill>
                            <a:srgbClr val="1E1E1E"/>
                          </a:solidFill>
                          <a:latin typeface="Gill Sans MT"/>
                        </a:rPr>
                        <a:t>37.500</a:t>
                      </a:r>
                    </a:p>
                  </a:txBody>
                  <a:tcPr marL="45720" marR="45720" marT="9144" marB="9144" anchor="ctr">
                    <a:solidFill>
                      <a:srgbClr val="F4F2EB"/>
                    </a:solidFill>
                  </a:tcPr>
                </a:tc>
                <a:tc>
                  <a:txBody>
                    <a:bodyPr/>
                    <a:lstStyle/>
                    <a:p>
                      <a:pPr algn="r"/>
                      <a:r>
                        <a:rPr sz="900" b="1" i="0">
                          <a:solidFill>
                            <a:srgbClr val="1E1E1E"/>
                          </a:solidFill>
                          <a:latin typeface="Gill Sans MT"/>
                        </a:rPr>
                        <a:t>20.512</a:t>
                      </a:r>
                    </a:p>
                  </a:txBody>
                  <a:tcPr marL="45720" marR="45720" marT="9144" marB="9144" anchor="ctr">
                    <a:solidFill>
                      <a:srgbClr val="F4F2EB"/>
                    </a:solidFill>
                  </a:tcPr>
                </a:tc>
                <a:tc>
                  <a:txBody>
                    <a:bodyPr/>
                    <a:lstStyle/>
                    <a:p>
                      <a:pPr algn="r"/>
                      <a:r>
                        <a:rPr sz="900" b="1" i="0">
                          <a:solidFill>
                            <a:srgbClr val="1E1E1E"/>
                          </a:solidFill>
                          <a:latin typeface="Gill Sans MT"/>
                        </a:rPr>
                        <a:t>25.897</a:t>
                      </a:r>
                    </a:p>
                  </a:txBody>
                  <a:tcPr marL="45720" marR="45720" marT="9144" marB="9144" anchor="ctr">
                    <a:solidFill>
                      <a:srgbClr val="F4F2EB"/>
                    </a:solidFill>
                  </a:tcPr>
                </a:tc>
                <a:tc>
                  <a:txBody>
                    <a:bodyPr/>
                    <a:lstStyle/>
                    <a:p>
                      <a:pPr algn="r"/>
                      <a:r>
                        <a:rPr sz="900" b="1" i="0">
                          <a:solidFill>
                            <a:srgbClr val="1E1E1E"/>
                          </a:solidFill>
                          <a:latin typeface="Gill Sans MT"/>
                        </a:rPr>
                        <a:t>1,31x</a:t>
                      </a:r>
                    </a:p>
                  </a:txBody>
                  <a:tcPr marL="45720" marR="45720" marT="9144" marB="9144" anchor="ctr">
                    <a:solidFill>
                      <a:srgbClr val="F4F2EB"/>
                    </a:solidFill>
                  </a:tcPr>
                </a:tc>
                <a:extLst>
                  <a:ext uri="{0D108BD9-81ED-4DB2-BD59-A6C34878D82A}">
                    <a16:rowId xmlns:a16="http://schemas.microsoft.com/office/drawing/2014/main" val="10007"/>
                  </a:ext>
                </a:extLst>
              </a:tr>
              <a:tr h="274320">
                <a:tc>
                  <a:txBody>
                    <a:bodyPr/>
                    <a:lstStyle/>
                    <a:p>
                      <a:pPr algn="l"/>
                      <a:r>
                        <a:rPr sz="900" b="0" i="0">
                          <a:solidFill>
                            <a:srgbClr val="1E1E1E"/>
                          </a:solidFill>
                          <a:latin typeface="Gill Sans MT"/>
                        </a:rPr>
                        <a:t>      CataCap III K/S</a:t>
                      </a:r>
                    </a:p>
                  </a:txBody>
                  <a:tcPr marL="45720" marR="45720" marT="9144" marB="9144" anchor="ctr">
                    <a:noFill/>
                  </a:tcPr>
                </a:tc>
                <a:tc>
                  <a:txBody>
                    <a:bodyPr/>
                    <a:lstStyle/>
                    <a:p>
                      <a:pPr algn="ctr"/>
                      <a:r>
                        <a:rPr sz="900" b="0" i="0">
                          <a:solidFill>
                            <a:srgbClr val="1E1E1E"/>
                          </a:solidFill>
                          <a:latin typeface="Gill Sans MT"/>
                        </a:rPr>
                        <a:t>DKK</a:t>
                      </a:r>
                    </a:p>
                  </a:txBody>
                  <a:tcPr marL="45720" marR="45720" marT="9144" marB="9144" anchor="ctr">
                    <a:noFill/>
                  </a:tcPr>
                </a:tc>
                <a:tc>
                  <a:txBody>
                    <a:bodyPr/>
                    <a:lstStyle/>
                    <a:p>
                      <a:pPr algn="r"/>
                      <a:r>
                        <a:rPr sz="900" b="0" i="0">
                          <a:solidFill>
                            <a:srgbClr val="1E1E1E"/>
                          </a:solidFill>
                          <a:latin typeface="Gill Sans MT"/>
                        </a:rPr>
                        <a:t>37.500</a:t>
                      </a:r>
                    </a:p>
                  </a:txBody>
                  <a:tcPr marL="45720" marR="45720" marT="9144" marB="9144" anchor="ctr">
                    <a:noFill/>
                  </a:tcPr>
                </a:tc>
                <a:tc>
                  <a:txBody>
                    <a:bodyPr/>
                    <a:lstStyle/>
                    <a:p>
                      <a:pPr algn="r"/>
                      <a:r>
                        <a:rPr sz="900" b="0" i="0">
                          <a:solidFill>
                            <a:srgbClr val="1E1E1E"/>
                          </a:solidFill>
                          <a:latin typeface="Gill Sans MT"/>
                        </a:rPr>
                        <a:t>20.512</a:t>
                      </a:r>
                    </a:p>
                  </a:txBody>
                  <a:tcPr marL="45720" marR="45720" marT="9144" marB="9144" anchor="ctr">
                    <a:noFill/>
                  </a:tcPr>
                </a:tc>
                <a:tc>
                  <a:txBody>
                    <a:bodyPr/>
                    <a:lstStyle/>
                    <a:p>
                      <a:pPr algn="r"/>
                      <a:r>
                        <a:rPr sz="900" b="0" i="0">
                          <a:solidFill>
                            <a:srgbClr val="1E1E1E"/>
                          </a:solidFill>
                          <a:latin typeface="Gill Sans MT"/>
                        </a:rPr>
                        <a:t>25.897</a:t>
                      </a:r>
                    </a:p>
                  </a:txBody>
                  <a:tcPr marL="45720" marR="45720" marT="9144" marB="9144" anchor="ctr">
                    <a:noFill/>
                  </a:tcPr>
                </a:tc>
                <a:tc>
                  <a:txBody>
                    <a:bodyPr/>
                    <a:lstStyle/>
                    <a:p>
                      <a:pPr algn="r"/>
                      <a:r>
                        <a:rPr sz="900" b="0" i="0">
                          <a:solidFill>
                            <a:srgbClr val="1E1E1E"/>
                          </a:solidFill>
                          <a:latin typeface="Gill Sans MT"/>
                        </a:rPr>
                        <a:t>1,31x</a:t>
                      </a:r>
                    </a:p>
                  </a:txBody>
                  <a:tcPr marL="45720" marR="45720" marT="9144" marB="9144" anchor="ctr">
                    <a:noFill/>
                  </a:tcPr>
                </a:tc>
                <a:extLst>
                  <a:ext uri="{0D108BD9-81ED-4DB2-BD59-A6C34878D82A}">
                    <a16:rowId xmlns:a16="http://schemas.microsoft.com/office/drawing/2014/main" val="10008"/>
                  </a:ext>
                </a:extLst>
              </a:tr>
              <a:tr h="274320">
                <a:tc>
                  <a:txBody>
                    <a:bodyPr/>
                    <a:lstStyle/>
                    <a:p>
                      <a:pPr algn="l"/>
                      <a:r>
                        <a:rPr sz="900" b="1" i="0">
                          <a:solidFill>
                            <a:srgbClr val="1E1E1E"/>
                          </a:solidFill>
                          <a:latin typeface="Gill Sans MT"/>
                        </a:rPr>
                        <a:t>I alt</a:t>
                      </a:r>
                    </a:p>
                  </a:txBody>
                  <a:tcPr marL="45720" marR="45720" marT="9144" marB="9144" anchor="ctr">
                    <a:solidFill>
                      <a:srgbClr val="C9CCB8"/>
                    </a:solidFill>
                  </a:tcPr>
                </a:tc>
                <a:tc>
                  <a:txBody>
                    <a:bodyPr/>
                    <a:lstStyle/>
                    <a:p>
                      <a:pPr algn="ctr"/>
                      <a:r>
                        <a:rPr sz="900" b="1" i="0">
                          <a:solidFill>
                            <a:srgbClr val="1E1E1E"/>
                          </a:solidFill>
                          <a:latin typeface="Gill Sans MT"/>
                        </a:rPr>
                        <a:t>DKK</a:t>
                      </a:r>
                    </a:p>
                  </a:txBody>
                  <a:tcPr marL="45720" marR="45720" marT="9144" marB="9144" anchor="ctr">
                    <a:solidFill>
                      <a:srgbClr val="C9CCB8"/>
                    </a:solidFill>
                  </a:tcPr>
                </a:tc>
                <a:tc>
                  <a:txBody>
                    <a:bodyPr/>
                    <a:lstStyle/>
                    <a:p>
                      <a:pPr algn="r"/>
                      <a:r>
                        <a:rPr sz="900" b="1" i="0">
                          <a:solidFill>
                            <a:srgbClr val="1E1E1E"/>
                          </a:solidFill>
                          <a:latin typeface="Gill Sans MT"/>
                        </a:rPr>
                        <a:t>131.500</a:t>
                      </a:r>
                    </a:p>
                  </a:txBody>
                  <a:tcPr marL="45720" marR="45720" marT="9144" marB="9144" anchor="ctr">
                    <a:solidFill>
                      <a:srgbClr val="C9CCB8"/>
                    </a:solidFill>
                  </a:tcPr>
                </a:tc>
                <a:tc>
                  <a:txBody>
                    <a:bodyPr/>
                    <a:lstStyle/>
                    <a:p>
                      <a:pPr algn="r"/>
                      <a:r>
                        <a:rPr sz="900" b="1" i="0">
                          <a:solidFill>
                            <a:srgbClr val="1E1E1E"/>
                          </a:solidFill>
                          <a:latin typeface="Gill Sans MT"/>
                        </a:rPr>
                        <a:t>94.045</a:t>
                      </a:r>
                    </a:p>
                  </a:txBody>
                  <a:tcPr marL="45720" marR="45720" marT="9144" marB="9144" anchor="ctr">
                    <a:solidFill>
                      <a:srgbClr val="C9CCB8"/>
                    </a:solidFill>
                  </a:tcPr>
                </a:tc>
                <a:tc>
                  <a:txBody>
                    <a:bodyPr/>
                    <a:lstStyle/>
                    <a:p>
                      <a:pPr algn="r"/>
                      <a:r>
                        <a:rPr sz="900" b="1" i="0">
                          <a:solidFill>
                            <a:srgbClr val="1E1E1E"/>
                          </a:solidFill>
                          <a:latin typeface="Gill Sans MT"/>
                        </a:rPr>
                        <a:t>143.803</a:t>
                      </a:r>
                    </a:p>
                  </a:txBody>
                  <a:tcPr marL="45720" marR="45720" marT="9144" marB="9144" anchor="ctr">
                    <a:solidFill>
                      <a:srgbClr val="C9CCB8"/>
                    </a:solidFill>
                  </a:tcPr>
                </a:tc>
                <a:tc>
                  <a:txBody>
                    <a:bodyPr/>
                    <a:lstStyle/>
                    <a:p>
                      <a:pPr algn="r"/>
                      <a:r>
                        <a:rPr sz="900" b="1" i="0">
                          <a:solidFill>
                            <a:srgbClr val="1E1E1E"/>
                          </a:solidFill>
                          <a:latin typeface="Gill Sans MT"/>
                        </a:rPr>
                        <a:t>1,62x</a:t>
                      </a:r>
                    </a:p>
                  </a:txBody>
                  <a:tcPr marL="45720" marR="45720" marT="9144" marB="9144" anchor="ctr">
                    <a:solidFill>
                      <a:srgbClr val="C9CCB8"/>
                    </a:solidFill>
                  </a:tcPr>
                </a:tc>
                <a:extLst>
                  <a:ext uri="{0D108BD9-81ED-4DB2-BD59-A6C34878D82A}">
                    <a16:rowId xmlns:a16="http://schemas.microsoft.com/office/drawing/2014/main" val="10009"/>
                  </a:ext>
                </a:extLst>
              </a:tr>
            </a:tbl>
          </a:graphicData>
        </a:graphic>
      </p:graphicFrame>
      <p:sp>
        <p:nvSpPr>
          <p:cNvPr id="5" name="TextBox 4"/>
          <p:cNvSpPr txBox="1"/>
          <p:nvPr/>
        </p:nvSpPr>
        <p:spPr>
          <a:xfrm>
            <a:off x="603504" y="5394960"/>
            <a:ext cx="9491472" cy="457200"/>
          </a:xfrm>
          <a:prstGeom prst="rect">
            <a:avLst/>
          </a:prstGeom>
          <a:noFill/>
        </p:spPr>
        <p:txBody>
          <a:bodyPr wrap="square" lIns="0" tIns="0" rIns="0" bIns="0" anchor="t">
            <a:spAutoFit/>
          </a:bodyPr>
          <a:lstStyle/>
          <a:p>
            <a:pPr algn="l"/>
            <a:r>
              <a:rPr sz="700" b="0" i="1">
                <a:solidFill>
                  <a:srgbClr val="1E1E1E"/>
                </a:solidFill>
                <a:latin typeface="Gill Sans MT"/>
              </a:rPr>
              <a:t>Kilde: GP-rapporter og egne beregninger. Procenten er gruppens andel af indbetalt kapital. Geografi og segment er et udkast og ikke gennemgået.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Fondsoversigter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0"/>
          <a:lstStyle/>
          <a:p>
            <a:r>
              <a:t>CataCap III K/S</a:t>
            </a:r>
          </a:p>
        </p:txBody>
      </p:sp>
      <p:pic>
        <p:nvPicPr>
          <p:cNvPr id="3" name="Picture 2" descr="image.png"/>
          <p:cNvPicPr>
            <a:picLocks noChangeAspect="1"/>
          </p:cNvPicPr>
          <p:nvPr/>
        </p:nvPicPr>
        <p:blipFill>
          <a:blip r:embed="rId2"/>
          <a:stretch>
            <a:fillRect/>
          </a:stretch>
        </p:blipFill>
        <p:spPr>
          <a:xfrm>
            <a:off x="8677655" y="322601"/>
            <a:ext cx="1417320" cy="214333"/>
          </a:xfrm>
          <a:prstGeom prst="rect">
            <a:avLst/>
          </a:prstGeom>
        </p:spPr>
      </p:pic>
      <p:sp>
        <p:nvSpPr>
          <p:cNvPr id="4" name="TextBox 3"/>
          <p:cNvSpPr txBox="1"/>
          <p:nvPr/>
        </p:nvSpPr>
        <p:spPr>
          <a:xfrm>
            <a:off x="603504" y="786384"/>
            <a:ext cx="9491472" cy="201168"/>
          </a:xfrm>
          <a:prstGeom prst="rect">
            <a:avLst/>
          </a:prstGeom>
          <a:noFill/>
        </p:spPr>
        <p:txBody>
          <a:bodyPr wrap="square" lIns="0" tIns="0" rIns="0" bIns="0" anchor="t">
            <a:spAutoFit/>
          </a:bodyPr>
          <a:lstStyle/>
          <a:p>
            <a:pPr algn="l"/>
            <a:r>
              <a:rPr sz="950" b="0" i="0">
                <a:solidFill>
                  <a:srgbClr val="1E1E1E"/>
                </a:solidFill>
                <a:latin typeface="Gill Sans MT"/>
              </a:rPr>
              <a:t>A/S Motortramp  ·  pr. 30.06.2026  ·  beløb i tDKK</a:t>
            </a:r>
          </a:p>
        </p:txBody>
      </p:sp>
      <p:sp>
        <p:nvSpPr>
          <p:cNvPr id="5" name="TextBox 4"/>
          <p:cNvSpPr txBox="1"/>
          <p:nvPr/>
        </p:nvSpPr>
        <p:spPr>
          <a:xfrm>
            <a:off x="603504" y="1115568"/>
            <a:ext cx="2971800" cy="201168"/>
          </a:xfrm>
          <a:prstGeom prst="rect">
            <a:avLst/>
          </a:prstGeom>
          <a:noFill/>
        </p:spPr>
        <p:txBody>
          <a:bodyPr wrap="square" lIns="0" tIns="0" rIns="0" bIns="0" anchor="t">
            <a:spAutoFit/>
          </a:bodyPr>
          <a:lstStyle/>
          <a:p>
            <a:pPr algn="l"/>
            <a:r>
              <a:rPr sz="1050" b="1" i="0">
                <a:solidFill>
                  <a:srgbClr val="545B4A"/>
                </a:solidFill>
                <a:latin typeface="Gill Sans MT"/>
              </a:rPr>
              <a:t>Kort beskrivelse af fonden</a:t>
            </a:r>
          </a:p>
        </p:txBody>
      </p:sp>
      <p:cxnSp>
        <p:nvCxnSpPr>
          <p:cNvPr id="6" name="Connector 5"/>
          <p:cNvCxnSpPr/>
          <p:nvPr/>
        </p:nvCxnSpPr>
        <p:spPr>
          <a:xfrm>
            <a:off x="603504" y="1344168"/>
            <a:ext cx="297180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3504" y="1426464"/>
            <a:ext cx="2971800" cy="1271016"/>
          </a:xfrm>
          <a:prstGeom prst="rect">
            <a:avLst/>
          </a:prstGeom>
          <a:noFill/>
        </p:spPr>
        <p:txBody>
          <a:bodyPr wrap="square" lIns="0" tIns="0" rIns="0" bIns="0" anchor="t">
            <a:spAutoFit/>
          </a:bodyPr>
          <a:lstStyle/>
          <a:p>
            <a:pPr algn="l"/>
            <a:r>
              <a:rPr sz="950" b="0" i="0">
                <a:solidFill>
                  <a:srgbClr val="1E1E1E"/>
                </a:solidFill>
                <a:latin typeface="Gill Sans MT"/>
              </a:rPr>
              <a:t>CataCap er en dansk kapitalfond med base i København. CataCap III investerer i små og mellemstore danske virksomheder, typisk som majoritetsejer, og arbejder med vækst, internationalisering og opkøb i partnerskab med ledelse og medejere.</a:t>
            </a:r>
          </a:p>
        </p:txBody>
      </p:sp>
      <p:cxnSp>
        <p:nvCxnSpPr>
          <p:cNvPr id="8" name="Connector 7"/>
          <p:cNvCxnSpPr/>
          <p:nvPr/>
        </p:nvCxnSpPr>
        <p:spPr>
          <a:xfrm>
            <a:off x="3717035" y="1115568"/>
            <a:ext cx="0" cy="1490472"/>
          </a:xfrm>
          <a:prstGeom prst="line">
            <a:avLst/>
          </a:prstGeom>
          <a:ln w="9525">
            <a:solidFill>
              <a:srgbClr val="C9CCB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40780" y="1115568"/>
            <a:ext cx="0" cy="1490472"/>
          </a:xfrm>
          <a:prstGeom prst="line">
            <a:avLst/>
          </a:prstGeom>
          <a:ln w="9525">
            <a:solidFill>
              <a:srgbClr val="C9CCB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307324" y="1115568"/>
            <a:ext cx="0" cy="1490472"/>
          </a:xfrm>
          <a:prstGeom prst="line">
            <a:avLst/>
          </a:prstGeom>
          <a:ln w="9525">
            <a:solidFill>
              <a:srgbClr val="C9CCB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858768" y="1115568"/>
            <a:ext cx="2240280" cy="201168"/>
          </a:xfrm>
          <a:prstGeom prst="rect">
            <a:avLst/>
          </a:prstGeom>
          <a:noFill/>
        </p:spPr>
        <p:txBody>
          <a:bodyPr wrap="square" lIns="0" tIns="0" rIns="0" bIns="0" anchor="t">
            <a:spAutoFit/>
          </a:bodyPr>
          <a:lstStyle/>
          <a:p>
            <a:pPr algn="l"/>
            <a:r>
              <a:rPr sz="1050" b="1" i="0">
                <a:solidFill>
                  <a:srgbClr val="545B4A"/>
                </a:solidFill>
                <a:latin typeface="Gill Sans MT"/>
              </a:rPr>
              <a:t>Fondsidentitet</a:t>
            </a:r>
          </a:p>
        </p:txBody>
      </p:sp>
      <p:cxnSp>
        <p:nvCxnSpPr>
          <p:cNvPr id="12" name="Connector 11"/>
          <p:cNvCxnSpPr/>
          <p:nvPr/>
        </p:nvCxnSpPr>
        <p:spPr>
          <a:xfrm>
            <a:off x="3858768" y="1344168"/>
            <a:ext cx="224028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3813048" y="1399032"/>
          <a:ext cx="2331719" cy="1211580"/>
        </p:xfrm>
        <a:graphic>
          <a:graphicData uri="http://schemas.openxmlformats.org/drawingml/2006/table">
            <a:tbl>
              <a:tblPr>
                <a:tableStyleId>{2D5ABB26-0587-4C30-8999-92F81FD0307C}</a:tableStyleId>
              </a:tblPr>
              <a:tblGrid>
                <a:gridCol w="951722">
                  <a:extLst>
                    <a:ext uri="{9D8B030D-6E8A-4147-A177-3AD203B41FA5}">
                      <a16:colId xmlns:a16="http://schemas.microsoft.com/office/drawing/2014/main" val="20000"/>
                    </a:ext>
                  </a:extLst>
                </a:gridCol>
                <a:gridCol w="1379997">
                  <a:extLst>
                    <a:ext uri="{9D8B030D-6E8A-4147-A177-3AD203B41FA5}">
                      <a16:colId xmlns:a16="http://schemas.microsoft.com/office/drawing/2014/main" val="20001"/>
                    </a:ext>
                  </a:extLst>
                </a:gridCol>
              </a:tblGrid>
              <a:tr h="242316">
                <a:tc>
                  <a:txBody>
                    <a:bodyPr/>
                    <a:lstStyle/>
                    <a:p>
                      <a:pPr algn="l"/>
                      <a:r>
                        <a:rPr sz="950" b="0" i="0">
                          <a:solidFill>
                            <a:srgbClr val="1E1E1E"/>
                          </a:solidFill>
                          <a:latin typeface="Gill Sans MT"/>
                        </a:rPr>
                        <a:t>Geografi</a:t>
                      </a:r>
                    </a:p>
                  </a:txBody>
                  <a:tcPr marL="45720" marR="45720" marT="9144" marB="9144" anchor="ctr">
                    <a:noFill/>
                  </a:tcPr>
                </a:tc>
                <a:tc>
                  <a:txBody>
                    <a:bodyPr/>
                    <a:lstStyle/>
                    <a:p>
                      <a:pPr algn="r"/>
                      <a:r>
                        <a:rPr sz="950" b="0" i="0">
                          <a:solidFill>
                            <a:srgbClr val="1E1E1E"/>
                          </a:solidFill>
                          <a:latin typeface="Gill Sans MT"/>
                        </a:rPr>
                        <a:t>Danmark</a:t>
                      </a:r>
                    </a:p>
                  </a:txBody>
                  <a:tcPr marL="45720" marR="45720" marT="9144" marB="9144" anchor="ctr">
                    <a:noFill/>
                  </a:tcPr>
                </a:tc>
                <a:extLst>
                  <a:ext uri="{0D108BD9-81ED-4DB2-BD59-A6C34878D82A}">
                    <a16:rowId xmlns:a16="http://schemas.microsoft.com/office/drawing/2014/main" val="10000"/>
                  </a:ext>
                </a:extLst>
              </a:tr>
              <a:tr h="242316">
                <a:tc>
                  <a:txBody>
                    <a:bodyPr/>
                    <a:lstStyle/>
                    <a:p>
                      <a:pPr algn="l"/>
                      <a:r>
                        <a:rPr sz="950" b="0" i="0">
                          <a:solidFill>
                            <a:srgbClr val="1E1E1E"/>
                          </a:solidFill>
                          <a:latin typeface="Gill Sans MT"/>
                        </a:rPr>
                        <a:t>Segment</a:t>
                      </a:r>
                    </a:p>
                  </a:txBody>
                  <a:tcPr marL="45720" marR="45720" marT="9144" marB="9144" anchor="ctr">
                    <a:noFill/>
                  </a:tcPr>
                </a:tc>
                <a:tc>
                  <a:txBody>
                    <a:bodyPr/>
                    <a:lstStyle/>
                    <a:p>
                      <a:pPr algn="r"/>
                      <a:r>
                        <a:rPr sz="950" b="0" i="0">
                          <a:solidFill>
                            <a:srgbClr val="1E1E1E"/>
                          </a:solidFill>
                          <a:latin typeface="Gill Sans MT"/>
                        </a:rPr>
                        <a:t>Small/mid-cap buyout</a:t>
                      </a:r>
                    </a:p>
                  </a:txBody>
                  <a:tcPr marL="45720" marR="45720" marT="9144" marB="9144" anchor="ctr">
                    <a:noFill/>
                  </a:tcPr>
                </a:tc>
                <a:extLst>
                  <a:ext uri="{0D108BD9-81ED-4DB2-BD59-A6C34878D82A}">
                    <a16:rowId xmlns:a16="http://schemas.microsoft.com/office/drawing/2014/main" val="10001"/>
                  </a:ext>
                </a:extLst>
              </a:tr>
              <a:tr h="242316">
                <a:tc>
                  <a:txBody>
                    <a:bodyPr/>
                    <a:lstStyle/>
                    <a:p>
                      <a:pPr algn="l"/>
                      <a:r>
                        <a:rPr sz="950" b="0" i="0">
                          <a:solidFill>
                            <a:srgbClr val="1E1E1E"/>
                          </a:solidFill>
                          <a:latin typeface="Gill Sans MT"/>
                        </a:rPr>
                        <a:t>Fondsvaluta</a:t>
                      </a:r>
                    </a:p>
                  </a:txBody>
                  <a:tcPr marL="45720" marR="45720" marT="9144" marB="9144" anchor="ctr">
                    <a:noFill/>
                  </a:tcPr>
                </a:tc>
                <a:tc>
                  <a:txBody>
                    <a:bodyPr/>
                    <a:lstStyle/>
                    <a:p>
                      <a:pPr algn="r"/>
                      <a:r>
                        <a:rPr sz="950" b="0" i="0">
                          <a:solidFill>
                            <a:srgbClr val="1E1E1E"/>
                          </a:solidFill>
                          <a:latin typeface="Gill Sans MT"/>
                        </a:rPr>
                        <a:t>DKK</a:t>
                      </a:r>
                    </a:p>
                  </a:txBody>
                  <a:tcPr marL="45720" marR="45720" marT="9144" marB="9144" anchor="ctr">
                    <a:noFill/>
                  </a:tcPr>
                </a:tc>
                <a:extLst>
                  <a:ext uri="{0D108BD9-81ED-4DB2-BD59-A6C34878D82A}">
                    <a16:rowId xmlns:a16="http://schemas.microsoft.com/office/drawing/2014/main" val="10002"/>
                  </a:ext>
                </a:extLst>
              </a:tr>
              <a:tr h="242316">
                <a:tc>
                  <a:txBody>
                    <a:bodyPr/>
                    <a:lstStyle/>
                    <a:p>
                      <a:pPr algn="l"/>
                      <a:r>
                        <a:rPr sz="950" b="0" i="0">
                          <a:solidFill>
                            <a:srgbClr val="1E1E1E"/>
                          </a:solidFill>
                          <a:latin typeface="Gill Sans MT"/>
                        </a:rPr>
                        <a:t>Fondsstørrelse</a:t>
                      </a:r>
                    </a:p>
                  </a:txBody>
                  <a:tcPr marL="45720" marR="45720" marT="9144" marB="9144" anchor="ctr">
                    <a:noFill/>
                  </a:tcPr>
                </a:tc>
                <a:tc>
                  <a:txBody>
                    <a:bodyPr/>
                    <a:lstStyle/>
                    <a:p>
                      <a:pPr algn="r"/>
                      <a:r>
                        <a:rPr sz="950" b="0" i="0">
                          <a:solidFill>
                            <a:srgbClr val="1E1E1E"/>
                          </a:solidFill>
                          <a:latin typeface="Gill Sans MT"/>
                        </a:rPr>
                        <a:t>1.402.400</a:t>
                      </a:r>
                    </a:p>
                  </a:txBody>
                  <a:tcPr marL="45720" marR="45720" marT="9144" marB="9144" anchor="ctr">
                    <a:noFill/>
                  </a:tcPr>
                </a:tc>
                <a:extLst>
                  <a:ext uri="{0D108BD9-81ED-4DB2-BD59-A6C34878D82A}">
                    <a16:rowId xmlns:a16="http://schemas.microsoft.com/office/drawing/2014/main" val="10003"/>
                  </a:ext>
                </a:extLst>
              </a:tr>
              <a:tr h="242316">
                <a:tc>
                  <a:txBody>
                    <a:bodyPr/>
                    <a:lstStyle/>
                    <a:p>
                      <a:pPr algn="l"/>
                      <a:r>
                        <a:rPr sz="950" b="0" i="0">
                          <a:solidFill>
                            <a:srgbClr val="1E1E1E"/>
                          </a:solidFill>
                          <a:latin typeface="Gill Sans MT"/>
                        </a:rPr>
                        <a:t>Vintage</a:t>
                      </a:r>
                    </a:p>
                  </a:txBody>
                  <a:tcPr marL="45720" marR="45720" marT="9144" marB="9144" anchor="ctr">
                    <a:noFill/>
                  </a:tcPr>
                </a:tc>
                <a:tc>
                  <a:txBody>
                    <a:bodyPr/>
                    <a:lstStyle/>
                    <a:p>
                      <a:pPr algn="r"/>
                      <a:r>
                        <a:rPr sz="950" b="0" i="0">
                          <a:solidFill>
                            <a:srgbClr val="1E1E1E"/>
                          </a:solidFill>
                          <a:latin typeface="Gill Sans MT"/>
                        </a:rPr>
                        <a:t>2023</a:t>
                      </a:r>
                    </a:p>
                  </a:txBody>
                  <a:tcPr marL="45720" marR="45720" marT="9144" marB="9144" anchor="ctr">
                    <a:noFill/>
                  </a:tcPr>
                </a:tc>
                <a:extLst>
                  <a:ext uri="{0D108BD9-81ED-4DB2-BD59-A6C34878D82A}">
                    <a16:rowId xmlns:a16="http://schemas.microsoft.com/office/drawing/2014/main" val="10004"/>
                  </a:ext>
                </a:extLst>
              </a:tr>
            </a:tbl>
          </a:graphicData>
        </a:graphic>
      </p:graphicFrame>
      <p:sp>
        <p:nvSpPr>
          <p:cNvPr id="14" name="TextBox 13"/>
          <p:cNvSpPr txBox="1"/>
          <p:nvPr/>
        </p:nvSpPr>
        <p:spPr>
          <a:xfrm>
            <a:off x="6382512" y="1115568"/>
            <a:ext cx="1783080" cy="201168"/>
          </a:xfrm>
          <a:prstGeom prst="rect">
            <a:avLst/>
          </a:prstGeom>
          <a:noFill/>
        </p:spPr>
        <p:txBody>
          <a:bodyPr wrap="square" lIns="0" tIns="0" rIns="0" bIns="0" anchor="t">
            <a:spAutoFit/>
          </a:bodyPr>
          <a:lstStyle/>
          <a:p>
            <a:pPr algn="l"/>
            <a:r>
              <a:rPr sz="1050" b="1" i="0">
                <a:solidFill>
                  <a:srgbClr val="545B4A"/>
                </a:solidFill>
                <a:latin typeface="Gill Sans MT"/>
              </a:rPr>
              <a:t>A/S Motortramps tilsagn</a:t>
            </a:r>
          </a:p>
        </p:txBody>
      </p:sp>
      <p:cxnSp>
        <p:nvCxnSpPr>
          <p:cNvPr id="15" name="Connector 14"/>
          <p:cNvCxnSpPr/>
          <p:nvPr/>
        </p:nvCxnSpPr>
        <p:spPr>
          <a:xfrm>
            <a:off x="6382512" y="1344168"/>
            <a:ext cx="178308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graphicFrame>
        <p:nvGraphicFramePr>
          <p:cNvPr id="16" name="Table 15"/>
          <p:cNvGraphicFramePr>
            <a:graphicFrameLocks noGrp="1"/>
          </p:cNvGraphicFramePr>
          <p:nvPr/>
        </p:nvGraphicFramePr>
        <p:xfrm>
          <a:off x="6336792" y="1399032"/>
          <a:ext cx="1874519" cy="1211580"/>
        </p:xfrm>
        <a:graphic>
          <a:graphicData uri="http://schemas.openxmlformats.org/drawingml/2006/table">
            <a:tbl>
              <a:tblPr>
                <a:tableStyleId>{2D5ABB26-0587-4C30-8999-92F81FD0307C}</a:tableStyleId>
              </a:tblPr>
              <a:tblGrid>
                <a:gridCol w="1002650">
                  <a:extLst>
                    <a:ext uri="{9D8B030D-6E8A-4147-A177-3AD203B41FA5}">
                      <a16:colId xmlns:a16="http://schemas.microsoft.com/office/drawing/2014/main" val="20000"/>
                    </a:ext>
                  </a:extLst>
                </a:gridCol>
                <a:gridCol w="871869">
                  <a:extLst>
                    <a:ext uri="{9D8B030D-6E8A-4147-A177-3AD203B41FA5}">
                      <a16:colId xmlns:a16="http://schemas.microsoft.com/office/drawing/2014/main" val="20001"/>
                    </a:ext>
                  </a:extLst>
                </a:gridCol>
              </a:tblGrid>
              <a:tr h="242316">
                <a:tc>
                  <a:txBody>
                    <a:bodyPr/>
                    <a:lstStyle/>
                    <a:p>
                      <a:pPr algn="l"/>
                      <a:r>
                        <a:rPr sz="950" b="0" i="0">
                          <a:solidFill>
                            <a:srgbClr val="1E1E1E"/>
                          </a:solidFill>
                          <a:latin typeface="Gill Sans MT"/>
                        </a:rPr>
                        <a:t>Tilsagn</a:t>
                      </a:r>
                    </a:p>
                  </a:txBody>
                  <a:tcPr marL="45720" marR="45720" marT="9144" marB="9144" anchor="ctr">
                    <a:noFill/>
                  </a:tcPr>
                </a:tc>
                <a:tc>
                  <a:txBody>
                    <a:bodyPr/>
                    <a:lstStyle/>
                    <a:p>
                      <a:pPr algn="r"/>
                      <a:r>
                        <a:rPr sz="950" b="0" i="0">
                          <a:solidFill>
                            <a:srgbClr val="1E1E1E"/>
                          </a:solidFill>
                          <a:latin typeface="Gill Sans MT"/>
                        </a:rPr>
                        <a:t>37.500</a:t>
                      </a:r>
                    </a:p>
                  </a:txBody>
                  <a:tcPr marL="45720" marR="45720" marT="9144" marB="9144" anchor="ctr">
                    <a:noFill/>
                  </a:tcPr>
                </a:tc>
                <a:extLst>
                  <a:ext uri="{0D108BD9-81ED-4DB2-BD59-A6C34878D82A}">
                    <a16:rowId xmlns:a16="http://schemas.microsoft.com/office/drawing/2014/main" val="10000"/>
                  </a:ext>
                </a:extLst>
              </a:tr>
              <a:tr h="242316">
                <a:tc>
                  <a:txBody>
                    <a:bodyPr/>
                    <a:lstStyle/>
                    <a:p>
                      <a:pPr algn="l"/>
                      <a:r>
                        <a:rPr sz="950" b="0" i="0">
                          <a:solidFill>
                            <a:srgbClr val="1E1E1E"/>
                          </a:solidFill>
                          <a:latin typeface="Gill Sans MT"/>
                        </a:rPr>
                        <a:t>Ejerandel</a:t>
                      </a:r>
                    </a:p>
                  </a:txBody>
                  <a:tcPr marL="45720" marR="45720" marT="9144" marB="9144" anchor="ctr">
                    <a:noFill/>
                  </a:tcPr>
                </a:tc>
                <a:tc>
                  <a:txBody>
                    <a:bodyPr/>
                    <a:lstStyle/>
                    <a:p>
                      <a:pPr algn="r"/>
                      <a:r>
                        <a:rPr sz="950" b="0" i="0">
                          <a:solidFill>
                            <a:srgbClr val="1E1E1E"/>
                          </a:solidFill>
                          <a:latin typeface="Gill Sans MT"/>
                        </a:rPr>
                        <a:t>2,67 %</a:t>
                      </a:r>
                    </a:p>
                  </a:txBody>
                  <a:tcPr marL="45720" marR="45720" marT="9144" marB="9144" anchor="ctr">
                    <a:noFill/>
                  </a:tcPr>
                </a:tc>
                <a:extLst>
                  <a:ext uri="{0D108BD9-81ED-4DB2-BD59-A6C34878D82A}">
                    <a16:rowId xmlns:a16="http://schemas.microsoft.com/office/drawing/2014/main" val="10001"/>
                  </a:ext>
                </a:extLst>
              </a:tr>
              <a:tr h="242316">
                <a:tc>
                  <a:txBody>
                    <a:bodyPr/>
                    <a:lstStyle/>
                    <a:p>
                      <a:pPr algn="l"/>
                      <a:r>
                        <a:rPr sz="950" b="0" i="0">
                          <a:solidFill>
                            <a:srgbClr val="1E1E1E"/>
                          </a:solidFill>
                          <a:latin typeface="Gill Sans MT"/>
                        </a:rPr>
                        <a:t>Indbetalt kapital</a:t>
                      </a:r>
                    </a:p>
                  </a:txBody>
                  <a:tcPr marL="45720" marR="45720" marT="9144" marB="9144" anchor="ctr">
                    <a:noFill/>
                  </a:tcPr>
                </a:tc>
                <a:tc>
                  <a:txBody>
                    <a:bodyPr/>
                    <a:lstStyle/>
                    <a:p>
                      <a:pPr algn="r"/>
                      <a:r>
                        <a:rPr sz="950" b="0" i="0">
                          <a:solidFill>
                            <a:srgbClr val="1E1E1E"/>
                          </a:solidFill>
                          <a:latin typeface="Gill Sans MT"/>
                        </a:rPr>
                        <a:t>20.512</a:t>
                      </a:r>
                    </a:p>
                  </a:txBody>
                  <a:tcPr marL="45720" marR="45720" marT="9144" marB="9144" anchor="ctr">
                    <a:noFill/>
                  </a:tcPr>
                </a:tc>
                <a:extLst>
                  <a:ext uri="{0D108BD9-81ED-4DB2-BD59-A6C34878D82A}">
                    <a16:rowId xmlns:a16="http://schemas.microsoft.com/office/drawing/2014/main" val="10002"/>
                  </a:ext>
                </a:extLst>
              </a:tr>
              <a:tr h="242316">
                <a:tc>
                  <a:txBody>
                    <a:bodyPr/>
                    <a:lstStyle/>
                    <a:p>
                      <a:pPr algn="l"/>
                      <a:r>
                        <a:rPr sz="950" b="0" i="0">
                          <a:solidFill>
                            <a:srgbClr val="1E1E1E"/>
                          </a:solidFill>
                          <a:latin typeface="Gill Sans MT"/>
                        </a:rPr>
                        <a:t>PICC</a:t>
                      </a:r>
                    </a:p>
                  </a:txBody>
                  <a:tcPr marL="45720" marR="45720" marT="9144" marB="9144" anchor="ctr">
                    <a:noFill/>
                  </a:tcPr>
                </a:tc>
                <a:tc>
                  <a:txBody>
                    <a:bodyPr/>
                    <a:lstStyle/>
                    <a:p>
                      <a:pPr algn="r"/>
                      <a:r>
                        <a:rPr sz="950" b="0" i="0">
                          <a:solidFill>
                            <a:srgbClr val="1E1E1E"/>
                          </a:solidFill>
                          <a:latin typeface="Gill Sans MT"/>
                        </a:rPr>
                        <a:t>54,7 %</a:t>
                      </a:r>
                    </a:p>
                  </a:txBody>
                  <a:tcPr marL="45720" marR="45720" marT="9144" marB="9144" anchor="ctr">
                    <a:noFill/>
                  </a:tcPr>
                </a:tc>
                <a:extLst>
                  <a:ext uri="{0D108BD9-81ED-4DB2-BD59-A6C34878D82A}">
                    <a16:rowId xmlns:a16="http://schemas.microsoft.com/office/drawing/2014/main" val="10003"/>
                  </a:ext>
                </a:extLst>
              </a:tr>
              <a:tr h="242316">
                <a:tc>
                  <a:txBody>
                    <a:bodyPr/>
                    <a:lstStyle/>
                    <a:p>
                      <a:pPr algn="l"/>
                      <a:r>
                        <a:rPr sz="950" b="0" i="0">
                          <a:solidFill>
                            <a:srgbClr val="1E1E1E"/>
                          </a:solidFill>
                          <a:latin typeface="Gill Sans MT"/>
                        </a:rPr>
                        <a:t>Resttilsagn</a:t>
                      </a:r>
                    </a:p>
                  </a:txBody>
                  <a:tcPr marL="45720" marR="45720" marT="9144" marB="9144" anchor="ctr">
                    <a:noFill/>
                  </a:tcPr>
                </a:tc>
                <a:tc>
                  <a:txBody>
                    <a:bodyPr/>
                    <a:lstStyle/>
                    <a:p>
                      <a:pPr algn="r"/>
                      <a:r>
                        <a:rPr sz="950" b="0" i="0">
                          <a:solidFill>
                            <a:srgbClr val="1E1E1E"/>
                          </a:solidFill>
                          <a:latin typeface="Gill Sans MT"/>
                        </a:rPr>
                        <a:t>18.014</a:t>
                      </a:r>
                    </a:p>
                  </a:txBody>
                  <a:tcPr marL="45720" marR="45720" marT="9144" marB="9144" anchor="ctr">
                    <a:noFill/>
                  </a:tcPr>
                </a:tc>
                <a:extLst>
                  <a:ext uri="{0D108BD9-81ED-4DB2-BD59-A6C34878D82A}">
                    <a16:rowId xmlns:a16="http://schemas.microsoft.com/office/drawing/2014/main" val="10004"/>
                  </a:ext>
                </a:extLst>
              </a:tr>
            </a:tbl>
          </a:graphicData>
        </a:graphic>
      </p:graphicFrame>
      <p:sp>
        <p:nvSpPr>
          <p:cNvPr id="17" name="TextBox 16"/>
          <p:cNvSpPr txBox="1"/>
          <p:nvPr/>
        </p:nvSpPr>
        <p:spPr>
          <a:xfrm>
            <a:off x="8449056" y="1115568"/>
            <a:ext cx="1645919" cy="201168"/>
          </a:xfrm>
          <a:prstGeom prst="rect">
            <a:avLst/>
          </a:prstGeom>
          <a:noFill/>
        </p:spPr>
        <p:txBody>
          <a:bodyPr wrap="square" lIns="0" tIns="0" rIns="0" bIns="0" anchor="t">
            <a:spAutoFit/>
          </a:bodyPr>
          <a:lstStyle/>
          <a:p>
            <a:pPr algn="l"/>
            <a:r>
              <a:rPr sz="1050" b="1" i="0">
                <a:solidFill>
                  <a:srgbClr val="545B4A"/>
                </a:solidFill>
                <a:latin typeface="Gill Sans MT"/>
              </a:rPr>
              <a:t>Nøgletal</a:t>
            </a:r>
          </a:p>
        </p:txBody>
      </p:sp>
      <p:cxnSp>
        <p:nvCxnSpPr>
          <p:cNvPr id="18" name="Connector 17"/>
          <p:cNvCxnSpPr/>
          <p:nvPr/>
        </p:nvCxnSpPr>
        <p:spPr>
          <a:xfrm>
            <a:off x="8449056" y="1344168"/>
            <a:ext cx="164592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graphicFrame>
        <p:nvGraphicFramePr>
          <p:cNvPr id="19" name="Table 18"/>
          <p:cNvGraphicFramePr>
            <a:graphicFrameLocks noGrp="1"/>
          </p:cNvGraphicFramePr>
          <p:nvPr/>
        </p:nvGraphicFramePr>
        <p:xfrm>
          <a:off x="8403336" y="1399032"/>
          <a:ext cx="1737359" cy="1211580"/>
        </p:xfrm>
        <a:graphic>
          <a:graphicData uri="http://schemas.openxmlformats.org/drawingml/2006/table">
            <a:tbl>
              <a:tblPr>
                <a:tableStyleId>{2D5ABB26-0587-4C30-8999-92F81FD0307C}</a:tableStyleId>
              </a:tblPr>
              <a:tblGrid>
                <a:gridCol w="929285">
                  <a:extLst>
                    <a:ext uri="{9D8B030D-6E8A-4147-A177-3AD203B41FA5}">
                      <a16:colId xmlns:a16="http://schemas.microsoft.com/office/drawing/2014/main" val="20000"/>
                    </a:ext>
                  </a:extLst>
                </a:gridCol>
                <a:gridCol w="808074">
                  <a:extLst>
                    <a:ext uri="{9D8B030D-6E8A-4147-A177-3AD203B41FA5}">
                      <a16:colId xmlns:a16="http://schemas.microsoft.com/office/drawing/2014/main" val="20001"/>
                    </a:ext>
                  </a:extLst>
                </a:gridCol>
              </a:tblGrid>
              <a:tr h="242316">
                <a:tc>
                  <a:txBody>
                    <a:bodyPr/>
                    <a:lstStyle/>
                    <a:p>
                      <a:pPr algn="l"/>
                      <a:r>
                        <a:rPr sz="950" b="0" i="0">
                          <a:solidFill>
                            <a:srgbClr val="1E1E1E"/>
                          </a:solidFill>
                          <a:latin typeface="Gill Sans MT"/>
                        </a:rPr>
                        <a:t>Udlodninger</a:t>
                      </a:r>
                    </a:p>
                  </a:txBody>
                  <a:tcPr marL="45720" marR="45720" marT="9144" marB="9144" anchor="ctr">
                    <a:noFill/>
                  </a:tcPr>
                </a:tc>
                <a:tc>
                  <a:txBody>
                    <a:bodyPr/>
                    <a:lstStyle/>
                    <a:p>
                      <a:pPr algn="r"/>
                      <a:r>
                        <a:rPr sz="950" b="0" i="0">
                          <a:solidFill>
                            <a:srgbClr val="1E1E1E"/>
                          </a:solidFill>
                          <a:latin typeface="Gill Sans MT"/>
                        </a:rPr>
                        <a:t>1.026</a:t>
                      </a:r>
                    </a:p>
                  </a:txBody>
                  <a:tcPr marL="45720" marR="45720" marT="9144" marB="9144" anchor="ctr">
                    <a:noFill/>
                  </a:tcPr>
                </a:tc>
                <a:extLst>
                  <a:ext uri="{0D108BD9-81ED-4DB2-BD59-A6C34878D82A}">
                    <a16:rowId xmlns:a16="http://schemas.microsoft.com/office/drawing/2014/main" val="10000"/>
                  </a:ext>
                </a:extLst>
              </a:tr>
              <a:tr h="242316">
                <a:tc>
                  <a:txBody>
                    <a:bodyPr/>
                    <a:lstStyle/>
                    <a:p>
                      <a:pPr algn="l"/>
                      <a:r>
                        <a:rPr sz="950" b="0" i="0">
                          <a:solidFill>
                            <a:srgbClr val="1E1E1E"/>
                          </a:solidFill>
                          <a:latin typeface="Gill Sans MT"/>
                        </a:rPr>
                        <a:t>NAV</a:t>
                      </a:r>
                    </a:p>
                  </a:txBody>
                  <a:tcPr marL="45720" marR="45720" marT="9144" marB="9144" anchor="ctr">
                    <a:noFill/>
                  </a:tcPr>
                </a:tc>
                <a:tc>
                  <a:txBody>
                    <a:bodyPr/>
                    <a:lstStyle/>
                    <a:p>
                      <a:pPr algn="r"/>
                      <a:r>
                        <a:rPr sz="950" b="0" i="0">
                          <a:solidFill>
                            <a:srgbClr val="1E1E1E"/>
                          </a:solidFill>
                          <a:latin typeface="Gill Sans MT"/>
                        </a:rPr>
                        <a:t>25.897</a:t>
                      </a:r>
                    </a:p>
                  </a:txBody>
                  <a:tcPr marL="45720" marR="45720" marT="9144" marB="9144" anchor="ctr">
                    <a:noFill/>
                  </a:tcPr>
                </a:tc>
                <a:extLst>
                  <a:ext uri="{0D108BD9-81ED-4DB2-BD59-A6C34878D82A}">
                    <a16:rowId xmlns:a16="http://schemas.microsoft.com/office/drawing/2014/main" val="10001"/>
                  </a:ext>
                </a:extLst>
              </a:tr>
              <a:tr h="242316">
                <a:tc>
                  <a:txBody>
                    <a:bodyPr/>
                    <a:lstStyle/>
                    <a:p>
                      <a:pPr algn="l"/>
                      <a:r>
                        <a:rPr sz="950" b="0" i="0">
                          <a:solidFill>
                            <a:srgbClr val="1E1E1E"/>
                          </a:solidFill>
                          <a:latin typeface="Gill Sans MT"/>
                        </a:rPr>
                        <a:t>DPI</a:t>
                      </a:r>
                    </a:p>
                  </a:txBody>
                  <a:tcPr marL="45720" marR="45720" marT="9144" marB="9144" anchor="ctr">
                    <a:noFill/>
                  </a:tcPr>
                </a:tc>
                <a:tc>
                  <a:txBody>
                    <a:bodyPr/>
                    <a:lstStyle/>
                    <a:p>
                      <a:pPr algn="r"/>
                      <a:r>
                        <a:rPr sz="950" b="0" i="0">
                          <a:solidFill>
                            <a:srgbClr val="1E1E1E"/>
                          </a:solidFill>
                          <a:latin typeface="Gill Sans MT"/>
                        </a:rPr>
                        <a:t>0,05x</a:t>
                      </a:r>
                    </a:p>
                  </a:txBody>
                  <a:tcPr marL="45720" marR="45720" marT="9144" marB="9144" anchor="ctr">
                    <a:noFill/>
                  </a:tcPr>
                </a:tc>
                <a:extLst>
                  <a:ext uri="{0D108BD9-81ED-4DB2-BD59-A6C34878D82A}">
                    <a16:rowId xmlns:a16="http://schemas.microsoft.com/office/drawing/2014/main" val="10002"/>
                  </a:ext>
                </a:extLst>
              </a:tr>
              <a:tr h="242316">
                <a:tc>
                  <a:txBody>
                    <a:bodyPr/>
                    <a:lstStyle/>
                    <a:p>
                      <a:pPr algn="l"/>
                      <a:r>
                        <a:rPr sz="950" b="0" i="0">
                          <a:solidFill>
                            <a:srgbClr val="1E1E1E"/>
                          </a:solidFill>
                          <a:latin typeface="Gill Sans MT"/>
                        </a:rPr>
                        <a:t>TVPI</a:t>
                      </a:r>
                    </a:p>
                  </a:txBody>
                  <a:tcPr marL="45720" marR="45720" marT="9144" marB="9144" anchor="ctr">
                    <a:noFill/>
                  </a:tcPr>
                </a:tc>
                <a:tc>
                  <a:txBody>
                    <a:bodyPr/>
                    <a:lstStyle/>
                    <a:p>
                      <a:pPr algn="r"/>
                      <a:r>
                        <a:rPr sz="950" b="0" i="0">
                          <a:solidFill>
                            <a:srgbClr val="1E1E1E"/>
                          </a:solidFill>
                          <a:latin typeface="Gill Sans MT"/>
                        </a:rPr>
                        <a:t>1,31x</a:t>
                      </a:r>
                    </a:p>
                  </a:txBody>
                  <a:tcPr marL="45720" marR="45720" marT="9144" marB="9144" anchor="ctr">
                    <a:noFill/>
                  </a:tcPr>
                </a:tc>
                <a:extLst>
                  <a:ext uri="{0D108BD9-81ED-4DB2-BD59-A6C34878D82A}">
                    <a16:rowId xmlns:a16="http://schemas.microsoft.com/office/drawing/2014/main" val="10003"/>
                  </a:ext>
                </a:extLst>
              </a:tr>
              <a:tr h="242316">
                <a:tc>
                  <a:txBody>
                    <a:bodyPr/>
                    <a:lstStyle/>
                    <a:p>
                      <a:pPr algn="l"/>
                      <a:r>
                        <a:rPr sz="950" b="0" i="0">
                          <a:solidFill>
                            <a:srgbClr val="1E1E1E"/>
                          </a:solidFill>
                          <a:latin typeface="Gill Sans MT"/>
                        </a:rPr>
                        <a:t>IRR</a:t>
                      </a:r>
                    </a:p>
                  </a:txBody>
                  <a:tcPr marL="45720" marR="45720" marT="9144" marB="9144" anchor="ctr">
                    <a:noFill/>
                  </a:tcPr>
                </a:tc>
                <a:tc>
                  <a:txBody>
                    <a:bodyPr/>
                    <a:lstStyle/>
                    <a:p>
                      <a:pPr algn="r"/>
                      <a:r>
                        <a:rPr sz="950" b="0" i="0">
                          <a:solidFill>
                            <a:srgbClr val="1E1E1E"/>
                          </a:solidFill>
                          <a:latin typeface="Gill Sans MT"/>
                        </a:rPr>
                        <a:t>17,4 %</a:t>
                      </a:r>
                    </a:p>
                  </a:txBody>
                  <a:tcPr marL="45720" marR="45720" marT="9144" marB="9144" anchor="ctr">
                    <a:noFill/>
                  </a:tcPr>
                </a:tc>
                <a:extLst>
                  <a:ext uri="{0D108BD9-81ED-4DB2-BD59-A6C34878D82A}">
                    <a16:rowId xmlns:a16="http://schemas.microsoft.com/office/drawing/2014/main" val="10004"/>
                  </a:ext>
                </a:extLst>
              </a:tr>
            </a:tbl>
          </a:graphicData>
        </a:graphic>
      </p:graphicFrame>
      <p:sp>
        <p:nvSpPr>
          <p:cNvPr id="20" name="TextBox 19"/>
          <p:cNvSpPr txBox="1"/>
          <p:nvPr/>
        </p:nvSpPr>
        <p:spPr>
          <a:xfrm>
            <a:off x="603504" y="2743200"/>
            <a:ext cx="9491472" cy="201168"/>
          </a:xfrm>
          <a:prstGeom prst="rect">
            <a:avLst/>
          </a:prstGeom>
          <a:noFill/>
        </p:spPr>
        <p:txBody>
          <a:bodyPr wrap="square" lIns="0" tIns="0" rIns="0" bIns="0" anchor="t">
            <a:spAutoFit/>
          </a:bodyPr>
          <a:lstStyle/>
          <a:p>
            <a:pPr algn="l"/>
            <a:r>
              <a:rPr sz="1050" b="1" i="0">
                <a:solidFill>
                  <a:srgbClr val="545B4A"/>
                </a:solidFill>
                <a:latin typeface="Gill Sans MT"/>
              </a:rPr>
              <a:t>Porteføljeselskaber – A/S Motortramps andel (tDKK)</a:t>
            </a:r>
          </a:p>
        </p:txBody>
      </p:sp>
      <p:graphicFrame>
        <p:nvGraphicFramePr>
          <p:cNvPr id="21" name="Table 20"/>
          <p:cNvGraphicFramePr>
            <a:graphicFrameLocks noGrp="1"/>
          </p:cNvGraphicFramePr>
          <p:nvPr/>
        </p:nvGraphicFramePr>
        <p:xfrm>
          <a:off x="603504" y="2999232"/>
          <a:ext cx="9491467" cy="1179576"/>
        </p:xfrm>
        <a:graphic>
          <a:graphicData uri="http://schemas.openxmlformats.org/drawingml/2006/table">
            <a:tbl>
              <a:tblPr>
                <a:tableStyleId>{2D5ABB26-0587-4C30-8999-92F81FD0307C}</a:tableStyleId>
              </a:tblPr>
              <a:tblGrid>
                <a:gridCol w="1847897">
                  <a:extLst>
                    <a:ext uri="{9D8B030D-6E8A-4147-A177-3AD203B41FA5}">
                      <a16:colId xmlns:a16="http://schemas.microsoft.com/office/drawing/2014/main" val="20000"/>
                    </a:ext>
                  </a:extLst>
                </a:gridCol>
                <a:gridCol w="2435864">
                  <a:extLst>
                    <a:ext uri="{9D8B030D-6E8A-4147-A177-3AD203B41FA5}">
                      <a16:colId xmlns:a16="http://schemas.microsoft.com/office/drawing/2014/main" val="20001"/>
                    </a:ext>
                  </a:extLst>
                </a:gridCol>
                <a:gridCol w="755957">
                  <a:extLst>
                    <a:ext uri="{9D8B030D-6E8A-4147-A177-3AD203B41FA5}">
                      <a16:colId xmlns:a16="http://schemas.microsoft.com/office/drawing/2014/main" val="20002"/>
                    </a:ext>
                  </a:extLst>
                </a:gridCol>
                <a:gridCol w="923948">
                  <a:extLst>
                    <a:ext uri="{9D8B030D-6E8A-4147-A177-3AD203B41FA5}">
                      <a16:colId xmlns:a16="http://schemas.microsoft.com/office/drawing/2014/main" val="20003"/>
                    </a:ext>
                  </a:extLst>
                </a:gridCol>
                <a:gridCol w="923948">
                  <a:extLst>
                    <a:ext uri="{9D8B030D-6E8A-4147-A177-3AD203B41FA5}">
                      <a16:colId xmlns:a16="http://schemas.microsoft.com/office/drawing/2014/main" val="20004"/>
                    </a:ext>
                  </a:extLst>
                </a:gridCol>
                <a:gridCol w="923948">
                  <a:extLst>
                    <a:ext uri="{9D8B030D-6E8A-4147-A177-3AD203B41FA5}">
                      <a16:colId xmlns:a16="http://schemas.microsoft.com/office/drawing/2014/main" val="20005"/>
                    </a:ext>
                  </a:extLst>
                </a:gridCol>
                <a:gridCol w="923948">
                  <a:extLst>
                    <a:ext uri="{9D8B030D-6E8A-4147-A177-3AD203B41FA5}">
                      <a16:colId xmlns:a16="http://schemas.microsoft.com/office/drawing/2014/main" val="20006"/>
                    </a:ext>
                  </a:extLst>
                </a:gridCol>
                <a:gridCol w="755957">
                  <a:extLst>
                    <a:ext uri="{9D8B030D-6E8A-4147-A177-3AD203B41FA5}">
                      <a16:colId xmlns:a16="http://schemas.microsoft.com/office/drawing/2014/main" val="20007"/>
                    </a:ext>
                  </a:extLst>
                </a:gridCol>
              </a:tblGrid>
              <a:tr h="196596">
                <a:tc>
                  <a:txBody>
                    <a:bodyPr/>
                    <a:lstStyle/>
                    <a:p>
                      <a:pPr algn="l"/>
                      <a:r>
                        <a:rPr sz="800" b="1" i="0">
                          <a:solidFill>
                            <a:srgbClr val="FFFFFF"/>
                          </a:solidFill>
                          <a:latin typeface="Gill Sans MT"/>
                        </a:rPr>
                        <a:t>Selskab</a:t>
                      </a:r>
                    </a:p>
                  </a:txBody>
                  <a:tcPr marL="45720" marR="45720" marT="9144" marB="9144" anchor="ctr">
                    <a:solidFill>
                      <a:srgbClr val="545B4A"/>
                    </a:solidFill>
                  </a:tcPr>
                </a:tc>
                <a:tc>
                  <a:txBody>
                    <a:bodyPr/>
                    <a:lstStyle/>
                    <a:p>
                      <a:pPr algn="l"/>
                      <a:r>
                        <a:rPr sz="800" b="1" i="0">
                          <a:solidFill>
                            <a:srgbClr val="FFFFFF"/>
                          </a:solidFill>
                          <a:latin typeface="Gill Sans MT"/>
                        </a:rPr>
                        <a:t>Sektor</a:t>
                      </a:r>
                    </a:p>
                  </a:txBody>
                  <a:tcPr marL="45720" marR="45720" marT="9144" marB="9144" anchor="ctr">
                    <a:solidFill>
                      <a:srgbClr val="545B4A"/>
                    </a:solidFill>
                  </a:tcPr>
                </a:tc>
                <a:tc>
                  <a:txBody>
                    <a:bodyPr/>
                    <a:lstStyle/>
                    <a:p>
                      <a:pPr algn="ctr"/>
                      <a:r>
                        <a:rPr sz="800" b="1" i="0">
                          <a:solidFill>
                            <a:srgbClr val="FFFFFF"/>
                          </a:solidFill>
                          <a:latin typeface="Gill Sans MT"/>
                        </a:rPr>
                        <a:t>Closing</a:t>
                      </a:r>
                    </a:p>
                  </a:txBody>
                  <a:tcPr marL="45720" marR="45720" marT="9144" marB="9144" anchor="ctr">
                    <a:solidFill>
                      <a:srgbClr val="545B4A"/>
                    </a:solidFill>
                  </a:tcPr>
                </a:tc>
                <a:tc>
                  <a:txBody>
                    <a:bodyPr/>
                    <a:lstStyle/>
                    <a:p>
                      <a:pPr algn="r"/>
                      <a:r>
                        <a:rPr sz="800" b="1" i="0">
                          <a:solidFill>
                            <a:srgbClr val="FFFFFF"/>
                          </a:solidFill>
                          <a:latin typeface="Gill Sans MT"/>
                        </a:rPr>
                        <a:t>Kostpris</a:t>
                      </a:r>
                    </a:p>
                  </a:txBody>
                  <a:tcPr marL="45720" marR="45720" marT="9144" marB="9144" anchor="ctr">
                    <a:solidFill>
                      <a:srgbClr val="545B4A"/>
                    </a:solidFill>
                  </a:tcPr>
                </a:tc>
                <a:tc>
                  <a:txBody>
                    <a:bodyPr/>
                    <a:lstStyle/>
                    <a:p>
                      <a:pPr algn="r"/>
                      <a:r>
                        <a:rPr sz="800" b="1" i="0">
                          <a:solidFill>
                            <a:srgbClr val="FFFFFF"/>
                          </a:solidFill>
                          <a:latin typeface="Gill Sans MT"/>
                        </a:rPr>
                        <a:t>Dagsværdi</a:t>
                      </a:r>
                    </a:p>
                  </a:txBody>
                  <a:tcPr marL="45720" marR="45720" marT="9144" marB="9144" anchor="ctr">
                    <a:solidFill>
                      <a:srgbClr val="545B4A"/>
                    </a:solidFill>
                  </a:tcPr>
                </a:tc>
                <a:tc>
                  <a:txBody>
                    <a:bodyPr/>
                    <a:lstStyle/>
                    <a:p>
                      <a:pPr algn="r"/>
                      <a:r>
                        <a:rPr sz="800" b="1" i="0">
                          <a:solidFill>
                            <a:srgbClr val="FFFFFF"/>
                          </a:solidFill>
                          <a:latin typeface="Gill Sans MT"/>
                        </a:rPr>
                        <a:t>Realiseret</a:t>
                      </a:r>
                    </a:p>
                  </a:txBody>
                  <a:tcPr marL="45720" marR="45720" marT="9144" marB="9144" anchor="ctr">
                    <a:solidFill>
                      <a:srgbClr val="545B4A"/>
                    </a:solidFill>
                  </a:tcPr>
                </a:tc>
                <a:tc>
                  <a:txBody>
                    <a:bodyPr/>
                    <a:lstStyle/>
                    <a:p>
                      <a:pPr algn="r"/>
                      <a:r>
                        <a:rPr sz="800" b="1" i="0">
                          <a:solidFill>
                            <a:srgbClr val="FFFFFF"/>
                          </a:solidFill>
                          <a:latin typeface="Gill Sans MT"/>
                        </a:rPr>
                        <a:t>Total værdi</a:t>
                      </a:r>
                    </a:p>
                  </a:txBody>
                  <a:tcPr marL="45720" marR="45720" marT="9144" marB="9144" anchor="ctr">
                    <a:solidFill>
                      <a:srgbClr val="545B4A"/>
                    </a:solidFill>
                  </a:tcPr>
                </a:tc>
                <a:tc>
                  <a:txBody>
                    <a:bodyPr/>
                    <a:lstStyle/>
                    <a:p>
                      <a:pPr algn="r"/>
                      <a:r>
                        <a:rPr sz="800" b="1" i="0">
                          <a:solidFill>
                            <a:srgbClr val="FFFFFF"/>
                          </a:solidFill>
                          <a:latin typeface="Gill Sans MT"/>
                        </a:rPr>
                        <a:t>TVPI</a:t>
                      </a:r>
                    </a:p>
                  </a:txBody>
                  <a:tcPr marL="45720" marR="45720" marT="9144" marB="9144" anchor="ctr">
                    <a:solidFill>
                      <a:srgbClr val="545B4A"/>
                    </a:solidFill>
                  </a:tcPr>
                </a:tc>
                <a:extLst>
                  <a:ext uri="{0D108BD9-81ED-4DB2-BD59-A6C34878D82A}">
                    <a16:rowId xmlns:a16="http://schemas.microsoft.com/office/drawing/2014/main" val="10000"/>
                  </a:ext>
                </a:extLst>
              </a:tr>
              <a:tr h="196596">
                <a:tc>
                  <a:txBody>
                    <a:bodyPr/>
                    <a:lstStyle/>
                    <a:p>
                      <a:pPr algn="l"/>
                      <a:r>
                        <a:rPr sz="800" b="0" i="0">
                          <a:solidFill>
                            <a:srgbClr val="1E1E1E"/>
                          </a:solidFill>
                          <a:latin typeface="Gill Sans MT"/>
                        </a:rPr>
                        <a:t>The Army Painter</a:t>
                      </a:r>
                    </a:p>
                  </a:txBody>
                  <a:tcPr marL="45720" marR="45720" marT="9144" marB="9144" anchor="ctr">
                    <a:noFill/>
                  </a:tcPr>
                </a:tc>
                <a:tc>
                  <a:txBody>
                    <a:bodyPr/>
                    <a:lstStyle/>
                    <a:p>
                      <a:pPr algn="l"/>
                      <a:r>
                        <a:rPr sz="800" b="0" i="0">
                          <a:solidFill>
                            <a:srgbClr val="1E1E1E"/>
                          </a:solidFill>
                          <a:latin typeface="Gill Sans MT"/>
                        </a:rPr>
                        <a:t>Niche hobby consumables</a:t>
                      </a:r>
                    </a:p>
                  </a:txBody>
                  <a:tcPr marL="45720" marR="45720" marT="9144" marB="9144" anchor="ctr">
                    <a:noFill/>
                  </a:tcPr>
                </a:tc>
                <a:tc>
                  <a:txBody>
                    <a:bodyPr/>
                    <a:lstStyle/>
                    <a:p>
                      <a:pPr algn="ctr"/>
                      <a:r>
                        <a:rPr sz="800" b="0" i="0">
                          <a:solidFill>
                            <a:srgbClr val="1E1E1E"/>
                          </a:solidFill>
                          <a:latin typeface="Gill Sans MT"/>
                        </a:rPr>
                        <a:t>01.2023</a:t>
                      </a:r>
                    </a:p>
                  </a:txBody>
                  <a:tcPr marL="45720" marR="45720" marT="9144" marB="9144" anchor="ctr">
                    <a:noFill/>
                  </a:tcPr>
                </a:tc>
                <a:tc>
                  <a:txBody>
                    <a:bodyPr/>
                    <a:lstStyle/>
                    <a:p>
                      <a:pPr algn="r"/>
                      <a:r>
                        <a:rPr sz="800" b="0" i="0">
                          <a:solidFill>
                            <a:srgbClr val="1E1E1E"/>
                          </a:solidFill>
                          <a:latin typeface="Gill Sans MT"/>
                        </a:rPr>
                        <a:t>4.225</a:t>
                      </a:r>
                    </a:p>
                  </a:txBody>
                  <a:tcPr marL="45720" marR="45720" marT="9144" marB="9144" anchor="ctr">
                    <a:noFill/>
                  </a:tcPr>
                </a:tc>
                <a:tc>
                  <a:txBody>
                    <a:bodyPr/>
                    <a:lstStyle/>
                    <a:p>
                      <a:pPr algn="r"/>
                      <a:r>
                        <a:rPr sz="800" b="0" i="0">
                          <a:solidFill>
                            <a:srgbClr val="1E1E1E"/>
                          </a:solidFill>
                          <a:latin typeface="Gill Sans MT"/>
                        </a:rPr>
                        <a:t>11.311</a:t>
                      </a:r>
                    </a:p>
                  </a:txBody>
                  <a:tcPr marL="45720" marR="45720" marT="9144" marB="9144" anchor="ctr">
                    <a:noFill/>
                  </a:tcPr>
                </a:tc>
                <a:tc>
                  <a:txBody>
                    <a:bodyPr/>
                    <a:lstStyle/>
                    <a:p>
                      <a:pPr algn="r"/>
                      <a:r>
                        <a:rPr sz="800" b="0" i="0">
                          <a:solidFill>
                            <a:srgbClr val="1E1E1E"/>
                          </a:solidFill>
                          <a:latin typeface="Gill Sans MT"/>
                        </a:rPr>
                        <a:t>0</a:t>
                      </a:r>
                    </a:p>
                  </a:txBody>
                  <a:tcPr marL="45720" marR="45720" marT="9144" marB="9144" anchor="ctr">
                    <a:noFill/>
                  </a:tcPr>
                </a:tc>
                <a:tc>
                  <a:txBody>
                    <a:bodyPr/>
                    <a:lstStyle/>
                    <a:p>
                      <a:pPr algn="r"/>
                      <a:r>
                        <a:rPr sz="800" b="0" i="0">
                          <a:solidFill>
                            <a:srgbClr val="1E1E1E"/>
                          </a:solidFill>
                          <a:latin typeface="Gill Sans MT"/>
                        </a:rPr>
                        <a:t>11.311</a:t>
                      </a:r>
                    </a:p>
                  </a:txBody>
                  <a:tcPr marL="45720" marR="45720" marT="9144" marB="9144" anchor="ctr">
                    <a:noFill/>
                  </a:tcPr>
                </a:tc>
                <a:tc>
                  <a:txBody>
                    <a:bodyPr/>
                    <a:lstStyle/>
                    <a:p>
                      <a:pPr algn="r"/>
                      <a:r>
                        <a:rPr sz="800" b="0" i="0">
                          <a:solidFill>
                            <a:srgbClr val="1E1E1E"/>
                          </a:solidFill>
                          <a:latin typeface="Gill Sans MT"/>
                        </a:rPr>
                        <a:t>2,70x</a:t>
                      </a:r>
                    </a:p>
                  </a:txBody>
                  <a:tcPr marL="45720" marR="45720" marT="9144" marB="9144" anchor="ctr">
                    <a:noFill/>
                  </a:tcPr>
                </a:tc>
                <a:extLst>
                  <a:ext uri="{0D108BD9-81ED-4DB2-BD59-A6C34878D82A}">
                    <a16:rowId xmlns:a16="http://schemas.microsoft.com/office/drawing/2014/main" val="10001"/>
                  </a:ext>
                </a:extLst>
              </a:tr>
              <a:tr h="196596">
                <a:tc>
                  <a:txBody>
                    <a:bodyPr/>
                    <a:lstStyle/>
                    <a:p>
                      <a:pPr algn="l"/>
                      <a:r>
                        <a:rPr sz="800" b="0" i="0">
                          <a:solidFill>
                            <a:srgbClr val="1E1E1E"/>
                          </a:solidFill>
                          <a:latin typeface="Gill Sans MT"/>
                        </a:rPr>
                        <a:t>Enwerdi</a:t>
                      </a:r>
                    </a:p>
                  </a:txBody>
                  <a:tcPr marL="45720" marR="45720" marT="9144" marB="9144" anchor="ctr">
                    <a:solidFill>
                      <a:srgbClr val="F4F2EB"/>
                    </a:solidFill>
                  </a:tcPr>
                </a:tc>
                <a:tc>
                  <a:txBody>
                    <a:bodyPr/>
                    <a:lstStyle/>
                    <a:p>
                      <a:pPr algn="l"/>
                      <a:r>
                        <a:rPr sz="800" b="0" i="0">
                          <a:solidFill>
                            <a:srgbClr val="1E1E1E"/>
                          </a:solidFill>
                          <a:latin typeface="Gill Sans MT"/>
                        </a:rPr>
                        <a:t>Recycling of fatty by-products</a:t>
                      </a:r>
                    </a:p>
                  </a:txBody>
                  <a:tcPr marL="45720" marR="45720" marT="9144" marB="9144" anchor="ctr">
                    <a:solidFill>
                      <a:srgbClr val="F4F2EB"/>
                    </a:solidFill>
                  </a:tcPr>
                </a:tc>
                <a:tc>
                  <a:txBody>
                    <a:bodyPr/>
                    <a:lstStyle/>
                    <a:p>
                      <a:pPr algn="ctr"/>
                      <a:r>
                        <a:rPr sz="800" b="0" i="0">
                          <a:solidFill>
                            <a:srgbClr val="1E1E1E"/>
                          </a:solidFill>
                          <a:latin typeface="Gill Sans MT"/>
                        </a:rPr>
                        <a:t>05.2023</a:t>
                      </a:r>
                    </a:p>
                  </a:txBody>
                  <a:tcPr marL="45720" marR="45720" marT="9144" marB="9144" anchor="ctr">
                    <a:solidFill>
                      <a:srgbClr val="F4F2EB"/>
                    </a:solidFill>
                  </a:tcPr>
                </a:tc>
                <a:tc>
                  <a:txBody>
                    <a:bodyPr/>
                    <a:lstStyle/>
                    <a:p>
                      <a:pPr algn="r"/>
                      <a:r>
                        <a:rPr sz="800" b="0" i="0">
                          <a:solidFill>
                            <a:srgbClr val="1E1E1E"/>
                          </a:solidFill>
                          <a:latin typeface="Gill Sans MT"/>
                        </a:rPr>
                        <a:t>4.733</a:t>
                      </a:r>
                    </a:p>
                  </a:txBody>
                  <a:tcPr marL="45720" marR="45720" marT="9144" marB="9144" anchor="ctr">
                    <a:solidFill>
                      <a:srgbClr val="F4F2EB"/>
                    </a:solidFill>
                  </a:tcPr>
                </a:tc>
                <a:tc>
                  <a:txBody>
                    <a:bodyPr/>
                    <a:lstStyle/>
                    <a:p>
                      <a:pPr algn="r"/>
                      <a:r>
                        <a:rPr sz="800" b="0" i="0">
                          <a:solidFill>
                            <a:srgbClr val="1E1E1E"/>
                          </a:solidFill>
                          <a:latin typeface="Gill Sans MT"/>
                        </a:rPr>
                        <a:t>9.573</a:t>
                      </a:r>
                    </a:p>
                  </a:txBody>
                  <a:tcPr marL="45720" marR="45720" marT="9144" marB="9144" anchor="ctr">
                    <a:solidFill>
                      <a:srgbClr val="F4F2EB"/>
                    </a:solidFill>
                  </a:tcPr>
                </a:tc>
                <a:tc>
                  <a:txBody>
                    <a:bodyPr/>
                    <a:lstStyle/>
                    <a:p>
                      <a:pPr algn="r"/>
                      <a:r>
                        <a:rPr sz="800" b="0" i="0">
                          <a:solidFill>
                            <a:srgbClr val="1E1E1E"/>
                          </a:solidFill>
                          <a:latin typeface="Gill Sans MT"/>
                        </a:rPr>
                        <a:t>0</a:t>
                      </a:r>
                    </a:p>
                  </a:txBody>
                  <a:tcPr marL="45720" marR="45720" marT="9144" marB="9144" anchor="ctr">
                    <a:solidFill>
                      <a:srgbClr val="F4F2EB"/>
                    </a:solidFill>
                  </a:tcPr>
                </a:tc>
                <a:tc>
                  <a:txBody>
                    <a:bodyPr/>
                    <a:lstStyle/>
                    <a:p>
                      <a:pPr algn="r"/>
                      <a:r>
                        <a:rPr sz="800" b="0" i="0">
                          <a:solidFill>
                            <a:srgbClr val="1E1E1E"/>
                          </a:solidFill>
                          <a:latin typeface="Gill Sans MT"/>
                        </a:rPr>
                        <a:t>9.573</a:t>
                      </a:r>
                    </a:p>
                  </a:txBody>
                  <a:tcPr marL="45720" marR="45720" marT="9144" marB="9144" anchor="ctr">
                    <a:solidFill>
                      <a:srgbClr val="F4F2EB"/>
                    </a:solidFill>
                  </a:tcPr>
                </a:tc>
                <a:tc>
                  <a:txBody>
                    <a:bodyPr/>
                    <a:lstStyle/>
                    <a:p>
                      <a:pPr algn="r"/>
                      <a:r>
                        <a:rPr sz="800" b="0" i="0">
                          <a:solidFill>
                            <a:srgbClr val="1E1E1E"/>
                          </a:solidFill>
                          <a:latin typeface="Gill Sans MT"/>
                        </a:rPr>
                        <a:t>2,00x</a:t>
                      </a:r>
                    </a:p>
                  </a:txBody>
                  <a:tcPr marL="45720" marR="45720" marT="9144" marB="9144" anchor="ctr">
                    <a:solidFill>
                      <a:srgbClr val="F4F2EB"/>
                    </a:solidFill>
                  </a:tcPr>
                </a:tc>
                <a:extLst>
                  <a:ext uri="{0D108BD9-81ED-4DB2-BD59-A6C34878D82A}">
                    <a16:rowId xmlns:a16="http://schemas.microsoft.com/office/drawing/2014/main" val="10002"/>
                  </a:ext>
                </a:extLst>
              </a:tr>
              <a:tr h="196596">
                <a:tc>
                  <a:txBody>
                    <a:bodyPr/>
                    <a:lstStyle/>
                    <a:p>
                      <a:pPr algn="l"/>
                      <a:r>
                        <a:rPr sz="800" b="0" i="0">
                          <a:solidFill>
                            <a:srgbClr val="1E1E1E"/>
                          </a:solidFill>
                          <a:latin typeface="Gill Sans MT"/>
                        </a:rPr>
                        <a:t>e-Boks</a:t>
                      </a:r>
                    </a:p>
                  </a:txBody>
                  <a:tcPr marL="45720" marR="45720" marT="9144" marB="9144" anchor="ctr">
                    <a:noFill/>
                  </a:tcPr>
                </a:tc>
                <a:tc>
                  <a:txBody>
                    <a:bodyPr/>
                    <a:lstStyle/>
                    <a:p>
                      <a:pPr algn="l"/>
                      <a:r>
                        <a:rPr sz="800" b="0" i="0">
                          <a:solidFill>
                            <a:srgbClr val="1E1E1E"/>
                          </a:solidFill>
                          <a:latin typeface="Gill Sans MT"/>
                        </a:rPr>
                        <a:t>Secure Digital Communication SaaS</a:t>
                      </a:r>
                    </a:p>
                  </a:txBody>
                  <a:tcPr marL="45720" marR="45720" marT="9144" marB="9144" anchor="ctr">
                    <a:noFill/>
                  </a:tcPr>
                </a:tc>
                <a:tc>
                  <a:txBody>
                    <a:bodyPr/>
                    <a:lstStyle/>
                    <a:p>
                      <a:pPr algn="ctr"/>
                      <a:r>
                        <a:rPr sz="800" b="0" i="0">
                          <a:solidFill>
                            <a:srgbClr val="1E1E1E"/>
                          </a:solidFill>
                          <a:latin typeface="Gill Sans MT"/>
                        </a:rPr>
                        <a:t>06.2025</a:t>
                      </a:r>
                    </a:p>
                  </a:txBody>
                  <a:tcPr marL="45720" marR="45720" marT="9144" marB="9144" anchor="ctr">
                    <a:noFill/>
                  </a:tcPr>
                </a:tc>
                <a:tc>
                  <a:txBody>
                    <a:bodyPr/>
                    <a:lstStyle/>
                    <a:p>
                      <a:pPr algn="r"/>
                      <a:r>
                        <a:rPr sz="800" b="0" i="0">
                          <a:solidFill>
                            <a:srgbClr val="1E1E1E"/>
                          </a:solidFill>
                          <a:latin typeface="Gill Sans MT"/>
                        </a:rPr>
                        <a:t>3.236</a:t>
                      </a:r>
                    </a:p>
                  </a:txBody>
                  <a:tcPr marL="45720" marR="45720" marT="9144" marB="9144" anchor="ctr">
                    <a:noFill/>
                  </a:tcPr>
                </a:tc>
                <a:tc>
                  <a:txBody>
                    <a:bodyPr/>
                    <a:lstStyle/>
                    <a:p>
                      <a:pPr algn="r"/>
                      <a:r>
                        <a:rPr sz="800" b="0" i="0">
                          <a:solidFill>
                            <a:srgbClr val="1E1E1E"/>
                          </a:solidFill>
                          <a:latin typeface="Gill Sans MT"/>
                        </a:rPr>
                        <a:t>4.626</a:t>
                      </a:r>
                    </a:p>
                  </a:txBody>
                  <a:tcPr marL="45720" marR="45720" marT="9144" marB="9144" anchor="ctr">
                    <a:noFill/>
                  </a:tcPr>
                </a:tc>
                <a:tc>
                  <a:txBody>
                    <a:bodyPr/>
                    <a:lstStyle/>
                    <a:p>
                      <a:pPr algn="r"/>
                      <a:r>
                        <a:rPr sz="800" b="0" i="0">
                          <a:solidFill>
                            <a:srgbClr val="1E1E1E"/>
                          </a:solidFill>
                          <a:latin typeface="Gill Sans MT"/>
                        </a:rPr>
                        <a:t>0</a:t>
                      </a:r>
                    </a:p>
                  </a:txBody>
                  <a:tcPr marL="45720" marR="45720" marT="9144" marB="9144" anchor="ctr">
                    <a:noFill/>
                  </a:tcPr>
                </a:tc>
                <a:tc>
                  <a:txBody>
                    <a:bodyPr/>
                    <a:lstStyle/>
                    <a:p>
                      <a:pPr algn="r"/>
                      <a:r>
                        <a:rPr sz="800" b="0" i="0">
                          <a:solidFill>
                            <a:srgbClr val="1E1E1E"/>
                          </a:solidFill>
                          <a:latin typeface="Gill Sans MT"/>
                        </a:rPr>
                        <a:t>4.626</a:t>
                      </a:r>
                    </a:p>
                  </a:txBody>
                  <a:tcPr marL="45720" marR="45720" marT="9144" marB="9144" anchor="ctr">
                    <a:noFill/>
                  </a:tcPr>
                </a:tc>
                <a:tc>
                  <a:txBody>
                    <a:bodyPr/>
                    <a:lstStyle/>
                    <a:p>
                      <a:pPr algn="r"/>
                      <a:r>
                        <a:rPr sz="800" b="0" i="0">
                          <a:solidFill>
                            <a:srgbClr val="1E1E1E"/>
                          </a:solidFill>
                          <a:latin typeface="Gill Sans MT"/>
                        </a:rPr>
                        <a:t>1,40x</a:t>
                      </a:r>
                    </a:p>
                  </a:txBody>
                  <a:tcPr marL="45720" marR="45720" marT="9144" marB="9144" anchor="ctr">
                    <a:noFill/>
                  </a:tcPr>
                </a:tc>
                <a:extLst>
                  <a:ext uri="{0D108BD9-81ED-4DB2-BD59-A6C34878D82A}">
                    <a16:rowId xmlns:a16="http://schemas.microsoft.com/office/drawing/2014/main" val="10003"/>
                  </a:ext>
                </a:extLst>
              </a:tr>
              <a:tr h="196596">
                <a:tc>
                  <a:txBody>
                    <a:bodyPr/>
                    <a:lstStyle/>
                    <a:p>
                      <a:pPr algn="l"/>
                      <a:r>
                        <a:rPr sz="800" b="0" i="0">
                          <a:solidFill>
                            <a:srgbClr val="1E1E1E"/>
                          </a:solidFill>
                          <a:latin typeface="Gill Sans MT"/>
                        </a:rPr>
                        <a:t>Thranekær</a:t>
                      </a:r>
                    </a:p>
                  </a:txBody>
                  <a:tcPr marL="45720" marR="45720" marT="9144" marB="9144" anchor="ctr">
                    <a:solidFill>
                      <a:srgbClr val="F4F2EB"/>
                    </a:solidFill>
                  </a:tcPr>
                </a:tc>
                <a:tc>
                  <a:txBody>
                    <a:bodyPr/>
                    <a:lstStyle/>
                    <a:p>
                      <a:pPr algn="l"/>
                      <a:r>
                        <a:rPr sz="800" b="0" i="0">
                          <a:solidFill>
                            <a:srgbClr val="1E1E1E"/>
                          </a:solidFill>
                          <a:latin typeface="Gill Sans MT"/>
                        </a:rPr>
                        <a:t>Engineering Consultancy</a:t>
                      </a:r>
                    </a:p>
                  </a:txBody>
                  <a:tcPr marL="45720" marR="45720" marT="9144" marB="9144" anchor="ctr">
                    <a:solidFill>
                      <a:srgbClr val="F4F2EB"/>
                    </a:solidFill>
                  </a:tcPr>
                </a:tc>
                <a:tc>
                  <a:txBody>
                    <a:bodyPr/>
                    <a:lstStyle/>
                    <a:p>
                      <a:pPr algn="ctr"/>
                      <a:r>
                        <a:rPr sz="800" b="0" i="0">
                          <a:solidFill>
                            <a:srgbClr val="1E1E1E"/>
                          </a:solidFill>
                          <a:latin typeface="Gill Sans MT"/>
                        </a:rPr>
                        <a:t>07.2025</a:t>
                      </a:r>
                    </a:p>
                  </a:txBody>
                  <a:tcPr marL="45720" marR="45720" marT="9144" marB="9144" anchor="ctr">
                    <a:solidFill>
                      <a:srgbClr val="F4F2EB"/>
                    </a:solidFill>
                  </a:tcPr>
                </a:tc>
                <a:tc>
                  <a:txBody>
                    <a:bodyPr/>
                    <a:lstStyle/>
                    <a:p>
                      <a:pPr algn="r"/>
                      <a:r>
                        <a:rPr sz="800" b="0" i="0">
                          <a:solidFill>
                            <a:srgbClr val="1E1E1E"/>
                          </a:solidFill>
                          <a:latin typeface="Gill Sans MT"/>
                        </a:rPr>
                        <a:t>3.530</a:t>
                      </a:r>
                    </a:p>
                  </a:txBody>
                  <a:tcPr marL="45720" marR="45720" marT="9144" marB="9144" anchor="ctr">
                    <a:solidFill>
                      <a:srgbClr val="F4F2EB"/>
                    </a:solidFill>
                  </a:tcPr>
                </a:tc>
                <a:tc>
                  <a:txBody>
                    <a:bodyPr/>
                    <a:lstStyle/>
                    <a:p>
                      <a:pPr algn="r"/>
                      <a:r>
                        <a:rPr sz="800" b="0" i="0">
                          <a:solidFill>
                            <a:srgbClr val="1E1E1E"/>
                          </a:solidFill>
                          <a:latin typeface="Gill Sans MT"/>
                        </a:rPr>
                        <a:t>3.530</a:t>
                      </a:r>
                    </a:p>
                  </a:txBody>
                  <a:tcPr marL="45720" marR="45720" marT="9144" marB="9144" anchor="ctr">
                    <a:solidFill>
                      <a:srgbClr val="F4F2EB"/>
                    </a:solidFill>
                  </a:tcPr>
                </a:tc>
                <a:tc>
                  <a:txBody>
                    <a:bodyPr/>
                    <a:lstStyle/>
                    <a:p>
                      <a:pPr algn="r"/>
                      <a:r>
                        <a:rPr sz="800" b="0" i="0">
                          <a:solidFill>
                            <a:srgbClr val="1E1E1E"/>
                          </a:solidFill>
                          <a:latin typeface="Gill Sans MT"/>
                        </a:rPr>
                        <a:t>0</a:t>
                      </a:r>
                    </a:p>
                  </a:txBody>
                  <a:tcPr marL="45720" marR="45720" marT="9144" marB="9144" anchor="ctr">
                    <a:solidFill>
                      <a:srgbClr val="F4F2EB"/>
                    </a:solidFill>
                  </a:tcPr>
                </a:tc>
                <a:tc>
                  <a:txBody>
                    <a:bodyPr/>
                    <a:lstStyle/>
                    <a:p>
                      <a:pPr algn="r"/>
                      <a:r>
                        <a:rPr sz="800" b="0" i="0">
                          <a:solidFill>
                            <a:srgbClr val="1E1E1E"/>
                          </a:solidFill>
                          <a:latin typeface="Gill Sans MT"/>
                        </a:rPr>
                        <a:t>3.530</a:t>
                      </a:r>
                    </a:p>
                  </a:txBody>
                  <a:tcPr marL="45720" marR="45720" marT="9144" marB="9144" anchor="ctr">
                    <a:solidFill>
                      <a:srgbClr val="F4F2EB"/>
                    </a:solidFill>
                  </a:tcPr>
                </a:tc>
                <a:tc>
                  <a:txBody>
                    <a:bodyPr/>
                    <a:lstStyle/>
                    <a:p>
                      <a:pPr algn="r"/>
                      <a:r>
                        <a:rPr sz="800" b="0" i="0">
                          <a:solidFill>
                            <a:srgbClr val="1E1E1E"/>
                          </a:solidFill>
                          <a:latin typeface="Gill Sans MT"/>
                        </a:rPr>
                        <a:t>1,00x</a:t>
                      </a:r>
                    </a:p>
                  </a:txBody>
                  <a:tcPr marL="45720" marR="45720" marT="9144" marB="9144" anchor="ctr">
                    <a:solidFill>
                      <a:srgbClr val="F4F2EB"/>
                    </a:solidFill>
                  </a:tcPr>
                </a:tc>
                <a:extLst>
                  <a:ext uri="{0D108BD9-81ED-4DB2-BD59-A6C34878D82A}">
                    <a16:rowId xmlns:a16="http://schemas.microsoft.com/office/drawing/2014/main" val="10004"/>
                  </a:ext>
                </a:extLst>
              </a:tr>
              <a:tr h="196596">
                <a:tc>
                  <a:txBody>
                    <a:bodyPr/>
                    <a:lstStyle/>
                    <a:p>
                      <a:pPr algn="l"/>
                      <a:r>
                        <a:rPr sz="800" b="1" i="0">
                          <a:solidFill>
                            <a:srgbClr val="1E1E1E"/>
                          </a:solidFill>
                          <a:latin typeface="Gill Sans MT"/>
                        </a:rPr>
                        <a:t>I alt</a:t>
                      </a:r>
                    </a:p>
                  </a:txBody>
                  <a:tcPr marL="45720" marR="45720" marT="9144" marB="9144" anchor="ctr">
                    <a:solidFill>
                      <a:srgbClr val="C9CCB8"/>
                    </a:solidFill>
                  </a:tcPr>
                </a:tc>
                <a:tc>
                  <a:txBody>
                    <a:bodyPr/>
                    <a:lstStyle/>
                    <a:p>
                      <a:pPr algn="l"/>
                      <a:endParaRPr/>
                    </a:p>
                  </a:txBody>
                  <a:tcPr marL="45720" marR="45720" marT="9144" marB="9144" anchor="ctr">
                    <a:solidFill>
                      <a:srgbClr val="C9CCB8"/>
                    </a:solidFill>
                  </a:tcPr>
                </a:tc>
                <a:tc>
                  <a:txBody>
                    <a:bodyPr/>
                    <a:lstStyle/>
                    <a:p>
                      <a:pPr algn="ctr"/>
                      <a:endParaRPr/>
                    </a:p>
                  </a:txBody>
                  <a:tcPr marL="45720" marR="45720" marT="9144" marB="9144" anchor="ctr">
                    <a:solidFill>
                      <a:srgbClr val="C9CCB8"/>
                    </a:solidFill>
                  </a:tcPr>
                </a:tc>
                <a:tc>
                  <a:txBody>
                    <a:bodyPr/>
                    <a:lstStyle/>
                    <a:p>
                      <a:pPr algn="r"/>
                      <a:r>
                        <a:rPr sz="800" b="1" i="0">
                          <a:solidFill>
                            <a:srgbClr val="1E1E1E"/>
                          </a:solidFill>
                          <a:latin typeface="Gill Sans MT"/>
                        </a:rPr>
                        <a:t>15.723</a:t>
                      </a:r>
                    </a:p>
                  </a:txBody>
                  <a:tcPr marL="45720" marR="45720" marT="9144" marB="9144" anchor="ctr">
                    <a:solidFill>
                      <a:srgbClr val="C9CCB8"/>
                    </a:solidFill>
                  </a:tcPr>
                </a:tc>
                <a:tc>
                  <a:txBody>
                    <a:bodyPr/>
                    <a:lstStyle/>
                    <a:p>
                      <a:pPr algn="r"/>
                      <a:r>
                        <a:rPr sz="800" b="1" i="0">
                          <a:solidFill>
                            <a:srgbClr val="1E1E1E"/>
                          </a:solidFill>
                          <a:latin typeface="Gill Sans MT"/>
                        </a:rPr>
                        <a:t>29.040</a:t>
                      </a:r>
                    </a:p>
                  </a:txBody>
                  <a:tcPr marL="45720" marR="45720" marT="9144" marB="9144" anchor="ctr">
                    <a:solidFill>
                      <a:srgbClr val="C9CCB8"/>
                    </a:solidFill>
                  </a:tcPr>
                </a:tc>
                <a:tc>
                  <a:txBody>
                    <a:bodyPr/>
                    <a:lstStyle/>
                    <a:p>
                      <a:pPr algn="r"/>
                      <a:r>
                        <a:rPr sz="800" b="1" i="0">
                          <a:solidFill>
                            <a:srgbClr val="1E1E1E"/>
                          </a:solidFill>
                          <a:latin typeface="Gill Sans MT"/>
                        </a:rPr>
                        <a:t>0</a:t>
                      </a:r>
                    </a:p>
                  </a:txBody>
                  <a:tcPr marL="45720" marR="45720" marT="9144" marB="9144" anchor="ctr">
                    <a:solidFill>
                      <a:srgbClr val="C9CCB8"/>
                    </a:solidFill>
                  </a:tcPr>
                </a:tc>
                <a:tc>
                  <a:txBody>
                    <a:bodyPr/>
                    <a:lstStyle/>
                    <a:p>
                      <a:pPr algn="r"/>
                      <a:r>
                        <a:rPr sz="800" b="1" i="0">
                          <a:solidFill>
                            <a:srgbClr val="1E1E1E"/>
                          </a:solidFill>
                          <a:latin typeface="Gill Sans MT"/>
                        </a:rPr>
                        <a:t>29.040</a:t>
                      </a:r>
                    </a:p>
                  </a:txBody>
                  <a:tcPr marL="45720" marR="45720" marT="9144" marB="9144" anchor="ctr">
                    <a:solidFill>
                      <a:srgbClr val="C9CCB8"/>
                    </a:solidFill>
                  </a:tcPr>
                </a:tc>
                <a:tc>
                  <a:txBody>
                    <a:bodyPr/>
                    <a:lstStyle/>
                    <a:p>
                      <a:pPr algn="r"/>
                      <a:r>
                        <a:rPr sz="800" b="1" i="0">
                          <a:solidFill>
                            <a:srgbClr val="1E1E1E"/>
                          </a:solidFill>
                          <a:latin typeface="Gill Sans MT"/>
                        </a:rPr>
                        <a:t>1,85x</a:t>
                      </a:r>
                    </a:p>
                  </a:txBody>
                  <a:tcPr marL="45720" marR="45720" marT="9144" marB="9144" anchor="ctr">
                    <a:solidFill>
                      <a:srgbClr val="C9CCB8"/>
                    </a:solidFill>
                  </a:tcPr>
                </a:tc>
                <a:extLst>
                  <a:ext uri="{0D108BD9-81ED-4DB2-BD59-A6C34878D82A}">
                    <a16:rowId xmlns:a16="http://schemas.microsoft.com/office/drawing/2014/main" val="10005"/>
                  </a:ext>
                </a:extLst>
              </a:tr>
            </a:tbl>
          </a:graphicData>
        </a:graphic>
      </p:graphicFrame>
      <p:sp>
        <p:nvSpPr>
          <p:cNvPr id="22" name="TextBox 21"/>
          <p:cNvSpPr txBox="1"/>
          <p:nvPr/>
        </p:nvSpPr>
        <p:spPr>
          <a:xfrm>
            <a:off x="603504" y="5394960"/>
            <a:ext cx="9491472" cy="457200"/>
          </a:xfrm>
          <a:prstGeom prst="rect">
            <a:avLst/>
          </a:prstGeom>
          <a:noFill/>
        </p:spPr>
        <p:txBody>
          <a:bodyPr wrap="square" lIns="0" tIns="0" rIns="0" bIns="0" anchor="t">
            <a:spAutoFit/>
          </a:bodyPr>
          <a:lstStyle/>
          <a:p>
            <a:pPr algn="l"/>
            <a:r>
              <a:rPr sz="700" b="0" i="1">
                <a:solidFill>
                  <a:srgbClr val="1E1E1E"/>
                </a:solidFill>
                <a:latin typeface="Gill Sans MT"/>
              </a:rPr>
              <a:t>Kilde: GP-rapporter og egne beregninger. Fondens beholdninger pr. 30.06.2026 ganget med ejerandelen. Kostpris er tilsagn × indbetalt andel, hvor GP ikke oplyser den; TVPI og IRR pr. fond er GP'ens. Efter NAV-datoen: kapitalkald 1.466 tDKK (18.09.2026) – ikke medregnet. Fondsbeskrivelse, geografi og segment er et udkast og ikke gennemgået. GP'ens egne nøgletal: TVPI 1,30x.</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0"/>
          <a:lstStyle/>
          <a:p>
            <a:r>
              <a:t>K Alternativ Private Equity 2020 K/S</a:t>
            </a:r>
          </a:p>
        </p:txBody>
      </p:sp>
      <p:pic>
        <p:nvPicPr>
          <p:cNvPr id="3" name="Picture 2" descr="image.png"/>
          <p:cNvPicPr>
            <a:picLocks noChangeAspect="1"/>
          </p:cNvPicPr>
          <p:nvPr/>
        </p:nvPicPr>
        <p:blipFill>
          <a:blip r:embed="rId2"/>
          <a:stretch>
            <a:fillRect/>
          </a:stretch>
        </p:blipFill>
        <p:spPr>
          <a:xfrm>
            <a:off x="8677655" y="310330"/>
            <a:ext cx="1417320" cy="238874"/>
          </a:xfrm>
          <a:prstGeom prst="rect">
            <a:avLst/>
          </a:prstGeom>
        </p:spPr>
      </p:pic>
      <p:sp>
        <p:nvSpPr>
          <p:cNvPr id="4" name="TextBox 3"/>
          <p:cNvSpPr txBox="1"/>
          <p:nvPr/>
        </p:nvSpPr>
        <p:spPr>
          <a:xfrm>
            <a:off x="603504" y="786384"/>
            <a:ext cx="9491472" cy="201168"/>
          </a:xfrm>
          <a:prstGeom prst="rect">
            <a:avLst/>
          </a:prstGeom>
          <a:noFill/>
        </p:spPr>
        <p:txBody>
          <a:bodyPr wrap="square" lIns="0" tIns="0" rIns="0" bIns="0" anchor="t">
            <a:spAutoFit/>
          </a:bodyPr>
          <a:lstStyle/>
          <a:p>
            <a:pPr algn="l"/>
            <a:r>
              <a:rPr sz="950" b="0" i="0">
                <a:solidFill>
                  <a:srgbClr val="1E1E1E"/>
                </a:solidFill>
                <a:latin typeface="Gill Sans MT"/>
              </a:rPr>
              <a:t>A/S Motortramp  ·  pr. 30.06.2026  ·  beløb i tDKK</a:t>
            </a:r>
          </a:p>
        </p:txBody>
      </p:sp>
      <p:sp>
        <p:nvSpPr>
          <p:cNvPr id="5" name="TextBox 4"/>
          <p:cNvSpPr txBox="1"/>
          <p:nvPr/>
        </p:nvSpPr>
        <p:spPr>
          <a:xfrm>
            <a:off x="603504" y="1115568"/>
            <a:ext cx="2971800" cy="201168"/>
          </a:xfrm>
          <a:prstGeom prst="rect">
            <a:avLst/>
          </a:prstGeom>
          <a:noFill/>
        </p:spPr>
        <p:txBody>
          <a:bodyPr wrap="square" lIns="0" tIns="0" rIns="0" bIns="0" anchor="t">
            <a:spAutoFit/>
          </a:bodyPr>
          <a:lstStyle/>
          <a:p>
            <a:pPr algn="l"/>
            <a:r>
              <a:rPr sz="1050" b="1" i="0">
                <a:solidFill>
                  <a:srgbClr val="545B4A"/>
                </a:solidFill>
                <a:latin typeface="Gill Sans MT"/>
              </a:rPr>
              <a:t>Kort beskrivelse af fonden</a:t>
            </a:r>
          </a:p>
        </p:txBody>
      </p:sp>
      <p:cxnSp>
        <p:nvCxnSpPr>
          <p:cNvPr id="6" name="Connector 5"/>
          <p:cNvCxnSpPr/>
          <p:nvPr/>
        </p:nvCxnSpPr>
        <p:spPr>
          <a:xfrm>
            <a:off x="603504" y="1344168"/>
            <a:ext cx="297180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3504" y="1426464"/>
            <a:ext cx="2971800" cy="1271016"/>
          </a:xfrm>
          <a:prstGeom prst="rect">
            <a:avLst/>
          </a:prstGeom>
          <a:noFill/>
        </p:spPr>
        <p:txBody>
          <a:bodyPr wrap="square" lIns="0" tIns="0" rIns="0" bIns="0" anchor="t">
            <a:spAutoFit/>
          </a:bodyPr>
          <a:lstStyle/>
          <a:p>
            <a:pPr algn="l"/>
            <a:r>
              <a:rPr sz="950" b="0" i="0">
                <a:solidFill>
                  <a:srgbClr val="1E1E1E"/>
                </a:solidFill>
                <a:latin typeface="Gill Sans MT"/>
              </a:rPr>
              <a:t>K Alternativ Private Equity 2020 er en fund of funds forvaltet af Alternative Equity Partners. Fonden har givet tilsagn til syv underliggende kapitalfonde, primært buyout-fonde i Europa og Nordamerika samt en secondaries-fond.</a:t>
            </a:r>
          </a:p>
        </p:txBody>
      </p:sp>
      <p:cxnSp>
        <p:nvCxnSpPr>
          <p:cNvPr id="8" name="Connector 7"/>
          <p:cNvCxnSpPr/>
          <p:nvPr/>
        </p:nvCxnSpPr>
        <p:spPr>
          <a:xfrm>
            <a:off x="3717035" y="1115568"/>
            <a:ext cx="0" cy="1490472"/>
          </a:xfrm>
          <a:prstGeom prst="line">
            <a:avLst/>
          </a:prstGeom>
          <a:ln w="9525">
            <a:solidFill>
              <a:srgbClr val="C9CCB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40780" y="1115568"/>
            <a:ext cx="0" cy="1490472"/>
          </a:xfrm>
          <a:prstGeom prst="line">
            <a:avLst/>
          </a:prstGeom>
          <a:ln w="9525">
            <a:solidFill>
              <a:srgbClr val="C9CCB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307324" y="1115568"/>
            <a:ext cx="0" cy="1490472"/>
          </a:xfrm>
          <a:prstGeom prst="line">
            <a:avLst/>
          </a:prstGeom>
          <a:ln w="9525">
            <a:solidFill>
              <a:srgbClr val="C9CCB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858768" y="1115568"/>
            <a:ext cx="2240280" cy="201168"/>
          </a:xfrm>
          <a:prstGeom prst="rect">
            <a:avLst/>
          </a:prstGeom>
          <a:noFill/>
        </p:spPr>
        <p:txBody>
          <a:bodyPr wrap="square" lIns="0" tIns="0" rIns="0" bIns="0" anchor="t">
            <a:spAutoFit/>
          </a:bodyPr>
          <a:lstStyle/>
          <a:p>
            <a:pPr algn="l"/>
            <a:r>
              <a:rPr sz="1050" b="1" i="0">
                <a:solidFill>
                  <a:srgbClr val="545B4A"/>
                </a:solidFill>
                <a:latin typeface="Gill Sans MT"/>
              </a:rPr>
              <a:t>Fondsidentitet</a:t>
            </a:r>
          </a:p>
        </p:txBody>
      </p:sp>
      <p:cxnSp>
        <p:nvCxnSpPr>
          <p:cNvPr id="12" name="Connector 11"/>
          <p:cNvCxnSpPr/>
          <p:nvPr/>
        </p:nvCxnSpPr>
        <p:spPr>
          <a:xfrm>
            <a:off x="3858768" y="1344168"/>
            <a:ext cx="224028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3813048" y="1399032"/>
          <a:ext cx="2331719" cy="1211580"/>
        </p:xfrm>
        <a:graphic>
          <a:graphicData uri="http://schemas.openxmlformats.org/drawingml/2006/table">
            <a:tbl>
              <a:tblPr>
                <a:tableStyleId>{2D5ABB26-0587-4C30-8999-92F81FD0307C}</a:tableStyleId>
              </a:tblPr>
              <a:tblGrid>
                <a:gridCol w="951722">
                  <a:extLst>
                    <a:ext uri="{9D8B030D-6E8A-4147-A177-3AD203B41FA5}">
                      <a16:colId xmlns:a16="http://schemas.microsoft.com/office/drawing/2014/main" val="20000"/>
                    </a:ext>
                  </a:extLst>
                </a:gridCol>
                <a:gridCol w="1379997">
                  <a:extLst>
                    <a:ext uri="{9D8B030D-6E8A-4147-A177-3AD203B41FA5}">
                      <a16:colId xmlns:a16="http://schemas.microsoft.com/office/drawing/2014/main" val="20001"/>
                    </a:ext>
                  </a:extLst>
                </a:gridCol>
              </a:tblGrid>
              <a:tr h="242316">
                <a:tc>
                  <a:txBody>
                    <a:bodyPr/>
                    <a:lstStyle/>
                    <a:p>
                      <a:pPr algn="l"/>
                      <a:r>
                        <a:rPr sz="950" b="0" i="0">
                          <a:solidFill>
                            <a:srgbClr val="1E1E1E"/>
                          </a:solidFill>
                          <a:latin typeface="Gill Sans MT"/>
                        </a:rPr>
                        <a:t>Geografi</a:t>
                      </a:r>
                    </a:p>
                  </a:txBody>
                  <a:tcPr marL="45720" marR="45720" marT="9144" marB="9144" anchor="ctr">
                    <a:noFill/>
                  </a:tcPr>
                </a:tc>
                <a:tc>
                  <a:txBody>
                    <a:bodyPr/>
                    <a:lstStyle/>
                    <a:p>
                      <a:pPr algn="r"/>
                      <a:r>
                        <a:rPr sz="950" b="0" i="0">
                          <a:solidFill>
                            <a:srgbClr val="1E1E1E"/>
                          </a:solidFill>
                          <a:latin typeface="Gill Sans MT"/>
                        </a:rPr>
                        <a:t>Europa og Nordamerika</a:t>
                      </a:r>
                    </a:p>
                  </a:txBody>
                  <a:tcPr marL="45720" marR="45720" marT="9144" marB="9144" anchor="ctr">
                    <a:noFill/>
                  </a:tcPr>
                </a:tc>
                <a:extLst>
                  <a:ext uri="{0D108BD9-81ED-4DB2-BD59-A6C34878D82A}">
                    <a16:rowId xmlns:a16="http://schemas.microsoft.com/office/drawing/2014/main" val="10000"/>
                  </a:ext>
                </a:extLst>
              </a:tr>
              <a:tr h="242316">
                <a:tc>
                  <a:txBody>
                    <a:bodyPr/>
                    <a:lstStyle/>
                    <a:p>
                      <a:pPr algn="l"/>
                      <a:r>
                        <a:rPr sz="950" b="0" i="0">
                          <a:solidFill>
                            <a:srgbClr val="1E1E1E"/>
                          </a:solidFill>
                          <a:latin typeface="Gill Sans MT"/>
                        </a:rPr>
                        <a:t>Segment</a:t>
                      </a:r>
                    </a:p>
                  </a:txBody>
                  <a:tcPr marL="45720" marR="45720" marT="9144" marB="9144" anchor="ctr">
                    <a:noFill/>
                  </a:tcPr>
                </a:tc>
                <a:tc>
                  <a:txBody>
                    <a:bodyPr/>
                    <a:lstStyle/>
                    <a:p>
                      <a:pPr algn="r"/>
                      <a:r>
                        <a:rPr sz="950" b="0" i="0">
                          <a:solidFill>
                            <a:srgbClr val="1E1E1E"/>
                          </a:solidFill>
                          <a:latin typeface="Gill Sans MT"/>
                        </a:rPr>
                        <a:t>Fund of funds</a:t>
                      </a:r>
                    </a:p>
                  </a:txBody>
                  <a:tcPr marL="45720" marR="45720" marT="9144" marB="9144" anchor="ctr">
                    <a:noFill/>
                  </a:tcPr>
                </a:tc>
                <a:extLst>
                  <a:ext uri="{0D108BD9-81ED-4DB2-BD59-A6C34878D82A}">
                    <a16:rowId xmlns:a16="http://schemas.microsoft.com/office/drawing/2014/main" val="10001"/>
                  </a:ext>
                </a:extLst>
              </a:tr>
              <a:tr h="242316">
                <a:tc>
                  <a:txBody>
                    <a:bodyPr/>
                    <a:lstStyle/>
                    <a:p>
                      <a:pPr algn="l"/>
                      <a:r>
                        <a:rPr sz="950" b="0" i="0">
                          <a:solidFill>
                            <a:srgbClr val="1E1E1E"/>
                          </a:solidFill>
                          <a:latin typeface="Gill Sans MT"/>
                        </a:rPr>
                        <a:t>Fondsvaluta</a:t>
                      </a:r>
                    </a:p>
                  </a:txBody>
                  <a:tcPr marL="45720" marR="45720" marT="9144" marB="9144" anchor="ctr">
                    <a:noFill/>
                  </a:tcPr>
                </a:tc>
                <a:tc>
                  <a:txBody>
                    <a:bodyPr/>
                    <a:lstStyle/>
                    <a:p>
                      <a:pPr algn="r"/>
                      <a:r>
                        <a:rPr sz="950" b="0" i="0">
                          <a:solidFill>
                            <a:srgbClr val="1E1E1E"/>
                          </a:solidFill>
                          <a:latin typeface="Gill Sans MT"/>
                        </a:rPr>
                        <a:t>DKK</a:t>
                      </a:r>
                    </a:p>
                  </a:txBody>
                  <a:tcPr marL="45720" marR="45720" marT="9144" marB="9144" anchor="ctr">
                    <a:noFill/>
                  </a:tcPr>
                </a:tc>
                <a:extLst>
                  <a:ext uri="{0D108BD9-81ED-4DB2-BD59-A6C34878D82A}">
                    <a16:rowId xmlns:a16="http://schemas.microsoft.com/office/drawing/2014/main" val="10002"/>
                  </a:ext>
                </a:extLst>
              </a:tr>
              <a:tr h="242316">
                <a:tc>
                  <a:txBody>
                    <a:bodyPr/>
                    <a:lstStyle/>
                    <a:p>
                      <a:pPr algn="l"/>
                      <a:r>
                        <a:rPr sz="950" b="0" i="0">
                          <a:solidFill>
                            <a:srgbClr val="1E1E1E"/>
                          </a:solidFill>
                          <a:latin typeface="Gill Sans MT"/>
                        </a:rPr>
                        <a:t>Fondsstørrelse</a:t>
                      </a:r>
                    </a:p>
                  </a:txBody>
                  <a:tcPr marL="45720" marR="45720" marT="9144" marB="9144" anchor="ctr">
                    <a:noFill/>
                  </a:tcPr>
                </a:tc>
                <a:tc>
                  <a:txBody>
                    <a:bodyPr/>
                    <a:lstStyle/>
                    <a:p>
                      <a:pPr algn="r"/>
                      <a:r>
                        <a:rPr sz="950" b="0" i="0">
                          <a:solidFill>
                            <a:srgbClr val="1E1E1E"/>
                          </a:solidFill>
                          <a:latin typeface="Gill Sans MT"/>
                        </a:rPr>
                        <a:t>389.000</a:t>
                      </a:r>
                    </a:p>
                  </a:txBody>
                  <a:tcPr marL="45720" marR="45720" marT="9144" marB="9144" anchor="ctr">
                    <a:noFill/>
                  </a:tcPr>
                </a:tc>
                <a:extLst>
                  <a:ext uri="{0D108BD9-81ED-4DB2-BD59-A6C34878D82A}">
                    <a16:rowId xmlns:a16="http://schemas.microsoft.com/office/drawing/2014/main" val="10003"/>
                  </a:ext>
                </a:extLst>
              </a:tr>
              <a:tr h="242316">
                <a:tc>
                  <a:txBody>
                    <a:bodyPr/>
                    <a:lstStyle/>
                    <a:p>
                      <a:pPr algn="l"/>
                      <a:r>
                        <a:rPr sz="950" b="0" i="0">
                          <a:solidFill>
                            <a:srgbClr val="1E1E1E"/>
                          </a:solidFill>
                          <a:latin typeface="Gill Sans MT"/>
                        </a:rPr>
                        <a:t>Vintage</a:t>
                      </a:r>
                    </a:p>
                  </a:txBody>
                  <a:tcPr marL="45720" marR="45720" marT="9144" marB="9144" anchor="ctr">
                    <a:noFill/>
                  </a:tcPr>
                </a:tc>
                <a:tc>
                  <a:txBody>
                    <a:bodyPr/>
                    <a:lstStyle/>
                    <a:p>
                      <a:pPr algn="r"/>
                      <a:r>
                        <a:rPr sz="950" b="0" i="0">
                          <a:solidFill>
                            <a:srgbClr val="1E1E1E"/>
                          </a:solidFill>
                          <a:latin typeface="Gill Sans MT"/>
                        </a:rPr>
                        <a:t>2020</a:t>
                      </a:r>
                    </a:p>
                  </a:txBody>
                  <a:tcPr marL="45720" marR="45720" marT="9144" marB="9144" anchor="ctr">
                    <a:noFill/>
                  </a:tcPr>
                </a:tc>
                <a:extLst>
                  <a:ext uri="{0D108BD9-81ED-4DB2-BD59-A6C34878D82A}">
                    <a16:rowId xmlns:a16="http://schemas.microsoft.com/office/drawing/2014/main" val="10004"/>
                  </a:ext>
                </a:extLst>
              </a:tr>
            </a:tbl>
          </a:graphicData>
        </a:graphic>
      </p:graphicFrame>
      <p:sp>
        <p:nvSpPr>
          <p:cNvPr id="14" name="TextBox 13"/>
          <p:cNvSpPr txBox="1"/>
          <p:nvPr/>
        </p:nvSpPr>
        <p:spPr>
          <a:xfrm>
            <a:off x="6382512" y="1115568"/>
            <a:ext cx="1783080" cy="201168"/>
          </a:xfrm>
          <a:prstGeom prst="rect">
            <a:avLst/>
          </a:prstGeom>
          <a:noFill/>
        </p:spPr>
        <p:txBody>
          <a:bodyPr wrap="square" lIns="0" tIns="0" rIns="0" bIns="0" anchor="t">
            <a:spAutoFit/>
          </a:bodyPr>
          <a:lstStyle/>
          <a:p>
            <a:pPr algn="l"/>
            <a:r>
              <a:rPr sz="1050" b="1" i="0">
                <a:solidFill>
                  <a:srgbClr val="545B4A"/>
                </a:solidFill>
                <a:latin typeface="Gill Sans MT"/>
              </a:rPr>
              <a:t>A/S Motortramps tilsagn</a:t>
            </a:r>
          </a:p>
        </p:txBody>
      </p:sp>
      <p:cxnSp>
        <p:nvCxnSpPr>
          <p:cNvPr id="15" name="Connector 14"/>
          <p:cNvCxnSpPr/>
          <p:nvPr/>
        </p:nvCxnSpPr>
        <p:spPr>
          <a:xfrm>
            <a:off x="6382512" y="1344168"/>
            <a:ext cx="178308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graphicFrame>
        <p:nvGraphicFramePr>
          <p:cNvPr id="16" name="Table 15"/>
          <p:cNvGraphicFramePr>
            <a:graphicFrameLocks noGrp="1"/>
          </p:cNvGraphicFramePr>
          <p:nvPr/>
        </p:nvGraphicFramePr>
        <p:xfrm>
          <a:off x="6336792" y="1399032"/>
          <a:ext cx="1874519" cy="1211580"/>
        </p:xfrm>
        <a:graphic>
          <a:graphicData uri="http://schemas.openxmlformats.org/drawingml/2006/table">
            <a:tbl>
              <a:tblPr>
                <a:tableStyleId>{2D5ABB26-0587-4C30-8999-92F81FD0307C}</a:tableStyleId>
              </a:tblPr>
              <a:tblGrid>
                <a:gridCol w="1002650">
                  <a:extLst>
                    <a:ext uri="{9D8B030D-6E8A-4147-A177-3AD203B41FA5}">
                      <a16:colId xmlns:a16="http://schemas.microsoft.com/office/drawing/2014/main" val="20000"/>
                    </a:ext>
                  </a:extLst>
                </a:gridCol>
                <a:gridCol w="871869">
                  <a:extLst>
                    <a:ext uri="{9D8B030D-6E8A-4147-A177-3AD203B41FA5}">
                      <a16:colId xmlns:a16="http://schemas.microsoft.com/office/drawing/2014/main" val="20001"/>
                    </a:ext>
                  </a:extLst>
                </a:gridCol>
              </a:tblGrid>
              <a:tr h="242316">
                <a:tc>
                  <a:txBody>
                    <a:bodyPr/>
                    <a:lstStyle/>
                    <a:p>
                      <a:pPr algn="l"/>
                      <a:r>
                        <a:rPr sz="950" b="0" i="0">
                          <a:solidFill>
                            <a:srgbClr val="1E1E1E"/>
                          </a:solidFill>
                          <a:latin typeface="Gill Sans MT"/>
                        </a:rPr>
                        <a:t>Tilsagn</a:t>
                      </a:r>
                    </a:p>
                  </a:txBody>
                  <a:tcPr marL="45720" marR="45720" marT="9144" marB="9144" anchor="ctr">
                    <a:noFill/>
                  </a:tcPr>
                </a:tc>
                <a:tc>
                  <a:txBody>
                    <a:bodyPr/>
                    <a:lstStyle/>
                    <a:p>
                      <a:pPr algn="r"/>
                      <a:r>
                        <a:rPr sz="950" b="0" i="0">
                          <a:solidFill>
                            <a:srgbClr val="1E1E1E"/>
                          </a:solidFill>
                          <a:latin typeface="Gill Sans MT"/>
                        </a:rPr>
                        <a:t>25.000</a:t>
                      </a:r>
                    </a:p>
                  </a:txBody>
                  <a:tcPr marL="45720" marR="45720" marT="9144" marB="9144" anchor="ctr">
                    <a:noFill/>
                  </a:tcPr>
                </a:tc>
                <a:extLst>
                  <a:ext uri="{0D108BD9-81ED-4DB2-BD59-A6C34878D82A}">
                    <a16:rowId xmlns:a16="http://schemas.microsoft.com/office/drawing/2014/main" val="10000"/>
                  </a:ext>
                </a:extLst>
              </a:tr>
              <a:tr h="242316">
                <a:tc>
                  <a:txBody>
                    <a:bodyPr/>
                    <a:lstStyle/>
                    <a:p>
                      <a:pPr algn="l"/>
                      <a:r>
                        <a:rPr sz="950" b="0" i="0">
                          <a:solidFill>
                            <a:srgbClr val="1E1E1E"/>
                          </a:solidFill>
                          <a:latin typeface="Gill Sans MT"/>
                        </a:rPr>
                        <a:t>Ejerandel</a:t>
                      </a:r>
                    </a:p>
                  </a:txBody>
                  <a:tcPr marL="45720" marR="45720" marT="9144" marB="9144" anchor="ctr">
                    <a:noFill/>
                  </a:tcPr>
                </a:tc>
                <a:tc>
                  <a:txBody>
                    <a:bodyPr/>
                    <a:lstStyle/>
                    <a:p>
                      <a:pPr algn="r"/>
                      <a:r>
                        <a:rPr sz="950" b="0" i="0">
                          <a:solidFill>
                            <a:srgbClr val="1E1E1E"/>
                          </a:solidFill>
                          <a:latin typeface="Gill Sans MT"/>
                        </a:rPr>
                        <a:t>6,43 %</a:t>
                      </a:r>
                    </a:p>
                  </a:txBody>
                  <a:tcPr marL="45720" marR="45720" marT="9144" marB="9144" anchor="ctr">
                    <a:noFill/>
                  </a:tcPr>
                </a:tc>
                <a:extLst>
                  <a:ext uri="{0D108BD9-81ED-4DB2-BD59-A6C34878D82A}">
                    <a16:rowId xmlns:a16="http://schemas.microsoft.com/office/drawing/2014/main" val="10001"/>
                  </a:ext>
                </a:extLst>
              </a:tr>
              <a:tr h="242316">
                <a:tc>
                  <a:txBody>
                    <a:bodyPr/>
                    <a:lstStyle/>
                    <a:p>
                      <a:pPr algn="l"/>
                      <a:r>
                        <a:rPr sz="950" b="0" i="0">
                          <a:solidFill>
                            <a:srgbClr val="1E1E1E"/>
                          </a:solidFill>
                          <a:latin typeface="Gill Sans MT"/>
                        </a:rPr>
                        <a:t>Indbetalt kapital</a:t>
                      </a:r>
                    </a:p>
                  </a:txBody>
                  <a:tcPr marL="45720" marR="45720" marT="9144" marB="9144" anchor="ctr">
                    <a:noFill/>
                  </a:tcPr>
                </a:tc>
                <a:tc>
                  <a:txBody>
                    <a:bodyPr/>
                    <a:lstStyle/>
                    <a:p>
                      <a:pPr algn="r"/>
                      <a:r>
                        <a:rPr sz="950" b="0" i="0">
                          <a:solidFill>
                            <a:srgbClr val="1E1E1E"/>
                          </a:solidFill>
                          <a:latin typeface="Gill Sans MT"/>
                        </a:rPr>
                        <a:t>21.530</a:t>
                      </a:r>
                    </a:p>
                  </a:txBody>
                  <a:tcPr marL="45720" marR="45720" marT="9144" marB="9144" anchor="ctr">
                    <a:noFill/>
                  </a:tcPr>
                </a:tc>
                <a:extLst>
                  <a:ext uri="{0D108BD9-81ED-4DB2-BD59-A6C34878D82A}">
                    <a16:rowId xmlns:a16="http://schemas.microsoft.com/office/drawing/2014/main" val="10002"/>
                  </a:ext>
                </a:extLst>
              </a:tr>
              <a:tr h="242316">
                <a:tc>
                  <a:txBody>
                    <a:bodyPr/>
                    <a:lstStyle/>
                    <a:p>
                      <a:pPr algn="l"/>
                      <a:r>
                        <a:rPr sz="950" b="0" i="0">
                          <a:solidFill>
                            <a:srgbClr val="1E1E1E"/>
                          </a:solidFill>
                          <a:latin typeface="Gill Sans MT"/>
                        </a:rPr>
                        <a:t>PICC</a:t>
                      </a:r>
                    </a:p>
                  </a:txBody>
                  <a:tcPr marL="45720" marR="45720" marT="9144" marB="9144" anchor="ctr">
                    <a:noFill/>
                  </a:tcPr>
                </a:tc>
                <a:tc>
                  <a:txBody>
                    <a:bodyPr/>
                    <a:lstStyle/>
                    <a:p>
                      <a:pPr algn="r"/>
                      <a:r>
                        <a:rPr sz="950" b="0" i="0">
                          <a:solidFill>
                            <a:srgbClr val="1E1E1E"/>
                          </a:solidFill>
                          <a:latin typeface="Gill Sans MT"/>
                        </a:rPr>
                        <a:t>86,1 %</a:t>
                      </a:r>
                    </a:p>
                  </a:txBody>
                  <a:tcPr marL="45720" marR="45720" marT="9144" marB="9144" anchor="ctr">
                    <a:noFill/>
                  </a:tcPr>
                </a:tc>
                <a:extLst>
                  <a:ext uri="{0D108BD9-81ED-4DB2-BD59-A6C34878D82A}">
                    <a16:rowId xmlns:a16="http://schemas.microsoft.com/office/drawing/2014/main" val="10003"/>
                  </a:ext>
                </a:extLst>
              </a:tr>
              <a:tr h="242316">
                <a:tc>
                  <a:txBody>
                    <a:bodyPr/>
                    <a:lstStyle/>
                    <a:p>
                      <a:pPr algn="l"/>
                      <a:r>
                        <a:rPr sz="950" b="0" i="0">
                          <a:solidFill>
                            <a:srgbClr val="1E1E1E"/>
                          </a:solidFill>
                          <a:latin typeface="Gill Sans MT"/>
                        </a:rPr>
                        <a:t>Resttilsagn</a:t>
                      </a:r>
                    </a:p>
                  </a:txBody>
                  <a:tcPr marL="45720" marR="45720" marT="9144" marB="9144" anchor="ctr">
                    <a:noFill/>
                  </a:tcPr>
                </a:tc>
                <a:tc>
                  <a:txBody>
                    <a:bodyPr/>
                    <a:lstStyle/>
                    <a:p>
                      <a:pPr algn="r"/>
                      <a:r>
                        <a:rPr sz="950" b="0" i="0">
                          <a:solidFill>
                            <a:srgbClr val="1E1E1E"/>
                          </a:solidFill>
                          <a:latin typeface="Gill Sans MT"/>
                        </a:rPr>
                        <a:t>3.470</a:t>
                      </a:r>
                    </a:p>
                  </a:txBody>
                  <a:tcPr marL="45720" marR="45720" marT="9144" marB="9144" anchor="ctr">
                    <a:noFill/>
                  </a:tcPr>
                </a:tc>
                <a:extLst>
                  <a:ext uri="{0D108BD9-81ED-4DB2-BD59-A6C34878D82A}">
                    <a16:rowId xmlns:a16="http://schemas.microsoft.com/office/drawing/2014/main" val="10004"/>
                  </a:ext>
                </a:extLst>
              </a:tr>
            </a:tbl>
          </a:graphicData>
        </a:graphic>
      </p:graphicFrame>
      <p:sp>
        <p:nvSpPr>
          <p:cNvPr id="17" name="TextBox 16"/>
          <p:cNvSpPr txBox="1"/>
          <p:nvPr/>
        </p:nvSpPr>
        <p:spPr>
          <a:xfrm>
            <a:off x="8449056" y="1115568"/>
            <a:ext cx="1645919" cy="201168"/>
          </a:xfrm>
          <a:prstGeom prst="rect">
            <a:avLst/>
          </a:prstGeom>
          <a:noFill/>
        </p:spPr>
        <p:txBody>
          <a:bodyPr wrap="square" lIns="0" tIns="0" rIns="0" bIns="0" anchor="t">
            <a:spAutoFit/>
          </a:bodyPr>
          <a:lstStyle/>
          <a:p>
            <a:pPr algn="l"/>
            <a:r>
              <a:rPr sz="1050" b="1" i="0">
                <a:solidFill>
                  <a:srgbClr val="545B4A"/>
                </a:solidFill>
                <a:latin typeface="Gill Sans MT"/>
              </a:rPr>
              <a:t>Nøgletal</a:t>
            </a:r>
          </a:p>
        </p:txBody>
      </p:sp>
      <p:cxnSp>
        <p:nvCxnSpPr>
          <p:cNvPr id="18" name="Connector 17"/>
          <p:cNvCxnSpPr/>
          <p:nvPr/>
        </p:nvCxnSpPr>
        <p:spPr>
          <a:xfrm>
            <a:off x="8449056" y="1344168"/>
            <a:ext cx="164592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graphicFrame>
        <p:nvGraphicFramePr>
          <p:cNvPr id="19" name="Table 18"/>
          <p:cNvGraphicFramePr>
            <a:graphicFrameLocks noGrp="1"/>
          </p:cNvGraphicFramePr>
          <p:nvPr/>
        </p:nvGraphicFramePr>
        <p:xfrm>
          <a:off x="8403336" y="1399032"/>
          <a:ext cx="1737359" cy="1211580"/>
        </p:xfrm>
        <a:graphic>
          <a:graphicData uri="http://schemas.openxmlformats.org/drawingml/2006/table">
            <a:tbl>
              <a:tblPr>
                <a:tableStyleId>{2D5ABB26-0587-4C30-8999-92F81FD0307C}</a:tableStyleId>
              </a:tblPr>
              <a:tblGrid>
                <a:gridCol w="929285">
                  <a:extLst>
                    <a:ext uri="{9D8B030D-6E8A-4147-A177-3AD203B41FA5}">
                      <a16:colId xmlns:a16="http://schemas.microsoft.com/office/drawing/2014/main" val="20000"/>
                    </a:ext>
                  </a:extLst>
                </a:gridCol>
                <a:gridCol w="808074">
                  <a:extLst>
                    <a:ext uri="{9D8B030D-6E8A-4147-A177-3AD203B41FA5}">
                      <a16:colId xmlns:a16="http://schemas.microsoft.com/office/drawing/2014/main" val="20001"/>
                    </a:ext>
                  </a:extLst>
                </a:gridCol>
              </a:tblGrid>
              <a:tr h="242316">
                <a:tc>
                  <a:txBody>
                    <a:bodyPr/>
                    <a:lstStyle/>
                    <a:p>
                      <a:pPr algn="l"/>
                      <a:r>
                        <a:rPr sz="950" b="0" i="0">
                          <a:solidFill>
                            <a:srgbClr val="1E1E1E"/>
                          </a:solidFill>
                          <a:latin typeface="Gill Sans MT"/>
                        </a:rPr>
                        <a:t>Udlodninger</a:t>
                      </a:r>
                    </a:p>
                  </a:txBody>
                  <a:tcPr marL="45720" marR="45720" marT="9144" marB="9144" anchor="ctr">
                    <a:noFill/>
                  </a:tcPr>
                </a:tc>
                <a:tc>
                  <a:txBody>
                    <a:bodyPr/>
                    <a:lstStyle/>
                    <a:p>
                      <a:pPr algn="r"/>
                      <a:r>
                        <a:rPr sz="950" b="0" i="0">
                          <a:solidFill>
                            <a:srgbClr val="1E1E1E"/>
                          </a:solidFill>
                          <a:latin typeface="Gill Sans MT"/>
                        </a:rPr>
                        <a:t>6.371</a:t>
                      </a:r>
                    </a:p>
                  </a:txBody>
                  <a:tcPr marL="45720" marR="45720" marT="9144" marB="9144" anchor="ctr">
                    <a:noFill/>
                  </a:tcPr>
                </a:tc>
                <a:extLst>
                  <a:ext uri="{0D108BD9-81ED-4DB2-BD59-A6C34878D82A}">
                    <a16:rowId xmlns:a16="http://schemas.microsoft.com/office/drawing/2014/main" val="10000"/>
                  </a:ext>
                </a:extLst>
              </a:tr>
              <a:tr h="242316">
                <a:tc>
                  <a:txBody>
                    <a:bodyPr/>
                    <a:lstStyle/>
                    <a:p>
                      <a:pPr algn="l"/>
                      <a:r>
                        <a:rPr sz="950" b="0" i="0">
                          <a:solidFill>
                            <a:srgbClr val="1E1E1E"/>
                          </a:solidFill>
                          <a:latin typeface="Gill Sans MT"/>
                        </a:rPr>
                        <a:t>NAV</a:t>
                      </a:r>
                    </a:p>
                  </a:txBody>
                  <a:tcPr marL="45720" marR="45720" marT="9144" marB="9144" anchor="ctr">
                    <a:noFill/>
                  </a:tcPr>
                </a:tc>
                <a:tc>
                  <a:txBody>
                    <a:bodyPr/>
                    <a:lstStyle/>
                    <a:p>
                      <a:pPr algn="r"/>
                      <a:r>
                        <a:rPr sz="950" b="0" i="0">
                          <a:solidFill>
                            <a:srgbClr val="1E1E1E"/>
                          </a:solidFill>
                          <a:latin typeface="Gill Sans MT"/>
                        </a:rPr>
                        <a:t>23.210</a:t>
                      </a:r>
                    </a:p>
                  </a:txBody>
                  <a:tcPr marL="45720" marR="45720" marT="9144" marB="9144" anchor="ctr">
                    <a:noFill/>
                  </a:tcPr>
                </a:tc>
                <a:extLst>
                  <a:ext uri="{0D108BD9-81ED-4DB2-BD59-A6C34878D82A}">
                    <a16:rowId xmlns:a16="http://schemas.microsoft.com/office/drawing/2014/main" val="10001"/>
                  </a:ext>
                </a:extLst>
              </a:tr>
              <a:tr h="242316">
                <a:tc>
                  <a:txBody>
                    <a:bodyPr/>
                    <a:lstStyle/>
                    <a:p>
                      <a:pPr algn="l"/>
                      <a:r>
                        <a:rPr sz="950" b="0" i="0">
                          <a:solidFill>
                            <a:srgbClr val="1E1E1E"/>
                          </a:solidFill>
                          <a:latin typeface="Gill Sans MT"/>
                        </a:rPr>
                        <a:t>DPI</a:t>
                      </a:r>
                    </a:p>
                  </a:txBody>
                  <a:tcPr marL="45720" marR="45720" marT="9144" marB="9144" anchor="ctr">
                    <a:noFill/>
                  </a:tcPr>
                </a:tc>
                <a:tc>
                  <a:txBody>
                    <a:bodyPr/>
                    <a:lstStyle/>
                    <a:p>
                      <a:pPr algn="r"/>
                      <a:r>
                        <a:rPr sz="950" b="0" i="0">
                          <a:solidFill>
                            <a:srgbClr val="1E1E1E"/>
                          </a:solidFill>
                          <a:latin typeface="Gill Sans MT"/>
                        </a:rPr>
                        <a:t>0,30x</a:t>
                      </a:r>
                    </a:p>
                  </a:txBody>
                  <a:tcPr marL="45720" marR="45720" marT="9144" marB="9144" anchor="ctr">
                    <a:noFill/>
                  </a:tcPr>
                </a:tc>
                <a:extLst>
                  <a:ext uri="{0D108BD9-81ED-4DB2-BD59-A6C34878D82A}">
                    <a16:rowId xmlns:a16="http://schemas.microsoft.com/office/drawing/2014/main" val="10002"/>
                  </a:ext>
                </a:extLst>
              </a:tr>
              <a:tr h="242316">
                <a:tc>
                  <a:txBody>
                    <a:bodyPr/>
                    <a:lstStyle/>
                    <a:p>
                      <a:pPr algn="l"/>
                      <a:r>
                        <a:rPr sz="950" b="0" i="0">
                          <a:solidFill>
                            <a:srgbClr val="1E1E1E"/>
                          </a:solidFill>
                          <a:latin typeface="Gill Sans MT"/>
                        </a:rPr>
                        <a:t>TVPI</a:t>
                      </a:r>
                    </a:p>
                  </a:txBody>
                  <a:tcPr marL="45720" marR="45720" marT="9144" marB="9144" anchor="ctr">
                    <a:noFill/>
                  </a:tcPr>
                </a:tc>
                <a:tc>
                  <a:txBody>
                    <a:bodyPr/>
                    <a:lstStyle/>
                    <a:p>
                      <a:pPr algn="r"/>
                      <a:r>
                        <a:rPr sz="950" b="0" i="0">
                          <a:solidFill>
                            <a:srgbClr val="1E1E1E"/>
                          </a:solidFill>
                          <a:latin typeface="Gill Sans MT"/>
                        </a:rPr>
                        <a:t>1,37x</a:t>
                      </a:r>
                    </a:p>
                  </a:txBody>
                  <a:tcPr marL="45720" marR="45720" marT="9144" marB="9144" anchor="ctr">
                    <a:noFill/>
                  </a:tcPr>
                </a:tc>
                <a:extLst>
                  <a:ext uri="{0D108BD9-81ED-4DB2-BD59-A6C34878D82A}">
                    <a16:rowId xmlns:a16="http://schemas.microsoft.com/office/drawing/2014/main" val="10003"/>
                  </a:ext>
                </a:extLst>
              </a:tr>
              <a:tr h="242316">
                <a:tc>
                  <a:txBody>
                    <a:bodyPr/>
                    <a:lstStyle/>
                    <a:p>
                      <a:pPr algn="l"/>
                      <a:r>
                        <a:rPr sz="950" b="0" i="0">
                          <a:solidFill>
                            <a:srgbClr val="1E1E1E"/>
                          </a:solidFill>
                          <a:latin typeface="Gill Sans MT"/>
                        </a:rPr>
                        <a:t>IRR</a:t>
                      </a:r>
                    </a:p>
                  </a:txBody>
                  <a:tcPr marL="45720" marR="45720" marT="9144" marB="9144" anchor="ctr">
                    <a:noFill/>
                  </a:tcPr>
                </a:tc>
                <a:tc>
                  <a:txBody>
                    <a:bodyPr/>
                    <a:lstStyle/>
                    <a:p>
                      <a:pPr algn="r"/>
                      <a:r>
                        <a:rPr sz="950" b="0" i="0">
                          <a:solidFill>
                            <a:srgbClr val="1E1E1E"/>
                          </a:solidFill>
                          <a:latin typeface="Gill Sans MT"/>
                        </a:rPr>
                        <a:t>11,6 %</a:t>
                      </a:r>
                    </a:p>
                  </a:txBody>
                  <a:tcPr marL="45720" marR="45720" marT="9144" marB="9144" anchor="ctr">
                    <a:noFill/>
                  </a:tcPr>
                </a:tc>
                <a:extLst>
                  <a:ext uri="{0D108BD9-81ED-4DB2-BD59-A6C34878D82A}">
                    <a16:rowId xmlns:a16="http://schemas.microsoft.com/office/drawing/2014/main" val="10004"/>
                  </a:ext>
                </a:extLst>
              </a:tr>
            </a:tbl>
          </a:graphicData>
        </a:graphic>
      </p:graphicFrame>
      <p:sp>
        <p:nvSpPr>
          <p:cNvPr id="20" name="TextBox 19"/>
          <p:cNvSpPr txBox="1"/>
          <p:nvPr/>
        </p:nvSpPr>
        <p:spPr>
          <a:xfrm>
            <a:off x="603504" y="2743200"/>
            <a:ext cx="9491472" cy="201168"/>
          </a:xfrm>
          <a:prstGeom prst="rect">
            <a:avLst/>
          </a:prstGeom>
          <a:noFill/>
        </p:spPr>
        <p:txBody>
          <a:bodyPr wrap="square" lIns="0" tIns="0" rIns="0" bIns="0" anchor="t">
            <a:spAutoFit/>
          </a:bodyPr>
          <a:lstStyle/>
          <a:p>
            <a:pPr algn="l"/>
            <a:r>
              <a:rPr sz="1050" b="1" i="0">
                <a:solidFill>
                  <a:srgbClr val="545B4A"/>
                </a:solidFill>
                <a:latin typeface="Gill Sans MT"/>
              </a:rPr>
              <a:t>Underliggende fonde – A/S Motortramps andel (tDKK)</a:t>
            </a:r>
          </a:p>
        </p:txBody>
      </p:sp>
      <p:graphicFrame>
        <p:nvGraphicFramePr>
          <p:cNvPr id="21" name="Table 20"/>
          <p:cNvGraphicFramePr>
            <a:graphicFrameLocks noGrp="1"/>
          </p:cNvGraphicFramePr>
          <p:nvPr/>
        </p:nvGraphicFramePr>
        <p:xfrm>
          <a:off x="603504" y="2999232"/>
          <a:ext cx="9491471" cy="1522476"/>
        </p:xfrm>
        <a:graphic>
          <a:graphicData uri="http://schemas.openxmlformats.org/drawingml/2006/table">
            <a:tbl>
              <a:tblPr>
                <a:tableStyleId>{2D5ABB26-0587-4C30-8999-92F81FD0307C}</a:tableStyleId>
              </a:tblPr>
              <a:tblGrid>
                <a:gridCol w="2838571">
                  <a:extLst>
                    <a:ext uri="{9D8B030D-6E8A-4147-A177-3AD203B41FA5}">
                      <a16:colId xmlns:a16="http://schemas.microsoft.com/office/drawing/2014/main" val="20000"/>
                    </a:ext>
                  </a:extLst>
                </a:gridCol>
                <a:gridCol w="798348">
                  <a:extLst>
                    <a:ext uri="{9D8B030D-6E8A-4147-A177-3AD203B41FA5}">
                      <a16:colId xmlns:a16="http://schemas.microsoft.com/office/drawing/2014/main" val="20001"/>
                    </a:ext>
                  </a:extLst>
                </a:gridCol>
                <a:gridCol w="1064464">
                  <a:extLst>
                    <a:ext uri="{9D8B030D-6E8A-4147-A177-3AD203B41FA5}">
                      <a16:colId xmlns:a16="http://schemas.microsoft.com/office/drawing/2014/main" val="20002"/>
                    </a:ext>
                  </a:extLst>
                </a:gridCol>
                <a:gridCol w="1064464">
                  <a:extLst>
                    <a:ext uri="{9D8B030D-6E8A-4147-A177-3AD203B41FA5}">
                      <a16:colId xmlns:a16="http://schemas.microsoft.com/office/drawing/2014/main" val="20003"/>
                    </a:ext>
                  </a:extLst>
                </a:gridCol>
                <a:gridCol w="1064464">
                  <a:extLst>
                    <a:ext uri="{9D8B030D-6E8A-4147-A177-3AD203B41FA5}">
                      <a16:colId xmlns:a16="http://schemas.microsoft.com/office/drawing/2014/main" val="20004"/>
                    </a:ext>
                  </a:extLst>
                </a:gridCol>
                <a:gridCol w="1064464">
                  <a:extLst>
                    <a:ext uri="{9D8B030D-6E8A-4147-A177-3AD203B41FA5}">
                      <a16:colId xmlns:a16="http://schemas.microsoft.com/office/drawing/2014/main" val="20005"/>
                    </a:ext>
                  </a:extLst>
                </a:gridCol>
                <a:gridCol w="798348">
                  <a:extLst>
                    <a:ext uri="{9D8B030D-6E8A-4147-A177-3AD203B41FA5}">
                      <a16:colId xmlns:a16="http://schemas.microsoft.com/office/drawing/2014/main" val="20006"/>
                    </a:ext>
                  </a:extLst>
                </a:gridCol>
                <a:gridCol w="798348">
                  <a:extLst>
                    <a:ext uri="{9D8B030D-6E8A-4147-A177-3AD203B41FA5}">
                      <a16:colId xmlns:a16="http://schemas.microsoft.com/office/drawing/2014/main" val="20007"/>
                    </a:ext>
                  </a:extLst>
                </a:gridCol>
              </a:tblGrid>
              <a:tr h="169164">
                <a:tc>
                  <a:txBody>
                    <a:bodyPr/>
                    <a:lstStyle/>
                    <a:p>
                      <a:pPr algn="l"/>
                      <a:r>
                        <a:rPr sz="800" b="1" i="0">
                          <a:solidFill>
                            <a:srgbClr val="FFFFFF"/>
                          </a:solidFill>
                          <a:latin typeface="Gill Sans MT"/>
                        </a:rPr>
                        <a:t>Fond</a:t>
                      </a:r>
                    </a:p>
                  </a:txBody>
                  <a:tcPr marL="45720" marR="45720" marT="9144" marB="9144" anchor="ctr">
                    <a:solidFill>
                      <a:srgbClr val="545B4A"/>
                    </a:solidFill>
                  </a:tcPr>
                </a:tc>
                <a:tc>
                  <a:txBody>
                    <a:bodyPr/>
                    <a:lstStyle/>
                    <a:p>
                      <a:pPr algn="ctr"/>
                      <a:r>
                        <a:rPr sz="800" b="1" i="0">
                          <a:solidFill>
                            <a:srgbClr val="FFFFFF"/>
                          </a:solidFill>
                          <a:latin typeface="Gill Sans MT"/>
                        </a:rPr>
                        <a:t>Vintage</a:t>
                      </a:r>
                    </a:p>
                  </a:txBody>
                  <a:tcPr marL="45720" marR="45720" marT="9144" marB="9144" anchor="ctr">
                    <a:solidFill>
                      <a:srgbClr val="545B4A"/>
                    </a:solidFill>
                  </a:tcPr>
                </a:tc>
                <a:tc>
                  <a:txBody>
                    <a:bodyPr/>
                    <a:lstStyle/>
                    <a:p>
                      <a:pPr algn="r"/>
                      <a:r>
                        <a:rPr sz="800" b="1" i="0">
                          <a:solidFill>
                            <a:srgbClr val="FFFFFF"/>
                          </a:solidFill>
                          <a:latin typeface="Gill Sans MT"/>
                        </a:rPr>
                        <a:t>Kostpris</a:t>
                      </a:r>
                    </a:p>
                  </a:txBody>
                  <a:tcPr marL="45720" marR="45720" marT="9144" marB="9144" anchor="ctr">
                    <a:solidFill>
                      <a:srgbClr val="545B4A"/>
                    </a:solidFill>
                  </a:tcPr>
                </a:tc>
                <a:tc>
                  <a:txBody>
                    <a:bodyPr/>
                    <a:lstStyle/>
                    <a:p>
                      <a:pPr algn="r"/>
                      <a:r>
                        <a:rPr sz="800" b="1" i="0">
                          <a:solidFill>
                            <a:srgbClr val="FFFFFF"/>
                          </a:solidFill>
                          <a:latin typeface="Gill Sans MT"/>
                        </a:rPr>
                        <a:t>Dagsværdi</a:t>
                      </a:r>
                    </a:p>
                  </a:txBody>
                  <a:tcPr marL="45720" marR="45720" marT="9144" marB="9144" anchor="ctr">
                    <a:solidFill>
                      <a:srgbClr val="545B4A"/>
                    </a:solidFill>
                  </a:tcPr>
                </a:tc>
                <a:tc>
                  <a:txBody>
                    <a:bodyPr/>
                    <a:lstStyle/>
                    <a:p>
                      <a:pPr algn="r"/>
                      <a:r>
                        <a:rPr sz="800" b="1" i="0">
                          <a:solidFill>
                            <a:srgbClr val="FFFFFF"/>
                          </a:solidFill>
                          <a:latin typeface="Gill Sans MT"/>
                        </a:rPr>
                        <a:t>Udloddet</a:t>
                      </a:r>
                    </a:p>
                  </a:txBody>
                  <a:tcPr marL="45720" marR="45720" marT="9144" marB="9144" anchor="ctr">
                    <a:solidFill>
                      <a:srgbClr val="545B4A"/>
                    </a:solidFill>
                  </a:tcPr>
                </a:tc>
                <a:tc>
                  <a:txBody>
                    <a:bodyPr/>
                    <a:lstStyle/>
                    <a:p>
                      <a:pPr algn="r"/>
                      <a:r>
                        <a:rPr sz="800" b="1" i="0">
                          <a:solidFill>
                            <a:srgbClr val="FFFFFF"/>
                          </a:solidFill>
                          <a:latin typeface="Gill Sans MT"/>
                        </a:rPr>
                        <a:t>Total værdi</a:t>
                      </a:r>
                    </a:p>
                  </a:txBody>
                  <a:tcPr marL="45720" marR="45720" marT="9144" marB="9144" anchor="ctr">
                    <a:solidFill>
                      <a:srgbClr val="545B4A"/>
                    </a:solidFill>
                  </a:tcPr>
                </a:tc>
                <a:tc>
                  <a:txBody>
                    <a:bodyPr/>
                    <a:lstStyle/>
                    <a:p>
                      <a:pPr algn="r"/>
                      <a:r>
                        <a:rPr sz="800" b="1" i="0">
                          <a:solidFill>
                            <a:srgbClr val="FFFFFF"/>
                          </a:solidFill>
                          <a:latin typeface="Gill Sans MT"/>
                        </a:rPr>
                        <a:t>TVPI</a:t>
                      </a:r>
                    </a:p>
                  </a:txBody>
                  <a:tcPr marL="45720" marR="45720" marT="9144" marB="9144" anchor="ctr">
                    <a:solidFill>
                      <a:srgbClr val="545B4A"/>
                    </a:solidFill>
                  </a:tcPr>
                </a:tc>
                <a:tc>
                  <a:txBody>
                    <a:bodyPr/>
                    <a:lstStyle/>
                    <a:p>
                      <a:pPr algn="r"/>
                      <a:r>
                        <a:rPr sz="800" b="1" i="0">
                          <a:solidFill>
                            <a:srgbClr val="FFFFFF"/>
                          </a:solidFill>
                          <a:latin typeface="Gill Sans MT"/>
                        </a:rPr>
                        <a:t>IRR</a:t>
                      </a:r>
                    </a:p>
                  </a:txBody>
                  <a:tcPr marL="45720" marR="45720" marT="9144" marB="9144" anchor="ctr">
                    <a:solidFill>
                      <a:srgbClr val="545B4A"/>
                    </a:solidFill>
                  </a:tcPr>
                </a:tc>
                <a:extLst>
                  <a:ext uri="{0D108BD9-81ED-4DB2-BD59-A6C34878D82A}">
                    <a16:rowId xmlns:a16="http://schemas.microsoft.com/office/drawing/2014/main" val="10000"/>
                  </a:ext>
                </a:extLst>
              </a:tr>
              <a:tr h="169164">
                <a:tc>
                  <a:txBody>
                    <a:bodyPr/>
                    <a:lstStyle/>
                    <a:p>
                      <a:pPr algn="l"/>
                      <a:r>
                        <a:rPr sz="800" b="0" i="0">
                          <a:solidFill>
                            <a:srgbClr val="1E1E1E"/>
                          </a:solidFill>
                          <a:latin typeface="Gill Sans MT"/>
                        </a:rPr>
                        <a:t>ASF VII</a:t>
                      </a:r>
                    </a:p>
                  </a:txBody>
                  <a:tcPr marL="45720" marR="45720" marT="9144" marB="9144" anchor="ctr">
                    <a:noFill/>
                  </a:tcPr>
                </a:tc>
                <a:tc>
                  <a:txBody>
                    <a:bodyPr/>
                    <a:lstStyle/>
                    <a:p>
                      <a:pPr algn="ctr"/>
                      <a:r>
                        <a:rPr sz="800" b="0" i="0">
                          <a:solidFill>
                            <a:srgbClr val="1E1E1E"/>
                          </a:solidFill>
                          <a:latin typeface="Gill Sans MT"/>
                        </a:rPr>
                        <a:t>2020</a:t>
                      </a:r>
                    </a:p>
                  </a:txBody>
                  <a:tcPr marL="45720" marR="45720" marT="9144" marB="9144" anchor="ctr">
                    <a:noFill/>
                  </a:tcPr>
                </a:tc>
                <a:tc>
                  <a:txBody>
                    <a:bodyPr/>
                    <a:lstStyle/>
                    <a:p>
                      <a:pPr algn="r"/>
                      <a:r>
                        <a:rPr sz="800" b="0" i="0">
                          <a:solidFill>
                            <a:srgbClr val="1E1E1E"/>
                          </a:solidFill>
                          <a:latin typeface="Gill Sans MT"/>
                        </a:rPr>
                        <a:t>10.251</a:t>
                      </a:r>
                    </a:p>
                  </a:txBody>
                  <a:tcPr marL="45720" marR="45720" marT="9144" marB="9144" anchor="ctr">
                    <a:noFill/>
                  </a:tcPr>
                </a:tc>
                <a:tc>
                  <a:txBody>
                    <a:bodyPr/>
                    <a:lstStyle/>
                    <a:p>
                      <a:pPr algn="r"/>
                      <a:r>
                        <a:rPr sz="800" b="0" i="0">
                          <a:solidFill>
                            <a:srgbClr val="1E1E1E"/>
                          </a:solidFill>
                          <a:latin typeface="Gill Sans MT"/>
                        </a:rPr>
                        <a:t>9.263</a:t>
                      </a:r>
                    </a:p>
                  </a:txBody>
                  <a:tcPr marL="45720" marR="45720" marT="9144" marB="9144" anchor="ctr">
                    <a:noFill/>
                  </a:tcPr>
                </a:tc>
                <a:tc>
                  <a:txBody>
                    <a:bodyPr/>
                    <a:lstStyle/>
                    <a:p>
                      <a:pPr algn="r"/>
                      <a:r>
                        <a:rPr sz="800" b="0" i="0">
                          <a:solidFill>
                            <a:srgbClr val="1E1E1E"/>
                          </a:solidFill>
                          <a:latin typeface="Gill Sans MT"/>
                        </a:rPr>
                        <a:t>4.885</a:t>
                      </a:r>
                    </a:p>
                  </a:txBody>
                  <a:tcPr marL="45720" marR="45720" marT="9144" marB="9144" anchor="ctr">
                    <a:noFill/>
                  </a:tcPr>
                </a:tc>
                <a:tc>
                  <a:txBody>
                    <a:bodyPr/>
                    <a:lstStyle/>
                    <a:p>
                      <a:pPr algn="r"/>
                      <a:r>
                        <a:rPr sz="800" b="0" i="0">
                          <a:solidFill>
                            <a:srgbClr val="1E1E1E"/>
                          </a:solidFill>
                          <a:latin typeface="Gill Sans MT"/>
                        </a:rPr>
                        <a:t>14.148</a:t>
                      </a:r>
                    </a:p>
                  </a:txBody>
                  <a:tcPr marL="45720" marR="45720" marT="9144" marB="9144" anchor="ctr">
                    <a:noFill/>
                  </a:tcPr>
                </a:tc>
                <a:tc>
                  <a:txBody>
                    <a:bodyPr/>
                    <a:lstStyle/>
                    <a:p>
                      <a:pPr algn="r"/>
                      <a:r>
                        <a:rPr sz="800" b="0" i="0">
                          <a:solidFill>
                            <a:srgbClr val="1E1E1E"/>
                          </a:solidFill>
                          <a:latin typeface="Gill Sans MT"/>
                        </a:rPr>
                        <a:t>1,39x</a:t>
                      </a:r>
                    </a:p>
                  </a:txBody>
                  <a:tcPr marL="45720" marR="45720" marT="9144" marB="9144" anchor="ctr">
                    <a:noFill/>
                  </a:tcPr>
                </a:tc>
                <a:tc>
                  <a:txBody>
                    <a:bodyPr/>
                    <a:lstStyle/>
                    <a:p>
                      <a:pPr algn="r"/>
                      <a:r>
                        <a:rPr sz="800" b="0" i="0">
                          <a:solidFill>
                            <a:srgbClr val="1E1E1E"/>
                          </a:solidFill>
                          <a:latin typeface="Gill Sans MT"/>
                        </a:rPr>
                        <a:t>13,4 %</a:t>
                      </a:r>
                    </a:p>
                  </a:txBody>
                  <a:tcPr marL="45720" marR="45720" marT="9144" marB="9144" anchor="ctr">
                    <a:noFill/>
                  </a:tcPr>
                </a:tc>
                <a:extLst>
                  <a:ext uri="{0D108BD9-81ED-4DB2-BD59-A6C34878D82A}">
                    <a16:rowId xmlns:a16="http://schemas.microsoft.com/office/drawing/2014/main" val="10001"/>
                  </a:ext>
                </a:extLst>
              </a:tr>
              <a:tr h="169164">
                <a:tc>
                  <a:txBody>
                    <a:bodyPr/>
                    <a:lstStyle/>
                    <a:p>
                      <a:pPr algn="l"/>
                      <a:r>
                        <a:rPr sz="800" b="0" i="0">
                          <a:solidFill>
                            <a:srgbClr val="1E1E1E"/>
                          </a:solidFill>
                          <a:latin typeface="Gill Sans MT"/>
                        </a:rPr>
                        <a:t>Charlesbank X</a:t>
                      </a:r>
                    </a:p>
                  </a:txBody>
                  <a:tcPr marL="45720" marR="45720" marT="9144" marB="9144" anchor="ctr">
                    <a:solidFill>
                      <a:srgbClr val="F4F2EB"/>
                    </a:solidFill>
                  </a:tcPr>
                </a:tc>
                <a:tc>
                  <a:txBody>
                    <a:bodyPr/>
                    <a:lstStyle/>
                    <a:p>
                      <a:pPr algn="ctr"/>
                      <a:r>
                        <a:rPr sz="800" b="0" i="0">
                          <a:solidFill>
                            <a:srgbClr val="1E1E1E"/>
                          </a:solidFill>
                          <a:latin typeface="Gill Sans MT"/>
                        </a:rPr>
                        <a:t>2020</a:t>
                      </a:r>
                    </a:p>
                  </a:txBody>
                  <a:tcPr marL="45720" marR="45720" marT="9144" marB="9144" anchor="ctr">
                    <a:solidFill>
                      <a:srgbClr val="F4F2EB"/>
                    </a:solidFill>
                  </a:tcPr>
                </a:tc>
                <a:tc>
                  <a:txBody>
                    <a:bodyPr/>
                    <a:lstStyle/>
                    <a:p>
                      <a:pPr algn="r"/>
                      <a:r>
                        <a:rPr sz="800" b="0" i="0">
                          <a:solidFill>
                            <a:srgbClr val="1E1E1E"/>
                          </a:solidFill>
                          <a:latin typeface="Gill Sans MT"/>
                        </a:rPr>
                        <a:t>3.688</a:t>
                      </a:r>
                    </a:p>
                  </a:txBody>
                  <a:tcPr marL="45720" marR="45720" marT="9144" marB="9144" anchor="ctr">
                    <a:solidFill>
                      <a:srgbClr val="F4F2EB"/>
                    </a:solidFill>
                  </a:tcPr>
                </a:tc>
                <a:tc>
                  <a:txBody>
                    <a:bodyPr/>
                    <a:lstStyle/>
                    <a:p>
                      <a:pPr algn="r"/>
                      <a:r>
                        <a:rPr sz="800" b="0" i="0">
                          <a:solidFill>
                            <a:srgbClr val="1E1E1E"/>
                          </a:solidFill>
                          <a:latin typeface="Gill Sans MT"/>
                        </a:rPr>
                        <a:t>4.225</a:t>
                      </a:r>
                    </a:p>
                  </a:txBody>
                  <a:tcPr marL="45720" marR="45720" marT="9144" marB="9144" anchor="ctr">
                    <a:solidFill>
                      <a:srgbClr val="F4F2EB"/>
                    </a:solidFill>
                  </a:tcPr>
                </a:tc>
                <a:tc>
                  <a:txBody>
                    <a:bodyPr/>
                    <a:lstStyle/>
                    <a:p>
                      <a:pPr algn="r"/>
                      <a:r>
                        <a:rPr sz="800" b="0" i="0">
                          <a:solidFill>
                            <a:srgbClr val="1E1E1E"/>
                          </a:solidFill>
                          <a:latin typeface="Gill Sans MT"/>
                        </a:rPr>
                        <a:t>1.382</a:t>
                      </a:r>
                    </a:p>
                  </a:txBody>
                  <a:tcPr marL="45720" marR="45720" marT="9144" marB="9144" anchor="ctr">
                    <a:solidFill>
                      <a:srgbClr val="F4F2EB"/>
                    </a:solidFill>
                  </a:tcPr>
                </a:tc>
                <a:tc>
                  <a:txBody>
                    <a:bodyPr/>
                    <a:lstStyle/>
                    <a:p>
                      <a:pPr algn="r"/>
                      <a:r>
                        <a:rPr sz="800" b="0" i="0">
                          <a:solidFill>
                            <a:srgbClr val="1E1E1E"/>
                          </a:solidFill>
                          <a:latin typeface="Gill Sans MT"/>
                        </a:rPr>
                        <a:t>5.607</a:t>
                      </a:r>
                    </a:p>
                  </a:txBody>
                  <a:tcPr marL="45720" marR="45720" marT="9144" marB="9144" anchor="ctr">
                    <a:solidFill>
                      <a:srgbClr val="F4F2EB"/>
                    </a:solidFill>
                  </a:tcPr>
                </a:tc>
                <a:tc>
                  <a:txBody>
                    <a:bodyPr/>
                    <a:lstStyle/>
                    <a:p>
                      <a:pPr algn="r"/>
                      <a:r>
                        <a:rPr sz="800" b="0" i="0">
                          <a:solidFill>
                            <a:srgbClr val="1E1E1E"/>
                          </a:solidFill>
                          <a:latin typeface="Gill Sans MT"/>
                        </a:rPr>
                        <a:t>1,52x</a:t>
                      </a:r>
                    </a:p>
                  </a:txBody>
                  <a:tcPr marL="45720" marR="45720" marT="9144" marB="9144" anchor="ctr">
                    <a:solidFill>
                      <a:srgbClr val="F4F2EB"/>
                    </a:solidFill>
                  </a:tcPr>
                </a:tc>
                <a:tc>
                  <a:txBody>
                    <a:bodyPr/>
                    <a:lstStyle/>
                    <a:p>
                      <a:pPr algn="r"/>
                      <a:r>
                        <a:rPr sz="800" b="0" i="0">
                          <a:solidFill>
                            <a:srgbClr val="1E1E1E"/>
                          </a:solidFill>
                          <a:latin typeface="Gill Sans MT"/>
                        </a:rPr>
                        <a:t>18,0 %</a:t>
                      </a:r>
                    </a:p>
                  </a:txBody>
                  <a:tcPr marL="45720" marR="45720" marT="9144" marB="9144" anchor="ctr">
                    <a:solidFill>
                      <a:srgbClr val="F4F2EB"/>
                    </a:solidFill>
                  </a:tcPr>
                </a:tc>
                <a:extLst>
                  <a:ext uri="{0D108BD9-81ED-4DB2-BD59-A6C34878D82A}">
                    <a16:rowId xmlns:a16="http://schemas.microsoft.com/office/drawing/2014/main" val="10002"/>
                  </a:ext>
                </a:extLst>
              </a:tr>
              <a:tr h="169164">
                <a:tc>
                  <a:txBody>
                    <a:bodyPr/>
                    <a:lstStyle/>
                    <a:p>
                      <a:pPr algn="l"/>
                      <a:r>
                        <a:rPr sz="800" b="0" i="0">
                          <a:solidFill>
                            <a:srgbClr val="1E1E1E"/>
                          </a:solidFill>
                          <a:latin typeface="Gill Sans MT"/>
                        </a:rPr>
                        <a:t>GTCR XIII</a:t>
                      </a:r>
                    </a:p>
                  </a:txBody>
                  <a:tcPr marL="45720" marR="45720" marT="9144" marB="9144" anchor="ctr">
                    <a:noFill/>
                  </a:tcPr>
                </a:tc>
                <a:tc>
                  <a:txBody>
                    <a:bodyPr/>
                    <a:lstStyle/>
                    <a:p>
                      <a:pPr algn="ctr"/>
                      <a:r>
                        <a:rPr sz="800" b="0" i="0">
                          <a:solidFill>
                            <a:srgbClr val="1E1E1E"/>
                          </a:solidFill>
                          <a:latin typeface="Gill Sans MT"/>
                        </a:rPr>
                        <a:t>2021</a:t>
                      </a:r>
                    </a:p>
                  </a:txBody>
                  <a:tcPr marL="45720" marR="45720" marT="9144" marB="9144" anchor="ctr">
                    <a:noFill/>
                  </a:tcPr>
                </a:tc>
                <a:tc>
                  <a:txBody>
                    <a:bodyPr/>
                    <a:lstStyle/>
                    <a:p>
                      <a:pPr algn="r"/>
                      <a:r>
                        <a:rPr sz="800" b="0" i="0">
                          <a:solidFill>
                            <a:srgbClr val="1E1E1E"/>
                          </a:solidFill>
                          <a:latin typeface="Gill Sans MT"/>
                        </a:rPr>
                        <a:t>2.169</a:t>
                      </a:r>
                    </a:p>
                  </a:txBody>
                  <a:tcPr marL="45720" marR="45720" marT="9144" marB="9144" anchor="ctr">
                    <a:noFill/>
                  </a:tcPr>
                </a:tc>
                <a:tc>
                  <a:txBody>
                    <a:bodyPr/>
                    <a:lstStyle/>
                    <a:p>
                      <a:pPr algn="r"/>
                      <a:r>
                        <a:rPr sz="800" b="0" i="0">
                          <a:solidFill>
                            <a:srgbClr val="1E1E1E"/>
                          </a:solidFill>
                          <a:latin typeface="Gill Sans MT"/>
                        </a:rPr>
                        <a:t>2.169</a:t>
                      </a:r>
                    </a:p>
                  </a:txBody>
                  <a:tcPr marL="45720" marR="45720" marT="9144" marB="9144" anchor="ctr">
                    <a:noFill/>
                  </a:tcPr>
                </a:tc>
                <a:tc>
                  <a:txBody>
                    <a:bodyPr/>
                    <a:lstStyle/>
                    <a:p>
                      <a:pPr algn="r"/>
                      <a:r>
                        <a:rPr sz="800" b="0" i="0">
                          <a:solidFill>
                            <a:srgbClr val="1E1E1E"/>
                          </a:solidFill>
                          <a:latin typeface="Gill Sans MT"/>
                        </a:rPr>
                        <a:t>1.054</a:t>
                      </a:r>
                    </a:p>
                  </a:txBody>
                  <a:tcPr marL="45720" marR="45720" marT="9144" marB="9144" anchor="ctr">
                    <a:noFill/>
                  </a:tcPr>
                </a:tc>
                <a:tc>
                  <a:txBody>
                    <a:bodyPr/>
                    <a:lstStyle/>
                    <a:p>
                      <a:pPr algn="r"/>
                      <a:r>
                        <a:rPr sz="800" b="0" i="0">
                          <a:solidFill>
                            <a:srgbClr val="1E1E1E"/>
                          </a:solidFill>
                          <a:latin typeface="Gill Sans MT"/>
                        </a:rPr>
                        <a:t>3.223</a:t>
                      </a:r>
                    </a:p>
                  </a:txBody>
                  <a:tcPr marL="45720" marR="45720" marT="9144" marB="9144" anchor="ctr">
                    <a:noFill/>
                  </a:tcPr>
                </a:tc>
                <a:tc>
                  <a:txBody>
                    <a:bodyPr/>
                    <a:lstStyle/>
                    <a:p>
                      <a:pPr algn="r"/>
                      <a:r>
                        <a:rPr sz="800" b="0" i="0">
                          <a:solidFill>
                            <a:srgbClr val="1E1E1E"/>
                          </a:solidFill>
                          <a:latin typeface="Gill Sans MT"/>
                        </a:rPr>
                        <a:t>1,48x</a:t>
                      </a:r>
                    </a:p>
                  </a:txBody>
                  <a:tcPr marL="45720" marR="45720" marT="9144" marB="9144" anchor="ctr">
                    <a:noFill/>
                  </a:tcPr>
                </a:tc>
                <a:tc>
                  <a:txBody>
                    <a:bodyPr/>
                    <a:lstStyle/>
                    <a:p>
                      <a:pPr algn="r"/>
                      <a:r>
                        <a:rPr sz="800" b="0" i="0">
                          <a:solidFill>
                            <a:srgbClr val="1E1E1E"/>
                          </a:solidFill>
                          <a:latin typeface="Gill Sans MT"/>
                        </a:rPr>
                        <a:t>15,0 %</a:t>
                      </a:r>
                    </a:p>
                  </a:txBody>
                  <a:tcPr marL="45720" marR="45720" marT="9144" marB="9144" anchor="ctr">
                    <a:noFill/>
                  </a:tcPr>
                </a:tc>
                <a:extLst>
                  <a:ext uri="{0D108BD9-81ED-4DB2-BD59-A6C34878D82A}">
                    <a16:rowId xmlns:a16="http://schemas.microsoft.com/office/drawing/2014/main" val="10003"/>
                  </a:ext>
                </a:extLst>
              </a:tr>
              <a:tr h="169164">
                <a:tc>
                  <a:txBody>
                    <a:bodyPr/>
                    <a:lstStyle/>
                    <a:p>
                      <a:pPr algn="l"/>
                      <a:r>
                        <a:rPr sz="800" b="0" i="0">
                          <a:solidFill>
                            <a:srgbClr val="1E1E1E"/>
                          </a:solidFill>
                          <a:latin typeface="Gill Sans MT"/>
                        </a:rPr>
                        <a:t>CBPE X</a:t>
                      </a:r>
                    </a:p>
                  </a:txBody>
                  <a:tcPr marL="45720" marR="45720" marT="9144" marB="9144" anchor="ctr">
                    <a:solidFill>
                      <a:srgbClr val="F4F2EB"/>
                    </a:solidFill>
                  </a:tcPr>
                </a:tc>
                <a:tc>
                  <a:txBody>
                    <a:bodyPr/>
                    <a:lstStyle/>
                    <a:p>
                      <a:pPr algn="ctr"/>
                      <a:r>
                        <a:rPr sz="800" b="0" i="0">
                          <a:solidFill>
                            <a:srgbClr val="1E1E1E"/>
                          </a:solidFill>
                          <a:latin typeface="Gill Sans MT"/>
                        </a:rPr>
                        <a:t>2020</a:t>
                      </a:r>
                    </a:p>
                  </a:txBody>
                  <a:tcPr marL="45720" marR="45720" marT="9144" marB="9144" anchor="ctr">
                    <a:solidFill>
                      <a:srgbClr val="F4F2EB"/>
                    </a:solidFill>
                  </a:tcPr>
                </a:tc>
                <a:tc>
                  <a:txBody>
                    <a:bodyPr/>
                    <a:lstStyle/>
                    <a:p>
                      <a:pPr algn="r"/>
                      <a:r>
                        <a:rPr sz="800" b="0" i="0">
                          <a:solidFill>
                            <a:srgbClr val="1E1E1E"/>
                          </a:solidFill>
                          <a:latin typeface="Gill Sans MT"/>
                        </a:rPr>
                        <a:t>2.712</a:t>
                      </a:r>
                    </a:p>
                  </a:txBody>
                  <a:tcPr marL="45720" marR="45720" marT="9144" marB="9144" anchor="ctr">
                    <a:solidFill>
                      <a:srgbClr val="F4F2EB"/>
                    </a:solidFill>
                  </a:tcPr>
                </a:tc>
                <a:tc>
                  <a:txBody>
                    <a:bodyPr/>
                    <a:lstStyle/>
                    <a:p>
                      <a:pPr algn="r"/>
                      <a:r>
                        <a:rPr sz="800" b="0" i="0">
                          <a:solidFill>
                            <a:srgbClr val="1E1E1E"/>
                          </a:solidFill>
                          <a:latin typeface="Gill Sans MT"/>
                        </a:rPr>
                        <a:t>3.003</a:t>
                      </a:r>
                    </a:p>
                  </a:txBody>
                  <a:tcPr marL="45720" marR="45720" marT="9144" marB="9144" anchor="ctr">
                    <a:solidFill>
                      <a:srgbClr val="F4F2EB"/>
                    </a:solidFill>
                  </a:tcPr>
                </a:tc>
                <a:tc>
                  <a:txBody>
                    <a:bodyPr/>
                    <a:lstStyle/>
                    <a:p>
                      <a:pPr algn="r"/>
                      <a:r>
                        <a:rPr sz="800" b="0" i="0">
                          <a:solidFill>
                            <a:srgbClr val="1E1E1E"/>
                          </a:solidFill>
                          <a:latin typeface="Gill Sans MT"/>
                        </a:rPr>
                        <a:t>58</a:t>
                      </a:r>
                    </a:p>
                  </a:txBody>
                  <a:tcPr marL="45720" marR="45720" marT="9144" marB="9144" anchor="ctr">
                    <a:solidFill>
                      <a:srgbClr val="F4F2EB"/>
                    </a:solidFill>
                  </a:tcPr>
                </a:tc>
                <a:tc>
                  <a:txBody>
                    <a:bodyPr/>
                    <a:lstStyle/>
                    <a:p>
                      <a:pPr algn="r"/>
                      <a:r>
                        <a:rPr sz="800" b="0" i="0">
                          <a:solidFill>
                            <a:srgbClr val="1E1E1E"/>
                          </a:solidFill>
                          <a:latin typeface="Gill Sans MT"/>
                        </a:rPr>
                        <a:t>3.060</a:t>
                      </a:r>
                    </a:p>
                  </a:txBody>
                  <a:tcPr marL="45720" marR="45720" marT="9144" marB="9144" anchor="ctr">
                    <a:solidFill>
                      <a:srgbClr val="F4F2EB"/>
                    </a:solidFill>
                  </a:tcPr>
                </a:tc>
                <a:tc>
                  <a:txBody>
                    <a:bodyPr/>
                    <a:lstStyle/>
                    <a:p>
                      <a:pPr algn="r"/>
                      <a:r>
                        <a:rPr sz="800" b="0" i="0">
                          <a:solidFill>
                            <a:srgbClr val="1E1E1E"/>
                          </a:solidFill>
                          <a:latin typeface="Gill Sans MT"/>
                        </a:rPr>
                        <a:t>1,13x</a:t>
                      </a:r>
                    </a:p>
                  </a:txBody>
                  <a:tcPr marL="45720" marR="45720" marT="9144" marB="9144" anchor="ctr">
                    <a:solidFill>
                      <a:srgbClr val="F4F2EB"/>
                    </a:solidFill>
                  </a:tcPr>
                </a:tc>
                <a:tc>
                  <a:txBody>
                    <a:bodyPr/>
                    <a:lstStyle/>
                    <a:p>
                      <a:pPr algn="r"/>
                      <a:r>
                        <a:rPr sz="800" b="0" i="0">
                          <a:solidFill>
                            <a:srgbClr val="1E1E1E"/>
                          </a:solidFill>
                          <a:latin typeface="Gill Sans MT"/>
                        </a:rPr>
                        <a:t>4,5 %</a:t>
                      </a:r>
                    </a:p>
                  </a:txBody>
                  <a:tcPr marL="45720" marR="45720" marT="9144" marB="9144" anchor="ctr">
                    <a:solidFill>
                      <a:srgbClr val="F4F2EB"/>
                    </a:solidFill>
                  </a:tcPr>
                </a:tc>
                <a:extLst>
                  <a:ext uri="{0D108BD9-81ED-4DB2-BD59-A6C34878D82A}">
                    <a16:rowId xmlns:a16="http://schemas.microsoft.com/office/drawing/2014/main" val="10004"/>
                  </a:ext>
                </a:extLst>
              </a:tr>
              <a:tr h="169164">
                <a:tc>
                  <a:txBody>
                    <a:bodyPr/>
                    <a:lstStyle/>
                    <a:p>
                      <a:pPr algn="l"/>
                      <a:r>
                        <a:rPr sz="800" b="0" i="0">
                          <a:solidFill>
                            <a:srgbClr val="1E1E1E"/>
                          </a:solidFill>
                          <a:latin typeface="Gill Sans MT"/>
                        </a:rPr>
                        <a:t>Francisco VI</a:t>
                      </a:r>
                    </a:p>
                  </a:txBody>
                  <a:tcPr marL="45720" marR="45720" marT="9144" marB="9144" anchor="ctr">
                    <a:noFill/>
                  </a:tcPr>
                </a:tc>
                <a:tc>
                  <a:txBody>
                    <a:bodyPr/>
                    <a:lstStyle/>
                    <a:p>
                      <a:pPr algn="ctr"/>
                      <a:r>
                        <a:rPr sz="800" b="0" i="0">
                          <a:solidFill>
                            <a:srgbClr val="1E1E1E"/>
                          </a:solidFill>
                          <a:latin typeface="Gill Sans MT"/>
                        </a:rPr>
                        <a:t>2020</a:t>
                      </a:r>
                    </a:p>
                  </a:txBody>
                  <a:tcPr marL="45720" marR="45720" marT="9144" marB="9144" anchor="ctr">
                    <a:noFill/>
                  </a:tcPr>
                </a:tc>
                <a:tc>
                  <a:txBody>
                    <a:bodyPr/>
                    <a:lstStyle/>
                    <a:p>
                      <a:pPr algn="r"/>
                      <a:r>
                        <a:rPr sz="800" b="0" i="0">
                          <a:solidFill>
                            <a:srgbClr val="1E1E1E"/>
                          </a:solidFill>
                          <a:latin typeface="Gill Sans MT"/>
                        </a:rPr>
                        <a:t>2.124</a:t>
                      </a:r>
                    </a:p>
                  </a:txBody>
                  <a:tcPr marL="45720" marR="45720" marT="9144" marB="9144" anchor="ctr">
                    <a:noFill/>
                  </a:tcPr>
                </a:tc>
                <a:tc>
                  <a:txBody>
                    <a:bodyPr/>
                    <a:lstStyle/>
                    <a:p>
                      <a:pPr algn="r"/>
                      <a:r>
                        <a:rPr sz="800" b="0" i="0">
                          <a:solidFill>
                            <a:srgbClr val="1E1E1E"/>
                          </a:solidFill>
                          <a:latin typeface="Gill Sans MT"/>
                        </a:rPr>
                        <a:t>2.538</a:t>
                      </a:r>
                    </a:p>
                  </a:txBody>
                  <a:tcPr marL="45720" marR="45720" marT="9144" marB="9144" anchor="ctr">
                    <a:noFill/>
                  </a:tcPr>
                </a:tc>
                <a:tc>
                  <a:txBody>
                    <a:bodyPr/>
                    <a:lstStyle/>
                    <a:p>
                      <a:pPr algn="r"/>
                      <a:r>
                        <a:rPr sz="800" b="0" i="0">
                          <a:solidFill>
                            <a:srgbClr val="1E1E1E"/>
                          </a:solidFill>
                          <a:latin typeface="Gill Sans MT"/>
                        </a:rPr>
                        <a:t>378</a:t>
                      </a:r>
                    </a:p>
                  </a:txBody>
                  <a:tcPr marL="45720" marR="45720" marT="9144" marB="9144" anchor="ctr">
                    <a:noFill/>
                  </a:tcPr>
                </a:tc>
                <a:tc>
                  <a:txBody>
                    <a:bodyPr/>
                    <a:lstStyle/>
                    <a:p>
                      <a:pPr algn="r"/>
                      <a:r>
                        <a:rPr sz="800" b="0" i="0">
                          <a:solidFill>
                            <a:srgbClr val="1E1E1E"/>
                          </a:solidFill>
                          <a:latin typeface="Gill Sans MT"/>
                        </a:rPr>
                        <a:t>2.916</a:t>
                      </a:r>
                    </a:p>
                  </a:txBody>
                  <a:tcPr marL="45720" marR="45720" marT="9144" marB="9144" anchor="ctr">
                    <a:noFill/>
                  </a:tcPr>
                </a:tc>
                <a:tc>
                  <a:txBody>
                    <a:bodyPr/>
                    <a:lstStyle/>
                    <a:p>
                      <a:pPr algn="r"/>
                      <a:r>
                        <a:rPr sz="800" b="0" i="0">
                          <a:solidFill>
                            <a:srgbClr val="1E1E1E"/>
                          </a:solidFill>
                          <a:latin typeface="Gill Sans MT"/>
                        </a:rPr>
                        <a:t>1,38x</a:t>
                      </a:r>
                    </a:p>
                  </a:txBody>
                  <a:tcPr marL="45720" marR="45720" marT="9144" marB="9144" anchor="ctr">
                    <a:noFill/>
                  </a:tcPr>
                </a:tc>
                <a:tc>
                  <a:txBody>
                    <a:bodyPr/>
                    <a:lstStyle/>
                    <a:p>
                      <a:pPr algn="r"/>
                      <a:r>
                        <a:rPr sz="800" b="0" i="0">
                          <a:solidFill>
                            <a:srgbClr val="1E1E1E"/>
                          </a:solidFill>
                          <a:latin typeface="Gill Sans MT"/>
                        </a:rPr>
                        <a:t>9,2 %</a:t>
                      </a:r>
                    </a:p>
                  </a:txBody>
                  <a:tcPr marL="45720" marR="45720" marT="9144" marB="9144" anchor="ctr">
                    <a:noFill/>
                  </a:tcPr>
                </a:tc>
                <a:extLst>
                  <a:ext uri="{0D108BD9-81ED-4DB2-BD59-A6C34878D82A}">
                    <a16:rowId xmlns:a16="http://schemas.microsoft.com/office/drawing/2014/main" val="10005"/>
                  </a:ext>
                </a:extLst>
              </a:tr>
              <a:tr h="169164">
                <a:tc>
                  <a:txBody>
                    <a:bodyPr/>
                    <a:lstStyle/>
                    <a:p>
                      <a:pPr algn="l"/>
                      <a:r>
                        <a:rPr sz="800" b="0" i="0">
                          <a:solidFill>
                            <a:srgbClr val="1E1E1E"/>
                          </a:solidFill>
                          <a:latin typeface="Gill Sans MT"/>
                        </a:rPr>
                        <a:t>Waterland VIII</a:t>
                      </a:r>
                    </a:p>
                  </a:txBody>
                  <a:tcPr marL="45720" marR="45720" marT="9144" marB="9144" anchor="ctr">
                    <a:solidFill>
                      <a:srgbClr val="F4F2EB"/>
                    </a:solidFill>
                  </a:tcPr>
                </a:tc>
                <a:tc>
                  <a:txBody>
                    <a:bodyPr/>
                    <a:lstStyle/>
                    <a:p>
                      <a:pPr algn="ctr"/>
                      <a:r>
                        <a:rPr sz="800" b="0" i="0">
                          <a:solidFill>
                            <a:srgbClr val="1E1E1E"/>
                          </a:solidFill>
                          <a:latin typeface="Gill Sans MT"/>
                        </a:rPr>
                        <a:t>2020</a:t>
                      </a:r>
                    </a:p>
                  </a:txBody>
                  <a:tcPr marL="45720" marR="45720" marT="9144" marB="9144" anchor="ctr">
                    <a:solidFill>
                      <a:srgbClr val="F4F2EB"/>
                    </a:solidFill>
                  </a:tcPr>
                </a:tc>
                <a:tc>
                  <a:txBody>
                    <a:bodyPr/>
                    <a:lstStyle/>
                    <a:p>
                      <a:pPr algn="r"/>
                      <a:r>
                        <a:rPr sz="800" b="0" i="0">
                          <a:solidFill>
                            <a:srgbClr val="1E1E1E"/>
                          </a:solidFill>
                          <a:latin typeface="Gill Sans MT"/>
                        </a:rPr>
                        <a:t>1.517</a:t>
                      </a:r>
                    </a:p>
                  </a:txBody>
                  <a:tcPr marL="45720" marR="45720" marT="9144" marB="9144" anchor="ctr">
                    <a:solidFill>
                      <a:srgbClr val="F4F2EB"/>
                    </a:solidFill>
                  </a:tcPr>
                </a:tc>
                <a:tc>
                  <a:txBody>
                    <a:bodyPr/>
                    <a:lstStyle/>
                    <a:p>
                      <a:pPr algn="r"/>
                      <a:r>
                        <a:rPr sz="800" b="0" i="0">
                          <a:solidFill>
                            <a:srgbClr val="1E1E1E"/>
                          </a:solidFill>
                          <a:latin typeface="Gill Sans MT"/>
                        </a:rPr>
                        <a:t>1.941</a:t>
                      </a:r>
                    </a:p>
                  </a:txBody>
                  <a:tcPr marL="45720" marR="45720" marT="9144" marB="9144" anchor="ctr">
                    <a:solidFill>
                      <a:srgbClr val="F4F2EB"/>
                    </a:solidFill>
                  </a:tcPr>
                </a:tc>
                <a:tc>
                  <a:txBody>
                    <a:bodyPr/>
                    <a:lstStyle/>
                    <a:p>
                      <a:pPr algn="r"/>
                      <a:r>
                        <a:rPr sz="800" b="0" i="0">
                          <a:solidFill>
                            <a:srgbClr val="1E1E1E"/>
                          </a:solidFill>
                          <a:latin typeface="Gill Sans MT"/>
                        </a:rPr>
                        <a:t>500</a:t>
                      </a:r>
                    </a:p>
                  </a:txBody>
                  <a:tcPr marL="45720" marR="45720" marT="9144" marB="9144" anchor="ctr">
                    <a:solidFill>
                      <a:srgbClr val="F4F2EB"/>
                    </a:solidFill>
                  </a:tcPr>
                </a:tc>
                <a:tc>
                  <a:txBody>
                    <a:bodyPr/>
                    <a:lstStyle/>
                    <a:p>
                      <a:pPr algn="r"/>
                      <a:r>
                        <a:rPr sz="800" b="0" i="0">
                          <a:solidFill>
                            <a:srgbClr val="1E1E1E"/>
                          </a:solidFill>
                          <a:latin typeface="Gill Sans MT"/>
                        </a:rPr>
                        <a:t>2.441</a:t>
                      </a:r>
                    </a:p>
                  </a:txBody>
                  <a:tcPr marL="45720" marR="45720" marT="9144" marB="9144" anchor="ctr">
                    <a:solidFill>
                      <a:srgbClr val="F4F2EB"/>
                    </a:solidFill>
                  </a:tcPr>
                </a:tc>
                <a:tc>
                  <a:txBody>
                    <a:bodyPr/>
                    <a:lstStyle/>
                    <a:p>
                      <a:pPr algn="r"/>
                      <a:r>
                        <a:rPr sz="800" b="0" i="0">
                          <a:solidFill>
                            <a:srgbClr val="1E1E1E"/>
                          </a:solidFill>
                          <a:latin typeface="Gill Sans MT"/>
                        </a:rPr>
                        <a:t>1,62x</a:t>
                      </a:r>
                    </a:p>
                  </a:txBody>
                  <a:tcPr marL="45720" marR="45720" marT="9144" marB="9144" anchor="ctr">
                    <a:solidFill>
                      <a:srgbClr val="F4F2EB"/>
                    </a:solidFill>
                  </a:tcPr>
                </a:tc>
                <a:tc>
                  <a:txBody>
                    <a:bodyPr/>
                    <a:lstStyle/>
                    <a:p>
                      <a:pPr algn="r"/>
                      <a:r>
                        <a:rPr sz="800" b="0" i="0">
                          <a:solidFill>
                            <a:srgbClr val="1E1E1E"/>
                          </a:solidFill>
                          <a:latin typeface="Gill Sans MT"/>
                        </a:rPr>
                        <a:t>15,8 %</a:t>
                      </a:r>
                    </a:p>
                  </a:txBody>
                  <a:tcPr marL="45720" marR="45720" marT="9144" marB="9144" anchor="ctr">
                    <a:solidFill>
                      <a:srgbClr val="F4F2EB"/>
                    </a:solidFill>
                  </a:tcPr>
                </a:tc>
                <a:extLst>
                  <a:ext uri="{0D108BD9-81ED-4DB2-BD59-A6C34878D82A}">
                    <a16:rowId xmlns:a16="http://schemas.microsoft.com/office/drawing/2014/main" val="10006"/>
                  </a:ext>
                </a:extLst>
              </a:tr>
              <a:tr h="169164">
                <a:tc>
                  <a:txBody>
                    <a:bodyPr/>
                    <a:lstStyle/>
                    <a:p>
                      <a:pPr algn="l"/>
                      <a:r>
                        <a:rPr sz="800" b="0" i="0">
                          <a:solidFill>
                            <a:srgbClr val="1E1E1E"/>
                          </a:solidFill>
                          <a:latin typeface="Gill Sans MT"/>
                        </a:rPr>
                        <a:t>Francisco Agility II</a:t>
                      </a:r>
                    </a:p>
                  </a:txBody>
                  <a:tcPr marL="45720" marR="45720" marT="9144" marB="9144" anchor="ctr">
                    <a:noFill/>
                  </a:tcPr>
                </a:tc>
                <a:tc>
                  <a:txBody>
                    <a:bodyPr/>
                    <a:lstStyle/>
                    <a:p>
                      <a:pPr algn="ctr"/>
                      <a:r>
                        <a:rPr sz="800" b="0" i="0">
                          <a:solidFill>
                            <a:srgbClr val="1E1E1E"/>
                          </a:solidFill>
                          <a:latin typeface="Gill Sans MT"/>
                        </a:rPr>
                        <a:t>2020</a:t>
                      </a:r>
                    </a:p>
                  </a:txBody>
                  <a:tcPr marL="45720" marR="45720" marT="9144" marB="9144" anchor="ctr">
                    <a:noFill/>
                  </a:tcPr>
                </a:tc>
                <a:tc>
                  <a:txBody>
                    <a:bodyPr/>
                    <a:lstStyle/>
                    <a:p>
                      <a:pPr algn="r"/>
                      <a:r>
                        <a:rPr sz="800" b="0" i="0">
                          <a:solidFill>
                            <a:srgbClr val="1E1E1E"/>
                          </a:solidFill>
                          <a:latin typeface="Gill Sans MT"/>
                        </a:rPr>
                        <a:t>361</a:t>
                      </a:r>
                    </a:p>
                  </a:txBody>
                  <a:tcPr marL="45720" marR="45720" marT="9144" marB="9144" anchor="ctr">
                    <a:noFill/>
                  </a:tcPr>
                </a:tc>
                <a:tc>
                  <a:txBody>
                    <a:bodyPr/>
                    <a:lstStyle/>
                    <a:p>
                      <a:pPr algn="r"/>
                      <a:r>
                        <a:rPr sz="800" b="0" i="0">
                          <a:solidFill>
                            <a:srgbClr val="1E1E1E"/>
                          </a:solidFill>
                          <a:latin typeface="Gill Sans MT"/>
                        </a:rPr>
                        <a:t>382</a:t>
                      </a:r>
                    </a:p>
                  </a:txBody>
                  <a:tcPr marL="45720" marR="45720" marT="9144" marB="9144" anchor="ctr">
                    <a:noFill/>
                  </a:tcPr>
                </a:tc>
                <a:tc>
                  <a:txBody>
                    <a:bodyPr/>
                    <a:lstStyle/>
                    <a:p>
                      <a:pPr algn="r"/>
                      <a:r>
                        <a:rPr sz="800" b="0" i="0">
                          <a:solidFill>
                            <a:srgbClr val="1E1E1E"/>
                          </a:solidFill>
                          <a:latin typeface="Gill Sans MT"/>
                        </a:rPr>
                        <a:t>339</a:t>
                      </a:r>
                    </a:p>
                  </a:txBody>
                  <a:tcPr marL="45720" marR="45720" marT="9144" marB="9144" anchor="ctr">
                    <a:noFill/>
                  </a:tcPr>
                </a:tc>
                <a:tc>
                  <a:txBody>
                    <a:bodyPr/>
                    <a:lstStyle/>
                    <a:p>
                      <a:pPr algn="r"/>
                      <a:r>
                        <a:rPr sz="800" b="0" i="0">
                          <a:solidFill>
                            <a:srgbClr val="1E1E1E"/>
                          </a:solidFill>
                          <a:latin typeface="Gill Sans MT"/>
                        </a:rPr>
                        <a:t>721</a:t>
                      </a:r>
                    </a:p>
                  </a:txBody>
                  <a:tcPr marL="45720" marR="45720" marT="9144" marB="9144" anchor="ctr">
                    <a:noFill/>
                  </a:tcPr>
                </a:tc>
                <a:tc>
                  <a:txBody>
                    <a:bodyPr/>
                    <a:lstStyle/>
                    <a:p>
                      <a:pPr algn="r"/>
                      <a:r>
                        <a:rPr sz="800" b="0" i="0">
                          <a:solidFill>
                            <a:srgbClr val="1E1E1E"/>
                          </a:solidFill>
                          <a:latin typeface="Gill Sans MT"/>
                        </a:rPr>
                        <a:t>2,00x</a:t>
                      </a:r>
                    </a:p>
                  </a:txBody>
                  <a:tcPr marL="45720" marR="45720" marT="9144" marB="9144" anchor="ctr">
                    <a:noFill/>
                  </a:tcPr>
                </a:tc>
                <a:tc>
                  <a:txBody>
                    <a:bodyPr/>
                    <a:lstStyle/>
                    <a:p>
                      <a:pPr algn="r"/>
                      <a:r>
                        <a:rPr sz="800" b="0" i="0">
                          <a:solidFill>
                            <a:srgbClr val="1E1E1E"/>
                          </a:solidFill>
                          <a:latin typeface="Gill Sans MT"/>
                        </a:rPr>
                        <a:t>22,2 %</a:t>
                      </a:r>
                    </a:p>
                  </a:txBody>
                  <a:tcPr marL="45720" marR="45720" marT="9144" marB="9144" anchor="ctr">
                    <a:noFill/>
                  </a:tcPr>
                </a:tc>
                <a:extLst>
                  <a:ext uri="{0D108BD9-81ED-4DB2-BD59-A6C34878D82A}">
                    <a16:rowId xmlns:a16="http://schemas.microsoft.com/office/drawing/2014/main" val="10007"/>
                  </a:ext>
                </a:extLst>
              </a:tr>
              <a:tr h="169164">
                <a:tc>
                  <a:txBody>
                    <a:bodyPr/>
                    <a:lstStyle/>
                    <a:p>
                      <a:pPr algn="l"/>
                      <a:r>
                        <a:rPr sz="800" b="1" i="0">
                          <a:solidFill>
                            <a:srgbClr val="1E1E1E"/>
                          </a:solidFill>
                          <a:latin typeface="Gill Sans MT"/>
                        </a:rPr>
                        <a:t>I alt</a:t>
                      </a:r>
                    </a:p>
                  </a:txBody>
                  <a:tcPr marL="45720" marR="45720" marT="9144" marB="9144" anchor="ctr">
                    <a:solidFill>
                      <a:srgbClr val="C9CCB8"/>
                    </a:solidFill>
                  </a:tcPr>
                </a:tc>
                <a:tc>
                  <a:txBody>
                    <a:bodyPr/>
                    <a:lstStyle/>
                    <a:p>
                      <a:pPr algn="ctr"/>
                      <a:endParaRPr/>
                    </a:p>
                  </a:txBody>
                  <a:tcPr marL="45720" marR="45720" marT="9144" marB="9144" anchor="ctr">
                    <a:solidFill>
                      <a:srgbClr val="C9CCB8"/>
                    </a:solidFill>
                  </a:tcPr>
                </a:tc>
                <a:tc>
                  <a:txBody>
                    <a:bodyPr/>
                    <a:lstStyle/>
                    <a:p>
                      <a:pPr algn="r"/>
                      <a:r>
                        <a:rPr sz="800" b="1" i="0">
                          <a:solidFill>
                            <a:srgbClr val="1E1E1E"/>
                          </a:solidFill>
                          <a:latin typeface="Gill Sans MT"/>
                        </a:rPr>
                        <a:t>22.822</a:t>
                      </a:r>
                    </a:p>
                  </a:txBody>
                  <a:tcPr marL="45720" marR="45720" marT="9144" marB="9144" anchor="ctr">
                    <a:solidFill>
                      <a:srgbClr val="C9CCB8"/>
                    </a:solidFill>
                  </a:tcPr>
                </a:tc>
                <a:tc>
                  <a:txBody>
                    <a:bodyPr/>
                    <a:lstStyle/>
                    <a:p>
                      <a:pPr algn="r"/>
                      <a:r>
                        <a:rPr sz="800" b="1" i="0">
                          <a:solidFill>
                            <a:srgbClr val="1E1E1E"/>
                          </a:solidFill>
                          <a:latin typeface="Gill Sans MT"/>
                        </a:rPr>
                        <a:t>23.519</a:t>
                      </a:r>
                    </a:p>
                  </a:txBody>
                  <a:tcPr marL="45720" marR="45720" marT="9144" marB="9144" anchor="ctr">
                    <a:solidFill>
                      <a:srgbClr val="C9CCB8"/>
                    </a:solidFill>
                  </a:tcPr>
                </a:tc>
                <a:tc>
                  <a:txBody>
                    <a:bodyPr/>
                    <a:lstStyle/>
                    <a:p>
                      <a:pPr algn="r"/>
                      <a:r>
                        <a:rPr sz="800" b="1" i="0">
                          <a:solidFill>
                            <a:srgbClr val="1E1E1E"/>
                          </a:solidFill>
                          <a:latin typeface="Gill Sans MT"/>
                        </a:rPr>
                        <a:t>8.596</a:t>
                      </a:r>
                    </a:p>
                  </a:txBody>
                  <a:tcPr marL="45720" marR="45720" marT="9144" marB="9144" anchor="ctr">
                    <a:solidFill>
                      <a:srgbClr val="C9CCB8"/>
                    </a:solidFill>
                  </a:tcPr>
                </a:tc>
                <a:tc>
                  <a:txBody>
                    <a:bodyPr/>
                    <a:lstStyle/>
                    <a:p>
                      <a:pPr algn="r"/>
                      <a:r>
                        <a:rPr sz="800" b="1" i="0">
                          <a:solidFill>
                            <a:srgbClr val="1E1E1E"/>
                          </a:solidFill>
                          <a:latin typeface="Gill Sans MT"/>
                        </a:rPr>
                        <a:t>32.115</a:t>
                      </a:r>
                    </a:p>
                  </a:txBody>
                  <a:tcPr marL="45720" marR="45720" marT="9144" marB="9144" anchor="ctr">
                    <a:solidFill>
                      <a:srgbClr val="C9CCB8"/>
                    </a:solidFill>
                  </a:tcPr>
                </a:tc>
                <a:tc>
                  <a:txBody>
                    <a:bodyPr/>
                    <a:lstStyle/>
                    <a:p>
                      <a:pPr algn="r"/>
                      <a:r>
                        <a:rPr sz="800" b="1" i="0">
                          <a:solidFill>
                            <a:srgbClr val="1E1E1E"/>
                          </a:solidFill>
                          <a:latin typeface="Gill Sans MT"/>
                        </a:rPr>
                        <a:t>1,41x</a:t>
                      </a:r>
                    </a:p>
                  </a:txBody>
                  <a:tcPr marL="45720" marR="45720" marT="9144" marB="9144" anchor="ctr">
                    <a:solidFill>
                      <a:srgbClr val="C9CCB8"/>
                    </a:solidFill>
                  </a:tcPr>
                </a:tc>
                <a:tc>
                  <a:txBody>
                    <a:bodyPr/>
                    <a:lstStyle/>
                    <a:p>
                      <a:pPr algn="r"/>
                      <a:endParaRPr/>
                    </a:p>
                  </a:txBody>
                  <a:tcPr marL="45720" marR="45720" marT="9144" marB="9144" anchor="ctr">
                    <a:solidFill>
                      <a:srgbClr val="C9CCB8"/>
                    </a:solidFill>
                  </a:tcPr>
                </a:tc>
                <a:extLst>
                  <a:ext uri="{0D108BD9-81ED-4DB2-BD59-A6C34878D82A}">
                    <a16:rowId xmlns:a16="http://schemas.microsoft.com/office/drawing/2014/main" val="10008"/>
                  </a:ext>
                </a:extLst>
              </a:tr>
            </a:tbl>
          </a:graphicData>
        </a:graphic>
      </p:graphicFrame>
      <p:sp>
        <p:nvSpPr>
          <p:cNvPr id="22" name="TextBox 21"/>
          <p:cNvSpPr txBox="1"/>
          <p:nvPr/>
        </p:nvSpPr>
        <p:spPr>
          <a:xfrm>
            <a:off x="603504" y="5394960"/>
            <a:ext cx="9491472" cy="457200"/>
          </a:xfrm>
          <a:prstGeom prst="rect">
            <a:avLst/>
          </a:prstGeom>
          <a:noFill/>
        </p:spPr>
        <p:txBody>
          <a:bodyPr wrap="square" lIns="0" tIns="0" rIns="0" bIns="0" anchor="t">
            <a:spAutoFit/>
          </a:bodyPr>
          <a:lstStyle/>
          <a:p>
            <a:pPr algn="l"/>
            <a:r>
              <a:rPr sz="700" b="0" i="1">
                <a:solidFill>
                  <a:srgbClr val="1E1E1E"/>
                </a:solidFill>
                <a:latin typeface="Gill Sans MT"/>
              </a:rPr>
              <a:t>Kilde: GP-rapporter og egne beregninger. Fondens beholdninger pr. 30.06.2026 ganget med ejerandelen. Kostpris er tilsagn × indbetalt andel, hvor GP ikke oplyser den; TVPI og IRR pr. fond er GP'ens. Fondsbeskrivelse, geografi og segment er et udkast og ikke gennemgået. GP'ens egne nøgletal: TVPI 1,37x, IRR 11,6 %.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0"/>
          <a:lstStyle/>
          <a:p>
            <a:r>
              <a:t>K Alternativ Private Equity 2021 K/S</a:t>
            </a:r>
          </a:p>
        </p:txBody>
      </p:sp>
      <p:pic>
        <p:nvPicPr>
          <p:cNvPr id="3" name="Picture 2" descr="image.png"/>
          <p:cNvPicPr>
            <a:picLocks noChangeAspect="1"/>
          </p:cNvPicPr>
          <p:nvPr/>
        </p:nvPicPr>
        <p:blipFill>
          <a:blip r:embed="rId2"/>
          <a:stretch>
            <a:fillRect/>
          </a:stretch>
        </p:blipFill>
        <p:spPr>
          <a:xfrm>
            <a:off x="8677655" y="310330"/>
            <a:ext cx="1417320" cy="238874"/>
          </a:xfrm>
          <a:prstGeom prst="rect">
            <a:avLst/>
          </a:prstGeom>
        </p:spPr>
      </p:pic>
      <p:sp>
        <p:nvSpPr>
          <p:cNvPr id="4" name="TextBox 3"/>
          <p:cNvSpPr txBox="1"/>
          <p:nvPr/>
        </p:nvSpPr>
        <p:spPr>
          <a:xfrm>
            <a:off x="603504" y="786384"/>
            <a:ext cx="9491472" cy="201168"/>
          </a:xfrm>
          <a:prstGeom prst="rect">
            <a:avLst/>
          </a:prstGeom>
          <a:noFill/>
        </p:spPr>
        <p:txBody>
          <a:bodyPr wrap="square" lIns="0" tIns="0" rIns="0" bIns="0" anchor="t">
            <a:spAutoFit/>
          </a:bodyPr>
          <a:lstStyle/>
          <a:p>
            <a:pPr algn="l"/>
            <a:r>
              <a:rPr sz="950" b="0" i="0">
                <a:solidFill>
                  <a:srgbClr val="1E1E1E"/>
                </a:solidFill>
                <a:latin typeface="Gill Sans MT"/>
              </a:rPr>
              <a:t>A/S Motortramp  ·  pr. 30.06.2026  ·  beløb i tDKK</a:t>
            </a:r>
          </a:p>
        </p:txBody>
      </p:sp>
      <p:sp>
        <p:nvSpPr>
          <p:cNvPr id="5" name="TextBox 4"/>
          <p:cNvSpPr txBox="1"/>
          <p:nvPr/>
        </p:nvSpPr>
        <p:spPr>
          <a:xfrm>
            <a:off x="603504" y="1115568"/>
            <a:ext cx="2971800" cy="201168"/>
          </a:xfrm>
          <a:prstGeom prst="rect">
            <a:avLst/>
          </a:prstGeom>
          <a:noFill/>
        </p:spPr>
        <p:txBody>
          <a:bodyPr wrap="square" lIns="0" tIns="0" rIns="0" bIns="0" anchor="t">
            <a:spAutoFit/>
          </a:bodyPr>
          <a:lstStyle/>
          <a:p>
            <a:pPr algn="l"/>
            <a:r>
              <a:rPr sz="1050" b="1" i="0">
                <a:solidFill>
                  <a:srgbClr val="545B4A"/>
                </a:solidFill>
                <a:latin typeface="Gill Sans MT"/>
              </a:rPr>
              <a:t>Kort beskrivelse af fonden</a:t>
            </a:r>
          </a:p>
        </p:txBody>
      </p:sp>
      <p:cxnSp>
        <p:nvCxnSpPr>
          <p:cNvPr id="6" name="Connector 5"/>
          <p:cNvCxnSpPr/>
          <p:nvPr/>
        </p:nvCxnSpPr>
        <p:spPr>
          <a:xfrm>
            <a:off x="603504" y="1344168"/>
            <a:ext cx="297180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3504" y="1426464"/>
            <a:ext cx="2971800" cy="1271016"/>
          </a:xfrm>
          <a:prstGeom prst="rect">
            <a:avLst/>
          </a:prstGeom>
          <a:noFill/>
        </p:spPr>
        <p:txBody>
          <a:bodyPr wrap="square" lIns="0" tIns="0" rIns="0" bIns="0" anchor="t">
            <a:spAutoFit/>
          </a:bodyPr>
          <a:lstStyle/>
          <a:p>
            <a:pPr algn="l"/>
            <a:r>
              <a:rPr sz="950" b="0" i="0">
                <a:solidFill>
                  <a:srgbClr val="1E1E1E"/>
                </a:solidFill>
                <a:latin typeface="Gill Sans MT"/>
              </a:rPr>
              <a:t>K Alternativ Private Equity 2021 er en fund of funds forvaltet af Alternative Equity Partners. Fonden har givet tilsagn til syv underliggende kapitalfonde, primært buyout-fonde i Europa og Nordamerika.</a:t>
            </a:r>
          </a:p>
        </p:txBody>
      </p:sp>
      <p:cxnSp>
        <p:nvCxnSpPr>
          <p:cNvPr id="8" name="Connector 7"/>
          <p:cNvCxnSpPr/>
          <p:nvPr/>
        </p:nvCxnSpPr>
        <p:spPr>
          <a:xfrm>
            <a:off x="3717035" y="1115568"/>
            <a:ext cx="0" cy="1490472"/>
          </a:xfrm>
          <a:prstGeom prst="line">
            <a:avLst/>
          </a:prstGeom>
          <a:ln w="9525">
            <a:solidFill>
              <a:srgbClr val="C9CCB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40780" y="1115568"/>
            <a:ext cx="0" cy="1490472"/>
          </a:xfrm>
          <a:prstGeom prst="line">
            <a:avLst/>
          </a:prstGeom>
          <a:ln w="9525">
            <a:solidFill>
              <a:srgbClr val="C9CCB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307324" y="1115568"/>
            <a:ext cx="0" cy="1490472"/>
          </a:xfrm>
          <a:prstGeom prst="line">
            <a:avLst/>
          </a:prstGeom>
          <a:ln w="9525">
            <a:solidFill>
              <a:srgbClr val="C9CCB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858768" y="1115568"/>
            <a:ext cx="2240280" cy="201168"/>
          </a:xfrm>
          <a:prstGeom prst="rect">
            <a:avLst/>
          </a:prstGeom>
          <a:noFill/>
        </p:spPr>
        <p:txBody>
          <a:bodyPr wrap="square" lIns="0" tIns="0" rIns="0" bIns="0" anchor="t">
            <a:spAutoFit/>
          </a:bodyPr>
          <a:lstStyle/>
          <a:p>
            <a:pPr algn="l"/>
            <a:r>
              <a:rPr sz="1050" b="1" i="0">
                <a:solidFill>
                  <a:srgbClr val="545B4A"/>
                </a:solidFill>
                <a:latin typeface="Gill Sans MT"/>
              </a:rPr>
              <a:t>Fondsidentitet</a:t>
            </a:r>
          </a:p>
        </p:txBody>
      </p:sp>
      <p:cxnSp>
        <p:nvCxnSpPr>
          <p:cNvPr id="12" name="Connector 11"/>
          <p:cNvCxnSpPr/>
          <p:nvPr/>
        </p:nvCxnSpPr>
        <p:spPr>
          <a:xfrm>
            <a:off x="3858768" y="1344168"/>
            <a:ext cx="224028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3813048" y="1399032"/>
          <a:ext cx="2331719" cy="1211580"/>
        </p:xfrm>
        <a:graphic>
          <a:graphicData uri="http://schemas.openxmlformats.org/drawingml/2006/table">
            <a:tbl>
              <a:tblPr>
                <a:tableStyleId>{2D5ABB26-0587-4C30-8999-92F81FD0307C}</a:tableStyleId>
              </a:tblPr>
              <a:tblGrid>
                <a:gridCol w="951722">
                  <a:extLst>
                    <a:ext uri="{9D8B030D-6E8A-4147-A177-3AD203B41FA5}">
                      <a16:colId xmlns:a16="http://schemas.microsoft.com/office/drawing/2014/main" val="20000"/>
                    </a:ext>
                  </a:extLst>
                </a:gridCol>
                <a:gridCol w="1379997">
                  <a:extLst>
                    <a:ext uri="{9D8B030D-6E8A-4147-A177-3AD203B41FA5}">
                      <a16:colId xmlns:a16="http://schemas.microsoft.com/office/drawing/2014/main" val="20001"/>
                    </a:ext>
                  </a:extLst>
                </a:gridCol>
              </a:tblGrid>
              <a:tr h="242316">
                <a:tc>
                  <a:txBody>
                    <a:bodyPr/>
                    <a:lstStyle/>
                    <a:p>
                      <a:pPr algn="l"/>
                      <a:r>
                        <a:rPr sz="950" b="0" i="0">
                          <a:solidFill>
                            <a:srgbClr val="1E1E1E"/>
                          </a:solidFill>
                          <a:latin typeface="Gill Sans MT"/>
                        </a:rPr>
                        <a:t>Geografi</a:t>
                      </a:r>
                    </a:p>
                  </a:txBody>
                  <a:tcPr marL="45720" marR="45720" marT="9144" marB="9144" anchor="ctr">
                    <a:noFill/>
                  </a:tcPr>
                </a:tc>
                <a:tc>
                  <a:txBody>
                    <a:bodyPr/>
                    <a:lstStyle/>
                    <a:p>
                      <a:pPr algn="r"/>
                      <a:r>
                        <a:rPr sz="950" b="0" i="0">
                          <a:solidFill>
                            <a:srgbClr val="1E1E1E"/>
                          </a:solidFill>
                          <a:latin typeface="Gill Sans MT"/>
                        </a:rPr>
                        <a:t>Europa og Nordamerika</a:t>
                      </a:r>
                    </a:p>
                  </a:txBody>
                  <a:tcPr marL="45720" marR="45720" marT="9144" marB="9144" anchor="ctr">
                    <a:noFill/>
                  </a:tcPr>
                </a:tc>
                <a:extLst>
                  <a:ext uri="{0D108BD9-81ED-4DB2-BD59-A6C34878D82A}">
                    <a16:rowId xmlns:a16="http://schemas.microsoft.com/office/drawing/2014/main" val="10000"/>
                  </a:ext>
                </a:extLst>
              </a:tr>
              <a:tr h="242316">
                <a:tc>
                  <a:txBody>
                    <a:bodyPr/>
                    <a:lstStyle/>
                    <a:p>
                      <a:pPr algn="l"/>
                      <a:r>
                        <a:rPr sz="950" b="0" i="0">
                          <a:solidFill>
                            <a:srgbClr val="1E1E1E"/>
                          </a:solidFill>
                          <a:latin typeface="Gill Sans MT"/>
                        </a:rPr>
                        <a:t>Segment</a:t>
                      </a:r>
                    </a:p>
                  </a:txBody>
                  <a:tcPr marL="45720" marR="45720" marT="9144" marB="9144" anchor="ctr">
                    <a:noFill/>
                  </a:tcPr>
                </a:tc>
                <a:tc>
                  <a:txBody>
                    <a:bodyPr/>
                    <a:lstStyle/>
                    <a:p>
                      <a:pPr algn="r"/>
                      <a:r>
                        <a:rPr sz="950" b="0" i="0">
                          <a:solidFill>
                            <a:srgbClr val="1E1E1E"/>
                          </a:solidFill>
                          <a:latin typeface="Gill Sans MT"/>
                        </a:rPr>
                        <a:t>Fund of funds</a:t>
                      </a:r>
                    </a:p>
                  </a:txBody>
                  <a:tcPr marL="45720" marR="45720" marT="9144" marB="9144" anchor="ctr">
                    <a:noFill/>
                  </a:tcPr>
                </a:tc>
                <a:extLst>
                  <a:ext uri="{0D108BD9-81ED-4DB2-BD59-A6C34878D82A}">
                    <a16:rowId xmlns:a16="http://schemas.microsoft.com/office/drawing/2014/main" val="10001"/>
                  </a:ext>
                </a:extLst>
              </a:tr>
              <a:tr h="242316">
                <a:tc>
                  <a:txBody>
                    <a:bodyPr/>
                    <a:lstStyle/>
                    <a:p>
                      <a:pPr algn="l"/>
                      <a:r>
                        <a:rPr sz="950" b="0" i="0">
                          <a:solidFill>
                            <a:srgbClr val="1E1E1E"/>
                          </a:solidFill>
                          <a:latin typeface="Gill Sans MT"/>
                        </a:rPr>
                        <a:t>Fondsvaluta</a:t>
                      </a:r>
                    </a:p>
                  </a:txBody>
                  <a:tcPr marL="45720" marR="45720" marT="9144" marB="9144" anchor="ctr">
                    <a:noFill/>
                  </a:tcPr>
                </a:tc>
                <a:tc>
                  <a:txBody>
                    <a:bodyPr/>
                    <a:lstStyle/>
                    <a:p>
                      <a:pPr algn="r"/>
                      <a:r>
                        <a:rPr sz="950" b="0" i="0">
                          <a:solidFill>
                            <a:srgbClr val="1E1E1E"/>
                          </a:solidFill>
                          <a:latin typeface="Gill Sans MT"/>
                        </a:rPr>
                        <a:t>DKK</a:t>
                      </a:r>
                    </a:p>
                  </a:txBody>
                  <a:tcPr marL="45720" marR="45720" marT="9144" marB="9144" anchor="ctr">
                    <a:noFill/>
                  </a:tcPr>
                </a:tc>
                <a:extLst>
                  <a:ext uri="{0D108BD9-81ED-4DB2-BD59-A6C34878D82A}">
                    <a16:rowId xmlns:a16="http://schemas.microsoft.com/office/drawing/2014/main" val="10002"/>
                  </a:ext>
                </a:extLst>
              </a:tr>
              <a:tr h="242316">
                <a:tc>
                  <a:txBody>
                    <a:bodyPr/>
                    <a:lstStyle/>
                    <a:p>
                      <a:pPr algn="l"/>
                      <a:r>
                        <a:rPr sz="950" b="0" i="0">
                          <a:solidFill>
                            <a:srgbClr val="1E1E1E"/>
                          </a:solidFill>
                          <a:latin typeface="Gill Sans MT"/>
                        </a:rPr>
                        <a:t>Fondsstørrelse</a:t>
                      </a:r>
                    </a:p>
                  </a:txBody>
                  <a:tcPr marL="45720" marR="45720" marT="9144" marB="9144" anchor="ctr">
                    <a:noFill/>
                  </a:tcPr>
                </a:tc>
                <a:tc>
                  <a:txBody>
                    <a:bodyPr/>
                    <a:lstStyle/>
                    <a:p>
                      <a:pPr algn="r"/>
                      <a:r>
                        <a:rPr sz="950" b="0" i="0">
                          <a:solidFill>
                            <a:srgbClr val="1E1E1E"/>
                          </a:solidFill>
                          <a:latin typeface="Gill Sans MT"/>
                        </a:rPr>
                        <a:t>558.400</a:t>
                      </a:r>
                    </a:p>
                  </a:txBody>
                  <a:tcPr marL="45720" marR="45720" marT="9144" marB="9144" anchor="ctr">
                    <a:noFill/>
                  </a:tcPr>
                </a:tc>
                <a:extLst>
                  <a:ext uri="{0D108BD9-81ED-4DB2-BD59-A6C34878D82A}">
                    <a16:rowId xmlns:a16="http://schemas.microsoft.com/office/drawing/2014/main" val="10003"/>
                  </a:ext>
                </a:extLst>
              </a:tr>
              <a:tr h="242316">
                <a:tc>
                  <a:txBody>
                    <a:bodyPr/>
                    <a:lstStyle/>
                    <a:p>
                      <a:pPr algn="l"/>
                      <a:r>
                        <a:rPr sz="950" b="0" i="0">
                          <a:solidFill>
                            <a:srgbClr val="1E1E1E"/>
                          </a:solidFill>
                          <a:latin typeface="Gill Sans MT"/>
                        </a:rPr>
                        <a:t>Vintage</a:t>
                      </a:r>
                    </a:p>
                  </a:txBody>
                  <a:tcPr marL="45720" marR="45720" marT="9144" marB="9144" anchor="ctr">
                    <a:noFill/>
                  </a:tcPr>
                </a:tc>
                <a:tc>
                  <a:txBody>
                    <a:bodyPr/>
                    <a:lstStyle/>
                    <a:p>
                      <a:pPr algn="r"/>
                      <a:r>
                        <a:rPr sz="950" b="0" i="0">
                          <a:solidFill>
                            <a:srgbClr val="1E1E1E"/>
                          </a:solidFill>
                          <a:latin typeface="Gill Sans MT"/>
                        </a:rPr>
                        <a:t>2021</a:t>
                      </a:r>
                    </a:p>
                  </a:txBody>
                  <a:tcPr marL="45720" marR="45720" marT="9144" marB="9144" anchor="ctr">
                    <a:noFill/>
                  </a:tcPr>
                </a:tc>
                <a:extLst>
                  <a:ext uri="{0D108BD9-81ED-4DB2-BD59-A6C34878D82A}">
                    <a16:rowId xmlns:a16="http://schemas.microsoft.com/office/drawing/2014/main" val="10004"/>
                  </a:ext>
                </a:extLst>
              </a:tr>
            </a:tbl>
          </a:graphicData>
        </a:graphic>
      </p:graphicFrame>
      <p:sp>
        <p:nvSpPr>
          <p:cNvPr id="14" name="TextBox 13"/>
          <p:cNvSpPr txBox="1"/>
          <p:nvPr/>
        </p:nvSpPr>
        <p:spPr>
          <a:xfrm>
            <a:off x="6382512" y="1115568"/>
            <a:ext cx="1783080" cy="201168"/>
          </a:xfrm>
          <a:prstGeom prst="rect">
            <a:avLst/>
          </a:prstGeom>
          <a:noFill/>
        </p:spPr>
        <p:txBody>
          <a:bodyPr wrap="square" lIns="0" tIns="0" rIns="0" bIns="0" anchor="t">
            <a:spAutoFit/>
          </a:bodyPr>
          <a:lstStyle/>
          <a:p>
            <a:pPr algn="l"/>
            <a:r>
              <a:rPr sz="1050" b="1" i="0">
                <a:solidFill>
                  <a:srgbClr val="545B4A"/>
                </a:solidFill>
                <a:latin typeface="Gill Sans MT"/>
              </a:rPr>
              <a:t>A/S Motortramps tilsagn</a:t>
            </a:r>
          </a:p>
        </p:txBody>
      </p:sp>
      <p:cxnSp>
        <p:nvCxnSpPr>
          <p:cNvPr id="15" name="Connector 14"/>
          <p:cNvCxnSpPr/>
          <p:nvPr/>
        </p:nvCxnSpPr>
        <p:spPr>
          <a:xfrm>
            <a:off x="6382512" y="1344168"/>
            <a:ext cx="178308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graphicFrame>
        <p:nvGraphicFramePr>
          <p:cNvPr id="16" name="Table 15"/>
          <p:cNvGraphicFramePr>
            <a:graphicFrameLocks noGrp="1"/>
          </p:cNvGraphicFramePr>
          <p:nvPr/>
        </p:nvGraphicFramePr>
        <p:xfrm>
          <a:off x="6336792" y="1399032"/>
          <a:ext cx="1874519" cy="1211580"/>
        </p:xfrm>
        <a:graphic>
          <a:graphicData uri="http://schemas.openxmlformats.org/drawingml/2006/table">
            <a:tbl>
              <a:tblPr>
                <a:tableStyleId>{2D5ABB26-0587-4C30-8999-92F81FD0307C}</a:tableStyleId>
              </a:tblPr>
              <a:tblGrid>
                <a:gridCol w="1002650">
                  <a:extLst>
                    <a:ext uri="{9D8B030D-6E8A-4147-A177-3AD203B41FA5}">
                      <a16:colId xmlns:a16="http://schemas.microsoft.com/office/drawing/2014/main" val="20000"/>
                    </a:ext>
                  </a:extLst>
                </a:gridCol>
                <a:gridCol w="871869">
                  <a:extLst>
                    <a:ext uri="{9D8B030D-6E8A-4147-A177-3AD203B41FA5}">
                      <a16:colId xmlns:a16="http://schemas.microsoft.com/office/drawing/2014/main" val="20001"/>
                    </a:ext>
                  </a:extLst>
                </a:gridCol>
              </a:tblGrid>
              <a:tr h="242316">
                <a:tc>
                  <a:txBody>
                    <a:bodyPr/>
                    <a:lstStyle/>
                    <a:p>
                      <a:pPr algn="l"/>
                      <a:r>
                        <a:rPr sz="950" b="0" i="0">
                          <a:solidFill>
                            <a:srgbClr val="1E1E1E"/>
                          </a:solidFill>
                          <a:latin typeface="Gill Sans MT"/>
                        </a:rPr>
                        <a:t>Tilsagn</a:t>
                      </a:r>
                    </a:p>
                  </a:txBody>
                  <a:tcPr marL="45720" marR="45720" marT="9144" marB="9144" anchor="ctr">
                    <a:noFill/>
                  </a:tcPr>
                </a:tc>
                <a:tc>
                  <a:txBody>
                    <a:bodyPr/>
                    <a:lstStyle/>
                    <a:p>
                      <a:pPr algn="r"/>
                      <a:r>
                        <a:rPr sz="950" b="0" i="0">
                          <a:solidFill>
                            <a:srgbClr val="1E1E1E"/>
                          </a:solidFill>
                          <a:latin typeface="Gill Sans MT"/>
                        </a:rPr>
                        <a:t>25.000</a:t>
                      </a:r>
                    </a:p>
                  </a:txBody>
                  <a:tcPr marL="45720" marR="45720" marT="9144" marB="9144" anchor="ctr">
                    <a:noFill/>
                  </a:tcPr>
                </a:tc>
                <a:extLst>
                  <a:ext uri="{0D108BD9-81ED-4DB2-BD59-A6C34878D82A}">
                    <a16:rowId xmlns:a16="http://schemas.microsoft.com/office/drawing/2014/main" val="10000"/>
                  </a:ext>
                </a:extLst>
              </a:tr>
              <a:tr h="242316">
                <a:tc>
                  <a:txBody>
                    <a:bodyPr/>
                    <a:lstStyle/>
                    <a:p>
                      <a:pPr algn="l"/>
                      <a:r>
                        <a:rPr sz="950" b="0" i="0">
                          <a:solidFill>
                            <a:srgbClr val="1E1E1E"/>
                          </a:solidFill>
                          <a:latin typeface="Gill Sans MT"/>
                        </a:rPr>
                        <a:t>Ejerandel</a:t>
                      </a:r>
                    </a:p>
                  </a:txBody>
                  <a:tcPr marL="45720" marR="45720" marT="9144" marB="9144" anchor="ctr">
                    <a:noFill/>
                  </a:tcPr>
                </a:tc>
                <a:tc>
                  <a:txBody>
                    <a:bodyPr/>
                    <a:lstStyle/>
                    <a:p>
                      <a:pPr algn="r"/>
                      <a:r>
                        <a:rPr sz="950" b="0" i="0">
                          <a:solidFill>
                            <a:srgbClr val="1E1E1E"/>
                          </a:solidFill>
                          <a:latin typeface="Gill Sans MT"/>
                        </a:rPr>
                        <a:t>4,48 %</a:t>
                      </a:r>
                    </a:p>
                  </a:txBody>
                  <a:tcPr marL="45720" marR="45720" marT="9144" marB="9144" anchor="ctr">
                    <a:noFill/>
                  </a:tcPr>
                </a:tc>
                <a:extLst>
                  <a:ext uri="{0D108BD9-81ED-4DB2-BD59-A6C34878D82A}">
                    <a16:rowId xmlns:a16="http://schemas.microsoft.com/office/drawing/2014/main" val="10001"/>
                  </a:ext>
                </a:extLst>
              </a:tr>
              <a:tr h="242316">
                <a:tc>
                  <a:txBody>
                    <a:bodyPr/>
                    <a:lstStyle/>
                    <a:p>
                      <a:pPr algn="l"/>
                      <a:r>
                        <a:rPr sz="950" b="0" i="0">
                          <a:solidFill>
                            <a:srgbClr val="1E1E1E"/>
                          </a:solidFill>
                          <a:latin typeface="Gill Sans MT"/>
                        </a:rPr>
                        <a:t>Indbetalt kapital</a:t>
                      </a:r>
                    </a:p>
                  </a:txBody>
                  <a:tcPr marL="45720" marR="45720" marT="9144" marB="9144" anchor="ctr">
                    <a:noFill/>
                  </a:tcPr>
                </a:tc>
                <a:tc>
                  <a:txBody>
                    <a:bodyPr/>
                    <a:lstStyle/>
                    <a:p>
                      <a:pPr algn="r"/>
                      <a:r>
                        <a:rPr sz="950" b="0" i="0">
                          <a:solidFill>
                            <a:srgbClr val="1E1E1E"/>
                          </a:solidFill>
                          <a:latin typeface="Gill Sans MT"/>
                        </a:rPr>
                        <a:t>22.389</a:t>
                      </a:r>
                    </a:p>
                  </a:txBody>
                  <a:tcPr marL="45720" marR="45720" marT="9144" marB="9144" anchor="ctr">
                    <a:noFill/>
                  </a:tcPr>
                </a:tc>
                <a:extLst>
                  <a:ext uri="{0D108BD9-81ED-4DB2-BD59-A6C34878D82A}">
                    <a16:rowId xmlns:a16="http://schemas.microsoft.com/office/drawing/2014/main" val="10002"/>
                  </a:ext>
                </a:extLst>
              </a:tr>
              <a:tr h="242316">
                <a:tc>
                  <a:txBody>
                    <a:bodyPr/>
                    <a:lstStyle/>
                    <a:p>
                      <a:pPr algn="l"/>
                      <a:r>
                        <a:rPr sz="950" b="0" i="0">
                          <a:solidFill>
                            <a:srgbClr val="1E1E1E"/>
                          </a:solidFill>
                          <a:latin typeface="Gill Sans MT"/>
                        </a:rPr>
                        <a:t>PICC</a:t>
                      </a:r>
                    </a:p>
                  </a:txBody>
                  <a:tcPr marL="45720" marR="45720" marT="9144" marB="9144" anchor="ctr">
                    <a:noFill/>
                  </a:tcPr>
                </a:tc>
                <a:tc>
                  <a:txBody>
                    <a:bodyPr/>
                    <a:lstStyle/>
                    <a:p>
                      <a:pPr algn="r"/>
                      <a:r>
                        <a:rPr sz="950" b="0" i="0">
                          <a:solidFill>
                            <a:srgbClr val="1E1E1E"/>
                          </a:solidFill>
                          <a:latin typeface="Gill Sans MT"/>
                        </a:rPr>
                        <a:t>89,6 %</a:t>
                      </a:r>
                    </a:p>
                  </a:txBody>
                  <a:tcPr marL="45720" marR="45720" marT="9144" marB="9144" anchor="ctr">
                    <a:noFill/>
                  </a:tcPr>
                </a:tc>
                <a:extLst>
                  <a:ext uri="{0D108BD9-81ED-4DB2-BD59-A6C34878D82A}">
                    <a16:rowId xmlns:a16="http://schemas.microsoft.com/office/drawing/2014/main" val="10003"/>
                  </a:ext>
                </a:extLst>
              </a:tr>
              <a:tr h="242316">
                <a:tc>
                  <a:txBody>
                    <a:bodyPr/>
                    <a:lstStyle/>
                    <a:p>
                      <a:pPr algn="l"/>
                      <a:r>
                        <a:rPr sz="950" b="0" i="0">
                          <a:solidFill>
                            <a:srgbClr val="1E1E1E"/>
                          </a:solidFill>
                          <a:latin typeface="Gill Sans MT"/>
                        </a:rPr>
                        <a:t>Resttilsagn</a:t>
                      </a:r>
                    </a:p>
                  </a:txBody>
                  <a:tcPr marL="45720" marR="45720" marT="9144" marB="9144" anchor="ctr">
                    <a:noFill/>
                  </a:tcPr>
                </a:tc>
                <a:tc>
                  <a:txBody>
                    <a:bodyPr/>
                    <a:lstStyle/>
                    <a:p>
                      <a:pPr algn="r"/>
                      <a:r>
                        <a:rPr sz="950" b="0" i="0">
                          <a:solidFill>
                            <a:srgbClr val="1E1E1E"/>
                          </a:solidFill>
                          <a:latin typeface="Gill Sans MT"/>
                        </a:rPr>
                        <a:t>2.611</a:t>
                      </a:r>
                    </a:p>
                  </a:txBody>
                  <a:tcPr marL="45720" marR="45720" marT="9144" marB="9144" anchor="ctr">
                    <a:noFill/>
                  </a:tcPr>
                </a:tc>
                <a:extLst>
                  <a:ext uri="{0D108BD9-81ED-4DB2-BD59-A6C34878D82A}">
                    <a16:rowId xmlns:a16="http://schemas.microsoft.com/office/drawing/2014/main" val="10004"/>
                  </a:ext>
                </a:extLst>
              </a:tr>
            </a:tbl>
          </a:graphicData>
        </a:graphic>
      </p:graphicFrame>
      <p:sp>
        <p:nvSpPr>
          <p:cNvPr id="17" name="TextBox 16"/>
          <p:cNvSpPr txBox="1"/>
          <p:nvPr/>
        </p:nvSpPr>
        <p:spPr>
          <a:xfrm>
            <a:off x="8449056" y="1115568"/>
            <a:ext cx="1645919" cy="201168"/>
          </a:xfrm>
          <a:prstGeom prst="rect">
            <a:avLst/>
          </a:prstGeom>
          <a:noFill/>
        </p:spPr>
        <p:txBody>
          <a:bodyPr wrap="square" lIns="0" tIns="0" rIns="0" bIns="0" anchor="t">
            <a:spAutoFit/>
          </a:bodyPr>
          <a:lstStyle/>
          <a:p>
            <a:pPr algn="l"/>
            <a:r>
              <a:rPr sz="1050" b="1" i="0">
                <a:solidFill>
                  <a:srgbClr val="545B4A"/>
                </a:solidFill>
                <a:latin typeface="Gill Sans MT"/>
              </a:rPr>
              <a:t>Nøgletal</a:t>
            </a:r>
          </a:p>
        </p:txBody>
      </p:sp>
      <p:cxnSp>
        <p:nvCxnSpPr>
          <p:cNvPr id="18" name="Connector 17"/>
          <p:cNvCxnSpPr/>
          <p:nvPr/>
        </p:nvCxnSpPr>
        <p:spPr>
          <a:xfrm>
            <a:off x="8449056" y="1344168"/>
            <a:ext cx="164592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graphicFrame>
        <p:nvGraphicFramePr>
          <p:cNvPr id="19" name="Table 18"/>
          <p:cNvGraphicFramePr>
            <a:graphicFrameLocks noGrp="1"/>
          </p:cNvGraphicFramePr>
          <p:nvPr/>
        </p:nvGraphicFramePr>
        <p:xfrm>
          <a:off x="8403336" y="1399032"/>
          <a:ext cx="1737359" cy="1211580"/>
        </p:xfrm>
        <a:graphic>
          <a:graphicData uri="http://schemas.openxmlformats.org/drawingml/2006/table">
            <a:tbl>
              <a:tblPr>
                <a:tableStyleId>{2D5ABB26-0587-4C30-8999-92F81FD0307C}</a:tableStyleId>
              </a:tblPr>
              <a:tblGrid>
                <a:gridCol w="929285">
                  <a:extLst>
                    <a:ext uri="{9D8B030D-6E8A-4147-A177-3AD203B41FA5}">
                      <a16:colId xmlns:a16="http://schemas.microsoft.com/office/drawing/2014/main" val="20000"/>
                    </a:ext>
                  </a:extLst>
                </a:gridCol>
                <a:gridCol w="808074">
                  <a:extLst>
                    <a:ext uri="{9D8B030D-6E8A-4147-A177-3AD203B41FA5}">
                      <a16:colId xmlns:a16="http://schemas.microsoft.com/office/drawing/2014/main" val="20001"/>
                    </a:ext>
                  </a:extLst>
                </a:gridCol>
              </a:tblGrid>
              <a:tr h="242316">
                <a:tc>
                  <a:txBody>
                    <a:bodyPr/>
                    <a:lstStyle/>
                    <a:p>
                      <a:pPr algn="l"/>
                      <a:r>
                        <a:rPr sz="950" b="0" i="0">
                          <a:solidFill>
                            <a:srgbClr val="1E1E1E"/>
                          </a:solidFill>
                          <a:latin typeface="Gill Sans MT"/>
                        </a:rPr>
                        <a:t>Udlodninger</a:t>
                      </a:r>
                    </a:p>
                  </a:txBody>
                  <a:tcPr marL="45720" marR="45720" marT="9144" marB="9144" anchor="ctr">
                    <a:noFill/>
                  </a:tcPr>
                </a:tc>
                <a:tc>
                  <a:txBody>
                    <a:bodyPr/>
                    <a:lstStyle/>
                    <a:p>
                      <a:pPr algn="r"/>
                      <a:r>
                        <a:rPr sz="950" b="0" i="0">
                          <a:solidFill>
                            <a:srgbClr val="1E1E1E"/>
                          </a:solidFill>
                          <a:latin typeface="Gill Sans MT"/>
                        </a:rPr>
                        <a:t>94</a:t>
                      </a:r>
                    </a:p>
                  </a:txBody>
                  <a:tcPr marL="45720" marR="45720" marT="9144" marB="9144" anchor="ctr">
                    <a:noFill/>
                  </a:tcPr>
                </a:tc>
                <a:extLst>
                  <a:ext uri="{0D108BD9-81ED-4DB2-BD59-A6C34878D82A}">
                    <a16:rowId xmlns:a16="http://schemas.microsoft.com/office/drawing/2014/main" val="10000"/>
                  </a:ext>
                </a:extLst>
              </a:tr>
              <a:tr h="242316">
                <a:tc>
                  <a:txBody>
                    <a:bodyPr/>
                    <a:lstStyle/>
                    <a:p>
                      <a:pPr algn="l"/>
                      <a:r>
                        <a:rPr sz="950" b="0" i="0">
                          <a:solidFill>
                            <a:srgbClr val="1E1E1E"/>
                          </a:solidFill>
                          <a:latin typeface="Gill Sans MT"/>
                        </a:rPr>
                        <a:t>NAV</a:t>
                      </a:r>
                    </a:p>
                  </a:txBody>
                  <a:tcPr marL="45720" marR="45720" marT="9144" marB="9144" anchor="ctr">
                    <a:noFill/>
                  </a:tcPr>
                </a:tc>
                <a:tc>
                  <a:txBody>
                    <a:bodyPr/>
                    <a:lstStyle/>
                    <a:p>
                      <a:pPr algn="r"/>
                      <a:r>
                        <a:rPr sz="950" b="0" i="0">
                          <a:solidFill>
                            <a:srgbClr val="1E1E1E"/>
                          </a:solidFill>
                          <a:latin typeface="Gill Sans MT"/>
                        </a:rPr>
                        <a:t>30.611</a:t>
                      </a:r>
                    </a:p>
                  </a:txBody>
                  <a:tcPr marL="45720" marR="45720" marT="9144" marB="9144" anchor="ctr">
                    <a:noFill/>
                  </a:tcPr>
                </a:tc>
                <a:extLst>
                  <a:ext uri="{0D108BD9-81ED-4DB2-BD59-A6C34878D82A}">
                    <a16:rowId xmlns:a16="http://schemas.microsoft.com/office/drawing/2014/main" val="10001"/>
                  </a:ext>
                </a:extLst>
              </a:tr>
              <a:tr h="242316">
                <a:tc>
                  <a:txBody>
                    <a:bodyPr/>
                    <a:lstStyle/>
                    <a:p>
                      <a:pPr algn="l"/>
                      <a:r>
                        <a:rPr sz="950" b="0" i="0">
                          <a:solidFill>
                            <a:srgbClr val="1E1E1E"/>
                          </a:solidFill>
                          <a:latin typeface="Gill Sans MT"/>
                        </a:rPr>
                        <a:t>DPI</a:t>
                      </a:r>
                    </a:p>
                  </a:txBody>
                  <a:tcPr marL="45720" marR="45720" marT="9144" marB="9144" anchor="ctr">
                    <a:noFill/>
                  </a:tcPr>
                </a:tc>
                <a:tc>
                  <a:txBody>
                    <a:bodyPr/>
                    <a:lstStyle/>
                    <a:p>
                      <a:pPr algn="r"/>
                      <a:r>
                        <a:rPr sz="950" b="0" i="0">
                          <a:solidFill>
                            <a:srgbClr val="1E1E1E"/>
                          </a:solidFill>
                          <a:latin typeface="Gill Sans MT"/>
                        </a:rPr>
                        <a:t>0,00x</a:t>
                      </a:r>
                    </a:p>
                  </a:txBody>
                  <a:tcPr marL="45720" marR="45720" marT="9144" marB="9144" anchor="ctr">
                    <a:noFill/>
                  </a:tcPr>
                </a:tc>
                <a:extLst>
                  <a:ext uri="{0D108BD9-81ED-4DB2-BD59-A6C34878D82A}">
                    <a16:rowId xmlns:a16="http://schemas.microsoft.com/office/drawing/2014/main" val="10002"/>
                  </a:ext>
                </a:extLst>
              </a:tr>
              <a:tr h="242316">
                <a:tc>
                  <a:txBody>
                    <a:bodyPr/>
                    <a:lstStyle/>
                    <a:p>
                      <a:pPr algn="l"/>
                      <a:r>
                        <a:rPr sz="950" b="0" i="0">
                          <a:solidFill>
                            <a:srgbClr val="1E1E1E"/>
                          </a:solidFill>
                          <a:latin typeface="Gill Sans MT"/>
                        </a:rPr>
                        <a:t>TVPI</a:t>
                      </a:r>
                    </a:p>
                  </a:txBody>
                  <a:tcPr marL="45720" marR="45720" marT="9144" marB="9144" anchor="ctr">
                    <a:noFill/>
                  </a:tcPr>
                </a:tc>
                <a:tc>
                  <a:txBody>
                    <a:bodyPr/>
                    <a:lstStyle/>
                    <a:p>
                      <a:pPr algn="r"/>
                      <a:r>
                        <a:rPr sz="950" b="0" i="0">
                          <a:solidFill>
                            <a:srgbClr val="1E1E1E"/>
                          </a:solidFill>
                          <a:latin typeface="Gill Sans MT"/>
                        </a:rPr>
                        <a:t>1,37x</a:t>
                      </a:r>
                    </a:p>
                  </a:txBody>
                  <a:tcPr marL="45720" marR="45720" marT="9144" marB="9144" anchor="ctr">
                    <a:noFill/>
                  </a:tcPr>
                </a:tc>
                <a:extLst>
                  <a:ext uri="{0D108BD9-81ED-4DB2-BD59-A6C34878D82A}">
                    <a16:rowId xmlns:a16="http://schemas.microsoft.com/office/drawing/2014/main" val="10003"/>
                  </a:ext>
                </a:extLst>
              </a:tr>
              <a:tr h="242316">
                <a:tc>
                  <a:txBody>
                    <a:bodyPr/>
                    <a:lstStyle/>
                    <a:p>
                      <a:pPr algn="l"/>
                      <a:r>
                        <a:rPr sz="950" b="0" i="0">
                          <a:solidFill>
                            <a:srgbClr val="1E1E1E"/>
                          </a:solidFill>
                          <a:latin typeface="Gill Sans MT"/>
                        </a:rPr>
                        <a:t>IRR</a:t>
                      </a:r>
                    </a:p>
                  </a:txBody>
                  <a:tcPr marL="45720" marR="45720" marT="9144" marB="9144" anchor="ctr">
                    <a:noFill/>
                  </a:tcPr>
                </a:tc>
                <a:tc>
                  <a:txBody>
                    <a:bodyPr/>
                    <a:lstStyle/>
                    <a:p>
                      <a:pPr algn="r"/>
                      <a:r>
                        <a:rPr sz="950" b="0" i="0">
                          <a:solidFill>
                            <a:srgbClr val="1E1E1E"/>
                          </a:solidFill>
                          <a:latin typeface="Gill Sans MT"/>
                        </a:rPr>
                        <a:t>9,3 %</a:t>
                      </a:r>
                    </a:p>
                  </a:txBody>
                  <a:tcPr marL="45720" marR="45720" marT="9144" marB="9144" anchor="ctr">
                    <a:noFill/>
                  </a:tcPr>
                </a:tc>
                <a:extLst>
                  <a:ext uri="{0D108BD9-81ED-4DB2-BD59-A6C34878D82A}">
                    <a16:rowId xmlns:a16="http://schemas.microsoft.com/office/drawing/2014/main" val="10004"/>
                  </a:ext>
                </a:extLst>
              </a:tr>
            </a:tbl>
          </a:graphicData>
        </a:graphic>
      </p:graphicFrame>
      <p:sp>
        <p:nvSpPr>
          <p:cNvPr id="20" name="TextBox 19"/>
          <p:cNvSpPr txBox="1"/>
          <p:nvPr/>
        </p:nvSpPr>
        <p:spPr>
          <a:xfrm>
            <a:off x="603504" y="2743200"/>
            <a:ext cx="9491472" cy="201168"/>
          </a:xfrm>
          <a:prstGeom prst="rect">
            <a:avLst/>
          </a:prstGeom>
          <a:noFill/>
        </p:spPr>
        <p:txBody>
          <a:bodyPr wrap="square" lIns="0" tIns="0" rIns="0" bIns="0" anchor="t">
            <a:spAutoFit/>
          </a:bodyPr>
          <a:lstStyle/>
          <a:p>
            <a:pPr algn="l"/>
            <a:r>
              <a:rPr sz="1050" b="1" i="0">
                <a:solidFill>
                  <a:srgbClr val="545B4A"/>
                </a:solidFill>
                <a:latin typeface="Gill Sans MT"/>
              </a:rPr>
              <a:t>Underliggende fonde – A/S Motortramps andel (tDKK)</a:t>
            </a:r>
          </a:p>
        </p:txBody>
      </p:sp>
      <p:graphicFrame>
        <p:nvGraphicFramePr>
          <p:cNvPr id="21" name="Table 20"/>
          <p:cNvGraphicFramePr>
            <a:graphicFrameLocks noGrp="1"/>
          </p:cNvGraphicFramePr>
          <p:nvPr/>
        </p:nvGraphicFramePr>
        <p:xfrm>
          <a:off x="603504" y="2999232"/>
          <a:ext cx="9491471" cy="1522476"/>
        </p:xfrm>
        <a:graphic>
          <a:graphicData uri="http://schemas.openxmlformats.org/drawingml/2006/table">
            <a:tbl>
              <a:tblPr>
                <a:tableStyleId>{2D5ABB26-0587-4C30-8999-92F81FD0307C}</a:tableStyleId>
              </a:tblPr>
              <a:tblGrid>
                <a:gridCol w="2838571">
                  <a:extLst>
                    <a:ext uri="{9D8B030D-6E8A-4147-A177-3AD203B41FA5}">
                      <a16:colId xmlns:a16="http://schemas.microsoft.com/office/drawing/2014/main" val="20000"/>
                    </a:ext>
                  </a:extLst>
                </a:gridCol>
                <a:gridCol w="798348">
                  <a:extLst>
                    <a:ext uri="{9D8B030D-6E8A-4147-A177-3AD203B41FA5}">
                      <a16:colId xmlns:a16="http://schemas.microsoft.com/office/drawing/2014/main" val="20001"/>
                    </a:ext>
                  </a:extLst>
                </a:gridCol>
                <a:gridCol w="1064464">
                  <a:extLst>
                    <a:ext uri="{9D8B030D-6E8A-4147-A177-3AD203B41FA5}">
                      <a16:colId xmlns:a16="http://schemas.microsoft.com/office/drawing/2014/main" val="20002"/>
                    </a:ext>
                  </a:extLst>
                </a:gridCol>
                <a:gridCol w="1064464">
                  <a:extLst>
                    <a:ext uri="{9D8B030D-6E8A-4147-A177-3AD203B41FA5}">
                      <a16:colId xmlns:a16="http://schemas.microsoft.com/office/drawing/2014/main" val="20003"/>
                    </a:ext>
                  </a:extLst>
                </a:gridCol>
                <a:gridCol w="1064464">
                  <a:extLst>
                    <a:ext uri="{9D8B030D-6E8A-4147-A177-3AD203B41FA5}">
                      <a16:colId xmlns:a16="http://schemas.microsoft.com/office/drawing/2014/main" val="20004"/>
                    </a:ext>
                  </a:extLst>
                </a:gridCol>
                <a:gridCol w="1064464">
                  <a:extLst>
                    <a:ext uri="{9D8B030D-6E8A-4147-A177-3AD203B41FA5}">
                      <a16:colId xmlns:a16="http://schemas.microsoft.com/office/drawing/2014/main" val="20005"/>
                    </a:ext>
                  </a:extLst>
                </a:gridCol>
                <a:gridCol w="798348">
                  <a:extLst>
                    <a:ext uri="{9D8B030D-6E8A-4147-A177-3AD203B41FA5}">
                      <a16:colId xmlns:a16="http://schemas.microsoft.com/office/drawing/2014/main" val="20006"/>
                    </a:ext>
                  </a:extLst>
                </a:gridCol>
                <a:gridCol w="798348">
                  <a:extLst>
                    <a:ext uri="{9D8B030D-6E8A-4147-A177-3AD203B41FA5}">
                      <a16:colId xmlns:a16="http://schemas.microsoft.com/office/drawing/2014/main" val="20007"/>
                    </a:ext>
                  </a:extLst>
                </a:gridCol>
              </a:tblGrid>
              <a:tr h="169164">
                <a:tc>
                  <a:txBody>
                    <a:bodyPr/>
                    <a:lstStyle/>
                    <a:p>
                      <a:pPr algn="l"/>
                      <a:r>
                        <a:rPr sz="800" b="1" i="0">
                          <a:solidFill>
                            <a:srgbClr val="FFFFFF"/>
                          </a:solidFill>
                          <a:latin typeface="Gill Sans MT"/>
                        </a:rPr>
                        <a:t>Fond</a:t>
                      </a:r>
                    </a:p>
                  </a:txBody>
                  <a:tcPr marL="45720" marR="45720" marT="9144" marB="9144" anchor="ctr">
                    <a:solidFill>
                      <a:srgbClr val="545B4A"/>
                    </a:solidFill>
                  </a:tcPr>
                </a:tc>
                <a:tc>
                  <a:txBody>
                    <a:bodyPr/>
                    <a:lstStyle/>
                    <a:p>
                      <a:pPr algn="ctr"/>
                      <a:r>
                        <a:rPr sz="800" b="1" i="0">
                          <a:solidFill>
                            <a:srgbClr val="FFFFFF"/>
                          </a:solidFill>
                          <a:latin typeface="Gill Sans MT"/>
                        </a:rPr>
                        <a:t>Vintage</a:t>
                      </a:r>
                    </a:p>
                  </a:txBody>
                  <a:tcPr marL="45720" marR="45720" marT="9144" marB="9144" anchor="ctr">
                    <a:solidFill>
                      <a:srgbClr val="545B4A"/>
                    </a:solidFill>
                  </a:tcPr>
                </a:tc>
                <a:tc>
                  <a:txBody>
                    <a:bodyPr/>
                    <a:lstStyle/>
                    <a:p>
                      <a:pPr algn="r"/>
                      <a:r>
                        <a:rPr sz="800" b="1" i="0">
                          <a:solidFill>
                            <a:srgbClr val="FFFFFF"/>
                          </a:solidFill>
                          <a:latin typeface="Gill Sans MT"/>
                        </a:rPr>
                        <a:t>Kostpris</a:t>
                      </a:r>
                    </a:p>
                  </a:txBody>
                  <a:tcPr marL="45720" marR="45720" marT="9144" marB="9144" anchor="ctr">
                    <a:solidFill>
                      <a:srgbClr val="545B4A"/>
                    </a:solidFill>
                  </a:tcPr>
                </a:tc>
                <a:tc>
                  <a:txBody>
                    <a:bodyPr/>
                    <a:lstStyle/>
                    <a:p>
                      <a:pPr algn="r"/>
                      <a:r>
                        <a:rPr sz="800" b="1" i="0">
                          <a:solidFill>
                            <a:srgbClr val="FFFFFF"/>
                          </a:solidFill>
                          <a:latin typeface="Gill Sans MT"/>
                        </a:rPr>
                        <a:t>Dagsværdi</a:t>
                      </a:r>
                    </a:p>
                  </a:txBody>
                  <a:tcPr marL="45720" marR="45720" marT="9144" marB="9144" anchor="ctr">
                    <a:solidFill>
                      <a:srgbClr val="545B4A"/>
                    </a:solidFill>
                  </a:tcPr>
                </a:tc>
                <a:tc>
                  <a:txBody>
                    <a:bodyPr/>
                    <a:lstStyle/>
                    <a:p>
                      <a:pPr algn="r"/>
                      <a:r>
                        <a:rPr sz="800" b="1" i="0">
                          <a:solidFill>
                            <a:srgbClr val="FFFFFF"/>
                          </a:solidFill>
                          <a:latin typeface="Gill Sans MT"/>
                        </a:rPr>
                        <a:t>Udloddet</a:t>
                      </a:r>
                    </a:p>
                  </a:txBody>
                  <a:tcPr marL="45720" marR="45720" marT="9144" marB="9144" anchor="ctr">
                    <a:solidFill>
                      <a:srgbClr val="545B4A"/>
                    </a:solidFill>
                  </a:tcPr>
                </a:tc>
                <a:tc>
                  <a:txBody>
                    <a:bodyPr/>
                    <a:lstStyle/>
                    <a:p>
                      <a:pPr algn="r"/>
                      <a:r>
                        <a:rPr sz="800" b="1" i="0">
                          <a:solidFill>
                            <a:srgbClr val="FFFFFF"/>
                          </a:solidFill>
                          <a:latin typeface="Gill Sans MT"/>
                        </a:rPr>
                        <a:t>Total værdi</a:t>
                      </a:r>
                    </a:p>
                  </a:txBody>
                  <a:tcPr marL="45720" marR="45720" marT="9144" marB="9144" anchor="ctr">
                    <a:solidFill>
                      <a:srgbClr val="545B4A"/>
                    </a:solidFill>
                  </a:tcPr>
                </a:tc>
                <a:tc>
                  <a:txBody>
                    <a:bodyPr/>
                    <a:lstStyle/>
                    <a:p>
                      <a:pPr algn="r"/>
                      <a:r>
                        <a:rPr sz="800" b="1" i="0">
                          <a:solidFill>
                            <a:srgbClr val="FFFFFF"/>
                          </a:solidFill>
                          <a:latin typeface="Gill Sans MT"/>
                        </a:rPr>
                        <a:t>TVPI</a:t>
                      </a:r>
                    </a:p>
                  </a:txBody>
                  <a:tcPr marL="45720" marR="45720" marT="9144" marB="9144" anchor="ctr">
                    <a:solidFill>
                      <a:srgbClr val="545B4A"/>
                    </a:solidFill>
                  </a:tcPr>
                </a:tc>
                <a:tc>
                  <a:txBody>
                    <a:bodyPr/>
                    <a:lstStyle/>
                    <a:p>
                      <a:pPr algn="r"/>
                      <a:r>
                        <a:rPr sz="800" b="1" i="0">
                          <a:solidFill>
                            <a:srgbClr val="FFFFFF"/>
                          </a:solidFill>
                          <a:latin typeface="Gill Sans MT"/>
                        </a:rPr>
                        <a:t>IRR</a:t>
                      </a:r>
                    </a:p>
                  </a:txBody>
                  <a:tcPr marL="45720" marR="45720" marT="9144" marB="9144" anchor="ctr">
                    <a:solidFill>
                      <a:srgbClr val="545B4A"/>
                    </a:solidFill>
                  </a:tcPr>
                </a:tc>
                <a:extLst>
                  <a:ext uri="{0D108BD9-81ED-4DB2-BD59-A6C34878D82A}">
                    <a16:rowId xmlns:a16="http://schemas.microsoft.com/office/drawing/2014/main" val="10000"/>
                  </a:ext>
                </a:extLst>
              </a:tr>
              <a:tr h="169164">
                <a:tc>
                  <a:txBody>
                    <a:bodyPr/>
                    <a:lstStyle/>
                    <a:p>
                      <a:pPr algn="l"/>
                      <a:r>
                        <a:rPr sz="800" b="0" i="0">
                          <a:solidFill>
                            <a:srgbClr val="1E1E1E"/>
                          </a:solidFill>
                          <a:latin typeface="Gill Sans MT"/>
                        </a:rPr>
                        <a:t>ACF VIII</a:t>
                      </a:r>
                    </a:p>
                  </a:txBody>
                  <a:tcPr marL="45720" marR="45720" marT="9144" marB="9144" anchor="ctr">
                    <a:noFill/>
                  </a:tcPr>
                </a:tc>
                <a:tc>
                  <a:txBody>
                    <a:bodyPr/>
                    <a:lstStyle/>
                    <a:p>
                      <a:pPr algn="ctr"/>
                      <a:r>
                        <a:rPr sz="800" b="0" i="0">
                          <a:solidFill>
                            <a:srgbClr val="1E1E1E"/>
                          </a:solidFill>
                          <a:latin typeface="Gill Sans MT"/>
                        </a:rPr>
                        <a:t>2021</a:t>
                      </a:r>
                    </a:p>
                  </a:txBody>
                  <a:tcPr marL="45720" marR="45720" marT="9144" marB="9144" anchor="ctr">
                    <a:noFill/>
                  </a:tcPr>
                </a:tc>
                <a:tc>
                  <a:txBody>
                    <a:bodyPr/>
                    <a:lstStyle/>
                    <a:p>
                      <a:pPr algn="r"/>
                      <a:r>
                        <a:rPr sz="800" b="0" i="0">
                          <a:solidFill>
                            <a:srgbClr val="1E1E1E"/>
                          </a:solidFill>
                          <a:latin typeface="Gill Sans MT"/>
                        </a:rPr>
                        <a:t>10.830</a:t>
                      </a:r>
                    </a:p>
                  </a:txBody>
                  <a:tcPr marL="45720" marR="45720" marT="9144" marB="9144" anchor="ctr">
                    <a:noFill/>
                  </a:tcPr>
                </a:tc>
                <a:tc>
                  <a:txBody>
                    <a:bodyPr/>
                    <a:lstStyle/>
                    <a:p>
                      <a:pPr algn="r"/>
                      <a:r>
                        <a:rPr sz="800" b="0" i="0">
                          <a:solidFill>
                            <a:srgbClr val="1E1E1E"/>
                          </a:solidFill>
                          <a:latin typeface="Gill Sans MT"/>
                        </a:rPr>
                        <a:t>12.301</a:t>
                      </a:r>
                    </a:p>
                  </a:txBody>
                  <a:tcPr marL="45720" marR="45720" marT="9144" marB="9144" anchor="ctr">
                    <a:noFill/>
                  </a:tcPr>
                </a:tc>
                <a:tc>
                  <a:txBody>
                    <a:bodyPr/>
                    <a:lstStyle/>
                    <a:p>
                      <a:pPr algn="r"/>
                      <a:r>
                        <a:rPr sz="800" b="0" i="0">
                          <a:solidFill>
                            <a:srgbClr val="1E1E1E"/>
                          </a:solidFill>
                          <a:latin typeface="Gill Sans MT"/>
                        </a:rPr>
                        <a:t>1.610</a:t>
                      </a:r>
                    </a:p>
                  </a:txBody>
                  <a:tcPr marL="45720" marR="45720" marT="9144" marB="9144" anchor="ctr">
                    <a:noFill/>
                  </a:tcPr>
                </a:tc>
                <a:tc>
                  <a:txBody>
                    <a:bodyPr/>
                    <a:lstStyle/>
                    <a:p>
                      <a:pPr algn="r"/>
                      <a:r>
                        <a:rPr sz="800" b="0" i="0">
                          <a:solidFill>
                            <a:srgbClr val="1E1E1E"/>
                          </a:solidFill>
                          <a:latin typeface="Gill Sans MT"/>
                        </a:rPr>
                        <a:t>13.911</a:t>
                      </a:r>
                    </a:p>
                  </a:txBody>
                  <a:tcPr marL="45720" marR="45720" marT="9144" marB="9144" anchor="ctr">
                    <a:noFill/>
                  </a:tcPr>
                </a:tc>
                <a:tc>
                  <a:txBody>
                    <a:bodyPr/>
                    <a:lstStyle/>
                    <a:p>
                      <a:pPr algn="r"/>
                      <a:r>
                        <a:rPr sz="800" b="0" i="0">
                          <a:solidFill>
                            <a:srgbClr val="1E1E1E"/>
                          </a:solidFill>
                          <a:latin typeface="Gill Sans MT"/>
                        </a:rPr>
                        <a:t>1,28x</a:t>
                      </a:r>
                    </a:p>
                  </a:txBody>
                  <a:tcPr marL="45720" marR="45720" marT="9144" marB="9144" anchor="ctr">
                    <a:noFill/>
                  </a:tcPr>
                </a:tc>
                <a:tc>
                  <a:txBody>
                    <a:bodyPr/>
                    <a:lstStyle/>
                    <a:p>
                      <a:pPr algn="r"/>
                      <a:r>
                        <a:rPr sz="800" b="0" i="0">
                          <a:solidFill>
                            <a:srgbClr val="1E1E1E"/>
                          </a:solidFill>
                          <a:latin typeface="Gill Sans MT"/>
                        </a:rPr>
                        <a:t>7,5 %</a:t>
                      </a:r>
                    </a:p>
                  </a:txBody>
                  <a:tcPr marL="45720" marR="45720" marT="9144" marB="9144" anchor="ctr">
                    <a:noFill/>
                  </a:tcPr>
                </a:tc>
                <a:extLst>
                  <a:ext uri="{0D108BD9-81ED-4DB2-BD59-A6C34878D82A}">
                    <a16:rowId xmlns:a16="http://schemas.microsoft.com/office/drawing/2014/main" val="10001"/>
                  </a:ext>
                </a:extLst>
              </a:tr>
              <a:tr h="169164">
                <a:tc>
                  <a:txBody>
                    <a:bodyPr/>
                    <a:lstStyle/>
                    <a:p>
                      <a:pPr algn="l"/>
                      <a:r>
                        <a:rPr sz="800" b="0" i="0">
                          <a:solidFill>
                            <a:srgbClr val="1E1E1E"/>
                          </a:solidFill>
                          <a:latin typeface="Gill Sans MT"/>
                        </a:rPr>
                        <a:t>Nautic X</a:t>
                      </a:r>
                    </a:p>
                  </a:txBody>
                  <a:tcPr marL="45720" marR="45720" marT="9144" marB="9144" anchor="ctr">
                    <a:solidFill>
                      <a:srgbClr val="F4F2EB"/>
                    </a:solidFill>
                  </a:tcPr>
                </a:tc>
                <a:tc>
                  <a:txBody>
                    <a:bodyPr/>
                    <a:lstStyle/>
                    <a:p>
                      <a:pPr algn="ctr"/>
                      <a:r>
                        <a:rPr sz="800" b="0" i="0">
                          <a:solidFill>
                            <a:srgbClr val="1E1E1E"/>
                          </a:solidFill>
                          <a:latin typeface="Gill Sans MT"/>
                        </a:rPr>
                        <a:t>2021</a:t>
                      </a:r>
                    </a:p>
                  </a:txBody>
                  <a:tcPr marL="45720" marR="45720" marT="9144" marB="9144" anchor="ctr">
                    <a:solidFill>
                      <a:srgbClr val="F4F2EB"/>
                    </a:solidFill>
                  </a:tcPr>
                </a:tc>
                <a:tc>
                  <a:txBody>
                    <a:bodyPr/>
                    <a:lstStyle/>
                    <a:p>
                      <a:pPr algn="r"/>
                      <a:r>
                        <a:rPr sz="800" b="0" i="0">
                          <a:solidFill>
                            <a:srgbClr val="1E1E1E"/>
                          </a:solidFill>
                          <a:latin typeface="Gill Sans MT"/>
                        </a:rPr>
                        <a:t>3.496</a:t>
                      </a:r>
                    </a:p>
                  </a:txBody>
                  <a:tcPr marL="45720" marR="45720" marT="9144" marB="9144" anchor="ctr">
                    <a:solidFill>
                      <a:srgbClr val="F4F2EB"/>
                    </a:solidFill>
                  </a:tcPr>
                </a:tc>
                <a:tc>
                  <a:txBody>
                    <a:bodyPr/>
                    <a:lstStyle/>
                    <a:p>
                      <a:pPr algn="r"/>
                      <a:r>
                        <a:rPr sz="800" b="0" i="0">
                          <a:solidFill>
                            <a:srgbClr val="1E1E1E"/>
                          </a:solidFill>
                          <a:latin typeface="Gill Sans MT"/>
                        </a:rPr>
                        <a:t>5.284</a:t>
                      </a:r>
                    </a:p>
                  </a:txBody>
                  <a:tcPr marL="45720" marR="45720" marT="9144" marB="9144" anchor="ctr">
                    <a:solidFill>
                      <a:srgbClr val="F4F2EB"/>
                    </a:solidFill>
                  </a:tcPr>
                </a:tc>
                <a:tc>
                  <a:txBody>
                    <a:bodyPr/>
                    <a:lstStyle/>
                    <a:p>
                      <a:pPr algn="r"/>
                      <a:r>
                        <a:rPr sz="800" b="0" i="0">
                          <a:solidFill>
                            <a:srgbClr val="1E1E1E"/>
                          </a:solidFill>
                          <a:latin typeface="Gill Sans MT"/>
                        </a:rPr>
                        <a:t>112</a:t>
                      </a:r>
                    </a:p>
                  </a:txBody>
                  <a:tcPr marL="45720" marR="45720" marT="9144" marB="9144" anchor="ctr">
                    <a:solidFill>
                      <a:srgbClr val="F4F2EB"/>
                    </a:solidFill>
                  </a:tcPr>
                </a:tc>
                <a:tc>
                  <a:txBody>
                    <a:bodyPr/>
                    <a:lstStyle/>
                    <a:p>
                      <a:pPr algn="r"/>
                      <a:r>
                        <a:rPr sz="800" b="0" i="0">
                          <a:solidFill>
                            <a:srgbClr val="1E1E1E"/>
                          </a:solidFill>
                          <a:latin typeface="Gill Sans MT"/>
                        </a:rPr>
                        <a:t>5.396</a:t>
                      </a:r>
                    </a:p>
                  </a:txBody>
                  <a:tcPr marL="45720" marR="45720" marT="9144" marB="9144" anchor="ctr">
                    <a:solidFill>
                      <a:srgbClr val="F4F2EB"/>
                    </a:solidFill>
                  </a:tcPr>
                </a:tc>
                <a:tc>
                  <a:txBody>
                    <a:bodyPr/>
                    <a:lstStyle/>
                    <a:p>
                      <a:pPr algn="r"/>
                      <a:r>
                        <a:rPr sz="800" b="0" i="0">
                          <a:solidFill>
                            <a:srgbClr val="1E1E1E"/>
                          </a:solidFill>
                          <a:latin typeface="Gill Sans MT"/>
                        </a:rPr>
                        <a:t>1,54x</a:t>
                      </a:r>
                    </a:p>
                  </a:txBody>
                  <a:tcPr marL="45720" marR="45720" marT="9144" marB="9144" anchor="ctr">
                    <a:solidFill>
                      <a:srgbClr val="F4F2EB"/>
                    </a:solidFill>
                  </a:tcPr>
                </a:tc>
                <a:tc>
                  <a:txBody>
                    <a:bodyPr/>
                    <a:lstStyle/>
                    <a:p>
                      <a:pPr algn="r"/>
                      <a:r>
                        <a:rPr sz="800" b="0" i="0">
                          <a:solidFill>
                            <a:srgbClr val="1E1E1E"/>
                          </a:solidFill>
                          <a:latin typeface="Gill Sans MT"/>
                        </a:rPr>
                        <a:t>17,4 %</a:t>
                      </a:r>
                    </a:p>
                  </a:txBody>
                  <a:tcPr marL="45720" marR="45720" marT="9144" marB="9144" anchor="ctr">
                    <a:solidFill>
                      <a:srgbClr val="F4F2EB"/>
                    </a:solidFill>
                  </a:tcPr>
                </a:tc>
                <a:extLst>
                  <a:ext uri="{0D108BD9-81ED-4DB2-BD59-A6C34878D82A}">
                    <a16:rowId xmlns:a16="http://schemas.microsoft.com/office/drawing/2014/main" val="10002"/>
                  </a:ext>
                </a:extLst>
              </a:tr>
              <a:tr h="169164">
                <a:tc>
                  <a:txBody>
                    <a:bodyPr/>
                    <a:lstStyle/>
                    <a:p>
                      <a:pPr algn="l"/>
                      <a:r>
                        <a:rPr sz="800" b="0" i="0">
                          <a:solidFill>
                            <a:srgbClr val="1E1E1E"/>
                          </a:solidFill>
                          <a:latin typeface="Gill Sans MT"/>
                        </a:rPr>
                        <a:t>Axcel VI</a:t>
                      </a:r>
                    </a:p>
                  </a:txBody>
                  <a:tcPr marL="45720" marR="45720" marT="9144" marB="9144" anchor="ctr">
                    <a:noFill/>
                  </a:tcPr>
                </a:tc>
                <a:tc>
                  <a:txBody>
                    <a:bodyPr/>
                    <a:lstStyle/>
                    <a:p>
                      <a:pPr algn="ctr"/>
                      <a:r>
                        <a:rPr sz="800" b="0" i="0">
                          <a:solidFill>
                            <a:srgbClr val="1E1E1E"/>
                          </a:solidFill>
                          <a:latin typeface="Gill Sans MT"/>
                        </a:rPr>
                        <a:t>2020</a:t>
                      </a:r>
                    </a:p>
                  </a:txBody>
                  <a:tcPr marL="45720" marR="45720" marT="9144" marB="9144" anchor="ctr">
                    <a:noFill/>
                  </a:tcPr>
                </a:tc>
                <a:tc>
                  <a:txBody>
                    <a:bodyPr/>
                    <a:lstStyle/>
                    <a:p>
                      <a:pPr algn="r"/>
                      <a:r>
                        <a:rPr sz="800" b="0" i="0">
                          <a:solidFill>
                            <a:srgbClr val="1E1E1E"/>
                          </a:solidFill>
                          <a:latin typeface="Gill Sans MT"/>
                        </a:rPr>
                        <a:t>2.777</a:t>
                      </a:r>
                    </a:p>
                  </a:txBody>
                  <a:tcPr marL="45720" marR="45720" marT="9144" marB="9144" anchor="ctr">
                    <a:noFill/>
                  </a:tcPr>
                </a:tc>
                <a:tc>
                  <a:txBody>
                    <a:bodyPr/>
                    <a:lstStyle/>
                    <a:p>
                      <a:pPr algn="r"/>
                      <a:r>
                        <a:rPr sz="800" b="0" i="0">
                          <a:solidFill>
                            <a:srgbClr val="1E1E1E"/>
                          </a:solidFill>
                          <a:latin typeface="Gill Sans MT"/>
                        </a:rPr>
                        <a:t>4.148</a:t>
                      </a:r>
                    </a:p>
                  </a:txBody>
                  <a:tcPr marL="45720" marR="45720" marT="9144" marB="9144" anchor="ctr">
                    <a:noFill/>
                  </a:tcPr>
                </a:tc>
                <a:tc>
                  <a:txBody>
                    <a:bodyPr/>
                    <a:lstStyle/>
                    <a:p>
                      <a:pPr algn="r"/>
                      <a:r>
                        <a:rPr sz="800" b="0" i="0">
                          <a:solidFill>
                            <a:srgbClr val="1E1E1E"/>
                          </a:solidFill>
                          <a:latin typeface="Gill Sans MT"/>
                        </a:rPr>
                        <a:t>748</a:t>
                      </a:r>
                    </a:p>
                  </a:txBody>
                  <a:tcPr marL="45720" marR="45720" marT="9144" marB="9144" anchor="ctr">
                    <a:noFill/>
                  </a:tcPr>
                </a:tc>
                <a:tc>
                  <a:txBody>
                    <a:bodyPr/>
                    <a:lstStyle/>
                    <a:p>
                      <a:pPr algn="r"/>
                      <a:r>
                        <a:rPr sz="800" b="0" i="0">
                          <a:solidFill>
                            <a:srgbClr val="1E1E1E"/>
                          </a:solidFill>
                          <a:latin typeface="Gill Sans MT"/>
                        </a:rPr>
                        <a:t>4.897</a:t>
                      </a:r>
                    </a:p>
                  </a:txBody>
                  <a:tcPr marL="45720" marR="45720" marT="9144" marB="9144" anchor="ctr">
                    <a:noFill/>
                  </a:tcPr>
                </a:tc>
                <a:tc>
                  <a:txBody>
                    <a:bodyPr/>
                    <a:lstStyle/>
                    <a:p>
                      <a:pPr algn="r"/>
                      <a:r>
                        <a:rPr sz="800" b="0" i="0">
                          <a:solidFill>
                            <a:srgbClr val="1E1E1E"/>
                          </a:solidFill>
                          <a:latin typeface="Gill Sans MT"/>
                        </a:rPr>
                        <a:t>1,77x</a:t>
                      </a:r>
                    </a:p>
                  </a:txBody>
                  <a:tcPr marL="45720" marR="45720" marT="9144" marB="9144" anchor="ctr">
                    <a:noFill/>
                  </a:tcPr>
                </a:tc>
                <a:tc>
                  <a:txBody>
                    <a:bodyPr/>
                    <a:lstStyle/>
                    <a:p>
                      <a:pPr algn="r"/>
                      <a:r>
                        <a:rPr sz="800" b="0" i="0">
                          <a:solidFill>
                            <a:srgbClr val="1E1E1E"/>
                          </a:solidFill>
                          <a:latin typeface="Gill Sans MT"/>
                        </a:rPr>
                        <a:t>16,5 %</a:t>
                      </a:r>
                    </a:p>
                  </a:txBody>
                  <a:tcPr marL="45720" marR="45720" marT="9144" marB="9144" anchor="ctr">
                    <a:noFill/>
                  </a:tcPr>
                </a:tc>
                <a:extLst>
                  <a:ext uri="{0D108BD9-81ED-4DB2-BD59-A6C34878D82A}">
                    <a16:rowId xmlns:a16="http://schemas.microsoft.com/office/drawing/2014/main" val="10003"/>
                  </a:ext>
                </a:extLst>
              </a:tr>
              <a:tr h="169164">
                <a:tc>
                  <a:txBody>
                    <a:bodyPr/>
                    <a:lstStyle/>
                    <a:p>
                      <a:pPr algn="l"/>
                      <a:r>
                        <a:rPr sz="800" b="0" i="0">
                          <a:solidFill>
                            <a:srgbClr val="1E1E1E"/>
                          </a:solidFill>
                          <a:latin typeface="Gill Sans MT"/>
                        </a:rPr>
                        <a:t>Blue Sea II</a:t>
                      </a:r>
                    </a:p>
                  </a:txBody>
                  <a:tcPr marL="45720" marR="45720" marT="9144" marB="9144" anchor="ctr">
                    <a:solidFill>
                      <a:srgbClr val="F4F2EB"/>
                    </a:solidFill>
                  </a:tcPr>
                </a:tc>
                <a:tc>
                  <a:txBody>
                    <a:bodyPr/>
                    <a:lstStyle/>
                    <a:p>
                      <a:pPr algn="ctr"/>
                      <a:r>
                        <a:rPr sz="800" b="0" i="0">
                          <a:solidFill>
                            <a:srgbClr val="1E1E1E"/>
                          </a:solidFill>
                          <a:latin typeface="Gill Sans MT"/>
                        </a:rPr>
                        <a:t>2019</a:t>
                      </a:r>
                    </a:p>
                  </a:txBody>
                  <a:tcPr marL="45720" marR="45720" marT="9144" marB="9144" anchor="ctr">
                    <a:solidFill>
                      <a:srgbClr val="F4F2EB"/>
                    </a:solidFill>
                  </a:tcPr>
                </a:tc>
                <a:tc>
                  <a:txBody>
                    <a:bodyPr/>
                    <a:lstStyle/>
                    <a:p>
                      <a:pPr algn="r"/>
                      <a:r>
                        <a:rPr sz="800" b="0" i="0">
                          <a:solidFill>
                            <a:srgbClr val="1E1E1E"/>
                          </a:solidFill>
                          <a:latin typeface="Gill Sans MT"/>
                        </a:rPr>
                        <a:t>2.375</a:t>
                      </a:r>
                    </a:p>
                  </a:txBody>
                  <a:tcPr marL="45720" marR="45720" marT="9144" marB="9144" anchor="ctr">
                    <a:solidFill>
                      <a:srgbClr val="F4F2EB"/>
                    </a:solidFill>
                  </a:tcPr>
                </a:tc>
                <a:tc>
                  <a:txBody>
                    <a:bodyPr/>
                    <a:lstStyle/>
                    <a:p>
                      <a:pPr algn="r"/>
                      <a:r>
                        <a:rPr sz="800" b="0" i="0">
                          <a:solidFill>
                            <a:srgbClr val="1E1E1E"/>
                          </a:solidFill>
                          <a:latin typeface="Gill Sans MT"/>
                        </a:rPr>
                        <a:t>3.970</a:t>
                      </a:r>
                    </a:p>
                  </a:txBody>
                  <a:tcPr marL="45720" marR="45720" marT="9144" marB="9144" anchor="ctr">
                    <a:solidFill>
                      <a:srgbClr val="F4F2EB"/>
                    </a:solidFill>
                  </a:tcPr>
                </a:tc>
                <a:tc>
                  <a:txBody>
                    <a:bodyPr/>
                    <a:lstStyle/>
                    <a:p>
                      <a:pPr algn="r"/>
                      <a:r>
                        <a:rPr sz="800" b="0" i="0">
                          <a:solidFill>
                            <a:srgbClr val="1E1E1E"/>
                          </a:solidFill>
                          <a:latin typeface="Gill Sans MT"/>
                        </a:rPr>
                        <a:t>0</a:t>
                      </a:r>
                    </a:p>
                  </a:txBody>
                  <a:tcPr marL="45720" marR="45720" marT="9144" marB="9144" anchor="ctr">
                    <a:solidFill>
                      <a:srgbClr val="F4F2EB"/>
                    </a:solidFill>
                  </a:tcPr>
                </a:tc>
                <a:tc>
                  <a:txBody>
                    <a:bodyPr/>
                    <a:lstStyle/>
                    <a:p>
                      <a:pPr algn="r"/>
                      <a:r>
                        <a:rPr sz="800" b="0" i="0">
                          <a:solidFill>
                            <a:srgbClr val="1E1E1E"/>
                          </a:solidFill>
                          <a:latin typeface="Gill Sans MT"/>
                        </a:rPr>
                        <a:t>3.970</a:t>
                      </a:r>
                    </a:p>
                  </a:txBody>
                  <a:tcPr marL="45720" marR="45720" marT="9144" marB="9144" anchor="ctr">
                    <a:solidFill>
                      <a:srgbClr val="F4F2EB"/>
                    </a:solidFill>
                  </a:tcPr>
                </a:tc>
                <a:tc>
                  <a:txBody>
                    <a:bodyPr/>
                    <a:lstStyle/>
                    <a:p>
                      <a:pPr algn="r"/>
                      <a:r>
                        <a:rPr sz="800" b="0" i="0">
                          <a:solidFill>
                            <a:srgbClr val="1E1E1E"/>
                          </a:solidFill>
                          <a:latin typeface="Gill Sans MT"/>
                        </a:rPr>
                        <a:t>1,67x</a:t>
                      </a:r>
                    </a:p>
                  </a:txBody>
                  <a:tcPr marL="45720" marR="45720" marT="9144" marB="9144" anchor="ctr">
                    <a:solidFill>
                      <a:srgbClr val="F4F2EB"/>
                    </a:solidFill>
                  </a:tcPr>
                </a:tc>
                <a:tc>
                  <a:txBody>
                    <a:bodyPr/>
                    <a:lstStyle/>
                    <a:p>
                      <a:pPr algn="r"/>
                      <a:r>
                        <a:rPr sz="800" b="0" i="0">
                          <a:solidFill>
                            <a:srgbClr val="1E1E1E"/>
                          </a:solidFill>
                          <a:latin typeface="Gill Sans MT"/>
                        </a:rPr>
                        <a:t>12,4 %</a:t>
                      </a:r>
                    </a:p>
                  </a:txBody>
                  <a:tcPr marL="45720" marR="45720" marT="9144" marB="9144" anchor="ctr">
                    <a:solidFill>
                      <a:srgbClr val="F4F2EB"/>
                    </a:solidFill>
                  </a:tcPr>
                </a:tc>
                <a:extLst>
                  <a:ext uri="{0D108BD9-81ED-4DB2-BD59-A6C34878D82A}">
                    <a16:rowId xmlns:a16="http://schemas.microsoft.com/office/drawing/2014/main" val="10004"/>
                  </a:ext>
                </a:extLst>
              </a:tr>
              <a:tr h="169164">
                <a:tc>
                  <a:txBody>
                    <a:bodyPr/>
                    <a:lstStyle/>
                    <a:p>
                      <a:pPr algn="l"/>
                      <a:r>
                        <a:rPr sz="800" b="0" i="0">
                          <a:solidFill>
                            <a:srgbClr val="1E1E1E"/>
                          </a:solidFill>
                          <a:latin typeface="Gill Sans MT"/>
                        </a:rPr>
                        <a:t>TA XIV</a:t>
                      </a:r>
                    </a:p>
                  </a:txBody>
                  <a:tcPr marL="45720" marR="45720" marT="9144" marB="9144" anchor="ctr">
                    <a:noFill/>
                  </a:tcPr>
                </a:tc>
                <a:tc>
                  <a:txBody>
                    <a:bodyPr/>
                    <a:lstStyle/>
                    <a:p>
                      <a:pPr algn="ctr"/>
                      <a:r>
                        <a:rPr sz="800" b="0" i="0">
                          <a:solidFill>
                            <a:srgbClr val="1E1E1E"/>
                          </a:solidFill>
                          <a:latin typeface="Gill Sans MT"/>
                        </a:rPr>
                        <a:t>2021</a:t>
                      </a:r>
                    </a:p>
                  </a:txBody>
                  <a:tcPr marL="45720" marR="45720" marT="9144" marB="9144" anchor="ctr">
                    <a:noFill/>
                  </a:tcPr>
                </a:tc>
                <a:tc>
                  <a:txBody>
                    <a:bodyPr/>
                    <a:lstStyle/>
                    <a:p>
                      <a:pPr algn="r"/>
                      <a:r>
                        <a:rPr sz="800" b="0" i="0">
                          <a:solidFill>
                            <a:srgbClr val="1E1E1E"/>
                          </a:solidFill>
                          <a:latin typeface="Gill Sans MT"/>
                        </a:rPr>
                        <a:t>2.652</a:t>
                      </a:r>
                    </a:p>
                  </a:txBody>
                  <a:tcPr marL="45720" marR="45720" marT="9144" marB="9144" anchor="ctr">
                    <a:noFill/>
                  </a:tcPr>
                </a:tc>
                <a:tc>
                  <a:txBody>
                    <a:bodyPr/>
                    <a:lstStyle/>
                    <a:p>
                      <a:pPr algn="r"/>
                      <a:r>
                        <a:rPr sz="800" b="0" i="0">
                          <a:solidFill>
                            <a:srgbClr val="1E1E1E"/>
                          </a:solidFill>
                          <a:latin typeface="Gill Sans MT"/>
                        </a:rPr>
                        <a:t>2.337</a:t>
                      </a:r>
                    </a:p>
                  </a:txBody>
                  <a:tcPr marL="45720" marR="45720" marT="9144" marB="9144" anchor="ctr">
                    <a:noFill/>
                  </a:tcPr>
                </a:tc>
                <a:tc>
                  <a:txBody>
                    <a:bodyPr/>
                    <a:lstStyle/>
                    <a:p>
                      <a:pPr algn="r"/>
                      <a:r>
                        <a:rPr sz="800" b="0" i="0">
                          <a:solidFill>
                            <a:srgbClr val="1E1E1E"/>
                          </a:solidFill>
                          <a:latin typeface="Gill Sans MT"/>
                        </a:rPr>
                        <a:t>598</a:t>
                      </a:r>
                    </a:p>
                  </a:txBody>
                  <a:tcPr marL="45720" marR="45720" marT="9144" marB="9144" anchor="ctr">
                    <a:noFill/>
                  </a:tcPr>
                </a:tc>
                <a:tc>
                  <a:txBody>
                    <a:bodyPr/>
                    <a:lstStyle/>
                    <a:p>
                      <a:pPr algn="r"/>
                      <a:r>
                        <a:rPr sz="800" b="0" i="0">
                          <a:solidFill>
                            <a:srgbClr val="1E1E1E"/>
                          </a:solidFill>
                          <a:latin typeface="Gill Sans MT"/>
                        </a:rPr>
                        <a:t>2.935</a:t>
                      </a:r>
                    </a:p>
                  </a:txBody>
                  <a:tcPr marL="45720" marR="45720" marT="9144" marB="9144" anchor="ctr">
                    <a:noFill/>
                  </a:tcPr>
                </a:tc>
                <a:tc>
                  <a:txBody>
                    <a:bodyPr/>
                    <a:lstStyle/>
                    <a:p>
                      <a:pPr algn="r"/>
                      <a:r>
                        <a:rPr sz="800" b="0" i="0">
                          <a:solidFill>
                            <a:srgbClr val="1E1E1E"/>
                          </a:solidFill>
                          <a:latin typeface="Gill Sans MT"/>
                        </a:rPr>
                        <a:t>1,11x</a:t>
                      </a:r>
                    </a:p>
                  </a:txBody>
                  <a:tcPr marL="45720" marR="45720" marT="9144" marB="9144" anchor="ctr">
                    <a:noFill/>
                  </a:tcPr>
                </a:tc>
                <a:tc>
                  <a:txBody>
                    <a:bodyPr/>
                    <a:lstStyle/>
                    <a:p>
                      <a:pPr algn="r"/>
                      <a:r>
                        <a:rPr sz="800" b="0" i="0">
                          <a:solidFill>
                            <a:srgbClr val="1E1E1E"/>
                          </a:solidFill>
                          <a:latin typeface="Gill Sans MT"/>
                        </a:rPr>
                        <a:t>3,3 %</a:t>
                      </a:r>
                    </a:p>
                  </a:txBody>
                  <a:tcPr marL="45720" marR="45720" marT="9144" marB="9144" anchor="ctr">
                    <a:noFill/>
                  </a:tcPr>
                </a:tc>
                <a:extLst>
                  <a:ext uri="{0D108BD9-81ED-4DB2-BD59-A6C34878D82A}">
                    <a16:rowId xmlns:a16="http://schemas.microsoft.com/office/drawing/2014/main" val="10005"/>
                  </a:ext>
                </a:extLst>
              </a:tr>
              <a:tr h="169164">
                <a:tc>
                  <a:txBody>
                    <a:bodyPr/>
                    <a:lstStyle/>
                    <a:p>
                      <a:pPr algn="l"/>
                      <a:r>
                        <a:rPr sz="800" b="0" i="0">
                          <a:solidFill>
                            <a:srgbClr val="1E1E1E"/>
                          </a:solidFill>
                          <a:latin typeface="Gill Sans MT"/>
                        </a:rPr>
                        <a:t>Astorg VIII</a:t>
                      </a:r>
                    </a:p>
                  </a:txBody>
                  <a:tcPr marL="45720" marR="45720" marT="9144" marB="9144" anchor="ctr">
                    <a:solidFill>
                      <a:srgbClr val="F4F2EB"/>
                    </a:solidFill>
                  </a:tcPr>
                </a:tc>
                <a:tc>
                  <a:txBody>
                    <a:bodyPr/>
                    <a:lstStyle/>
                    <a:p>
                      <a:pPr algn="ctr"/>
                      <a:r>
                        <a:rPr sz="800" b="0" i="0">
                          <a:solidFill>
                            <a:srgbClr val="1E1E1E"/>
                          </a:solidFill>
                          <a:latin typeface="Gill Sans MT"/>
                        </a:rPr>
                        <a:t>2022</a:t>
                      </a:r>
                    </a:p>
                  </a:txBody>
                  <a:tcPr marL="45720" marR="45720" marT="9144" marB="9144" anchor="ctr">
                    <a:solidFill>
                      <a:srgbClr val="F4F2EB"/>
                    </a:solidFill>
                  </a:tcPr>
                </a:tc>
                <a:tc>
                  <a:txBody>
                    <a:bodyPr/>
                    <a:lstStyle/>
                    <a:p>
                      <a:pPr algn="r"/>
                      <a:r>
                        <a:rPr sz="800" b="0" i="0">
                          <a:solidFill>
                            <a:srgbClr val="1E1E1E"/>
                          </a:solidFill>
                          <a:latin typeface="Gill Sans MT"/>
                        </a:rPr>
                        <a:t>2.100</a:t>
                      </a:r>
                    </a:p>
                  </a:txBody>
                  <a:tcPr marL="45720" marR="45720" marT="9144" marB="9144" anchor="ctr">
                    <a:solidFill>
                      <a:srgbClr val="F4F2EB"/>
                    </a:solidFill>
                  </a:tcPr>
                </a:tc>
                <a:tc>
                  <a:txBody>
                    <a:bodyPr/>
                    <a:lstStyle/>
                    <a:p>
                      <a:pPr algn="r"/>
                      <a:r>
                        <a:rPr sz="800" b="0" i="0">
                          <a:solidFill>
                            <a:srgbClr val="1E1E1E"/>
                          </a:solidFill>
                          <a:latin typeface="Gill Sans MT"/>
                        </a:rPr>
                        <a:t>2.488</a:t>
                      </a:r>
                    </a:p>
                  </a:txBody>
                  <a:tcPr marL="45720" marR="45720" marT="9144" marB="9144" anchor="ctr">
                    <a:solidFill>
                      <a:srgbClr val="F4F2EB"/>
                    </a:solidFill>
                  </a:tcPr>
                </a:tc>
                <a:tc>
                  <a:txBody>
                    <a:bodyPr/>
                    <a:lstStyle/>
                    <a:p>
                      <a:pPr algn="r"/>
                      <a:r>
                        <a:rPr sz="800" b="0" i="0">
                          <a:solidFill>
                            <a:srgbClr val="1E1E1E"/>
                          </a:solidFill>
                          <a:latin typeface="Gill Sans MT"/>
                        </a:rPr>
                        <a:t>42</a:t>
                      </a:r>
                    </a:p>
                  </a:txBody>
                  <a:tcPr marL="45720" marR="45720" marT="9144" marB="9144" anchor="ctr">
                    <a:solidFill>
                      <a:srgbClr val="F4F2EB"/>
                    </a:solidFill>
                  </a:tcPr>
                </a:tc>
                <a:tc>
                  <a:txBody>
                    <a:bodyPr/>
                    <a:lstStyle/>
                    <a:p>
                      <a:pPr algn="r"/>
                      <a:r>
                        <a:rPr sz="800" b="0" i="0">
                          <a:solidFill>
                            <a:srgbClr val="1E1E1E"/>
                          </a:solidFill>
                          <a:latin typeface="Gill Sans MT"/>
                        </a:rPr>
                        <a:t>2.529</a:t>
                      </a:r>
                    </a:p>
                  </a:txBody>
                  <a:tcPr marL="45720" marR="45720" marT="9144" marB="9144" anchor="ctr">
                    <a:solidFill>
                      <a:srgbClr val="F4F2EB"/>
                    </a:solidFill>
                  </a:tcPr>
                </a:tc>
                <a:tc>
                  <a:txBody>
                    <a:bodyPr/>
                    <a:lstStyle/>
                    <a:p>
                      <a:pPr algn="r"/>
                      <a:r>
                        <a:rPr sz="800" b="0" i="0">
                          <a:solidFill>
                            <a:srgbClr val="1E1E1E"/>
                          </a:solidFill>
                          <a:latin typeface="Gill Sans MT"/>
                        </a:rPr>
                        <a:t>1,20x</a:t>
                      </a:r>
                    </a:p>
                  </a:txBody>
                  <a:tcPr marL="45720" marR="45720" marT="9144" marB="9144" anchor="ctr">
                    <a:solidFill>
                      <a:srgbClr val="F4F2EB"/>
                    </a:solidFill>
                  </a:tcPr>
                </a:tc>
                <a:tc>
                  <a:txBody>
                    <a:bodyPr/>
                    <a:lstStyle/>
                    <a:p>
                      <a:pPr algn="r"/>
                      <a:r>
                        <a:rPr sz="800" b="0" i="0">
                          <a:solidFill>
                            <a:srgbClr val="1E1E1E"/>
                          </a:solidFill>
                          <a:latin typeface="Gill Sans MT"/>
                        </a:rPr>
                        <a:t>8,1 %</a:t>
                      </a:r>
                    </a:p>
                  </a:txBody>
                  <a:tcPr marL="45720" marR="45720" marT="9144" marB="9144" anchor="ctr">
                    <a:solidFill>
                      <a:srgbClr val="F4F2EB"/>
                    </a:solidFill>
                  </a:tcPr>
                </a:tc>
                <a:extLst>
                  <a:ext uri="{0D108BD9-81ED-4DB2-BD59-A6C34878D82A}">
                    <a16:rowId xmlns:a16="http://schemas.microsoft.com/office/drawing/2014/main" val="10006"/>
                  </a:ext>
                </a:extLst>
              </a:tr>
              <a:tr h="169164">
                <a:tc>
                  <a:txBody>
                    <a:bodyPr/>
                    <a:lstStyle/>
                    <a:p>
                      <a:pPr algn="l"/>
                      <a:r>
                        <a:rPr sz="800" b="0" i="0">
                          <a:solidFill>
                            <a:srgbClr val="1E1E1E"/>
                          </a:solidFill>
                          <a:latin typeface="Gill Sans MT"/>
                        </a:rPr>
                        <a:t>TA Select II</a:t>
                      </a:r>
                    </a:p>
                  </a:txBody>
                  <a:tcPr marL="45720" marR="45720" marT="9144" marB="9144" anchor="ctr">
                    <a:noFill/>
                  </a:tcPr>
                </a:tc>
                <a:tc>
                  <a:txBody>
                    <a:bodyPr/>
                    <a:lstStyle/>
                    <a:p>
                      <a:pPr algn="ctr"/>
                      <a:r>
                        <a:rPr sz="800" b="0" i="0">
                          <a:solidFill>
                            <a:srgbClr val="1E1E1E"/>
                          </a:solidFill>
                          <a:latin typeface="Gill Sans MT"/>
                        </a:rPr>
                        <a:t>2021</a:t>
                      </a:r>
                    </a:p>
                  </a:txBody>
                  <a:tcPr marL="45720" marR="45720" marT="9144" marB="9144" anchor="ctr">
                    <a:noFill/>
                  </a:tcPr>
                </a:tc>
                <a:tc>
                  <a:txBody>
                    <a:bodyPr/>
                    <a:lstStyle/>
                    <a:p>
                      <a:pPr algn="r"/>
                      <a:r>
                        <a:rPr sz="800" b="0" i="0">
                          <a:solidFill>
                            <a:srgbClr val="1E1E1E"/>
                          </a:solidFill>
                          <a:latin typeface="Gill Sans MT"/>
                        </a:rPr>
                        <a:t>541</a:t>
                      </a:r>
                    </a:p>
                  </a:txBody>
                  <a:tcPr marL="45720" marR="45720" marT="9144" marB="9144" anchor="ctr">
                    <a:noFill/>
                  </a:tcPr>
                </a:tc>
                <a:tc>
                  <a:txBody>
                    <a:bodyPr/>
                    <a:lstStyle/>
                    <a:p>
                      <a:pPr algn="r"/>
                      <a:r>
                        <a:rPr sz="800" b="0" i="0">
                          <a:solidFill>
                            <a:srgbClr val="1E1E1E"/>
                          </a:solidFill>
                          <a:latin typeface="Gill Sans MT"/>
                        </a:rPr>
                        <a:t>491</a:t>
                      </a:r>
                    </a:p>
                  </a:txBody>
                  <a:tcPr marL="45720" marR="45720" marT="9144" marB="9144" anchor="ctr">
                    <a:noFill/>
                  </a:tcPr>
                </a:tc>
                <a:tc>
                  <a:txBody>
                    <a:bodyPr/>
                    <a:lstStyle/>
                    <a:p>
                      <a:pPr algn="r"/>
                      <a:r>
                        <a:rPr sz="800" b="0" i="0">
                          <a:solidFill>
                            <a:srgbClr val="1E1E1E"/>
                          </a:solidFill>
                          <a:latin typeface="Gill Sans MT"/>
                        </a:rPr>
                        <a:t>8</a:t>
                      </a:r>
                    </a:p>
                  </a:txBody>
                  <a:tcPr marL="45720" marR="45720" marT="9144" marB="9144" anchor="ctr">
                    <a:noFill/>
                  </a:tcPr>
                </a:tc>
                <a:tc>
                  <a:txBody>
                    <a:bodyPr/>
                    <a:lstStyle/>
                    <a:p>
                      <a:pPr algn="r"/>
                      <a:r>
                        <a:rPr sz="800" b="0" i="0">
                          <a:solidFill>
                            <a:srgbClr val="1E1E1E"/>
                          </a:solidFill>
                          <a:latin typeface="Gill Sans MT"/>
                        </a:rPr>
                        <a:t>499</a:t>
                      </a:r>
                    </a:p>
                  </a:txBody>
                  <a:tcPr marL="45720" marR="45720" marT="9144" marB="9144" anchor="ctr">
                    <a:noFill/>
                  </a:tcPr>
                </a:tc>
                <a:tc>
                  <a:txBody>
                    <a:bodyPr/>
                    <a:lstStyle/>
                    <a:p>
                      <a:pPr algn="r"/>
                      <a:r>
                        <a:rPr sz="800" b="0" i="0">
                          <a:solidFill>
                            <a:srgbClr val="1E1E1E"/>
                          </a:solidFill>
                          <a:latin typeface="Gill Sans MT"/>
                        </a:rPr>
                        <a:t>0,92x</a:t>
                      </a:r>
                    </a:p>
                  </a:txBody>
                  <a:tcPr marL="45720" marR="45720" marT="9144" marB="9144" anchor="ctr">
                    <a:noFill/>
                  </a:tcPr>
                </a:tc>
                <a:tc>
                  <a:txBody>
                    <a:bodyPr/>
                    <a:lstStyle/>
                    <a:p>
                      <a:pPr algn="r"/>
                      <a:r>
                        <a:rPr sz="800" b="0" i="0">
                          <a:solidFill>
                            <a:srgbClr val="1E1E1E"/>
                          </a:solidFill>
                          <a:latin typeface="Gill Sans MT"/>
                        </a:rPr>
                        <a:t>n/a</a:t>
                      </a:r>
                    </a:p>
                  </a:txBody>
                  <a:tcPr marL="45720" marR="45720" marT="9144" marB="9144" anchor="ctr">
                    <a:noFill/>
                  </a:tcPr>
                </a:tc>
                <a:extLst>
                  <a:ext uri="{0D108BD9-81ED-4DB2-BD59-A6C34878D82A}">
                    <a16:rowId xmlns:a16="http://schemas.microsoft.com/office/drawing/2014/main" val="10007"/>
                  </a:ext>
                </a:extLst>
              </a:tr>
              <a:tr h="169164">
                <a:tc>
                  <a:txBody>
                    <a:bodyPr/>
                    <a:lstStyle/>
                    <a:p>
                      <a:pPr algn="l"/>
                      <a:r>
                        <a:rPr sz="800" b="1" i="0">
                          <a:solidFill>
                            <a:srgbClr val="1E1E1E"/>
                          </a:solidFill>
                          <a:latin typeface="Gill Sans MT"/>
                        </a:rPr>
                        <a:t>I alt</a:t>
                      </a:r>
                    </a:p>
                  </a:txBody>
                  <a:tcPr marL="45720" marR="45720" marT="9144" marB="9144" anchor="ctr">
                    <a:solidFill>
                      <a:srgbClr val="C9CCB8"/>
                    </a:solidFill>
                  </a:tcPr>
                </a:tc>
                <a:tc>
                  <a:txBody>
                    <a:bodyPr/>
                    <a:lstStyle/>
                    <a:p>
                      <a:pPr algn="ctr"/>
                      <a:endParaRPr/>
                    </a:p>
                  </a:txBody>
                  <a:tcPr marL="45720" marR="45720" marT="9144" marB="9144" anchor="ctr">
                    <a:solidFill>
                      <a:srgbClr val="C9CCB8"/>
                    </a:solidFill>
                  </a:tcPr>
                </a:tc>
                <a:tc>
                  <a:txBody>
                    <a:bodyPr/>
                    <a:lstStyle/>
                    <a:p>
                      <a:pPr algn="r"/>
                      <a:r>
                        <a:rPr sz="800" b="1" i="0">
                          <a:solidFill>
                            <a:srgbClr val="1E1E1E"/>
                          </a:solidFill>
                          <a:latin typeface="Gill Sans MT"/>
                        </a:rPr>
                        <a:t>24.772</a:t>
                      </a:r>
                    </a:p>
                  </a:txBody>
                  <a:tcPr marL="45720" marR="45720" marT="9144" marB="9144" anchor="ctr">
                    <a:solidFill>
                      <a:srgbClr val="C9CCB8"/>
                    </a:solidFill>
                  </a:tcPr>
                </a:tc>
                <a:tc>
                  <a:txBody>
                    <a:bodyPr/>
                    <a:lstStyle/>
                    <a:p>
                      <a:pPr algn="r"/>
                      <a:r>
                        <a:rPr sz="800" b="1" i="0">
                          <a:solidFill>
                            <a:srgbClr val="1E1E1E"/>
                          </a:solidFill>
                          <a:latin typeface="Gill Sans MT"/>
                        </a:rPr>
                        <a:t>31.018</a:t>
                      </a:r>
                    </a:p>
                  </a:txBody>
                  <a:tcPr marL="45720" marR="45720" marT="9144" marB="9144" anchor="ctr">
                    <a:solidFill>
                      <a:srgbClr val="C9CCB8"/>
                    </a:solidFill>
                  </a:tcPr>
                </a:tc>
                <a:tc>
                  <a:txBody>
                    <a:bodyPr/>
                    <a:lstStyle/>
                    <a:p>
                      <a:pPr algn="r"/>
                      <a:r>
                        <a:rPr sz="800" b="1" i="0">
                          <a:solidFill>
                            <a:srgbClr val="1E1E1E"/>
                          </a:solidFill>
                          <a:latin typeface="Gill Sans MT"/>
                        </a:rPr>
                        <a:t>3.118</a:t>
                      </a:r>
                    </a:p>
                  </a:txBody>
                  <a:tcPr marL="45720" marR="45720" marT="9144" marB="9144" anchor="ctr">
                    <a:solidFill>
                      <a:srgbClr val="C9CCB8"/>
                    </a:solidFill>
                  </a:tcPr>
                </a:tc>
                <a:tc>
                  <a:txBody>
                    <a:bodyPr/>
                    <a:lstStyle/>
                    <a:p>
                      <a:pPr algn="r"/>
                      <a:r>
                        <a:rPr sz="800" b="1" i="0">
                          <a:solidFill>
                            <a:srgbClr val="1E1E1E"/>
                          </a:solidFill>
                          <a:latin typeface="Gill Sans MT"/>
                        </a:rPr>
                        <a:t>34.137</a:t>
                      </a:r>
                    </a:p>
                  </a:txBody>
                  <a:tcPr marL="45720" marR="45720" marT="9144" marB="9144" anchor="ctr">
                    <a:solidFill>
                      <a:srgbClr val="C9CCB8"/>
                    </a:solidFill>
                  </a:tcPr>
                </a:tc>
                <a:tc>
                  <a:txBody>
                    <a:bodyPr/>
                    <a:lstStyle/>
                    <a:p>
                      <a:pPr algn="r"/>
                      <a:r>
                        <a:rPr sz="800" b="1" i="0">
                          <a:solidFill>
                            <a:srgbClr val="1E1E1E"/>
                          </a:solidFill>
                          <a:latin typeface="Gill Sans MT"/>
                        </a:rPr>
                        <a:t>1,38x</a:t>
                      </a:r>
                    </a:p>
                  </a:txBody>
                  <a:tcPr marL="45720" marR="45720" marT="9144" marB="9144" anchor="ctr">
                    <a:solidFill>
                      <a:srgbClr val="C9CCB8"/>
                    </a:solidFill>
                  </a:tcPr>
                </a:tc>
                <a:tc>
                  <a:txBody>
                    <a:bodyPr/>
                    <a:lstStyle/>
                    <a:p>
                      <a:pPr algn="r"/>
                      <a:endParaRPr/>
                    </a:p>
                  </a:txBody>
                  <a:tcPr marL="45720" marR="45720" marT="9144" marB="9144" anchor="ctr">
                    <a:solidFill>
                      <a:srgbClr val="C9CCB8"/>
                    </a:solidFill>
                  </a:tcPr>
                </a:tc>
                <a:extLst>
                  <a:ext uri="{0D108BD9-81ED-4DB2-BD59-A6C34878D82A}">
                    <a16:rowId xmlns:a16="http://schemas.microsoft.com/office/drawing/2014/main" val="10008"/>
                  </a:ext>
                </a:extLst>
              </a:tr>
            </a:tbl>
          </a:graphicData>
        </a:graphic>
      </p:graphicFrame>
      <p:sp>
        <p:nvSpPr>
          <p:cNvPr id="22" name="TextBox 21"/>
          <p:cNvSpPr txBox="1"/>
          <p:nvPr/>
        </p:nvSpPr>
        <p:spPr>
          <a:xfrm>
            <a:off x="603504" y="5394960"/>
            <a:ext cx="9491472" cy="457200"/>
          </a:xfrm>
          <a:prstGeom prst="rect">
            <a:avLst/>
          </a:prstGeom>
          <a:noFill/>
        </p:spPr>
        <p:txBody>
          <a:bodyPr wrap="square" lIns="0" tIns="0" rIns="0" bIns="0" anchor="t">
            <a:spAutoFit/>
          </a:bodyPr>
          <a:lstStyle/>
          <a:p>
            <a:pPr algn="l"/>
            <a:r>
              <a:rPr sz="700" b="0" i="1">
                <a:solidFill>
                  <a:srgbClr val="1E1E1E"/>
                </a:solidFill>
                <a:latin typeface="Gill Sans MT"/>
              </a:rPr>
              <a:t>Kilde: GP-rapporter og egne beregninger. Fondens beholdninger pr. 30.06.2026 ganget med ejerandelen. Kostpris er tilsagn × indbetalt andel, hvor GP ikke oplyser den; TVPI og IRR pr. fond er GP'ens. Efter NAV-datoen: udlodning 2.653 tDKK (26.08.2026) – ikke medregnet. Fondsbeskrivelse, geografi og segment er et udkast og ikke gennemgået. GP'ens egne nøgletal: TVPI 1,37x, IRR 9,2 %.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0"/>
          <a:lstStyle/>
          <a:p>
            <a:r>
              <a:t>K Alternativ Private Equity 2022 K/S</a:t>
            </a:r>
          </a:p>
        </p:txBody>
      </p:sp>
      <p:pic>
        <p:nvPicPr>
          <p:cNvPr id="3" name="Picture 2" descr="image.png"/>
          <p:cNvPicPr>
            <a:picLocks noChangeAspect="1"/>
          </p:cNvPicPr>
          <p:nvPr/>
        </p:nvPicPr>
        <p:blipFill>
          <a:blip r:embed="rId2"/>
          <a:stretch>
            <a:fillRect/>
          </a:stretch>
        </p:blipFill>
        <p:spPr>
          <a:xfrm>
            <a:off x="8677655" y="310330"/>
            <a:ext cx="1417320" cy="238874"/>
          </a:xfrm>
          <a:prstGeom prst="rect">
            <a:avLst/>
          </a:prstGeom>
        </p:spPr>
      </p:pic>
      <p:sp>
        <p:nvSpPr>
          <p:cNvPr id="4" name="TextBox 3"/>
          <p:cNvSpPr txBox="1"/>
          <p:nvPr/>
        </p:nvSpPr>
        <p:spPr>
          <a:xfrm>
            <a:off x="603504" y="786384"/>
            <a:ext cx="9491472" cy="201168"/>
          </a:xfrm>
          <a:prstGeom prst="rect">
            <a:avLst/>
          </a:prstGeom>
          <a:noFill/>
        </p:spPr>
        <p:txBody>
          <a:bodyPr wrap="square" lIns="0" tIns="0" rIns="0" bIns="0" anchor="t">
            <a:spAutoFit/>
          </a:bodyPr>
          <a:lstStyle/>
          <a:p>
            <a:pPr algn="l"/>
            <a:r>
              <a:rPr sz="950" b="0" i="0">
                <a:solidFill>
                  <a:srgbClr val="1E1E1E"/>
                </a:solidFill>
                <a:latin typeface="Gill Sans MT"/>
              </a:rPr>
              <a:t>A/S Motortramp  ·  pr. 30.06.2026  ·  beløb i tDKK</a:t>
            </a:r>
          </a:p>
        </p:txBody>
      </p:sp>
      <p:sp>
        <p:nvSpPr>
          <p:cNvPr id="5" name="TextBox 4"/>
          <p:cNvSpPr txBox="1"/>
          <p:nvPr/>
        </p:nvSpPr>
        <p:spPr>
          <a:xfrm>
            <a:off x="603504" y="1115568"/>
            <a:ext cx="2971800" cy="201168"/>
          </a:xfrm>
          <a:prstGeom prst="rect">
            <a:avLst/>
          </a:prstGeom>
          <a:noFill/>
        </p:spPr>
        <p:txBody>
          <a:bodyPr wrap="square" lIns="0" tIns="0" rIns="0" bIns="0" anchor="t">
            <a:spAutoFit/>
          </a:bodyPr>
          <a:lstStyle/>
          <a:p>
            <a:pPr algn="l"/>
            <a:r>
              <a:rPr sz="1050" b="1" i="0">
                <a:solidFill>
                  <a:srgbClr val="545B4A"/>
                </a:solidFill>
                <a:latin typeface="Gill Sans MT"/>
              </a:rPr>
              <a:t>Kort beskrivelse af fonden</a:t>
            </a:r>
          </a:p>
        </p:txBody>
      </p:sp>
      <p:cxnSp>
        <p:nvCxnSpPr>
          <p:cNvPr id="6" name="Connector 5"/>
          <p:cNvCxnSpPr/>
          <p:nvPr/>
        </p:nvCxnSpPr>
        <p:spPr>
          <a:xfrm>
            <a:off x="603504" y="1344168"/>
            <a:ext cx="297180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3504" y="1426464"/>
            <a:ext cx="2971800" cy="1271016"/>
          </a:xfrm>
          <a:prstGeom prst="rect">
            <a:avLst/>
          </a:prstGeom>
          <a:noFill/>
        </p:spPr>
        <p:txBody>
          <a:bodyPr wrap="square" lIns="0" tIns="0" rIns="0" bIns="0" anchor="t">
            <a:spAutoFit/>
          </a:bodyPr>
          <a:lstStyle/>
          <a:p>
            <a:pPr algn="l"/>
            <a:r>
              <a:rPr sz="950" b="0" i="0">
                <a:solidFill>
                  <a:srgbClr val="1E1E1E"/>
                </a:solidFill>
                <a:latin typeface="Gill Sans MT"/>
              </a:rPr>
              <a:t>K Alternativ Private Equity 2022 er en fund of funds forvaltet af Alternative Equity Partners med AlpInvest som porteføljeforvalter. Fonden har givet tilsagn til 11 underliggende kapitalfonde hos otte forvaltere, primært buyout-fonde i Europa og Nordamerika.</a:t>
            </a:r>
          </a:p>
        </p:txBody>
      </p:sp>
      <p:cxnSp>
        <p:nvCxnSpPr>
          <p:cNvPr id="8" name="Connector 7"/>
          <p:cNvCxnSpPr/>
          <p:nvPr/>
        </p:nvCxnSpPr>
        <p:spPr>
          <a:xfrm>
            <a:off x="3717035" y="1115568"/>
            <a:ext cx="0" cy="1490472"/>
          </a:xfrm>
          <a:prstGeom prst="line">
            <a:avLst/>
          </a:prstGeom>
          <a:ln w="9525">
            <a:solidFill>
              <a:srgbClr val="C9CCB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40780" y="1115568"/>
            <a:ext cx="0" cy="1490472"/>
          </a:xfrm>
          <a:prstGeom prst="line">
            <a:avLst/>
          </a:prstGeom>
          <a:ln w="9525">
            <a:solidFill>
              <a:srgbClr val="C9CCB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307324" y="1115568"/>
            <a:ext cx="0" cy="1490472"/>
          </a:xfrm>
          <a:prstGeom prst="line">
            <a:avLst/>
          </a:prstGeom>
          <a:ln w="9525">
            <a:solidFill>
              <a:srgbClr val="C9CCB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858768" y="1115568"/>
            <a:ext cx="2240280" cy="201168"/>
          </a:xfrm>
          <a:prstGeom prst="rect">
            <a:avLst/>
          </a:prstGeom>
          <a:noFill/>
        </p:spPr>
        <p:txBody>
          <a:bodyPr wrap="square" lIns="0" tIns="0" rIns="0" bIns="0" anchor="t">
            <a:spAutoFit/>
          </a:bodyPr>
          <a:lstStyle/>
          <a:p>
            <a:pPr algn="l"/>
            <a:r>
              <a:rPr sz="1050" b="1" i="0">
                <a:solidFill>
                  <a:srgbClr val="545B4A"/>
                </a:solidFill>
                <a:latin typeface="Gill Sans MT"/>
              </a:rPr>
              <a:t>Fondsidentitet</a:t>
            </a:r>
          </a:p>
        </p:txBody>
      </p:sp>
      <p:cxnSp>
        <p:nvCxnSpPr>
          <p:cNvPr id="12" name="Connector 11"/>
          <p:cNvCxnSpPr/>
          <p:nvPr/>
        </p:nvCxnSpPr>
        <p:spPr>
          <a:xfrm>
            <a:off x="3858768" y="1344168"/>
            <a:ext cx="224028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3813048" y="1399032"/>
          <a:ext cx="2331719" cy="1211580"/>
        </p:xfrm>
        <a:graphic>
          <a:graphicData uri="http://schemas.openxmlformats.org/drawingml/2006/table">
            <a:tbl>
              <a:tblPr>
                <a:tableStyleId>{2D5ABB26-0587-4C30-8999-92F81FD0307C}</a:tableStyleId>
              </a:tblPr>
              <a:tblGrid>
                <a:gridCol w="951722">
                  <a:extLst>
                    <a:ext uri="{9D8B030D-6E8A-4147-A177-3AD203B41FA5}">
                      <a16:colId xmlns:a16="http://schemas.microsoft.com/office/drawing/2014/main" val="20000"/>
                    </a:ext>
                  </a:extLst>
                </a:gridCol>
                <a:gridCol w="1379997">
                  <a:extLst>
                    <a:ext uri="{9D8B030D-6E8A-4147-A177-3AD203B41FA5}">
                      <a16:colId xmlns:a16="http://schemas.microsoft.com/office/drawing/2014/main" val="20001"/>
                    </a:ext>
                  </a:extLst>
                </a:gridCol>
              </a:tblGrid>
              <a:tr h="242316">
                <a:tc>
                  <a:txBody>
                    <a:bodyPr/>
                    <a:lstStyle/>
                    <a:p>
                      <a:pPr algn="l"/>
                      <a:r>
                        <a:rPr sz="950" b="0" i="0">
                          <a:solidFill>
                            <a:srgbClr val="1E1E1E"/>
                          </a:solidFill>
                          <a:latin typeface="Gill Sans MT"/>
                        </a:rPr>
                        <a:t>Geografi</a:t>
                      </a:r>
                    </a:p>
                  </a:txBody>
                  <a:tcPr marL="45720" marR="45720" marT="9144" marB="9144" anchor="ctr">
                    <a:noFill/>
                  </a:tcPr>
                </a:tc>
                <a:tc>
                  <a:txBody>
                    <a:bodyPr/>
                    <a:lstStyle/>
                    <a:p>
                      <a:pPr algn="r"/>
                      <a:r>
                        <a:rPr sz="950" b="0" i="0">
                          <a:solidFill>
                            <a:srgbClr val="1E1E1E"/>
                          </a:solidFill>
                          <a:latin typeface="Gill Sans MT"/>
                        </a:rPr>
                        <a:t>Europa og Nordamerika</a:t>
                      </a:r>
                    </a:p>
                  </a:txBody>
                  <a:tcPr marL="45720" marR="45720" marT="9144" marB="9144" anchor="ctr">
                    <a:noFill/>
                  </a:tcPr>
                </a:tc>
                <a:extLst>
                  <a:ext uri="{0D108BD9-81ED-4DB2-BD59-A6C34878D82A}">
                    <a16:rowId xmlns:a16="http://schemas.microsoft.com/office/drawing/2014/main" val="10000"/>
                  </a:ext>
                </a:extLst>
              </a:tr>
              <a:tr h="242316">
                <a:tc>
                  <a:txBody>
                    <a:bodyPr/>
                    <a:lstStyle/>
                    <a:p>
                      <a:pPr algn="l"/>
                      <a:r>
                        <a:rPr sz="950" b="0" i="0">
                          <a:solidFill>
                            <a:srgbClr val="1E1E1E"/>
                          </a:solidFill>
                          <a:latin typeface="Gill Sans MT"/>
                        </a:rPr>
                        <a:t>Segment</a:t>
                      </a:r>
                    </a:p>
                  </a:txBody>
                  <a:tcPr marL="45720" marR="45720" marT="9144" marB="9144" anchor="ctr">
                    <a:noFill/>
                  </a:tcPr>
                </a:tc>
                <a:tc>
                  <a:txBody>
                    <a:bodyPr/>
                    <a:lstStyle/>
                    <a:p>
                      <a:pPr algn="r"/>
                      <a:r>
                        <a:rPr sz="950" b="0" i="0">
                          <a:solidFill>
                            <a:srgbClr val="1E1E1E"/>
                          </a:solidFill>
                          <a:latin typeface="Gill Sans MT"/>
                        </a:rPr>
                        <a:t>Fund of funds</a:t>
                      </a:r>
                    </a:p>
                  </a:txBody>
                  <a:tcPr marL="45720" marR="45720" marT="9144" marB="9144" anchor="ctr">
                    <a:noFill/>
                  </a:tcPr>
                </a:tc>
                <a:extLst>
                  <a:ext uri="{0D108BD9-81ED-4DB2-BD59-A6C34878D82A}">
                    <a16:rowId xmlns:a16="http://schemas.microsoft.com/office/drawing/2014/main" val="10001"/>
                  </a:ext>
                </a:extLst>
              </a:tr>
              <a:tr h="242316">
                <a:tc>
                  <a:txBody>
                    <a:bodyPr/>
                    <a:lstStyle/>
                    <a:p>
                      <a:pPr algn="l"/>
                      <a:r>
                        <a:rPr sz="950" b="0" i="0">
                          <a:solidFill>
                            <a:srgbClr val="1E1E1E"/>
                          </a:solidFill>
                          <a:latin typeface="Gill Sans MT"/>
                        </a:rPr>
                        <a:t>Fondsvaluta</a:t>
                      </a:r>
                    </a:p>
                  </a:txBody>
                  <a:tcPr marL="45720" marR="45720" marT="9144" marB="9144" anchor="ctr">
                    <a:noFill/>
                  </a:tcPr>
                </a:tc>
                <a:tc>
                  <a:txBody>
                    <a:bodyPr/>
                    <a:lstStyle/>
                    <a:p>
                      <a:pPr algn="r"/>
                      <a:r>
                        <a:rPr sz="950" b="0" i="0">
                          <a:solidFill>
                            <a:srgbClr val="1E1E1E"/>
                          </a:solidFill>
                          <a:latin typeface="Gill Sans MT"/>
                        </a:rPr>
                        <a:t>DKK</a:t>
                      </a:r>
                    </a:p>
                  </a:txBody>
                  <a:tcPr marL="45720" marR="45720" marT="9144" marB="9144" anchor="ctr">
                    <a:noFill/>
                  </a:tcPr>
                </a:tc>
                <a:extLst>
                  <a:ext uri="{0D108BD9-81ED-4DB2-BD59-A6C34878D82A}">
                    <a16:rowId xmlns:a16="http://schemas.microsoft.com/office/drawing/2014/main" val="10002"/>
                  </a:ext>
                </a:extLst>
              </a:tr>
              <a:tr h="242316">
                <a:tc>
                  <a:txBody>
                    <a:bodyPr/>
                    <a:lstStyle/>
                    <a:p>
                      <a:pPr algn="l"/>
                      <a:r>
                        <a:rPr sz="950" b="0" i="0">
                          <a:solidFill>
                            <a:srgbClr val="1E1E1E"/>
                          </a:solidFill>
                          <a:latin typeface="Gill Sans MT"/>
                        </a:rPr>
                        <a:t>Fondsstørrelse</a:t>
                      </a:r>
                    </a:p>
                  </a:txBody>
                  <a:tcPr marL="45720" marR="45720" marT="9144" marB="9144" anchor="ctr">
                    <a:noFill/>
                  </a:tcPr>
                </a:tc>
                <a:tc>
                  <a:txBody>
                    <a:bodyPr/>
                    <a:lstStyle/>
                    <a:p>
                      <a:pPr algn="r"/>
                      <a:r>
                        <a:rPr sz="950" b="0" i="0">
                          <a:solidFill>
                            <a:srgbClr val="1E1E1E"/>
                          </a:solidFill>
                          <a:latin typeface="Gill Sans MT"/>
                        </a:rPr>
                        <a:t>841.400</a:t>
                      </a:r>
                    </a:p>
                  </a:txBody>
                  <a:tcPr marL="45720" marR="45720" marT="9144" marB="9144" anchor="ctr">
                    <a:noFill/>
                  </a:tcPr>
                </a:tc>
                <a:extLst>
                  <a:ext uri="{0D108BD9-81ED-4DB2-BD59-A6C34878D82A}">
                    <a16:rowId xmlns:a16="http://schemas.microsoft.com/office/drawing/2014/main" val="10003"/>
                  </a:ext>
                </a:extLst>
              </a:tr>
              <a:tr h="242316">
                <a:tc>
                  <a:txBody>
                    <a:bodyPr/>
                    <a:lstStyle/>
                    <a:p>
                      <a:pPr algn="l"/>
                      <a:r>
                        <a:rPr sz="950" b="0" i="0">
                          <a:solidFill>
                            <a:srgbClr val="1E1E1E"/>
                          </a:solidFill>
                          <a:latin typeface="Gill Sans MT"/>
                        </a:rPr>
                        <a:t>Vintage</a:t>
                      </a:r>
                    </a:p>
                  </a:txBody>
                  <a:tcPr marL="45720" marR="45720" marT="9144" marB="9144" anchor="ctr">
                    <a:noFill/>
                  </a:tcPr>
                </a:tc>
                <a:tc>
                  <a:txBody>
                    <a:bodyPr/>
                    <a:lstStyle/>
                    <a:p>
                      <a:pPr algn="r"/>
                      <a:r>
                        <a:rPr sz="950" b="0" i="0">
                          <a:solidFill>
                            <a:srgbClr val="1E1E1E"/>
                          </a:solidFill>
                          <a:latin typeface="Gill Sans MT"/>
                        </a:rPr>
                        <a:t>2022</a:t>
                      </a:r>
                    </a:p>
                  </a:txBody>
                  <a:tcPr marL="45720" marR="45720" marT="9144" marB="9144" anchor="ctr">
                    <a:noFill/>
                  </a:tcPr>
                </a:tc>
                <a:extLst>
                  <a:ext uri="{0D108BD9-81ED-4DB2-BD59-A6C34878D82A}">
                    <a16:rowId xmlns:a16="http://schemas.microsoft.com/office/drawing/2014/main" val="10004"/>
                  </a:ext>
                </a:extLst>
              </a:tr>
            </a:tbl>
          </a:graphicData>
        </a:graphic>
      </p:graphicFrame>
      <p:sp>
        <p:nvSpPr>
          <p:cNvPr id="14" name="TextBox 13"/>
          <p:cNvSpPr txBox="1"/>
          <p:nvPr/>
        </p:nvSpPr>
        <p:spPr>
          <a:xfrm>
            <a:off x="6382512" y="1115568"/>
            <a:ext cx="1783080" cy="201168"/>
          </a:xfrm>
          <a:prstGeom prst="rect">
            <a:avLst/>
          </a:prstGeom>
          <a:noFill/>
        </p:spPr>
        <p:txBody>
          <a:bodyPr wrap="square" lIns="0" tIns="0" rIns="0" bIns="0" anchor="t">
            <a:spAutoFit/>
          </a:bodyPr>
          <a:lstStyle/>
          <a:p>
            <a:pPr algn="l"/>
            <a:r>
              <a:rPr sz="1050" b="1" i="0">
                <a:solidFill>
                  <a:srgbClr val="545B4A"/>
                </a:solidFill>
                <a:latin typeface="Gill Sans MT"/>
              </a:rPr>
              <a:t>A/S Motortramps tilsagn</a:t>
            </a:r>
          </a:p>
        </p:txBody>
      </p:sp>
      <p:cxnSp>
        <p:nvCxnSpPr>
          <p:cNvPr id="15" name="Connector 14"/>
          <p:cNvCxnSpPr/>
          <p:nvPr/>
        </p:nvCxnSpPr>
        <p:spPr>
          <a:xfrm>
            <a:off x="6382512" y="1344168"/>
            <a:ext cx="178308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graphicFrame>
        <p:nvGraphicFramePr>
          <p:cNvPr id="16" name="Table 15"/>
          <p:cNvGraphicFramePr>
            <a:graphicFrameLocks noGrp="1"/>
          </p:cNvGraphicFramePr>
          <p:nvPr/>
        </p:nvGraphicFramePr>
        <p:xfrm>
          <a:off x="6336792" y="1399032"/>
          <a:ext cx="1874519" cy="1211580"/>
        </p:xfrm>
        <a:graphic>
          <a:graphicData uri="http://schemas.openxmlformats.org/drawingml/2006/table">
            <a:tbl>
              <a:tblPr>
                <a:tableStyleId>{2D5ABB26-0587-4C30-8999-92F81FD0307C}</a:tableStyleId>
              </a:tblPr>
              <a:tblGrid>
                <a:gridCol w="1002650">
                  <a:extLst>
                    <a:ext uri="{9D8B030D-6E8A-4147-A177-3AD203B41FA5}">
                      <a16:colId xmlns:a16="http://schemas.microsoft.com/office/drawing/2014/main" val="20000"/>
                    </a:ext>
                  </a:extLst>
                </a:gridCol>
                <a:gridCol w="871869">
                  <a:extLst>
                    <a:ext uri="{9D8B030D-6E8A-4147-A177-3AD203B41FA5}">
                      <a16:colId xmlns:a16="http://schemas.microsoft.com/office/drawing/2014/main" val="20001"/>
                    </a:ext>
                  </a:extLst>
                </a:gridCol>
              </a:tblGrid>
              <a:tr h="242316">
                <a:tc>
                  <a:txBody>
                    <a:bodyPr/>
                    <a:lstStyle/>
                    <a:p>
                      <a:pPr algn="l"/>
                      <a:r>
                        <a:rPr sz="950" b="0" i="0">
                          <a:solidFill>
                            <a:srgbClr val="1E1E1E"/>
                          </a:solidFill>
                          <a:latin typeface="Gill Sans MT"/>
                        </a:rPr>
                        <a:t>Tilsagn</a:t>
                      </a:r>
                    </a:p>
                  </a:txBody>
                  <a:tcPr marL="45720" marR="45720" marT="9144" marB="9144" anchor="ctr">
                    <a:noFill/>
                  </a:tcPr>
                </a:tc>
                <a:tc>
                  <a:txBody>
                    <a:bodyPr/>
                    <a:lstStyle/>
                    <a:p>
                      <a:pPr algn="r"/>
                      <a:r>
                        <a:rPr sz="950" b="0" i="0">
                          <a:solidFill>
                            <a:srgbClr val="1E1E1E"/>
                          </a:solidFill>
                          <a:latin typeface="Gill Sans MT"/>
                        </a:rPr>
                        <a:t>14.000</a:t>
                      </a:r>
                    </a:p>
                  </a:txBody>
                  <a:tcPr marL="45720" marR="45720" marT="9144" marB="9144" anchor="ctr">
                    <a:noFill/>
                  </a:tcPr>
                </a:tc>
                <a:extLst>
                  <a:ext uri="{0D108BD9-81ED-4DB2-BD59-A6C34878D82A}">
                    <a16:rowId xmlns:a16="http://schemas.microsoft.com/office/drawing/2014/main" val="10000"/>
                  </a:ext>
                </a:extLst>
              </a:tr>
              <a:tr h="242316">
                <a:tc>
                  <a:txBody>
                    <a:bodyPr/>
                    <a:lstStyle/>
                    <a:p>
                      <a:pPr algn="l"/>
                      <a:r>
                        <a:rPr sz="950" b="0" i="0">
                          <a:solidFill>
                            <a:srgbClr val="1E1E1E"/>
                          </a:solidFill>
                          <a:latin typeface="Gill Sans MT"/>
                        </a:rPr>
                        <a:t>Ejerandel</a:t>
                      </a:r>
                    </a:p>
                  </a:txBody>
                  <a:tcPr marL="45720" marR="45720" marT="9144" marB="9144" anchor="ctr">
                    <a:noFill/>
                  </a:tcPr>
                </a:tc>
                <a:tc>
                  <a:txBody>
                    <a:bodyPr/>
                    <a:lstStyle/>
                    <a:p>
                      <a:pPr algn="r"/>
                      <a:r>
                        <a:rPr sz="950" b="0" i="0">
                          <a:solidFill>
                            <a:srgbClr val="1E1E1E"/>
                          </a:solidFill>
                          <a:latin typeface="Gill Sans MT"/>
                        </a:rPr>
                        <a:t>1,66 %</a:t>
                      </a:r>
                    </a:p>
                  </a:txBody>
                  <a:tcPr marL="45720" marR="45720" marT="9144" marB="9144" anchor="ctr">
                    <a:noFill/>
                  </a:tcPr>
                </a:tc>
                <a:extLst>
                  <a:ext uri="{0D108BD9-81ED-4DB2-BD59-A6C34878D82A}">
                    <a16:rowId xmlns:a16="http://schemas.microsoft.com/office/drawing/2014/main" val="10001"/>
                  </a:ext>
                </a:extLst>
              </a:tr>
              <a:tr h="242316">
                <a:tc>
                  <a:txBody>
                    <a:bodyPr/>
                    <a:lstStyle/>
                    <a:p>
                      <a:pPr algn="l"/>
                      <a:r>
                        <a:rPr sz="950" b="0" i="0">
                          <a:solidFill>
                            <a:srgbClr val="1E1E1E"/>
                          </a:solidFill>
                          <a:latin typeface="Gill Sans MT"/>
                        </a:rPr>
                        <a:t>Indbetalt kapital</a:t>
                      </a:r>
                    </a:p>
                  </a:txBody>
                  <a:tcPr marL="45720" marR="45720" marT="9144" marB="9144" anchor="ctr">
                    <a:noFill/>
                  </a:tcPr>
                </a:tc>
                <a:tc>
                  <a:txBody>
                    <a:bodyPr/>
                    <a:lstStyle/>
                    <a:p>
                      <a:pPr algn="r"/>
                      <a:r>
                        <a:rPr sz="950" b="0" i="0">
                          <a:solidFill>
                            <a:srgbClr val="1E1E1E"/>
                          </a:solidFill>
                          <a:latin typeface="Gill Sans MT"/>
                        </a:rPr>
                        <a:t>6.880</a:t>
                      </a:r>
                    </a:p>
                  </a:txBody>
                  <a:tcPr marL="45720" marR="45720" marT="9144" marB="9144" anchor="ctr">
                    <a:noFill/>
                  </a:tcPr>
                </a:tc>
                <a:extLst>
                  <a:ext uri="{0D108BD9-81ED-4DB2-BD59-A6C34878D82A}">
                    <a16:rowId xmlns:a16="http://schemas.microsoft.com/office/drawing/2014/main" val="10002"/>
                  </a:ext>
                </a:extLst>
              </a:tr>
              <a:tr h="242316">
                <a:tc>
                  <a:txBody>
                    <a:bodyPr/>
                    <a:lstStyle/>
                    <a:p>
                      <a:pPr algn="l"/>
                      <a:r>
                        <a:rPr sz="950" b="0" i="0">
                          <a:solidFill>
                            <a:srgbClr val="1E1E1E"/>
                          </a:solidFill>
                          <a:latin typeface="Gill Sans MT"/>
                        </a:rPr>
                        <a:t>PICC</a:t>
                      </a:r>
                    </a:p>
                  </a:txBody>
                  <a:tcPr marL="45720" marR="45720" marT="9144" marB="9144" anchor="ctr">
                    <a:noFill/>
                  </a:tcPr>
                </a:tc>
                <a:tc>
                  <a:txBody>
                    <a:bodyPr/>
                    <a:lstStyle/>
                    <a:p>
                      <a:pPr algn="r"/>
                      <a:r>
                        <a:rPr sz="950" b="0" i="0">
                          <a:solidFill>
                            <a:srgbClr val="1E1E1E"/>
                          </a:solidFill>
                          <a:latin typeface="Gill Sans MT"/>
                        </a:rPr>
                        <a:t>49,1 %</a:t>
                      </a:r>
                    </a:p>
                  </a:txBody>
                  <a:tcPr marL="45720" marR="45720" marT="9144" marB="9144" anchor="ctr">
                    <a:noFill/>
                  </a:tcPr>
                </a:tc>
                <a:extLst>
                  <a:ext uri="{0D108BD9-81ED-4DB2-BD59-A6C34878D82A}">
                    <a16:rowId xmlns:a16="http://schemas.microsoft.com/office/drawing/2014/main" val="10003"/>
                  </a:ext>
                </a:extLst>
              </a:tr>
              <a:tr h="242316">
                <a:tc>
                  <a:txBody>
                    <a:bodyPr/>
                    <a:lstStyle/>
                    <a:p>
                      <a:pPr algn="l"/>
                      <a:r>
                        <a:rPr sz="950" b="0" i="0">
                          <a:solidFill>
                            <a:srgbClr val="1E1E1E"/>
                          </a:solidFill>
                          <a:latin typeface="Gill Sans MT"/>
                        </a:rPr>
                        <a:t>Resttilsagn</a:t>
                      </a:r>
                    </a:p>
                  </a:txBody>
                  <a:tcPr marL="45720" marR="45720" marT="9144" marB="9144" anchor="ctr">
                    <a:noFill/>
                  </a:tcPr>
                </a:tc>
                <a:tc>
                  <a:txBody>
                    <a:bodyPr/>
                    <a:lstStyle/>
                    <a:p>
                      <a:pPr algn="r"/>
                      <a:r>
                        <a:rPr sz="950" b="0" i="0">
                          <a:solidFill>
                            <a:srgbClr val="1E1E1E"/>
                          </a:solidFill>
                          <a:latin typeface="Gill Sans MT"/>
                        </a:rPr>
                        <a:t>7.120</a:t>
                      </a:r>
                    </a:p>
                  </a:txBody>
                  <a:tcPr marL="45720" marR="45720" marT="9144" marB="9144" anchor="ctr">
                    <a:noFill/>
                  </a:tcPr>
                </a:tc>
                <a:extLst>
                  <a:ext uri="{0D108BD9-81ED-4DB2-BD59-A6C34878D82A}">
                    <a16:rowId xmlns:a16="http://schemas.microsoft.com/office/drawing/2014/main" val="10004"/>
                  </a:ext>
                </a:extLst>
              </a:tr>
            </a:tbl>
          </a:graphicData>
        </a:graphic>
      </p:graphicFrame>
      <p:sp>
        <p:nvSpPr>
          <p:cNvPr id="17" name="TextBox 16"/>
          <p:cNvSpPr txBox="1"/>
          <p:nvPr/>
        </p:nvSpPr>
        <p:spPr>
          <a:xfrm>
            <a:off x="8449056" y="1115568"/>
            <a:ext cx="1645919" cy="201168"/>
          </a:xfrm>
          <a:prstGeom prst="rect">
            <a:avLst/>
          </a:prstGeom>
          <a:noFill/>
        </p:spPr>
        <p:txBody>
          <a:bodyPr wrap="square" lIns="0" tIns="0" rIns="0" bIns="0" anchor="t">
            <a:spAutoFit/>
          </a:bodyPr>
          <a:lstStyle/>
          <a:p>
            <a:pPr algn="l"/>
            <a:r>
              <a:rPr sz="1050" b="1" i="0">
                <a:solidFill>
                  <a:srgbClr val="545B4A"/>
                </a:solidFill>
                <a:latin typeface="Gill Sans MT"/>
              </a:rPr>
              <a:t>Nøgletal</a:t>
            </a:r>
          </a:p>
        </p:txBody>
      </p:sp>
      <p:cxnSp>
        <p:nvCxnSpPr>
          <p:cNvPr id="18" name="Connector 17"/>
          <p:cNvCxnSpPr/>
          <p:nvPr/>
        </p:nvCxnSpPr>
        <p:spPr>
          <a:xfrm>
            <a:off x="8449056" y="1344168"/>
            <a:ext cx="164592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graphicFrame>
        <p:nvGraphicFramePr>
          <p:cNvPr id="19" name="Table 18"/>
          <p:cNvGraphicFramePr>
            <a:graphicFrameLocks noGrp="1"/>
          </p:cNvGraphicFramePr>
          <p:nvPr/>
        </p:nvGraphicFramePr>
        <p:xfrm>
          <a:off x="8403336" y="1399032"/>
          <a:ext cx="1737359" cy="1211580"/>
        </p:xfrm>
        <a:graphic>
          <a:graphicData uri="http://schemas.openxmlformats.org/drawingml/2006/table">
            <a:tbl>
              <a:tblPr>
                <a:tableStyleId>{2D5ABB26-0587-4C30-8999-92F81FD0307C}</a:tableStyleId>
              </a:tblPr>
              <a:tblGrid>
                <a:gridCol w="929285">
                  <a:extLst>
                    <a:ext uri="{9D8B030D-6E8A-4147-A177-3AD203B41FA5}">
                      <a16:colId xmlns:a16="http://schemas.microsoft.com/office/drawing/2014/main" val="20000"/>
                    </a:ext>
                  </a:extLst>
                </a:gridCol>
                <a:gridCol w="808074">
                  <a:extLst>
                    <a:ext uri="{9D8B030D-6E8A-4147-A177-3AD203B41FA5}">
                      <a16:colId xmlns:a16="http://schemas.microsoft.com/office/drawing/2014/main" val="20001"/>
                    </a:ext>
                  </a:extLst>
                </a:gridCol>
              </a:tblGrid>
              <a:tr h="242316">
                <a:tc>
                  <a:txBody>
                    <a:bodyPr/>
                    <a:lstStyle/>
                    <a:p>
                      <a:pPr algn="l"/>
                      <a:r>
                        <a:rPr sz="950" b="0" i="0">
                          <a:solidFill>
                            <a:srgbClr val="1E1E1E"/>
                          </a:solidFill>
                          <a:latin typeface="Gill Sans MT"/>
                        </a:rPr>
                        <a:t>Udlodninger</a:t>
                      </a:r>
                    </a:p>
                  </a:txBody>
                  <a:tcPr marL="45720" marR="45720" marT="9144" marB="9144" anchor="ctr">
                    <a:noFill/>
                  </a:tcPr>
                </a:tc>
                <a:tc>
                  <a:txBody>
                    <a:bodyPr/>
                    <a:lstStyle/>
                    <a:p>
                      <a:pPr algn="r"/>
                      <a:r>
                        <a:rPr sz="950" b="0" i="0">
                          <a:solidFill>
                            <a:srgbClr val="1E1E1E"/>
                          </a:solidFill>
                          <a:latin typeface="Gill Sans MT"/>
                        </a:rPr>
                        <a:t>68</a:t>
                      </a:r>
                    </a:p>
                  </a:txBody>
                  <a:tcPr marL="45720" marR="45720" marT="9144" marB="9144" anchor="ctr">
                    <a:noFill/>
                  </a:tcPr>
                </a:tc>
                <a:extLst>
                  <a:ext uri="{0D108BD9-81ED-4DB2-BD59-A6C34878D82A}">
                    <a16:rowId xmlns:a16="http://schemas.microsoft.com/office/drawing/2014/main" val="10000"/>
                  </a:ext>
                </a:extLst>
              </a:tr>
              <a:tr h="242316">
                <a:tc>
                  <a:txBody>
                    <a:bodyPr/>
                    <a:lstStyle/>
                    <a:p>
                      <a:pPr algn="l"/>
                      <a:r>
                        <a:rPr sz="950" b="0" i="0">
                          <a:solidFill>
                            <a:srgbClr val="1E1E1E"/>
                          </a:solidFill>
                          <a:latin typeface="Gill Sans MT"/>
                        </a:rPr>
                        <a:t>NAV</a:t>
                      </a:r>
                    </a:p>
                  </a:txBody>
                  <a:tcPr marL="45720" marR="45720" marT="9144" marB="9144" anchor="ctr">
                    <a:noFill/>
                  </a:tcPr>
                </a:tc>
                <a:tc>
                  <a:txBody>
                    <a:bodyPr/>
                    <a:lstStyle/>
                    <a:p>
                      <a:pPr algn="r"/>
                      <a:r>
                        <a:rPr sz="950" b="0" i="0">
                          <a:solidFill>
                            <a:srgbClr val="1E1E1E"/>
                          </a:solidFill>
                          <a:latin typeface="Gill Sans MT"/>
                        </a:rPr>
                        <a:t>9.128</a:t>
                      </a:r>
                    </a:p>
                  </a:txBody>
                  <a:tcPr marL="45720" marR="45720" marT="9144" marB="9144" anchor="ctr">
                    <a:noFill/>
                  </a:tcPr>
                </a:tc>
                <a:extLst>
                  <a:ext uri="{0D108BD9-81ED-4DB2-BD59-A6C34878D82A}">
                    <a16:rowId xmlns:a16="http://schemas.microsoft.com/office/drawing/2014/main" val="10001"/>
                  </a:ext>
                </a:extLst>
              </a:tr>
              <a:tr h="242316">
                <a:tc>
                  <a:txBody>
                    <a:bodyPr/>
                    <a:lstStyle/>
                    <a:p>
                      <a:pPr algn="l"/>
                      <a:r>
                        <a:rPr sz="950" b="0" i="0">
                          <a:solidFill>
                            <a:srgbClr val="1E1E1E"/>
                          </a:solidFill>
                          <a:latin typeface="Gill Sans MT"/>
                        </a:rPr>
                        <a:t>DPI</a:t>
                      </a:r>
                    </a:p>
                  </a:txBody>
                  <a:tcPr marL="45720" marR="45720" marT="9144" marB="9144" anchor="ctr">
                    <a:noFill/>
                  </a:tcPr>
                </a:tc>
                <a:tc>
                  <a:txBody>
                    <a:bodyPr/>
                    <a:lstStyle/>
                    <a:p>
                      <a:pPr algn="r"/>
                      <a:r>
                        <a:rPr sz="950" b="0" i="0">
                          <a:solidFill>
                            <a:srgbClr val="1E1E1E"/>
                          </a:solidFill>
                          <a:latin typeface="Gill Sans MT"/>
                        </a:rPr>
                        <a:t>0,01x</a:t>
                      </a:r>
                    </a:p>
                  </a:txBody>
                  <a:tcPr marL="45720" marR="45720" marT="9144" marB="9144" anchor="ctr">
                    <a:noFill/>
                  </a:tcPr>
                </a:tc>
                <a:extLst>
                  <a:ext uri="{0D108BD9-81ED-4DB2-BD59-A6C34878D82A}">
                    <a16:rowId xmlns:a16="http://schemas.microsoft.com/office/drawing/2014/main" val="10002"/>
                  </a:ext>
                </a:extLst>
              </a:tr>
              <a:tr h="242316">
                <a:tc>
                  <a:txBody>
                    <a:bodyPr/>
                    <a:lstStyle/>
                    <a:p>
                      <a:pPr algn="l"/>
                      <a:r>
                        <a:rPr sz="950" b="0" i="0">
                          <a:solidFill>
                            <a:srgbClr val="1E1E1E"/>
                          </a:solidFill>
                          <a:latin typeface="Gill Sans MT"/>
                        </a:rPr>
                        <a:t>TVPI</a:t>
                      </a:r>
                    </a:p>
                  </a:txBody>
                  <a:tcPr marL="45720" marR="45720" marT="9144" marB="9144" anchor="ctr">
                    <a:noFill/>
                  </a:tcPr>
                </a:tc>
                <a:tc>
                  <a:txBody>
                    <a:bodyPr/>
                    <a:lstStyle/>
                    <a:p>
                      <a:pPr algn="r"/>
                      <a:r>
                        <a:rPr sz="950" b="0" i="0">
                          <a:solidFill>
                            <a:srgbClr val="1E1E1E"/>
                          </a:solidFill>
                          <a:latin typeface="Gill Sans MT"/>
                        </a:rPr>
                        <a:t>1,34x</a:t>
                      </a:r>
                    </a:p>
                  </a:txBody>
                  <a:tcPr marL="45720" marR="45720" marT="9144" marB="9144" anchor="ctr">
                    <a:noFill/>
                  </a:tcPr>
                </a:tc>
                <a:extLst>
                  <a:ext uri="{0D108BD9-81ED-4DB2-BD59-A6C34878D82A}">
                    <a16:rowId xmlns:a16="http://schemas.microsoft.com/office/drawing/2014/main" val="10003"/>
                  </a:ext>
                </a:extLst>
              </a:tr>
              <a:tr h="242316">
                <a:tc>
                  <a:txBody>
                    <a:bodyPr/>
                    <a:lstStyle/>
                    <a:p>
                      <a:pPr algn="l"/>
                      <a:r>
                        <a:rPr sz="950" b="0" i="0">
                          <a:solidFill>
                            <a:srgbClr val="1E1E1E"/>
                          </a:solidFill>
                          <a:latin typeface="Gill Sans MT"/>
                        </a:rPr>
                        <a:t>IRR</a:t>
                      </a:r>
                    </a:p>
                  </a:txBody>
                  <a:tcPr marL="45720" marR="45720" marT="9144" marB="9144" anchor="ctr">
                    <a:noFill/>
                  </a:tcPr>
                </a:tc>
                <a:tc>
                  <a:txBody>
                    <a:bodyPr/>
                    <a:lstStyle/>
                    <a:p>
                      <a:pPr algn="r"/>
                      <a:r>
                        <a:rPr sz="950" b="0" i="0">
                          <a:solidFill>
                            <a:srgbClr val="1E1E1E"/>
                          </a:solidFill>
                          <a:latin typeface="Gill Sans MT"/>
                        </a:rPr>
                        <a:t>17,9 %</a:t>
                      </a:r>
                    </a:p>
                  </a:txBody>
                  <a:tcPr marL="45720" marR="45720" marT="9144" marB="9144" anchor="ctr">
                    <a:noFill/>
                  </a:tcPr>
                </a:tc>
                <a:extLst>
                  <a:ext uri="{0D108BD9-81ED-4DB2-BD59-A6C34878D82A}">
                    <a16:rowId xmlns:a16="http://schemas.microsoft.com/office/drawing/2014/main" val="10004"/>
                  </a:ext>
                </a:extLst>
              </a:tr>
            </a:tbl>
          </a:graphicData>
        </a:graphic>
      </p:graphicFrame>
      <p:sp>
        <p:nvSpPr>
          <p:cNvPr id="20" name="TextBox 19"/>
          <p:cNvSpPr txBox="1"/>
          <p:nvPr/>
        </p:nvSpPr>
        <p:spPr>
          <a:xfrm>
            <a:off x="603504" y="2743200"/>
            <a:ext cx="9491472" cy="201168"/>
          </a:xfrm>
          <a:prstGeom prst="rect">
            <a:avLst/>
          </a:prstGeom>
          <a:noFill/>
        </p:spPr>
        <p:txBody>
          <a:bodyPr wrap="square" lIns="0" tIns="0" rIns="0" bIns="0" anchor="t">
            <a:spAutoFit/>
          </a:bodyPr>
          <a:lstStyle/>
          <a:p>
            <a:pPr algn="l"/>
            <a:r>
              <a:rPr sz="1050" b="1" i="0">
                <a:solidFill>
                  <a:srgbClr val="545B4A"/>
                </a:solidFill>
                <a:latin typeface="Gill Sans MT"/>
              </a:rPr>
              <a:t>Underliggende fonde – A/S Motortramps andel (tDKK)</a:t>
            </a:r>
          </a:p>
        </p:txBody>
      </p:sp>
      <p:graphicFrame>
        <p:nvGraphicFramePr>
          <p:cNvPr id="21" name="Table 20"/>
          <p:cNvGraphicFramePr>
            <a:graphicFrameLocks noGrp="1"/>
          </p:cNvGraphicFramePr>
          <p:nvPr/>
        </p:nvGraphicFramePr>
        <p:xfrm>
          <a:off x="603504" y="2999232"/>
          <a:ext cx="9491471" cy="2199132"/>
        </p:xfrm>
        <a:graphic>
          <a:graphicData uri="http://schemas.openxmlformats.org/drawingml/2006/table">
            <a:tbl>
              <a:tblPr>
                <a:tableStyleId>{2D5ABB26-0587-4C30-8999-92F81FD0307C}</a:tableStyleId>
              </a:tblPr>
              <a:tblGrid>
                <a:gridCol w="2838571">
                  <a:extLst>
                    <a:ext uri="{9D8B030D-6E8A-4147-A177-3AD203B41FA5}">
                      <a16:colId xmlns:a16="http://schemas.microsoft.com/office/drawing/2014/main" val="20000"/>
                    </a:ext>
                  </a:extLst>
                </a:gridCol>
                <a:gridCol w="798348">
                  <a:extLst>
                    <a:ext uri="{9D8B030D-6E8A-4147-A177-3AD203B41FA5}">
                      <a16:colId xmlns:a16="http://schemas.microsoft.com/office/drawing/2014/main" val="20001"/>
                    </a:ext>
                  </a:extLst>
                </a:gridCol>
                <a:gridCol w="1064464">
                  <a:extLst>
                    <a:ext uri="{9D8B030D-6E8A-4147-A177-3AD203B41FA5}">
                      <a16:colId xmlns:a16="http://schemas.microsoft.com/office/drawing/2014/main" val="20002"/>
                    </a:ext>
                  </a:extLst>
                </a:gridCol>
                <a:gridCol w="1064464">
                  <a:extLst>
                    <a:ext uri="{9D8B030D-6E8A-4147-A177-3AD203B41FA5}">
                      <a16:colId xmlns:a16="http://schemas.microsoft.com/office/drawing/2014/main" val="20003"/>
                    </a:ext>
                  </a:extLst>
                </a:gridCol>
                <a:gridCol w="1064464">
                  <a:extLst>
                    <a:ext uri="{9D8B030D-6E8A-4147-A177-3AD203B41FA5}">
                      <a16:colId xmlns:a16="http://schemas.microsoft.com/office/drawing/2014/main" val="20004"/>
                    </a:ext>
                  </a:extLst>
                </a:gridCol>
                <a:gridCol w="1064464">
                  <a:extLst>
                    <a:ext uri="{9D8B030D-6E8A-4147-A177-3AD203B41FA5}">
                      <a16:colId xmlns:a16="http://schemas.microsoft.com/office/drawing/2014/main" val="20005"/>
                    </a:ext>
                  </a:extLst>
                </a:gridCol>
                <a:gridCol w="798348">
                  <a:extLst>
                    <a:ext uri="{9D8B030D-6E8A-4147-A177-3AD203B41FA5}">
                      <a16:colId xmlns:a16="http://schemas.microsoft.com/office/drawing/2014/main" val="20006"/>
                    </a:ext>
                  </a:extLst>
                </a:gridCol>
                <a:gridCol w="798348">
                  <a:extLst>
                    <a:ext uri="{9D8B030D-6E8A-4147-A177-3AD203B41FA5}">
                      <a16:colId xmlns:a16="http://schemas.microsoft.com/office/drawing/2014/main" val="20007"/>
                    </a:ext>
                  </a:extLst>
                </a:gridCol>
              </a:tblGrid>
              <a:tr h="169164">
                <a:tc>
                  <a:txBody>
                    <a:bodyPr/>
                    <a:lstStyle/>
                    <a:p>
                      <a:pPr algn="l"/>
                      <a:r>
                        <a:rPr sz="800" b="1" i="0">
                          <a:solidFill>
                            <a:srgbClr val="FFFFFF"/>
                          </a:solidFill>
                          <a:latin typeface="Gill Sans MT"/>
                        </a:rPr>
                        <a:t>Fond</a:t>
                      </a:r>
                    </a:p>
                  </a:txBody>
                  <a:tcPr marL="45720" marR="45720" marT="9144" marB="9144" anchor="ctr">
                    <a:solidFill>
                      <a:srgbClr val="545B4A"/>
                    </a:solidFill>
                  </a:tcPr>
                </a:tc>
                <a:tc>
                  <a:txBody>
                    <a:bodyPr/>
                    <a:lstStyle/>
                    <a:p>
                      <a:pPr algn="ctr"/>
                      <a:r>
                        <a:rPr sz="800" b="1" i="0">
                          <a:solidFill>
                            <a:srgbClr val="FFFFFF"/>
                          </a:solidFill>
                          <a:latin typeface="Gill Sans MT"/>
                        </a:rPr>
                        <a:t>Vintage</a:t>
                      </a:r>
                    </a:p>
                  </a:txBody>
                  <a:tcPr marL="45720" marR="45720" marT="9144" marB="9144" anchor="ctr">
                    <a:solidFill>
                      <a:srgbClr val="545B4A"/>
                    </a:solidFill>
                  </a:tcPr>
                </a:tc>
                <a:tc>
                  <a:txBody>
                    <a:bodyPr/>
                    <a:lstStyle/>
                    <a:p>
                      <a:pPr algn="r"/>
                      <a:r>
                        <a:rPr sz="800" b="1" i="0">
                          <a:solidFill>
                            <a:srgbClr val="FFFFFF"/>
                          </a:solidFill>
                          <a:latin typeface="Gill Sans MT"/>
                        </a:rPr>
                        <a:t>Kostpris</a:t>
                      </a:r>
                    </a:p>
                  </a:txBody>
                  <a:tcPr marL="45720" marR="45720" marT="9144" marB="9144" anchor="ctr">
                    <a:solidFill>
                      <a:srgbClr val="545B4A"/>
                    </a:solidFill>
                  </a:tcPr>
                </a:tc>
                <a:tc>
                  <a:txBody>
                    <a:bodyPr/>
                    <a:lstStyle/>
                    <a:p>
                      <a:pPr algn="r"/>
                      <a:r>
                        <a:rPr sz="800" b="1" i="0">
                          <a:solidFill>
                            <a:srgbClr val="FFFFFF"/>
                          </a:solidFill>
                          <a:latin typeface="Gill Sans MT"/>
                        </a:rPr>
                        <a:t>Dagsværdi</a:t>
                      </a:r>
                    </a:p>
                  </a:txBody>
                  <a:tcPr marL="45720" marR="45720" marT="9144" marB="9144" anchor="ctr">
                    <a:solidFill>
                      <a:srgbClr val="545B4A"/>
                    </a:solidFill>
                  </a:tcPr>
                </a:tc>
                <a:tc>
                  <a:txBody>
                    <a:bodyPr/>
                    <a:lstStyle/>
                    <a:p>
                      <a:pPr algn="r"/>
                      <a:r>
                        <a:rPr sz="800" b="1" i="0">
                          <a:solidFill>
                            <a:srgbClr val="FFFFFF"/>
                          </a:solidFill>
                          <a:latin typeface="Gill Sans MT"/>
                        </a:rPr>
                        <a:t>Udloddet</a:t>
                      </a:r>
                    </a:p>
                  </a:txBody>
                  <a:tcPr marL="45720" marR="45720" marT="9144" marB="9144" anchor="ctr">
                    <a:solidFill>
                      <a:srgbClr val="545B4A"/>
                    </a:solidFill>
                  </a:tcPr>
                </a:tc>
                <a:tc>
                  <a:txBody>
                    <a:bodyPr/>
                    <a:lstStyle/>
                    <a:p>
                      <a:pPr algn="r"/>
                      <a:r>
                        <a:rPr sz="800" b="1" i="0">
                          <a:solidFill>
                            <a:srgbClr val="FFFFFF"/>
                          </a:solidFill>
                          <a:latin typeface="Gill Sans MT"/>
                        </a:rPr>
                        <a:t>Total værdi</a:t>
                      </a:r>
                    </a:p>
                  </a:txBody>
                  <a:tcPr marL="45720" marR="45720" marT="9144" marB="9144" anchor="ctr">
                    <a:solidFill>
                      <a:srgbClr val="545B4A"/>
                    </a:solidFill>
                  </a:tcPr>
                </a:tc>
                <a:tc>
                  <a:txBody>
                    <a:bodyPr/>
                    <a:lstStyle/>
                    <a:p>
                      <a:pPr algn="r"/>
                      <a:r>
                        <a:rPr sz="800" b="1" i="0">
                          <a:solidFill>
                            <a:srgbClr val="FFFFFF"/>
                          </a:solidFill>
                          <a:latin typeface="Gill Sans MT"/>
                        </a:rPr>
                        <a:t>TVPI</a:t>
                      </a:r>
                    </a:p>
                  </a:txBody>
                  <a:tcPr marL="45720" marR="45720" marT="9144" marB="9144" anchor="ctr">
                    <a:solidFill>
                      <a:srgbClr val="545B4A"/>
                    </a:solidFill>
                  </a:tcPr>
                </a:tc>
                <a:tc>
                  <a:txBody>
                    <a:bodyPr/>
                    <a:lstStyle/>
                    <a:p>
                      <a:pPr algn="r"/>
                      <a:r>
                        <a:rPr sz="800" b="1" i="0">
                          <a:solidFill>
                            <a:srgbClr val="FFFFFF"/>
                          </a:solidFill>
                          <a:latin typeface="Gill Sans MT"/>
                        </a:rPr>
                        <a:t>IRR</a:t>
                      </a:r>
                    </a:p>
                  </a:txBody>
                  <a:tcPr marL="45720" marR="45720" marT="9144" marB="9144" anchor="ctr">
                    <a:solidFill>
                      <a:srgbClr val="545B4A"/>
                    </a:solidFill>
                  </a:tcPr>
                </a:tc>
                <a:extLst>
                  <a:ext uri="{0D108BD9-81ED-4DB2-BD59-A6C34878D82A}">
                    <a16:rowId xmlns:a16="http://schemas.microsoft.com/office/drawing/2014/main" val="10000"/>
                  </a:ext>
                </a:extLst>
              </a:tr>
              <a:tr h="169164">
                <a:tc>
                  <a:txBody>
                    <a:bodyPr/>
                    <a:lstStyle/>
                    <a:p>
                      <a:pPr algn="l"/>
                      <a:r>
                        <a:rPr sz="800" b="0" i="0">
                          <a:solidFill>
                            <a:srgbClr val="1E1E1E"/>
                          </a:solidFill>
                          <a:latin typeface="Gill Sans MT"/>
                        </a:rPr>
                        <a:t>Advent GPE X</a:t>
                      </a:r>
                    </a:p>
                  </a:txBody>
                  <a:tcPr marL="45720" marR="45720" marT="9144" marB="9144" anchor="ctr">
                    <a:noFill/>
                  </a:tcPr>
                </a:tc>
                <a:tc>
                  <a:txBody>
                    <a:bodyPr/>
                    <a:lstStyle/>
                    <a:p>
                      <a:pPr algn="ctr"/>
                      <a:r>
                        <a:rPr sz="800" b="0" i="0">
                          <a:solidFill>
                            <a:srgbClr val="1E1E1E"/>
                          </a:solidFill>
                          <a:latin typeface="Gill Sans MT"/>
                        </a:rPr>
                        <a:t>2022</a:t>
                      </a:r>
                    </a:p>
                  </a:txBody>
                  <a:tcPr marL="45720" marR="45720" marT="9144" marB="9144" anchor="ctr">
                    <a:noFill/>
                  </a:tcPr>
                </a:tc>
                <a:tc>
                  <a:txBody>
                    <a:bodyPr/>
                    <a:lstStyle/>
                    <a:p>
                      <a:pPr algn="r"/>
                      <a:r>
                        <a:rPr sz="800" b="0" i="0">
                          <a:solidFill>
                            <a:srgbClr val="1E1E1E"/>
                          </a:solidFill>
                          <a:latin typeface="Gill Sans MT"/>
                        </a:rPr>
                        <a:t>1.208</a:t>
                      </a:r>
                    </a:p>
                  </a:txBody>
                  <a:tcPr marL="45720" marR="45720" marT="9144" marB="9144" anchor="ctr">
                    <a:noFill/>
                  </a:tcPr>
                </a:tc>
                <a:tc>
                  <a:txBody>
                    <a:bodyPr/>
                    <a:lstStyle/>
                    <a:p>
                      <a:pPr algn="r"/>
                      <a:r>
                        <a:rPr sz="800" b="0" i="0">
                          <a:solidFill>
                            <a:srgbClr val="1E1E1E"/>
                          </a:solidFill>
                          <a:latin typeface="Gill Sans MT"/>
                        </a:rPr>
                        <a:t>2.066</a:t>
                      </a:r>
                    </a:p>
                  </a:txBody>
                  <a:tcPr marL="45720" marR="45720" marT="9144" marB="9144" anchor="ctr">
                    <a:noFill/>
                  </a:tcPr>
                </a:tc>
                <a:tc>
                  <a:txBody>
                    <a:bodyPr/>
                    <a:lstStyle/>
                    <a:p>
                      <a:pPr algn="r"/>
                      <a:r>
                        <a:rPr sz="800" b="0" i="0">
                          <a:solidFill>
                            <a:srgbClr val="1E1E1E"/>
                          </a:solidFill>
                          <a:latin typeface="Gill Sans MT"/>
                        </a:rPr>
                        <a:t>17</a:t>
                      </a:r>
                    </a:p>
                  </a:txBody>
                  <a:tcPr marL="45720" marR="45720" marT="9144" marB="9144" anchor="ctr">
                    <a:noFill/>
                  </a:tcPr>
                </a:tc>
                <a:tc>
                  <a:txBody>
                    <a:bodyPr/>
                    <a:lstStyle/>
                    <a:p>
                      <a:pPr algn="r"/>
                      <a:r>
                        <a:rPr sz="800" b="0" i="0">
                          <a:solidFill>
                            <a:srgbClr val="1E1E1E"/>
                          </a:solidFill>
                          <a:latin typeface="Gill Sans MT"/>
                        </a:rPr>
                        <a:t>2.083</a:t>
                      </a:r>
                    </a:p>
                  </a:txBody>
                  <a:tcPr marL="45720" marR="45720" marT="9144" marB="9144" anchor="ctr">
                    <a:noFill/>
                  </a:tcPr>
                </a:tc>
                <a:tc>
                  <a:txBody>
                    <a:bodyPr/>
                    <a:lstStyle/>
                    <a:p>
                      <a:pPr algn="r"/>
                      <a:r>
                        <a:rPr sz="800" b="0" i="0">
                          <a:solidFill>
                            <a:srgbClr val="1E1E1E"/>
                          </a:solidFill>
                          <a:latin typeface="Gill Sans MT"/>
                        </a:rPr>
                        <a:t>1,73x</a:t>
                      </a:r>
                    </a:p>
                  </a:txBody>
                  <a:tcPr marL="45720" marR="45720" marT="9144" marB="9144" anchor="ctr">
                    <a:noFill/>
                  </a:tcPr>
                </a:tc>
                <a:tc>
                  <a:txBody>
                    <a:bodyPr/>
                    <a:lstStyle/>
                    <a:p>
                      <a:pPr algn="r"/>
                      <a:r>
                        <a:rPr sz="800" b="0" i="0">
                          <a:solidFill>
                            <a:srgbClr val="1E1E1E"/>
                          </a:solidFill>
                          <a:latin typeface="Gill Sans MT"/>
                        </a:rPr>
                        <a:t>27,4 %</a:t>
                      </a:r>
                    </a:p>
                  </a:txBody>
                  <a:tcPr marL="45720" marR="45720" marT="9144" marB="9144" anchor="ctr">
                    <a:noFill/>
                  </a:tcPr>
                </a:tc>
                <a:extLst>
                  <a:ext uri="{0D108BD9-81ED-4DB2-BD59-A6C34878D82A}">
                    <a16:rowId xmlns:a16="http://schemas.microsoft.com/office/drawing/2014/main" val="10001"/>
                  </a:ext>
                </a:extLst>
              </a:tr>
              <a:tr h="169164">
                <a:tc>
                  <a:txBody>
                    <a:bodyPr/>
                    <a:lstStyle/>
                    <a:p>
                      <a:pPr algn="l"/>
                      <a:r>
                        <a:rPr sz="800" b="0" i="0">
                          <a:solidFill>
                            <a:srgbClr val="1E1E1E"/>
                          </a:solidFill>
                          <a:latin typeface="Gill Sans MT"/>
                        </a:rPr>
                        <a:t>Norvestor IX</a:t>
                      </a:r>
                    </a:p>
                  </a:txBody>
                  <a:tcPr marL="45720" marR="45720" marT="9144" marB="9144" anchor="ctr">
                    <a:solidFill>
                      <a:srgbClr val="F4F2EB"/>
                    </a:solidFill>
                  </a:tcPr>
                </a:tc>
                <a:tc>
                  <a:txBody>
                    <a:bodyPr/>
                    <a:lstStyle/>
                    <a:p>
                      <a:pPr algn="ctr"/>
                      <a:r>
                        <a:rPr sz="800" b="0" i="0">
                          <a:solidFill>
                            <a:srgbClr val="1E1E1E"/>
                          </a:solidFill>
                          <a:latin typeface="Gill Sans MT"/>
                        </a:rPr>
                        <a:t>2023</a:t>
                      </a:r>
                    </a:p>
                  </a:txBody>
                  <a:tcPr marL="45720" marR="45720" marT="9144" marB="9144" anchor="ctr">
                    <a:solidFill>
                      <a:srgbClr val="F4F2EB"/>
                    </a:solidFill>
                  </a:tcPr>
                </a:tc>
                <a:tc>
                  <a:txBody>
                    <a:bodyPr/>
                    <a:lstStyle/>
                    <a:p>
                      <a:pPr algn="r"/>
                      <a:r>
                        <a:rPr sz="800" b="0" i="0">
                          <a:solidFill>
                            <a:srgbClr val="1E1E1E"/>
                          </a:solidFill>
                          <a:latin typeface="Gill Sans MT"/>
                        </a:rPr>
                        <a:t>1.178</a:t>
                      </a:r>
                    </a:p>
                  </a:txBody>
                  <a:tcPr marL="45720" marR="45720" marT="9144" marB="9144" anchor="ctr">
                    <a:solidFill>
                      <a:srgbClr val="F4F2EB"/>
                    </a:solidFill>
                  </a:tcPr>
                </a:tc>
                <a:tc>
                  <a:txBody>
                    <a:bodyPr/>
                    <a:lstStyle/>
                    <a:p>
                      <a:pPr algn="r"/>
                      <a:r>
                        <a:rPr sz="800" b="0" i="0">
                          <a:solidFill>
                            <a:srgbClr val="1E1E1E"/>
                          </a:solidFill>
                          <a:latin typeface="Gill Sans MT"/>
                        </a:rPr>
                        <a:t>1.987</a:t>
                      </a:r>
                    </a:p>
                  </a:txBody>
                  <a:tcPr marL="45720" marR="45720" marT="9144" marB="9144" anchor="ctr">
                    <a:solidFill>
                      <a:srgbClr val="F4F2EB"/>
                    </a:solidFill>
                  </a:tcPr>
                </a:tc>
                <a:tc>
                  <a:txBody>
                    <a:bodyPr/>
                    <a:lstStyle/>
                    <a:p>
                      <a:pPr algn="r"/>
                      <a:r>
                        <a:rPr sz="800" b="0" i="0">
                          <a:solidFill>
                            <a:srgbClr val="1E1E1E"/>
                          </a:solidFill>
                          <a:latin typeface="Gill Sans MT"/>
                        </a:rPr>
                        <a:t>10</a:t>
                      </a:r>
                    </a:p>
                  </a:txBody>
                  <a:tcPr marL="45720" marR="45720" marT="9144" marB="9144" anchor="ctr">
                    <a:solidFill>
                      <a:srgbClr val="F4F2EB"/>
                    </a:solidFill>
                  </a:tcPr>
                </a:tc>
                <a:tc>
                  <a:txBody>
                    <a:bodyPr/>
                    <a:lstStyle/>
                    <a:p>
                      <a:pPr algn="r"/>
                      <a:r>
                        <a:rPr sz="800" b="0" i="0">
                          <a:solidFill>
                            <a:srgbClr val="1E1E1E"/>
                          </a:solidFill>
                          <a:latin typeface="Gill Sans MT"/>
                        </a:rPr>
                        <a:t>1.997</a:t>
                      </a:r>
                    </a:p>
                  </a:txBody>
                  <a:tcPr marL="45720" marR="45720" marT="9144" marB="9144" anchor="ctr">
                    <a:solidFill>
                      <a:srgbClr val="F4F2EB"/>
                    </a:solidFill>
                  </a:tcPr>
                </a:tc>
                <a:tc>
                  <a:txBody>
                    <a:bodyPr/>
                    <a:lstStyle/>
                    <a:p>
                      <a:pPr algn="r"/>
                      <a:r>
                        <a:rPr sz="800" b="0" i="0">
                          <a:solidFill>
                            <a:srgbClr val="1E1E1E"/>
                          </a:solidFill>
                          <a:latin typeface="Gill Sans MT"/>
                        </a:rPr>
                        <a:t>1,68x</a:t>
                      </a:r>
                    </a:p>
                  </a:txBody>
                  <a:tcPr marL="45720" marR="45720" marT="9144" marB="9144" anchor="ctr">
                    <a:solidFill>
                      <a:srgbClr val="F4F2EB"/>
                    </a:solidFill>
                  </a:tcPr>
                </a:tc>
                <a:tc>
                  <a:txBody>
                    <a:bodyPr/>
                    <a:lstStyle/>
                    <a:p>
                      <a:pPr algn="r"/>
                      <a:r>
                        <a:rPr sz="800" b="0" i="0">
                          <a:solidFill>
                            <a:srgbClr val="1E1E1E"/>
                          </a:solidFill>
                          <a:latin typeface="Gill Sans MT"/>
                        </a:rPr>
                        <a:t>49,2 %</a:t>
                      </a:r>
                    </a:p>
                  </a:txBody>
                  <a:tcPr marL="45720" marR="45720" marT="9144" marB="9144" anchor="ctr">
                    <a:solidFill>
                      <a:srgbClr val="F4F2EB"/>
                    </a:solidFill>
                  </a:tcPr>
                </a:tc>
                <a:extLst>
                  <a:ext uri="{0D108BD9-81ED-4DB2-BD59-A6C34878D82A}">
                    <a16:rowId xmlns:a16="http://schemas.microsoft.com/office/drawing/2014/main" val="10002"/>
                  </a:ext>
                </a:extLst>
              </a:tr>
              <a:tr h="169164">
                <a:tc>
                  <a:txBody>
                    <a:bodyPr/>
                    <a:lstStyle/>
                    <a:p>
                      <a:pPr algn="l"/>
                      <a:r>
                        <a:rPr sz="800" b="0" i="0">
                          <a:solidFill>
                            <a:srgbClr val="1E1E1E"/>
                          </a:solidFill>
                          <a:latin typeface="Gill Sans MT"/>
                        </a:rPr>
                        <a:t>Kinderhook 7</a:t>
                      </a:r>
                    </a:p>
                  </a:txBody>
                  <a:tcPr marL="45720" marR="45720" marT="9144" marB="9144" anchor="ctr">
                    <a:noFill/>
                  </a:tcPr>
                </a:tc>
                <a:tc>
                  <a:txBody>
                    <a:bodyPr/>
                    <a:lstStyle/>
                    <a:p>
                      <a:pPr algn="ctr"/>
                      <a:r>
                        <a:rPr sz="800" b="0" i="0">
                          <a:solidFill>
                            <a:srgbClr val="1E1E1E"/>
                          </a:solidFill>
                          <a:latin typeface="Gill Sans MT"/>
                        </a:rPr>
                        <a:t>2022</a:t>
                      </a:r>
                    </a:p>
                  </a:txBody>
                  <a:tcPr marL="45720" marR="45720" marT="9144" marB="9144" anchor="ctr">
                    <a:noFill/>
                  </a:tcPr>
                </a:tc>
                <a:tc>
                  <a:txBody>
                    <a:bodyPr/>
                    <a:lstStyle/>
                    <a:p>
                      <a:pPr algn="r"/>
                      <a:r>
                        <a:rPr sz="800" b="0" i="0">
                          <a:solidFill>
                            <a:srgbClr val="1E1E1E"/>
                          </a:solidFill>
                          <a:latin typeface="Gill Sans MT"/>
                        </a:rPr>
                        <a:t>1.460</a:t>
                      </a:r>
                    </a:p>
                  </a:txBody>
                  <a:tcPr marL="45720" marR="45720" marT="9144" marB="9144" anchor="ctr">
                    <a:noFill/>
                  </a:tcPr>
                </a:tc>
                <a:tc>
                  <a:txBody>
                    <a:bodyPr/>
                    <a:lstStyle/>
                    <a:p>
                      <a:pPr algn="r"/>
                      <a:r>
                        <a:rPr sz="800" b="0" i="0">
                          <a:solidFill>
                            <a:srgbClr val="1E1E1E"/>
                          </a:solidFill>
                          <a:latin typeface="Gill Sans MT"/>
                        </a:rPr>
                        <a:t>1.817</a:t>
                      </a:r>
                    </a:p>
                  </a:txBody>
                  <a:tcPr marL="45720" marR="45720" marT="9144" marB="9144" anchor="ctr">
                    <a:noFill/>
                  </a:tcPr>
                </a:tc>
                <a:tc>
                  <a:txBody>
                    <a:bodyPr/>
                    <a:lstStyle/>
                    <a:p>
                      <a:pPr algn="r"/>
                      <a:r>
                        <a:rPr sz="800" b="0" i="0">
                          <a:solidFill>
                            <a:srgbClr val="1E1E1E"/>
                          </a:solidFill>
                          <a:latin typeface="Gill Sans MT"/>
                        </a:rPr>
                        <a:t>170</a:t>
                      </a:r>
                    </a:p>
                  </a:txBody>
                  <a:tcPr marL="45720" marR="45720" marT="9144" marB="9144" anchor="ctr">
                    <a:noFill/>
                  </a:tcPr>
                </a:tc>
                <a:tc>
                  <a:txBody>
                    <a:bodyPr/>
                    <a:lstStyle/>
                    <a:p>
                      <a:pPr algn="r"/>
                      <a:r>
                        <a:rPr sz="800" b="0" i="0">
                          <a:solidFill>
                            <a:srgbClr val="1E1E1E"/>
                          </a:solidFill>
                          <a:latin typeface="Gill Sans MT"/>
                        </a:rPr>
                        <a:t>1.987</a:t>
                      </a:r>
                    </a:p>
                  </a:txBody>
                  <a:tcPr marL="45720" marR="45720" marT="9144" marB="9144" anchor="ctr">
                    <a:noFill/>
                  </a:tcPr>
                </a:tc>
                <a:tc>
                  <a:txBody>
                    <a:bodyPr/>
                    <a:lstStyle/>
                    <a:p>
                      <a:pPr algn="r"/>
                      <a:r>
                        <a:rPr sz="800" b="0" i="0">
                          <a:solidFill>
                            <a:srgbClr val="1E1E1E"/>
                          </a:solidFill>
                          <a:latin typeface="Gill Sans MT"/>
                        </a:rPr>
                        <a:t>1,36x</a:t>
                      </a:r>
                    </a:p>
                  </a:txBody>
                  <a:tcPr marL="45720" marR="45720" marT="9144" marB="9144" anchor="ctr">
                    <a:noFill/>
                  </a:tcPr>
                </a:tc>
                <a:tc>
                  <a:txBody>
                    <a:bodyPr/>
                    <a:lstStyle/>
                    <a:p>
                      <a:pPr algn="r"/>
                      <a:r>
                        <a:rPr sz="800" b="0" i="0">
                          <a:solidFill>
                            <a:srgbClr val="1E1E1E"/>
                          </a:solidFill>
                          <a:latin typeface="Gill Sans MT"/>
                        </a:rPr>
                        <a:t>12,5 %</a:t>
                      </a:r>
                    </a:p>
                  </a:txBody>
                  <a:tcPr marL="45720" marR="45720" marT="9144" marB="9144" anchor="ctr">
                    <a:noFill/>
                  </a:tcPr>
                </a:tc>
                <a:extLst>
                  <a:ext uri="{0D108BD9-81ED-4DB2-BD59-A6C34878D82A}">
                    <a16:rowId xmlns:a16="http://schemas.microsoft.com/office/drawing/2014/main" val="10003"/>
                  </a:ext>
                </a:extLst>
              </a:tr>
              <a:tr h="169164">
                <a:tc>
                  <a:txBody>
                    <a:bodyPr/>
                    <a:lstStyle/>
                    <a:p>
                      <a:pPr algn="l"/>
                      <a:r>
                        <a:rPr sz="800" b="0" i="0">
                          <a:solidFill>
                            <a:srgbClr val="1E1E1E"/>
                          </a:solidFill>
                          <a:latin typeface="Gill Sans MT"/>
                        </a:rPr>
                        <a:t>WPEF IX</a:t>
                      </a:r>
                    </a:p>
                  </a:txBody>
                  <a:tcPr marL="45720" marR="45720" marT="9144" marB="9144" anchor="ctr">
                    <a:solidFill>
                      <a:srgbClr val="F4F2EB"/>
                    </a:solidFill>
                  </a:tcPr>
                </a:tc>
                <a:tc>
                  <a:txBody>
                    <a:bodyPr/>
                    <a:lstStyle/>
                    <a:p>
                      <a:pPr algn="ctr"/>
                      <a:r>
                        <a:rPr sz="800" b="0" i="0">
                          <a:solidFill>
                            <a:srgbClr val="1E1E1E"/>
                          </a:solidFill>
                          <a:latin typeface="Gill Sans MT"/>
                        </a:rPr>
                        <a:t>2023</a:t>
                      </a:r>
                    </a:p>
                  </a:txBody>
                  <a:tcPr marL="45720" marR="45720" marT="9144" marB="9144" anchor="ctr">
                    <a:solidFill>
                      <a:srgbClr val="F4F2EB"/>
                    </a:solidFill>
                  </a:tcPr>
                </a:tc>
                <a:tc>
                  <a:txBody>
                    <a:bodyPr/>
                    <a:lstStyle/>
                    <a:p>
                      <a:pPr algn="r"/>
                      <a:r>
                        <a:rPr sz="800" b="0" i="0">
                          <a:solidFill>
                            <a:srgbClr val="1E1E1E"/>
                          </a:solidFill>
                          <a:latin typeface="Gill Sans MT"/>
                        </a:rPr>
                        <a:t>780</a:t>
                      </a:r>
                    </a:p>
                  </a:txBody>
                  <a:tcPr marL="45720" marR="45720" marT="9144" marB="9144" anchor="ctr">
                    <a:solidFill>
                      <a:srgbClr val="F4F2EB"/>
                    </a:solidFill>
                  </a:tcPr>
                </a:tc>
                <a:tc>
                  <a:txBody>
                    <a:bodyPr/>
                    <a:lstStyle/>
                    <a:p>
                      <a:pPr algn="r"/>
                      <a:r>
                        <a:rPr sz="800" b="0" i="0">
                          <a:solidFill>
                            <a:srgbClr val="1E1E1E"/>
                          </a:solidFill>
                          <a:latin typeface="Gill Sans MT"/>
                        </a:rPr>
                        <a:t>1.175</a:t>
                      </a:r>
                    </a:p>
                  </a:txBody>
                  <a:tcPr marL="45720" marR="45720" marT="9144" marB="9144" anchor="ctr">
                    <a:solidFill>
                      <a:srgbClr val="F4F2EB"/>
                    </a:solidFill>
                  </a:tcPr>
                </a:tc>
                <a:tc>
                  <a:txBody>
                    <a:bodyPr/>
                    <a:lstStyle/>
                    <a:p>
                      <a:pPr algn="r"/>
                      <a:r>
                        <a:rPr sz="800" b="0" i="0">
                          <a:solidFill>
                            <a:srgbClr val="1E1E1E"/>
                          </a:solidFill>
                          <a:latin typeface="Gill Sans MT"/>
                        </a:rPr>
                        <a:t>28</a:t>
                      </a:r>
                    </a:p>
                  </a:txBody>
                  <a:tcPr marL="45720" marR="45720" marT="9144" marB="9144" anchor="ctr">
                    <a:solidFill>
                      <a:srgbClr val="F4F2EB"/>
                    </a:solidFill>
                  </a:tcPr>
                </a:tc>
                <a:tc>
                  <a:txBody>
                    <a:bodyPr/>
                    <a:lstStyle/>
                    <a:p>
                      <a:pPr algn="r"/>
                      <a:r>
                        <a:rPr sz="800" b="0" i="0">
                          <a:solidFill>
                            <a:srgbClr val="1E1E1E"/>
                          </a:solidFill>
                          <a:latin typeface="Gill Sans MT"/>
                        </a:rPr>
                        <a:t>1.203</a:t>
                      </a:r>
                    </a:p>
                  </a:txBody>
                  <a:tcPr marL="45720" marR="45720" marT="9144" marB="9144" anchor="ctr">
                    <a:solidFill>
                      <a:srgbClr val="F4F2EB"/>
                    </a:solidFill>
                  </a:tcPr>
                </a:tc>
                <a:tc>
                  <a:txBody>
                    <a:bodyPr/>
                    <a:lstStyle/>
                    <a:p>
                      <a:pPr algn="r"/>
                      <a:r>
                        <a:rPr sz="800" b="0" i="0">
                          <a:solidFill>
                            <a:srgbClr val="1E1E1E"/>
                          </a:solidFill>
                          <a:latin typeface="Gill Sans MT"/>
                        </a:rPr>
                        <a:t>1,53x</a:t>
                      </a:r>
                    </a:p>
                  </a:txBody>
                  <a:tcPr marL="45720" marR="45720" marT="9144" marB="9144" anchor="ctr">
                    <a:solidFill>
                      <a:srgbClr val="F4F2EB"/>
                    </a:solidFill>
                  </a:tcPr>
                </a:tc>
                <a:tc>
                  <a:txBody>
                    <a:bodyPr/>
                    <a:lstStyle/>
                    <a:p>
                      <a:pPr algn="r"/>
                      <a:r>
                        <a:rPr sz="800" b="0" i="0">
                          <a:solidFill>
                            <a:srgbClr val="1E1E1E"/>
                          </a:solidFill>
                          <a:latin typeface="Gill Sans MT"/>
                        </a:rPr>
                        <a:t>39,2 %</a:t>
                      </a:r>
                    </a:p>
                  </a:txBody>
                  <a:tcPr marL="45720" marR="45720" marT="9144" marB="9144" anchor="ctr">
                    <a:solidFill>
                      <a:srgbClr val="F4F2EB"/>
                    </a:solidFill>
                  </a:tcPr>
                </a:tc>
                <a:extLst>
                  <a:ext uri="{0D108BD9-81ED-4DB2-BD59-A6C34878D82A}">
                    <a16:rowId xmlns:a16="http://schemas.microsoft.com/office/drawing/2014/main" val="10004"/>
                  </a:ext>
                </a:extLst>
              </a:tr>
              <a:tr h="169164">
                <a:tc>
                  <a:txBody>
                    <a:bodyPr/>
                    <a:lstStyle/>
                    <a:p>
                      <a:pPr algn="l"/>
                      <a:r>
                        <a:rPr sz="800" b="0" i="0">
                          <a:solidFill>
                            <a:srgbClr val="1E1E1E"/>
                          </a:solidFill>
                          <a:latin typeface="Gill Sans MT"/>
                        </a:rPr>
                        <a:t>Sentinel VII</a:t>
                      </a:r>
                    </a:p>
                  </a:txBody>
                  <a:tcPr marL="45720" marR="45720" marT="9144" marB="9144" anchor="ctr">
                    <a:noFill/>
                  </a:tcPr>
                </a:tc>
                <a:tc>
                  <a:txBody>
                    <a:bodyPr/>
                    <a:lstStyle/>
                    <a:p>
                      <a:pPr algn="ctr"/>
                      <a:r>
                        <a:rPr sz="800" b="0" i="0">
                          <a:solidFill>
                            <a:srgbClr val="1E1E1E"/>
                          </a:solidFill>
                          <a:latin typeface="Gill Sans MT"/>
                        </a:rPr>
                        <a:t>2023</a:t>
                      </a:r>
                    </a:p>
                  </a:txBody>
                  <a:tcPr marL="45720" marR="45720" marT="9144" marB="9144" anchor="ctr">
                    <a:noFill/>
                  </a:tcPr>
                </a:tc>
                <a:tc>
                  <a:txBody>
                    <a:bodyPr/>
                    <a:lstStyle/>
                    <a:p>
                      <a:pPr algn="r"/>
                      <a:r>
                        <a:rPr sz="800" b="0" i="0">
                          <a:solidFill>
                            <a:srgbClr val="1E1E1E"/>
                          </a:solidFill>
                          <a:latin typeface="Gill Sans MT"/>
                        </a:rPr>
                        <a:t>679</a:t>
                      </a:r>
                    </a:p>
                  </a:txBody>
                  <a:tcPr marL="45720" marR="45720" marT="9144" marB="9144" anchor="ctr">
                    <a:noFill/>
                  </a:tcPr>
                </a:tc>
                <a:tc>
                  <a:txBody>
                    <a:bodyPr/>
                    <a:lstStyle/>
                    <a:p>
                      <a:pPr algn="r"/>
                      <a:r>
                        <a:rPr sz="800" b="0" i="0">
                          <a:solidFill>
                            <a:srgbClr val="1E1E1E"/>
                          </a:solidFill>
                          <a:latin typeface="Gill Sans MT"/>
                        </a:rPr>
                        <a:t>482</a:t>
                      </a:r>
                    </a:p>
                  </a:txBody>
                  <a:tcPr marL="45720" marR="45720" marT="9144" marB="9144" anchor="ctr">
                    <a:noFill/>
                  </a:tcPr>
                </a:tc>
                <a:tc>
                  <a:txBody>
                    <a:bodyPr/>
                    <a:lstStyle/>
                    <a:p>
                      <a:pPr algn="r"/>
                      <a:r>
                        <a:rPr sz="800" b="0" i="0">
                          <a:solidFill>
                            <a:srgbClr val="1E1E1E"/>
                          </a:solidFill>
                          <a:latin typeface="Gill Sans MT"/>
                        </a:rPr>
                        <a:t>458</a:t>
                      </a:r>
                    </a:p>
                  </a:txBody>
                  <a:tcPr marL="45720" marR="45720" marT="9144" marB="9144" anchor="ctr">
                    <a:noFill/>
                  </a:tcPr>
                </a:tc>
                <a:tc>
                  <a:txBody>
                    <a:bodyPr/>
                    <a:lstStyle/>
                    <a:p>
                      <a:pPr algn="r"/>
                      <a:r>
                        <a:rPr sz="800" b="0" i="0">
                          <a:solidFill>
                            <a:srgbClr val="1E1E1E"/>
                          </a:solidFill>
                          <a:latin typeface="Gill Sans MT"/>
                        </a:rPr>
                        <a:t>941</a:t>
                      </a:r>
                    </a:p>
                  </a:txBody>
                  <a:tcPr marL="45720" marR="45720" marT="9144" marB="9144" anchor="ctr">
                    <a:noFill/>
                  </a:tcPr>
                </a:tc>
                <a:tc>
                  <a:txBody>
                    <a:bodyPr/>
                    <a:lstStyle/>
                    <a:p>
                      <a:pPr algn="r"/>
                      <a:r>
                        <a:rPr sz="800" b="0" i="0">
                          <a:solidFill>
                            <a:srgbClr val="1E1E1E"/>
                          </a:solidFill>
                          <a:latin typeface="Gill Sans MT"/>
                        </a:rPr>
                        <a:t>1,37x</a:t>
                      </a:r>
                    </a:p>
                  </a:txBody>
                  <a:tcPr marL="45720" marR="45720" marT="9144" marB="9144" anchor="ctr">
                    <a:noFill/>
                  </a:tcPr>
                </a:tc>
                <a:tc>
                  <a:txBody>
                    <a:bodyPr/>
                    <a:lstStyle/>
                    <a:p>
                      <a:pPr algn="r"/>
                      <a:r>
                        <a:rPr sz="800" b="0" i="0">
                          <a:solidFill>
                            <a:srgbClr val="1E1E1E"/>
                          </a:solidFill>
                          <a:latin typeface="Gill Sans MT"/>
                        </a:rPr>
                        <a:t>16,4 %</a:t>
                      </a:r>
                    </a:p>
                  </a:txBody>
                  <a:tcPr marL="45720" marR="45720" marT="9144" marB="9144" anchor="ctr">
                    <a:noFill/>
                  </a:tcPr>
                </a:tc>
                <a:extLst>
                  <a:ext uri="{0D108BD9-81ED-4DB2-BD59-A6C34878D82A}">
                    <a16:rowId xmlns:a16="http://schemas.microsoft.com/office/drawing/2014/main" val="10005"/>
                  </a:ext>
                </a:extLst>
              </a:tr>
              <a:tr h="169164">
                <a:tc>
                  <a:txBody>
                    <a:bodyPr/>
                    <a:lstStyle/>
                    <a:p>
                      <a:pPr algn="l"/>
                      <a:r>
                        <a:rPr sz="800" b="0" i="0">
                          <a:solidFill>
                            <a:srgbClr val="1E1E1E"/>
                          </a:solidFill>
                          <a:latin typeface="Gill Sans MT"/>
                        </a:rPr>
                        <a:t>Symphony VII</a:t>
                      </a:r>
                    </a:p>
                  </a:txBody>
                  <a:tcPr marL="45720" marR="45720" marT="9144" marB="9144" anchor="ctr">
                    <a:solidFill>
                      <a:srgbClr val="F4F2EB"/>
                    </a:solidFill>
                  </a:tcPr>
                </a:tc>
                <a:tc>
                  <a:txBody>
                    <a:bodyPr/>
                    <a:lstStyle/>
                    <a:p>
                      <a:pPr algn="ctr"/>
                      <a:r>
                        <a:rPr sz="800" b="0" i="0">
                          <a:solidFill>
                            <a:srgbClr val="1E1E1E"/>
                          </a:solidFill>
                          <a:latin typeface="Gill Sans MT"/>
                        </a:rPr>
                        <a:t>2024</a:t>
                      </a:r>
                    </a:p>
                  </a:txBody>
                  <a:tcPr marL="45720" marR="45720" marT="9144" marB="9144" anchor="ctr">
                    <a:solidFill>
                      <a:srgbClr val="F4F2EB"/>
                    </a:solidFill>
                  </a:tcPr>
                </a:tc>
                <a:tc>
                  <a:txBody>
                    <a:bodyPr/>
                    <a:lstStyle/>
                    <a:p>
                      <a:pPr algn="r"/>
                      <a:r>
                        <a:rPr sz="800" b="0" i="0">
                          <a:solidFill>
                            <a:srgbClr val="1E1E1E"/>
                          </a:solidFill>
                          <a:latin typeface="Gill Sans MT"/>
                        </a:rPr>
                        <a:t>549</a:t>
                      </a:r>
                    </a:p>
                  </a:txBody>
                  <a:tcPr marL="45720" marR="45720" marT="9144" marB="9144" anchor="ctr">
                    <a:solidFill>
                      <a:srgbClr val="F4F2EB"/>
                    </a:solidFill>
                  </a:tcPr>
                </a:tc>
                <a:tc>
                  <a:txBody>
                    <a:bodyPr/>
                    <a:lstStyle/>
                    <a:p>
                      <a:pPr algn="r"/>
                      <a:r>
                        <a:rPr sz="800" b="0" i="0">
                          <a:solidFill>
                            <a:srgbClr val="1E1E1E"/>
                          </a:solidFill>
                          <a:latin typeface="Gill Sans MT"/>
                        </a:rPr>
                        <a:t>465</a:t>
                      </a:r>
                    </a:p>
                  </a:txBody>
                  <a:tcPr marL="45720" marR="45720" marT="9144" marB="9144" anchor="ctr">
                    <a:solidFill>
                      <a:srgbClr val="F4F2EB"/>
                    </a:solidFill>
                  </a:tcPr>
                </a:tc>
                <a:tc>
                  <a:txBody>
                    <a:bodyPr/>
                    <a:lstStyle/>
                    <a:p>
                      <a:pPr algn="r"/>
                      <a:r>
                        <a:rPr sz="800" b="0" i="0">
                          <a:solidFill>
                            <a:srgbClr val="1E1E1E"/>
                          </a:solidFill>
                          <a:latin typeface="Gill Sans MT"/>
                        </a:rPr>
                        <a:t>0</a:t>
                      </a:r>
                    </a:p>
                  </a:txBody>
                  <a:tcPr marL="45720" marR="45720" marT="9144" marB="9144" anchor="ctr">
                    <a:solidFill>
                      <a:srgbClr val="F4F2EB"/>
                    </a:solidFill>
                  </a:tcPr>
                </a:tc>
                <a:tc>
                  <a:txBody>
                    <a:bodyPr/>
                    <a:lstStyle/>
                    <a:p>
                      <a:pPr algn="r"/>
                      <a:r>
                        <a:rPr sz="800" b="0" i="0">
                          <a:solidFill>
                            <a:srgbClr val="1E1E1E"/>
                          </a:solidFill>
                          <a:latin typeface="Gill Sans MT"/>
                        </a:rPr>
                        <a:t>465</a:t>
                      </a:r>
                    </a:p>
                  </a:txBody>
                  <a:tcPr marL="45720" marR="45720" marT="9144" marB="9144" anchor="ctr">
                    <a:solidFill>
                      <a:srgbClr val="F4F2EB"/>
                    </a:solidFill>
                  </a:tcPr>
                </a:tc>
                <a:tc>
                  <a:txBody>
                    <a:bodyPr/>
                    <a:lstStyle/>
                    <a:p>
                      <a:pPr algn="r"/>
                      <a:r>
                        <a:rPr sz="800" b="0" i="0">
                          <a:solidFill>
                            <a:srgbClr val="1E1E1E"/>
                          </a:solidFill>
                          <a:latin typeface="Gill Sans MT"/>
                        </a:rPr>
                        <a:t>0,86x</a:t>
                      </a:r>
                    </a:p>
                  </a:txBody>
                  <a:tcPr marL="45720" marR="45720" marT="9144" marB="9144" anchor="ctr">
                    <a:solidFill>
                      <a:srgbClr val="F4F2EB"/>
                    </a:solidFill>
                  </a:tcPr>
                </a:tc>
                <a:tc>
                  <a:txBody>
                    <a:bodyPr/>
                    <a:lstStyle/>
                    <a:p>
                      <a:pPr algn="r"/>
                      <a:r>
                        <a:rPr sz="800" b="0" i="0">
                          <a:solidFill>
                            <a:srgbClr val="1E1E1E"/>
                          </a:solidFill>
                          <a:latin typeface="Gill Sans MT"/>
                        </a:rPr>
                        <a:t>n/a</a:t>
                      </a:r>
                    </a:p>
                  </a:txBody>
                  <a:tcPr marL="45720" marR="45720" marT="9144" marB="9144" anchor="ctr">
                    <a:solidFill>
                      <a:srgbClr val="F4F2EB"/>
                    </a:solidFill>
                  </a:tcPr>
                </a:tc>
                <a:extLst>
                  <a:ext uri="{0D108BD9-81ED-4DB2-BD59-A6C34878D82A}">
                    <a16:rowId xmlns:a16="http://schemas.microsoft.com/office/drawing/2014/main" val="10006"/>
                  </a:ext>
                </a:extLst>
              </a:tr>
              <a:tr h="169164">
                <a:tc>
                  <a:txBody>
                    <a:bodyPr/>
                    <a:lstStyle/>
                    <a:p>
                      <a:pPr algn="l"/>
                      <a:r>
                        <a:rPr sz="800" b="0" i="0">
                          <a:solidFill>
                            <a:srgbClr val="1E1E1E"/>
                          </a:solidFill>
                          <a:latin typeface="Gill Sans MT"/>
                        </a:rPr>
                        <a:t>Trivest VII</a:t>
                      </a:r>
                    </a:p>
                  </a:txBody>
                  <a:tcPr marL="45720" marR="45720" marT="9144" marB="9144" anchor="ctr">
                    <a:noFill/>
                  </a:tcPr>
                </a:tc>
                <a:tc>
                  <a:txBody>
                    <a:bodyPr/>
                    <a:lstStyle/>
                    <a:p>
                      <a:pPr algn="ctr"/>
                      <a:r>
                        <a:rPr sz="800" b="0" i="0">
                          <a:solidFill>
                            <a:srgbClr val="1E1E1E"/>
                          </a:solidFill>
                          <a:latin typeface="Gill Sans MT"/>
                        </a:rPr>
                        <a:t>2023</a:t>
                      </a:r>
                    </a:p>
                  </a:txBody>
                  <a:tcPr marL="45720" marR="45720" marT="9144" marB="9144" anchor="ctr">
                    <a:noFill/>
                  </a:tcPr>
                </a:tc>
                <a:tc>
                  <a:txBody>
                    <a:bodyPr/>
                    <a:lstStyle/>
                    <a:p>
                      <a:pPr algn="r"/>
                      <a:r>
                        <a:rPr sz="800" b="0" i="0">
                          <a:solidFill>
                            <a:srgbClr val="1E1E1E"/>
                          </a:solidFill>
                          <a:latin typeface="Gill Sans MT"/>
                        </a:rPr>
                        <a:t>460</a:t>
                      </a:r>
                    </a:p>
                  </a:txBody>
                  <a:tcPr marL="45720" marR="45720" marT="9144" marB="9144" anchor="ctr">
                    <a:noFill/>
                  </a:tcPr>
                </a:tc>
                <a:tc>
                  <a:txBody>
                    <a:bodyPr/>
                    <a:lstStyle/>
                    <a:p>
                      <a:pPr algn="r"/>
                      <a:r>
                        <a:rPr sz="800" b="0" i="0">
                          <a:solidFill>
                            <a:srgbClr val="1E1E1E"/>
                          </a:solidFill>
                          <a:latin typeface="Gill Sans MT"/>
                        </a:rPr>
                        <a:t>397</a:t>
                      </a:r>
                    </a:p>
                  </a:txBody>
                  <a:tcPr marL="45720" marR="45720" marT="9144" marB="9144" anchor="ctr">
                    <a:noFill/>
                  </a:tcPr>
                </a:tc>
                <a:tc>
                  <a:txBody>
                    <a:bodyPr/>
                    <a:lstStyle/>
                    <a:p>
                      <a:pPr algn="r"/>
                      <a:r>
                        <a:rPr sz="800" b="0" i="0">
                          <a:solidFill>
                            <a:srgbClr val="1E1E1E"/>
                          </a:solidFill>
                          <a:latin typeface="Gill Sans MT"/>
                        </a:rPr>
                        <a:t>0</a:t>
                      </a:r>
                    </a:p>
                  </a:txBody>
                  <a:tcPr marL="45720" marR="45720" marT="9144" marB="9144" anchor="ctr">
                    <a:noFill/>
                  </a:tcPr>
                </a:tc>
                <a:tc>
                  <a:txBody>
                    <a:bodyPr/>
                    <a:lstStyle/>
                    <a:p>
                      <a:pPr algn="r"/>
                      <a:r>
                        <a:rPr sz="800" b="0" i="0">
                          <a:solidFill>
                            <a:srgbClr val="1E1E1E"/>
                          </a:solidFill>
                          <a:latin typeface="Gill Sans MT"/>
                        </a:rPr>
                        <a:t>397</a:t>
                      </a:r>
                    </a:p>
                  </a:txBody>
                  <a:tcPr marL="45720" marR="45720" marT="9144" marB="9144" anchor="ctr">
                    <a:noFill/>
                  </a:tcPr>
                </a:tc>
                <a:tc>
                  <a:txBody>
                    <a:bodyPr/>
                    <a:lstStyle/>
                    <a:p>
                      <a:pPr algn="r"/>
                      <a:r>
                        <a:rPr sz="800" b="0" i="0">
                          <a:solidFill>
                            <a:srgbClr val="1E1E1E"/>
                          </a:solidFill>
                          <a:latin typeface="Gill Sans MT"/>
                        </a:rPr>
                        <a:t>0,86x</a:t>
                      </a:r>
                    </a:p>
                  </a:txBody>
                  <a:tcPr marL="45720" marR="45720" marT="9144" marB="9144" anchor="ctr">
                    <a:noFill/>
                  </a:tcPr>
                </a:tc>
                <a:tc>
                  <a:txBody>
                    <a:bodyPr/>
                    <a:lstStyle/>
                    <a:p>
                      <a:pPr algn="r"/>
                      <a:r>
                        <a:rPr sz="800" b="0" i="0">
                          <a:solidFill>
                            <a:srgbClr val="1E1E1E"/>
                          </a:solidFill>
                          <a:latin typeface="Gill Sans MT"/>
                        </a:rPr>
                        <a:t>n/a</a:t>
                      </a:r>
                    </a:p>
                  </a:txBody>
                  <a:tcPr marL="45720" marR="45720" marT="9144" marB="9144" anchor="ctr">
                    <a:noFill/>
                  </a:tcPr>
                </a:tc>
                <a:extLst>
                  <a:ext uri="{0D108BD9-81ED-4DB2-BD59-A6C34878D82A}">
                    <a16:rowId xmlns:a16="http://schemas.microsoft.com/office/drawing/2014/main" val="10007"/>
                  </a:ext>
                </a:extLst>
              </a:tr>
              <a:tr h="169164">
                <a:tc>
                  <a:txBody>
                    <a:bodyPr/>
                    <a:lstStyle/>
                    <a:p>
                      <a:pPr algn="l"/>
                      <a:r>
                        <a:rPr sz="800" b="0" i="0">
                          <a:solidFill>
                            <a:srgbClr val="1E1E1E"/>
                          </a:solidFill>
                          <a:latin typeface="Gill Sans MT"/>
                        </a:rPr>
                        <a:t>Paragon IV</a:t>
                      </a:r>
                    </a:p>
                  </a:txBody>
                  <a:tcPr marL="45720" marR="45720" marT="9144" marB="9144" anchor="ctr">
                    <a:solidFill>
                      <a:srgbClr val="F4F2EB"/>
                    </a:solidFill>
                  </a:tcPr>
                </a:tc>
                <a:tc>
                  <a:txBody>
                    <a:bodyPr/>
                    <a:lstStyle/>
                    <a:p>
                      <a:pPr algn="ctr"/>
                      <a:r>
                        <a:rPr sz="800" b="0" i="0">
                          <a:solidFill>
                            <a:srgbClr val="1E1E1E"/>
                          </a:solidFill>
                          <a:latin typeface="Gill Sans MT"/>
                        </a:rPr>
                        <a:t>2025</a:t>
                      </a:r>
                    </a:p>
                  </a:txBody>
                  <a:tcPr marL="45720" marR="45720" marT="9144" marB="9144" anchor="ctr">
                    <a:solidFill>
                      <a:srgbClr val="F4F2EB"/>
                    </a:solidFill>
                  </a:tcPr>
                </a:tc>
                <a:tc>
                  <a:txBody>
                    <a:bodyPr/>
                    <a:lstStyle/>
                    <a:p>
                      <a:pPr algn="r"/>
                      <a:r>
                        <a:rPr sz="800" b="0" i="0">
                          <a:solidFill>
                            <a:srgbClr val="1E1E1E"/>
                          </a:solidFill>
                          <a:latin typeface="Gill Sans MT"/>
                        </a:rPr>
                        <a:t>352</a:t>
                      </a:r>
                    </a:p>
                  </a:txBody>
                  <a:tcPr marL="45720" marR="45720" marT="9144" marB="9144" anchor="ctr">
                    <a:solidFill>
                      <a:srgbClr val="F4F2EB"/>
                    </a:solidFill>
                  </a:tcPr>
                </a:tc>
                <a:tc>
                  <a:txBody>
                    <a:bodyPr/>
                    <a:lstStyle/>
                    <a:p>
                      <a:pPr algn="r"/>
                      <a:r>
                        <a:rPr sz="800" b="0" i="0">
                          <a:solidFill>
                            <a:srgbClr val="1E1E1E"/>
                          </a:solidFill>
                          <a:latin typeface="Gill Sans MT"/>
                        </a:rPr>
                        <a:t>245</a:t>
                      </a:r>
                    </a:p>
                  </a:txBody>
                  <a:tcPr marL="45720" marR="45720" marT="9144" marB="9144" anchor="ctr">
                    <a:solidFill>
                      <a:srgbClr val="F4F2EB"/>
                    </a:solidFill>
                  </a:tcPr>
                </a:tc>
                <a:tc>
                  <a:txBody>
                    <a:bodyPr/>
                    <a:lstStyle/>
                    <a:p>
                      <a:pPr algn="r"/>
                      <a:r>
                        <a:rPr sz="800" b="0" i="0">
                          <a:solidFill>
                            <a:srgbClr val="1E1E1E"/>
                          </a:solidFill>
                          <a:latin typeface="Gill Sans MT"/>
                        </a:rPr>
                        <a:t>112</a:t>
                      </a:r>
                    </a:p>
                  </a:txBody>
                  <a:tcPr marL="45720" marR="45720" marT="9144" marB="9144" anchor="ctr">
                    <a:solidFill>
                      <a:srgbClr val="F4F2EB"/>
                    </a:solidFill>
                  </a:tcPr>
                </a:tc>
                <a:tc>
                  <a:txBody>
                    <a:bodyPr/>
                    <a:lstStyle/>
                    <a:p>
                      <a:pPr algn="r"/>
                      <a:r>
                        <a:rPr sz="800" b="0" i="0">
                          <a:solidFill>
                            <a:srgbClr val="1E1E1E"/>
                          </a:solidFill>
                          <a:latin typeface="Gill Sans MT"/>
                        </a:rPr>
                        <a:t>356</a:t>
                      </a:r>
                    </a:p>
                  </a:txBody>
                  <a:tcPr marL="45720" marR="45720" marT="9144" marB="9144" anchor="ctr">
                    <a:solidFill>
                      <a:srgbClr val="F4F2EB"/>
                    </a:solidFill>
                  </a:tcPr>
                </a:tc>
                <a:tc>
                  <a:txBody>
                    <a:bodyPr/>
                    <a:lstStyle/>
                    <a:p>
                      <a:pPr algn="r"/>
                      <a:r>
                        <a:rPr sz="800" b="0" i="0">
                          <a:solidFill>
                            <a:srgbClr val="1E1E1E"/>
                          </a:solidFill>
                          <a:latin typeface="Gill Sans MT"/>
                        </a:rPr>
                        <a:t>1,03x</a:t>
                      </a:r>
                    </a:p>
                  </a:txBody>
                  <a:tcPr marL="45720" marR="45720" marT="9144" marB="9144" anchor="ctr">
                    <a:solidFill>
                      <a:srgbClr val="F4F2EB"/>
                    </a:solidFill>
                  </a:tcPr>
                </a:tc>
                <a:tc>
                  <a:txBody>
                    <a:bodyPr/>
                    <a:lstStyle/>
                    <a:p>
                      <a:pPr algn="r"/>
                      <a:r>
                        <a:rPr sz="800" b="0" i="0">
                          <a:solidFill>
                            <a:srgbClr val="1E1E1E"/>
                          </a:solidFill>
                          <a:latin typeface="Gill Sans MT"/>
                        </a:rPr>
                        <a:t>4,8 %</a:t>
                      </a:r>
                    </a:p>
                  </a:txBody>
                  <a:tcPr marL="45720" marR="45720" marT="9144" marB="9144" anchor="ctr">
                    <a:solidFill>
                      <a:srgbClr val="F4F2EB"/>
                    </a:solidFill>
                  </a:tcPr>
                </a:tc>
                <a:extLst>
                  <a:ext uri="{0D108BD9-81ED-4DB2-BD59-A6C34878D82A}">
                    <a16:rowId xmlns:a16="http://schemas.microsoft.com/office/drawing/2014/main" val="10008"/>
                  </a:ext>
                </a:extLst>
              </a:tr>
              <a:tr h="169164">
                <a:tc>
                  <a:txBody>
                    <a:bodyPr/>
                    <a:lstStyle/>
                    <a:p>
                      <a:pPr algn="l"/>
                      <a:r>
                        <a:rPr sz="800" b="0" i="0">
                          <a:solidFill>
                            <a:srgbClr val="1E1E1E"/>
                          </a:solidFill>
                          <a:latin typeface="Gill Sans MT"/>
                        </a:rPr>
                        <a:t>TDF II</a:t>
                      </a:r>
                    </a:p>
                  </a:txBody>
                  <a:tcPr marL="45720" marR="45720" marT="9144" marB="9144" anchor="ctr">
                    <a:noFill/>
                  </a:tcPr>
                </a:tc>
                <a:tc>
                  <a:txBody>
                    <a:bodyPr/>
                    <a:lstStyle/>
                    <a:p>
                      <a:pPr algn="ctr"/>
                      <a:r>
                        <a:rPr sz="800" b="0" i="0">
                          <a:solidFill>
                            <a:srgbClr val="1E1E1E"/>
                          </a:solidFill>
                          <a:latin typeface="Gill Sans MT"/>
                        </a:rPr>
                        <a:t>2022</a:t>
                      </a:r>
                    </a:p>
                  </a:txBody>
                  <a:tcPr marL="45720" marR="45720" marT="9144" marB="9144" anchor="ctr">
                    <a:noFill/>
                  </a:tcPr>
                </a:tc>
                <a:tc>
                  <a:txBody>
                    <a:bodyPr/>
                    <a:lstStyle/>
                    <a:p>
                      <a:pPr algn="r"/>
                      <a:r>
                        <a:rPr sz="800" b="0" i="0">
                          <a:solidFill>
                            <a:srgbClr val="1E1E1E"/>
                          </a:solidFill>
                          <a:latin typeface="Gill Sans MT"/>
                        </a:rPr>
                        <a:t>293</a:t>
                      </a:r>
                    </a:p>
                  </a:txBody>
                  <a:tcPr marL="45720" marR="45720" marT="9144" marB="9144" anchor="ctr">
                    <a:noFill/>
                  </a:tcPr>
                </a:tc>
                <a:tc>
                  <a:txBody>
                    <a:bodyPr/>
                    <a:lstStyle/>
                    <a:p>
                      <a:pPr algn="r"/>
                      <a:r>
                        <a:rPr sz="800" b="0" i="0">
                          <a:solidFill>
                            <a:srgbClr val="1E1E1E"/>
                          </a:solidFill>
                          <a:latin typeface="Gill Sans MT"/>
                        </a:rPr>
                        <a:t>205</a:t>
                      </a:r>
                    </a:p>
                  </a:txBody>
                  <a:tcPr marL="45720" marR="45720" marT="9144" marB="9144" anchor="ctr">
                    <a:noFill/>
                  </a:tcPr>
                </a:tc>
                <a:tc>
                  <a:txBody>
                    <a:bodyPr/>
                    <a:lstStyle/>
                    <a:p>
                      <a:pPr algn="r"/>
                      <a:r>
                        <a:rPr sz="800" b="0" i="0">
                          <a:solidFill>
                            <a:srgbClr val="1E1E1E"/>
                          </a:solidFill>
                          <a:latin typeface="Gill Sans MT"/>
                        </a:rPr>
                        <a:t>121</a:t>
                      </a:r>
                    </a:p>
                  </a:txBody>
                  <a:tcPr marL="45720" marR="45720" marT="9144" marB="9144" anchor="ctr">
                    <a:noFill/>
                  </a:tcPr>
                </a:tc>
                <a:tc>
                  <a:txBody>
                    <a:bodyPr/>
                    <a:lstStyle/>
                    <a:p>
                      <a:pPr algn="r"/>
                      <a:r>
                        <a:rPr sz="800" b="0" i="0">
                          <a:solidFill>
                            <a:srgbClr val="1E1E1E"/>
                          </a:solidFill>
                          <a:latin typeface="Gill Sans MT"/>
                        </a:rPr>
                        <a:t>326</a:t>
                      </a:r>
                    </a:p>
                  </a:txBody>
                  <a:tcPr marL="45720" marR="45720" marT="9144" marB="9144" anchor="ctr">
                    <a:noFill/>
                  </a:tcPr>
                </a:tc>
                <a:tc>
                  <a:txBody>
                    <a:bodyPr/>
                    <a:lstStyle/>
                    <a:p>
                      <a:pPr algn="r"/>
                      <a:r>
                        <a:rPr sz="800" b="0" i="0">
                          <a:solidFill>
                            <a:srgbClr val="1E1E1E"/>
                          </a:solidFill>
                          <a:latin typeface="Gill Sans MT"/>
                        </a:rPr>
                        <a:t>1,11x</a:t>
                      </a:r>
                    </a:p>
                  </a:txBody>
                  <a:tcPr marL="45720" marR="45720" marT="9144" marB="9144" anchor="ctr">
                    <a:noFill/>
                  </a:tcPr>
                </a:tc>
                <a:tc>
                  <a:txBody>
                    <a:bodyPr/>
                    <a:lstStyle/>
                    <a:p>
                      <a:pPr algn="r"/>
                      <a:r>
                        <a:rPr sz="800" b="0" i="0">
                          <a:solidFill>
                            <a:srgbClr val="1E1E1E"/>
                          </a:solidFill>
                          <a:latin typeface="Gill Sans MT"/>
                        </a:rPr>
                        <a:t>7,4 %</a:t>
                      </a:r>
                    </a:p>
                  </a:txBody>
                  <a:tcPr marL="45720" marR="45720" marT="9144" marB="9144" anchor="ctr">
                    <a:noFill/>
                  </a:tcPr>
                </a:tc>
                <a:extLst>
                  <a:ext uri="{0D108BD9-81ED-4DB2-BD59-A6C34878D82A}">
                    <a16:rowId xmlns:a16="http://schemas.microsoft.com/office/drawing/2014/main" val="10009"/>
                  </a:ext>
                </a:extLst>
              </a:tr>
              <a:tr h="169164">
                <a:tc>
                  <a:txBody>
                    <a:bodyPr/>
                    <a:lstStyle/>
                    <a:p>
                      <a:pPr algn="l"/>
                      <a:r>
                        <a:rPr sz="800" b="0" i="0">
                          <a:solidFill>
                            <a:srgbClr val="1E1E1E"/>
                          </a:solidFill>
                          <a:latin typeface="Gill Sans MT"/>
                        </a:rPr>
                        <a:t>Advent Tech II</a:t>
                      </a:r>
                    </a:p>
                  </a:txBody>
                  <a:tcPr marL="45720" marR="45720" marT="9144" marB="9144" anchor="ctr">
                    <a:solidFill>
                      <a:srgbClr val="F4F2EB"/>
                    </a:solidFill>
                  </a:tcPr>
                </a:tc>
                <a:tc>
                  <a:txBody>
                    <a:bodyPr/>
                    <a:lstStyle/>
                    <a:p>
                      <a:pPr algn="ctr"/>
                      <a:r>
                        <a:rPr sz="800" b="0" i="0">
                          <a:solidFill>
                            <a:srgbClr val="1E1E1E"/>
                          </a:solidFill>
                          <a:latin typeface="Gill Sans MT"/>
                        </a:rPr>
                        <a:t>2022</a:t>
                      </a:r>
                    </a:p>
                  </a:txBody>
                  <a:tcPr marL="45720" marR="45720" marT="9144" marB="9144" anchor="ctr">
                    <a:solidFill>
                      <a:srgbClr val="F4F2EB"/>
                    </a:solidFill>
                  </a:tcPr>
                </a:tc>
                <a:tc>
                  <a:txBody>
                    <a:bodyPr/>
                    <a:lstStyle/>
                    <a:p>
                      <a:pPr algn="r"/>
                      <a:r>
                        <a:rPr sz="800" b="0" i="0">
                          <a:solidFill>
                            <a:srgbClr val="1E1E1E"/>
                          </a:solidFill>
                          <a:latin typeface="Gill Sans MT"/>
                        </a:rPr>
                        <a:t>196</a:t>
                      </a:r>
                    </a:p>
                  </a:txBody>
                  <a:tcPr marL="45720" marR="45720" marT="9144" marB="9144" anchor="ctr">
                    <a:solidFill>
                      <a:srgbClr val="F4F2EB"/>
                    </a:solidFill>
                  </a:tcPr>
                </a:tc>
                <a:tc>
                  <a:txBody>
                    <a:bodyPr/>
                    <a:lstStyle/>
                    <a:p>
                      <a:pPr algn="r"/>
                      <a:r>
                        <a:rPr sz="800" b="0" i="0">
                          <a:solidFill>
                            <a:srgbClr val="1E1E1E"/>
                          </a:solidFill>
                          <a:latin typeface="Gill Sans MT"/>
                        </a:rPr>
                        <a:t>242</a:t>
                      </a:r>
                    </a:p>
                  </a:txBody>
                  <a:tcPr marL="45720" marR="45720" marT="9144" marB="9144" anchor="ctr">
                    <a:solidFill>
                      <a:srgbClr val="F4F2EB"/>
                    </a:solidFill>
                  </a:tcPr>
                </a:tc>
                <a:tc>
                  <a:txBody>
                    <a:bodyPr/>
                    <a:lstStyle/>
                    <a:p>
                      <a:pPr algn="r"/>
                      <a:r>
                        <a:rPr sz="800" b="0" i="0">
                          <a:solidFill>
                            <a:srgbClr val="1E1E1E"/>
                          </a:solidFill>
                          <a:latin typeface="Gill Sans MT"/>
                        </a:rPr>
                        <a:t>2</a:t>
                      </a:r>
                    </a:p>
                  </a:txBody>
                  <a:tcPr marL="45720" marR="45720" marT="9144" marB="9144" anchor="ctr">
                    <a:solidFill>
                      <a:srgbClr val="F4F2EB"/>
                    </a:solidFill>
                  </a:tcPr>
                </a:tc>
                <a:tc>
                  <a:txBody>
                    <a:bodyPr/>
                    <a:lstStyle/>
                    <a:p>
                      <a:pPr algn="r"/>
                      <a:r>
                        <a:rPr sz="800" b="0" i="0">
                          <a:solidFill>
                            <a:srgbClr val="1E1E1E"/>
                          </a:solidFill>
                          <a:latin typeface="Gill Sans MT"/>
                        </a:rPr>
                        <a:t>243</a:t>
                      </a:r>
                    </a:p>
                  </a:txBody>
                  <a:tcPr marL="45720" marR="45720" marT="9144" marB="9144" anchor="ctr">
                    <a:solidFill>
                      <a:srgbClr val="F4F2EB"/>
                    </a:solidFill>
                  </a:tcPr>
                </a:tc>
                <a:tc>
                  <a:txBody>
                    <a:bodyPr/>
                    <a:lstStyle/>
                    <a:p>
                      <a:pPr algn="r"/>
                      <a:r>
                        <a:rPr sz="800" b="0" i="0">
                          <a:solidFill>
                            <a:srgbClr val="1E1E1E"/>
                          </a:solidFill>
                          <a:latin typeface="Gill Sans MT"/>
                        </a:rPr>
                        <a:t>1,24x</a:t>
                      </a:r>
                    </a:p>
                  </a:txBody>
                  <a:tcPr marL="45720" marR="45720" marT="9144" marB="9144" anchor="ctr">
                    <a:solidFill>
                      <a:srgbClr val="F4F2EB"/>
                    </a:solidFill>
                  </a:tcPr>
                </a:tc>
                <a:tc>
                  <a:txBody>
                    <a:bodyPr/>
                    <a:lstStyle/>
                    <a:p>
                      <a:pPr algn="r"/>
                      <a:r>
                        <a:rPr sz="800" b="0" i="0">
                          <a:solidFill>
                            <a:srgbClr val="1E1E1E"/>
                          </a:solidFill>
                          <a:latin typeface="Gill Sans MT"/>
                        </a:rPr>
                        <a:t>7,9 %</a:t>
                      </a:r>
                    </a:p>
                  </a:txBody>
                  <a:tcPr marL="45720" marR="45720" marT="9144" marB="9144" anchor="ctr">
                    <a:solidFill>
                      <a:srgbClr val="F4F2EB"/>
                    </a:solidFill>
                  </a:tcPr>
                </a:tc>
                <a:extLst>
                  <a:ext uri="{0D108BD9-81ED-4DB2-BD59-A6C34878D82A}">
                    <a16:rowId xmlns:a16="http://schemas.microsoft.com/office/drawing/2014/main" val="10010"/>
                  </a:ext>
                </a:extLst>
              </a:tr>
              <a:tr h="169164">
                <a:tc>
                  <a:txBody>
                    <a:bodyPr/>
                    <a:lstStyle/>
                    <a:p>
                      <a:pPr algn="l"/>
                      <a:r>
                        <a:rPr sz="800" b="0" i="0">
                          <a:solidFill>
                            <a:srgbClr val="1E1E1E"/>
                          </a:solidFill>
                          <a:latin typeface="Gill Sans MT"/>
                        </a:rPr>
                        <a:t>WPF I</a:t>
                      </a:r>
                    </a:p>
                  </a:txBody>
                  <a:tcPr marL="45720" marR="45720" marT="9144" marB="9144" anchor="ctr">
                    <a:noFill/>
                  </a:tcPr>
                </a:tc>
                <a:tc>
                  <a:txBody>
                    <a:bodyPr/>
                    <a:lstStyle/>
                    <a:p>
                      <a:pPr algn="ctr"/>
                      <a:r>
                        <a:rPr sz="800" b="0" i="0">
                          <a:solidFill>
                            <a:srgbClr val="1E1E1E"/>
                          </a:solidFill>
                          <a:latin typeface="Gill Sans MT"/>
                        </a:rPr>
                        <a:t>2025</a:t>
                      </a:r>
                    </a:p>
                  </a:txBody>
                  <a:tcPr marL="45720" marR="45720" marT="9144" marB="9144" anchor="ctr">
                    <a:noFill/>
                  </a:tcPr>
                </a:tc>
                <a:tc>
                  <a:txBody>
                    <a:bodyPr/>
                    <a:lstStyle/>
                    <a:p>
                      <a:pPr algn="r"/>
                      <a:r>
                        <a:rPr sz="800" b="0" i="0">
                          <a:solidFill>
                            <a:srgbClr val="1E1E1E"/>
                          </a:solidFill>
                          <a:latin typeface="Gill Sans MT"/>
                        </a:rPr>
                        <a:t>91</a:t>
                      </a:r>
                    </a:p>
                  </a:txBody>
                  <a:tcPr marL="45720" marR="45720" marT="9144" marB="9144" anchor="ctr">
                    <a:noFill/>
                  </a:tcPr>
                </a:tc>
                <a:tc>
                  <a:txBody>
                    <a:bodyPr/>
                    <a:lstStyle/>
                    <a:p>
                      <a:pPr algn="r"/>
                      <a:r>
                        <a:rPr sz="800" b="0" i="0">
                          <a:solidFill>
                            <a:srgbClr val="1E1E1E"/>
                          </a:solidFill>
                          <a:latin typeface="Gill Sans MT"/>
                        </a:rPr>
                        <a:t>90</a:t>
                      </a:r>
                    </a:p>
                  </a:txBody>
                  <a:tcPr marL="45720" marR="45720" marT="9144" marB="9144" anchor="ctr">
                    <a:noFill/>
                  </a:tcPr>
                </a:tc>
                <a:tc>
                  <a:txBody>
                    <a:bodyPr/>
                    <a:lstStyle/>
                    <a:p>
                      <a:pPr algn="r"/>
                      <a:r>
                        <a:rPr sz="800" b="0" i="0">
                          <a:solidFill>
                            <a:srgbClr val="1E1E1E"/>
                          </a:solidFill>
                          <a:latin typeface="Gill Sans MT"/>
                        </a:rPr>
                        <a:t>0</a:t>
                      </a:r>
                    </a:p>
                  </a:txBody>
                  <a:tcPr marL="45720" marR="45720" marT="9144" marB="9144" anchor="ctr">
                    <a:noFill/>
                  </a:tcPr>
                </a:tc>
                <a:tc>
                  <a:txBody>
                    <a:bodyPr/>
                    <a:lstStyle/>
                    <a:p>
                      <a:pPr algn="r"/>
                      <a:r>
                        <a:rPr sz="800" b="0" i="0">
                          <a:solidFill>
                            <a:srgbClr val="1E1E1E"/>
                          </a:solidFill>
                          <a:latin typeface="Gill Sans MT"/>
                        </a:rPr>
                        <a:t>90</a:t>
                      </a:r>
                    </a:p>
                  </a:txBody>
                  <a:tcPr marL="45720" marR="45720" marT="9144" marB="9144" anchor="ctr">
                    <a:noFill/>
                  </a:tcPr>
                </a:tc>
                <a:tc>
                  <a:txBody>
                    <a:bodyPr/>
                    <a:lstStyle/>
                    <a:p>
                      <a:pPr algn="r"/>
                      <a:r>
                        <a:rPr sz="800" b="0" i="0">
                          <a:solidFill>
                            <a:srgbClr val="1E1E1E"/>
                          </a:solidFill>
                          <a:latin typeface="Gill Sans MT"/>
                        </a:rPr>
                        <a:t>0,99x</a:t>
                      </a:r>
                    </a:p>
                  </a:txBody>
                  <a:tcPr marL="45720" marR="45720" marT="9144" marB="9144" anchor="ctr">
                    <a:noFill/>
                  </a:tcPr>
                </a:tc>
                <a:tc>
                  <a:txBody>
                    <a:bodyPr/>
                    <a:lstStyle/>
                    <a:p>
                      <a:pPr algn="r"/>
                      <a:r>
                        <a:rPr sz="800" b="0" i="0">
                          <a:solidFill>
                            <a:srgbClr val="1E1E1E"/>
                          </a:solidFill>
                          <a:latin typeface="Gill Sans MT"/>
                        </a:rPr>
                        <a:t>n/a</a:t>
                      </a:r>
                    </a:p>
                  </a:txBody>
                  <a:tcPr marL="45720" marR="45720" marT="9144" marB="9144" anchor="ctr">
                    <a:noFill/>
                  </a:tcPr>
                </a:tc>
                <a:extLst>
                  <a:ext uri="{0D108BD9-81ED-4DB2-BD59-A6C34878D82A}">
                    <a16:rowId xmlns:a16="http://schemas.microsoft.com/office/drawing/2014/main" val="10011"/>
                  </a:ext>
                </a:extLst>
              </a:tr>
              <a:tr h="169164">
                <a:tc>
                  <a:txBody>
                    <a:bodyPr/>
                    <a:lstStyle/>
                    <a:p>
                      <a:pPr algn="l"/>
                      <a:r>
                        <a:rPr sz="800" b="1" i="0">
                          <a:solidFill>
                            <a:srgbClr val="1E1E1E"/>
                          </a:solidFill>
                          <a:latin typeface="Gill Sans MT"/>
                        </a:rPr>
                        <a:t>I alt</a:t>
                      </a:r>
                    </a:p>
                  </a:txBody>
                  <a:tcPr marL="45720" marR="45720" marT="9144" marB="9144" anchor="ctr">
                    <a:solidFill>
                      <a:srgbClr val="C9CCB8"/>
                    </a:solidFill>
                  </a:tcPr>
                </a:tc>
                <a:tc>
                  <a:txBody>
                    <a:bodyPr/>
                    <a:lstStyle/>
                    <a:p>
                      <a:pPr algn="ctr"/>
                      <a:endParaRPr/>
                    </a:p>
                  </a:txBody>
                  <a:tcPr marL="45720" marR="45720" marT="9144" marB="9144" anchor="ctr">
                    <a:solidFill>
                      <a:srgbClr val="C9CCB8"/>
                    </a:solidFill>
                  </a:tcPr>
                </a:tc>
                <a:tc>
                  <a:txBody>
                    <a:bodyPr/>
                    <a:lstStyle/>
                    <a:p>
                      <a:pPr algn="r"/>
                      <a:r>
                        <a:rPr sz="800" b="1" i="0">
                          <a:solidFill>
                            <a:srgbClr val="1E1E1E"/>
                          </a:solidFill>
                          <a:latin typeface="Gill Sans MT"/>
                        </a:rPr>
                        <a:t>7.246</a:t>
                      </a:r>
                    </a:p>
                  </a:txBody>
                  <a:tcPr marL="45720" marR="45720" marT="9144" marB="9144" anchor="ctr">
                    <a:solidFill>
                      <a:srgbClr val="C9CCB8"/>
                    </a:solidFill>
                  </a:tcPr>
                </a:tc>
                <a:tc>
                  <a:txBody>
                    <a:bodyPr/>
                    <a:lstStyle/>
                    <a:p>
                      <a:pPr algn="r"/>
                      <a:r>
                        <a:rPr sz="800" b="1" i="0">
                          <a:solidFill>
                            <a:srgbClr val="1E1E1E"/>
                          </a:solidFill>
                          <a:latin typeface="Gill Sans MT"/>
                        </a:rPr>
                        <a:t>9.171</a:t>
                      </a:r>
                    </a:p>
                  </a:txBody>
                  <a:tcPr marL="45720" marR="45720" marT="9144" marB="9144" anchor="ctr">
                    <a:solidFill>
                      <a:srgbClr val="C9CCB8"/>
                    </a:solidFill>
                  </a:tcPr>
                </a:tc>
                <a:tc>
                  <a:txBody>
                    <a:bodyPr/>
                    <a:lstStyle/>
                    <a:p>
                      <a:pPr algn="r"/>
                      <a:r>
                        <a:rPr sz="800" b="1" i="0">
                          <a:solidFill>
                            <a:srgbClr val="1E1E1E"/>
                          </a:solidFill>
                          <a:latin typeface="Gill Sans MT"/>
                        </a:rPr>
                        <a:t>918</a:t>
                      </a:r>
                    </a:p>
                  </a:txBody>
                  <a:tcPr marL="45720" marR="45720" marT="9144" marB="9144" anchor="ctr">
                    <a:solidFill>
                      <a:srgbClr val="C9CCB8"/>
                    </a:solidFill>
                  </a:tcPr>
                </a:tc>
                <a:tc>
                  <a:txBody>
                    <a:bodyPr/>
                    <a:lstStyle/>
                    <a:p>
                      <a:pPr algn="r"/>
                      <a:r>
                        <a:rPr sz="800" b="1" i="0">
                          <a:solidFill>
                            <a:srgbClr val="1E1E1E"/>
                          </a:solidFill>
                          <a:latin typeface="Gill Sans MT"/>
                        </a:rPr>
                        <a:t>10.089</a:t>
                      </a:r>
                    </a:p>
                  </a:txBody>
                  <a:tcPr marL="45720" marR="45720" marT="9144" marB="9144" anchor="ctr">
                    <a:solidFill>
                      <a:srgbClr val="C9CCB8"/>
                    </a:solidFill>
                  </a:tcPr>
                </a:tc>
                <a:tc>
                  <a:txBody>
                    <a:bodyPr/>
                    <a:lstStyle/>
                    <a:p>
                      <a:pPr algn="r"/>
                      <a:r>
                        <a:rPr sz="800" b="1" i="0">
                          <a:solidFill>
                            <a:srgbClr val="1E1E1E"/>
                          </a:solidFill>
                          <a:latin typeface="Gill Sans MT"/>
                        </a:rPr>
                        <a:t>1,39x</a:t>
                      </a:r>
                    </a:p>
                  </a:txBody>
                  <a:tcPr marL="45720" marR="45720" marT="9144" marB="9144" anchor="ctr">
                    <a:solidFill>
                      <a:srgbClr val="C9CCB8"/>
                    </a:solidFill>
                  </a:tcPr>
                </a:tc>
                <a:tc>
                  <a:txBody>
                    <a:bodyPr/>
                    <a:lstStyle/>
                    <a:p>
                      <a:pPr algn="r"/>
                      <a:endParaRPr/>
                    </a:p>
                  </a:txBody>
                  <a:tcPr marL="45720" marR="45720" marT="9144" marB="9144" anchor="ctr">
                    <a:solidFill>
                      <a:srgbClr val="C9CCB8"/>
                    </a:solidFill>
                  </a:tcPr>
                </a:tc>
                <a:extLst>
                  <a:ext uri="{0D108BD9-81ED-4DB2-BD59-A6C34878D82A}">
                    <a16:rowId xmlns:a16="http://schemas.microsoft.com/office/drawing/2014/main" val="10012"/>
                  </a:ext>
                </a:extLst>
              </a:tr>
            </a:tbl>
          </a:graphicData>
        </a:graphic>
      </p:graphicFrame>
      <p:sp>
        <p:nvSpPr>
          <p:cNvPr id="22" name="TextBox 21"/>
          <p:cNvSpPr txBox="1"/>
          <p:nvPr/>
        </p:nvSpPr>
        <p:spPr>
          <a:xfrm>
            <a:off x="603504" y="5394960"/>
            <a:ext cx="9491472" cy="457200"/>
          </a:xfrm>
          <a:prstGeom prst="rect">
            <a:avLst/>
          </a:prstGeom>
          <a:noFill/>
        </p:spPr>
        <p:txBody>
          <a:bodyPr wrap="square" lIns="0" tIns="0" rIns="0" bIns="0" anchor="t">
            <a:spAutoFit/>
          </a:bodyPr>
          <a:lstStyle/>
          <a:p>
            <a:pPr algn="l"/>
            <a:r>
              <a:rPr sz="700" b="0" i="1">
                <a:solidFill>
                  <a:srgbClr val="1E1E1E"/>
                </a:solidFill>
                <a:latin typeface="Gill Sans MT"/>
              </a:rPr>
              <a:t>Kilde: GP-rapporter og egne beregninger. Fondens beholdninger pr. 30.06.2026 ganget med ejerandelen. Kostpris er tilsagn × indbetalt andel, hvor GP ikke oplyser den; TVPI og IRR pr. fond er GP'ens. Fondsbeskrivelse, geografi og segment er et udkast og ikke gennemgået. GP'ens egne nøgletal: TVPI 1,34x, IRR 17,6 %.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0"/>
          <a:lstStyle/>
          <a:p>
            <a:r>
              <a:t>Seed Capital Denmark IV K/S</a:t>
            </a:r>
          </a:p>
        </p:txBody>
      </p:sp>
      <p:sp>
        <p:nvSpPr>
          <p:cNvPr id="3" name="Rounded Rectangle 2"/>
          <p:cNvSpPr/>
          <p:nvPr/>
        </p:nvSpPr>
        <p:spPr>
          <a:xfrm>
            <a:off x="9053966" y="265176"/>
            <a:ext cx="1041009" cy="329184"/>
          </a:xfrm>
          <a:prstGeom prst="roundRect">
            <a:avLst>
              <a:gd name="adj" fmla="val 12000"/>
            </a:avLst>
          </a:prstGeom>
          <a:solidFill>
            <a:srgbClr val="545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9117974" y="329184"/>
            <a:ext cx="912993" cy="201167"/>
          </a:xfrm>
          <a:prstGeom prst="rect">
            <a:avLst/>
          </a:prstGeom>
        </p:spPr>
      </p:pic>
      <p:sp>
        <p:nvSpPr>
          <p:cNvPr id="5" name="TextBox 4"/>
          <p:cNvSpPr txBox="1"/>
          <p:nvPr/>
        </p:nvSpPr>
        <p:spPr>
          <a:xfrm>
            <a:off x="603504" y="786384"/>
            <a:ext cx="9491472" cy="201168"/>
          </a:xfrm>
          <a:prstGeom prst="rect">
            <a:avLst/>
          </a:prstGeom>
          <a:noFill/>
        </p:spPr>
        <p:txBody>
          <a:bodyPr wrap="square" lIns="0" tIns="0" rIns="0" bIns="0" anchor="t">
            <a:spAutoFit/>
          </a:bodyPr>
          <a:lstStyle/>
          <a:p>
            <a:pPr algn="l"/>
            <a:r>
              <a:rPr sz="950" b="0" i="0">
                <a:solidFill>
                  <a:srgbClr val="1E1E1E"/>
                </a:solidFill>
                <a:latin typeface="Gill Sans MT"/>
              </a:rPr>
              <a:t>A/S Motortramp  ·  pr. 30.06.2026  ·  beløb i tDKK</a:t>
            </a:r>
          </a:p>
        </p:txBody>
      </p:sp>
      <p:sp>
        <p:nvSpPr>
          <p:cNvPr id="6" name="TextBox 5"/>
          <p:cNvSpPr txBox="1"/>
          <p:nvPr/>
        </p:nvSpPr>
        <p:spPr>
          <a:xfrm>
            <a:off x="603504" y="1115568"/>
            <a:ext cx="2971800" cy="201168"/>
          </a:xfrm>
          <a:prstGeom prst="rect">
            <a:avLst/>
          </a:prstGeom>
          <a:noFill/>
        </p:spPr>
        <p:txBody>
          <a:bodyPr wrap="square" lIns="0" tIns="0" rIns="0" bIns="0" anchor="t">
            <a:spAutoFit/>
          </a:bodyPr>
          <a:lstStyle/>
          <a:p>
            <a:pPr algn="l"/>
            <a:r>
              <a:rPr sz="1050" b="1" i="0">
                <a:solidFill>
                  <a:srgbClr val="545B4A"/>
                </a:solidFill>
                <a:latin typeface="Gill Sans MT"/>
              </a:rPr>
              <a:t>Kort beskrivelse af fonden</a:t>
            </a:r>
          </a:p>
        </p:txBody>
      </p:sp>
      <p:cxnSp>
        <p:nvCxnSpPr>
          <p:cNvPr id="7" name="Connector 6"/>
          <p:cNvCxnSpPr/>
          <p:nvPr/>
        </p:nvCxnSpPr>
        <p:spPr>
          <a:xfrm>
            <a:off x="603504" y="1344168"/>
            <a:ext cx="297180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3504" y="1426464"/>
            <a:ext cx="2971800" cy="1271016"/>
          </a:xfrm>
          <a:prstGeom prst="rect">
            <a:avLst/>
          </a:prstGeom>
          <a:noFill/>
        </p:spPr>
        <p:txBody>
          <a:bodyPr wrap="square" lIns="0" tIns="0" rIns="0" bIns="0" anchor="t">
            <a:spAutoFit/>
          </a:bodyPr>
          <a:lstStyle/>
          <a:p>
            <a:pPr algn="l"/>
            <a:r>
              <a:rPr sz="950" b="0" i="0">
                <a:solidFill>
                  <a:srgbClr val="1E1E1E"/>
                </a:solidFill>
                <a:latin typeface="Gill Sans MT"/>
              </a:rPr>
              <a:t>Seed Capital er en dansk venturefond, der investerer i teknologivirksomheder i de tidligste faser (pre-seed og seed) og følger op i senere runder. Fond IV har primært fokus på danske og nordiske software- og techselskaber.</a:t>
            </a:r>
          </a:p>
        </p:txBody>
      </p:sp>
      <p:cxnSp>
        <p:nvCxnSpPr>
          <p:cNvPr id="9" name="Connector 8"/>
          <p:cNvCxnSpPr/>
          <p:nvPr/>
        </p:nvCxnSpPr>
        <p:spPr>
          <a:xfrm>
            <a:off x="3717035" y="1115568"/>
            <a:ext cx="0" cy="1490472"/>
          </a:xfrm>
          <a:prstGeom prst="line">
            <a:avLst/>
          </a:prstGeom>
          <a:ln w="9525">
            <a:solidFill>
              <a:srgbClr val="C9CCB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240780" y="1115568"/>
            <a:ext cx="0" cy="1490472"/>
          </a:xfrm>
          <a:prstGeom prst="line">
            <a:avLst/>
          </a:prstGeom>
          <a:ln w="9525">
            <a:solidFill>
              <a:srgbClr val="C9CCB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307324" y="1115568"/>
            <a:ext cx="0" cy="1490472"/>
          </a:xfrm>
          <a:prstGeom prst="line">
            <a:avLst/>
          </a:prstGeom>
          <a:ln w="9525">
            <a:solidFill>
              <a:srgbClr val="C9CCB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858768" y="1115568"/>
            <a:ext cx="2240280" cy="201168"/>
          </a:xfrm>
          <a:prstGeom prst="rect">
            <a:avLst/>
          </a:prstGeom>
          <a:noFill/>
        </p:spPr>
        <p:txBody>
          <a:bodyPr wrap="square" lIns="0" tIns="0" rIns="0" bIns="0" anchor="t">
            <a:spAutoFit/>
          </a:bodyPr>
          <a:lstStyle/>
          <a:p>
            <a:pPr algn="l"/>
            <a:r>
              <a:rPr sz="1050" b="1" i="0">
                <a:solidFill>
                  <a:srgbClr val="545B4A"/>
                </a:solidFill>
                <a:latin typeface="Gill Sans MT"/>
              </a:rPr>
              <a:t>Fondsidentitet</a:t>
            </a:r>
          </a:p>
        </p:txBody>
      </p:sp>
      <p:cxnSp>
        <p:nvCxnSpPr>
          <p:cNvPr id="13" name="Connector 12"/>
          <p:cNvCxnSpPr/>
          <p:nvPr/>
        </p:nvCxnSpPr>
        <p:spPr>
          <a:xfrm>
            <a:off x="3858768" y="1344168"/>
            <a:ext cx="224028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graphicFrame>
        <p:nvGraphicFramePr>
          <p:cNvPr id="14" name="Table 13"/>
          <p:cNvGraphicFramePr>
            <a:graphicFrameLocks noGrp="1"/>
          </p:cNvGraphicFramePr>
          <p:nvPr/>
        </p:nvGraphicFramePr>
        <p:xfrm>
          <a:off x="3813048" y="1399032"/>
          <a:ext cx="2331719" cy="1211580"/>
        </p:xfrm>
        <a:graphic>
          <a:graphicData uri="http://schemas.openxmlformats.org/drawingml/2006/table">
            <a:tbl>
              <a:tblPr>
                <a:tableStyleId>{2D5ABB26-0587-4C30-8999-92F81FD0307C}</a:tableStyleId>
              </a:tblPr>
              <a:tblGrid>
                <a:gridCol w="951722">
                  <a:extLst>
                    <a:ext uri="{9D8B030D-6E8A-4147-A177-3AD203B41FA5}">
                      <a16:colId xmlns:a16="http://schemas.microsoft.com/office/drawing/2014/main" val="20000"/>
                    </a:ext>
                  </a:extLst>
                </a:gridCol>
                <a:gridCol w="1379997">
                  <a:extLst>
                    <a:ext uri="{9D8B030D-6E8A-4147-A177-3AD203B41FA5}">
                      <a16:colId xmlns:a16="http://schemas.microsoft.com/office/drawing/2014/main" val="20001"/>
                    </a:ext>
                  </a:extLst>
                </a:gridCol>
              </a:tblGrid>
              <a:tr h="242316">
                <a:tc>
                  <a:txBody>
                    <a:bodyPr/>
                    <a:lstStyle/>
                    <a:p>
                      <a:pPr algn="l"/>
                      <a:r>
                        <a:rPr sz="950" b="0" i="0">
                          <a:solidFill>
                            <a:srgbClr val="1E1E1E"/>
                          </a:solidFill>
                          <a:latin typeface="Gill Sans MT"/>
                        </a:rPr>
                        <a:t>Geografi</a:t>
                      </a:r>
                    </a:p>
                  </a:txBody>
                  <a:tcPr marL="45720" marR="45720" marT="9144" marB="9144" anchor="ctr">
                    <a:noFill/>
                  </a:tcPr>
                </a:tc>
                <a:tc>
                  <a:txBody>
                    <a:bodyPr/>
                    <a:lstStyle/>
                    <a:p>
                      <a:pPr algn="r"/>
                      <a:r>
                        <a:rPr sz="950" b="0" i="0">
                          <a:solidFill>
                            <a:srgbClr val="1E1E1E"/>
                          </a:solidFill>
                          <a:latin typeface="Gill Sans MT"/>
                        </a:rPr>
                        <a:t>Danmark / Norden</a:t>
                      </a:r>
                    </a:p>
                  </a:txBody>
                  <a:tcPr marL="45720" marR="45720" marT="9144" marB="9144" anchor="ctr">
                    <a:noFill/>
                  </a:tcPr>
                </a:tc>
                <a:extLst>
                  <a:ext uri="{0D108BD9-81ED-4DB2-BD59-A6C34878D82A}">
                    <a16:rowId xmlns:a16="http://schemas.microsoft.com/office/drawing/2014/main" val="10000"/>
                  </a:ext>
                </a:extLst>
              </a:tr>
              <a:tr h="242316">
                <a:tc>
                  <a:txBody>
                    <a:bodyPr/>
                    <a:lstStyle/>
                    <a:p>
                      <a:pPr algn="l"/>
                      <a:r>
                        <a:rPr sz="950" b="0" i="0">
                          <a:solidFill>
                            <a:srgbClr val="1E1E1E"/>
                          </a:solidFill>
                          <a:latin typeface="Gill Sans MT"/>
                        </a:rPr>
                        <a:t>Segment</a:t>
                      </a:r>
                    </a:p>
                  </a:txBody>
                  <a:tcPr marL="45720" marR="45720" marT="9144" marB="9144" anchor="ctr">
                    <a:noFill/>
                  </a:tcPr>
                </a:tc>
                <a:tc>
                  <a:txBody>
                    <a:bodyPr/>
                    <a:lstStyle/>
                    <a:p>
                      <a:pPr algn="r"/>
                      <a:r>
                        <a:rPr sz="950" b="0" i="0">
                          <a:solidFill>
                            <a:srgbClr val="1E1E1E"/>
                          </a:solidFill>
                          <a:latin typeface="Gill Sans MT"/>
                        </a:rPr>
                        <a:t>Venture (seed)</a:t>
                      </a:r>
                    </a:p>
                  </a:txBody>
                  <a:tcPr marL="45720" marR="45720" marT="9144" marB="9144" anchor="ctr">
                    <a:noFill/>
                  </a:tcPr>
                </a:tc>
                <a:extLst>
                  <a:ext uri="{0D108BD9-81ED-4DB2-BD59-A6C34878D82A}">
                    <a16:rowId xmlns:a16="http://schemas.microsoft.com/office/drawing/2014/main" val="10001"/>
                  </a:ext>
                </a:extLst>
              </a:tr>
              <a:tr h="242316">
                <a:tc>
                  <a:txBody>
                    <a:bodyPr/>
                    <a:lstStyle/>
                    <a:p>
                      <a:pPr algn="l"/>
                      <a:r>
                        <a:rPr sz="950" b="0" i="0">
                          <a:solidFill>
                            <a:srgbClr val="1E1E1E"/>
                          </a:solidFill>
                          <a:latin typeface="Gill Sans MT"/>
                        </a:rPr>
                        <a:t>Fondsvaluta</a:t>
                      </a:r>
                    </a:p>
                  </a:txBody>
                  <a:tcPr marL="45720" marR="45720" marT="9144" marB="9144" anchor="ctr">
                    <a:noFill/>
                  </a:tcPr>
                </a:tc>
                <a:tc>
                  <a:txBody>
                    <a:bodyPr/>
                    <a:lstStyle/>
                    <a:p>
                      <a:pPr algn="r"/>
                      <a:r>
                        <a:rPr sz="950" b="0" i="0">
                          <a:solidFill>
                            <a:srgbClr val="1E1E1E"/>
                          </a:solidFill>
                          <a:latin typeface="Gill Sans MT"/>
                        </a:rPr>
                        <a:t>DKK</a:t>
                      </a:r>
                    </a:p>
                  </a:txBody>
                  <a:tcPr marL="45720" marR="45720" marT="9144" marB="9144" anchor="ctr">
                    <a:noFill/>
                  </a:tcPr>
                </a:tc>
                <a:extLst>
                  <a:ext uri="{0D108BD9-81ED-4DB2-BD59-A6C34878D82A}">
                    <a16:rowId xmlns:a16="http://schemas.microsoft.com/office/drawing/2014/main" val="10002"/>
                  </a:ext>
                </a:extLst>
              </a:tr>
              <a:tr h="242316">
                <a:tc>
                  <a:txBody>
                    <a:bodyPr/>
                    <a:lstStyle/>
                    <a:p>
                      <a:pPr algn="l"/>
                      <a:r>
                        <a:rPr sz="950" b="0" i="0">
                          <a:solidFill>
                            <a:srgbClr val="1E1E1E"/>
                          </a:solidFill>
                          <a:latin typeface="Gill Sans MT"/>
                        </a:rPr>
                        <a:t>Fondsstørrelse</a:t>
                      </a:r>
                    </a:p>
                  </a:txBody>
                  <a:tcPr marL="45720" marR="45720" marT="9144" marB="9144" anchor="ctr">
                    <a:noFill/>
                  </a:tcPr>
                </a:tc>
                <a:tc>
                  <a:txBody>
                    <a:bodyPr/>
                    <a:lstStyle/>
                    <a:p>
                      <a:pPr algn="r"/>
                      <a:r>
                        <a:rPr sz="950" b="0" i="0">
                          <a:solidFill>
                            <a:srgbClr val="1E1E1E"/>
                          </a:solidFill>
                          <a:latin typeface="Gill Sans MT"/>
                        </a:rPr>
                        <a:t>1.044.800</a:t>
                      </a:r>
                    </a:p>
                  </a:txBody>
                  <a:tcPr marL="45720" marR="45720" marT="9144" marB="9144" anchor="ctr">
                    <a:noFill/>
                  </a:tcPr>
                </a:tc>
                <a:extLst>
                  <a:ext uri="{0D108BD9-81ED-4DB2-BD59-A6C34878D82A}">
                    <a16:rowId xmlns:a16="http://schemas.microsoft.com/office/drawing/2014/main" val="10003"/>
                  </a:ext>
                </a:extLst>
              </a:tr>
              <a:tr h="242316">
                <a:tc>
                  <a:txBody>
                    <a:bodyPr/>
                    <a:lstStyle/>
                    <a:p>
                      <a:pPr algn="l"/>
                      <a:r>
                        <a:rPr sz="950" b="0" i="0">
                          <a:solidFill>
                            <a:srgbClr val="1E1E1E"/>
                          </a:solidFill>
                          <a:latin typeface="Gill Sans MT"/>
                        </a:rPr>
                        <a:t>Vintage</a:t>
                      </a:r>
                    </a:p>
                  </a:txBody>
                  <a:tcPr marL="45720" marR="45720" marT="9144" marB="9144" anchor="ctr">
                    <a:noFill/>
                  </a:tcPr>
                </a:tc>
                <a:tc>
                  <a:txBody>
                    <a:bodyPr/>
                    <a:lstStyle/>
                    <a:p>
                      <a:pPr algn="r"/>
                      <a:r>
                        <a:rPr sz="950" b="0" i="0">
                          <a:solidFill>
                            <a:srgbClr val="1E1E1E"/>
                          </a:solidFill>
                          <a:latin typeface="Gill Sans MT"/>
                        </a:rPr>
                        <a:t>2021</a:t>
                      </a:r>
                    </a:p>
                  </a:txBody>
                  <a:tcPr marL="45720" marR="45720" marT="9144" marB="9144" anchor="ctr">
                    <a:noFill/>
                  </a:tcPr>
                </a:tc>
                <a:extLst>
                  <a:ext uri="{0D108BD9-81ED-4DB2-BD59-A6C34878D82A}">
                    <a16:rowId xmlns:a16="http://schemas.microsoft.com/office/drawing/2014/main" val="10004"/>
                  </a:ext>
                </a:extLst>
              </a:tr>
            </a:tbl>
          </a:graphicData>
        </a:graphic>
      </p:graphicFrame>
      <p:sp>
        <p:nvSpPr>
          <p:cNvPr id="15" name="TextBox 14"/>
          <p:cNvSpPr txBox="1"/>
          <p:nvPr/>
        </p:nvSpPr>
        <p:spPr>
          <a:xfrm>
            <a:off x="6382512" y="1115568"/>
            <a:ext cx="1783080" cy="201168"/>
          </a:xfrm>
          <a:prstGeom prst="rect">
            <a:avLst/>
          </a:prstGeom>
          <a:noFill/>
        </p:spPr>
        <p:txBody>
          <a:bodyPr wrap="square" lIns="0" tIns="0" rIns="0" bIns="0" anchor="t">
            <a:spAutoFit/>
          </a:bodyPr>
          <a:lstStyle/>
          <a:p>
            <a:pPr algn="l"/>
            <a:r>
              <a:rPr sz="1050" b="1" i="0">
                <a:solidFill>
                  <a:srgbClr val="545B4A"/>
                </a:solidFill>
                <a:latin typeface="Gill Sans MT"/>
              </a:rPr>
              <a:t>A/S Motortramps tilsagn</a:t>
            </a:r>
          </a:p>
        </p:txBody>
      </p:sp>
      <p:cxnSp>
        <p:nvCxnSpPr>
          <p:cNvPr id="16" name="Connector 15"/>
          <p:cNvCxnSpPr/>
          <p:nvPr/>
        </p:nvCxnSpPr>
        <p:spPr>
          <a:xfrm>
            <a:off x="6382512" y="1344168"/>
            <a:ext cx="178308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graphicFrame>
        <p:nvGraphicFramePr>
          <p:cNvPr id="17" name="Table 16"/>
          <p:cNvGraphicFramePr>
            <a:graphicFrameLocks noGrp="1"/>
          </p:cNvGraphicFramePr>
          <p:nvPr/>
        </p:nvGraphicFramePr>
        <p:xfrm>
          <a:off x="6336792" y="1399032"/>
          <a:ext cx="1874519" cy="1211580"/>
        </p:xfrm>
        <a:graphic>
          <a:graphicData uri="http://schemas.openxmlformats.org/drawingml/2006/table">
            <a:tbl>
              <a:tblPr>
                <a:tableStyleId>{2D5ABB26-0587-4C30-8999-92F81FD0307C}</a:tableStyleId>
              </a:tblPr>
              <a:tblGrid>
                <a:gridCol w="1002650">
                  <a:extLst>
                    <a:ext uri="{9D8B030D-6E8A-4147-A177-3AD203B41FA5}">
                      <a16:colId xmlns:a16="http://schemas.microsoft.com/office/drawing/2014/main" val="20000"/>
                    </a:ext>
                  </a:extLst>
                </a:gridCol>
                <a:gridCol w="871869">
                  <a:extLst>
                    <a:ext uri="{9D8B030D-6E8A-4147-A177-3AD203B41FA5}">
                      <a16:colId xmlns:a16="http://schemas.microsoft.com/office/drawing/2014/main" val="20001"/>
                    </a:ext>
                  </a:extLst>
                </a:gridCol>
              </a:tblGrid>
              <a:tr h="242316">
                <a:tc>
                  <a:txBody>
                    <a:bodyPr/>
                    <a:lstStyle/>
                    <a:p>
                      <a:pPr algn="l"/>
                      <a:r>
                        <a:rPr sz="950" b="0" i="0">
                          <a:solidFill>
                            <a:srgbClr val="1E1E1E"/>
                          </a:solidFill>
                          <a:latin typeface="Gill Sans MT"/>
                        </a:rPr>
                        <a:t>Tilsagn</a:t>
                      </a:r>
                    </a:p>
                  </a:txBody>
                  <a:tcPr marL="45720" marR="45720" marT="9144" marB="9144" anchor="ctr">
                    <a:noFill/>
                  </a:tcPr>
                </a:tc>
                <a:tc>
                  <a:txBody>
                    <a:bodyPr/>
                    <a:lstStyle/>
                    <a:p>
                      <a:pPr algn="r"/>
                      <a:r>
                        <a:rPr sz="950" b="0" i="0">
                          <a:solidFill>
                            <a:srgbClr val="1E1E1E"/>
                          </a:solidFill>
                          <a:latin typeface="Gill Sans MT"/>
                        </a:rPr>
                        <a:t>30.000</a:t>
                      </a:r>
                    </a:p>
                  </a:txBody>
                  <a:tcPr marL="45720" marR="45720" marT="9144" marB="9144" anchor="ctr">
                    <a:noFill/>
                  </a:tcPr>
                </a:tc>
                <a:extLst>
                  <a:ext uri="{0D108BD9-81ED-4DB2-BD59-A6C34878D82A}">
                    <a16:rowId xmlns:a16="http://schemas.microsoft.com/office/drawing/2014/main" val="10000"/>
                  </a:ext>
                </a:extLst>
              </a:tr>
              <a:tr h="242316">
                <a:tc>
                  <a:txBody>
                    <a:bodyPr/>
                    <a:lstStyle/>
                    <a:p>
                      <a:pPr algn="l"/>
                      <a:r>
                        <a:rPr sz="950" b="0" i="0">
                          <a:solidFill>
                            <a:srgbClr val="1E1E1E"/>
                          </a:solidFill>
                          <a:latin typeface="Gill Sans MT"/>
                        </a:rPr>
                        <a:t>Ejerandel</a:t>
                      </a:r>
                    </a:p>
                  </a:txBody>
                  <a:tcPr marL="45720" marR="45720" marT="9144" marB="9144" anchor="ctr">
                    <a:noFill/>
                  </a:tcPr>
                </a:tc>
                <a:tc>
                  <a:txBody>
                    <a:bodyPr/>
                    <a:lstStyle/>
                    <a:p>
                      <a:pPr algn="r"/>
                      <a:r>
                        <a:rPr sz="950" b="0" i="0">
                          <a:solidFill>
                            <a:srgbClr val="1E1E1E"/>
                          </a:solidFill>
                          <a:latin typeface="Gill Sans MT"/>
                        </a:rPr>
                        <a:t>2,87 %</a:t>
                      </a:r>
                    </a:p>
                  </a:txBody>
                  <a:tcPr marL="45720" marR="45720" marT="9144" marB="9144" anchor="ctr">
                    <a:noFill/>
                  </a:tcPr>
                </a:tc>
                <a:extLst>
                  <a:ext uri="{0D108BD9-81ED-4DB2-BD59-A6C34878D82A}">
                    <a16:rowId xmlns:a16="http://schemas.microsoft.com/office/drawing/2014/main" val="10001"/>
                  </a:ext>
                </a:extLst>
              </a:tr>
              <a:tr h="242316">
                <a:tc>
                  <a:txBody>
                    <a:bodyPr/>
                    <a:lstStyle/>
                    <a:p>
                      <a:pPr algn="l"/>
                      <a:r>
                        <a:rPr sz="950" b="0" i="0">
                          <a:solidFill>
                            <a:srgbClr val="1E1E1E"/>
                          </a:solidFill>
                          <a:latin typeface="Gill Sans MT"/>
                        </a:rPr>
                        <a:t>Indbetalt kapital</a:t>
                      </a:r>
                    </a:p>
                  </a:txBody>
                  <a:tcPr marL="45720" marR="45720" marT="9144" marB="9144" anchor="ctr">
                    <a:noFill/>
                  </a:tcPr>
                </a:tc>
                <a:tc>
                  <a:txBody>
                    <a:bodyPr/>
                    <a:lstStyle/>
                    <a:p>
                      <a:pPr algn="r"/>
                      <a:r>
                        <a:rPr sz="950" b="0" i="0">
                          <a:solidFill>
                            <a:srgbClr val="1E1E1E"/>
                          </a:solidFill>
                          <a:latin typeface="Gill Sans MT"/>
                        </a:rPr>
                        <a:t>22.735</a:t>
                      </a:r>
                    </a:p>
                  </a:txBody>
                  <a:tcPr marL="45720" marR="45720" marT="9144" marB="9144" anchor="ctr">
                    <a:noFill/>
                  </a:tcPr>
                </a:tc>
                <a:extLst>
                  <a:ext uri="{0D108BD9-81ED-4DB2-BD59-A6C34878D82A}">
                    <a16:rowId xmlns:a16="http://schemas.microsoft.com/office/drawing/2014/main" val="10002"/>
                  </a:ext>
                </a:extLst>
              </a:tr>
              <a:tr h="242316">
                <a:tc>
                  <a:txBody>
                    <a:bodyPr/>
                    <a:lstStyle/>
                    <a:p>
                      <a:pPr algn="l"/>
                      <a:r>
                        <a:rPr sz="950" b="0" i="0">
                          <a:solidFill>
                            <a:srgbClr val="1E1E1E"/>
                          </a:solidFill>
                          <a:latin typeface="Gill Sans MT"/>
                        </a:rPr>
                        <a:t>PICC</a:t>
                      </a:r>
                    </a:p>
                  </a:txBody>
                  <a:tcPr marL="45720" marR="45720" marT="9144" marB="9144" anchor="ctr">
                    <a:noFill/>
                  </a:tcPr>
                </a:tc>
                <a:tc>
                  <a:txBody>
                    <a:bodyPr/>
                    <a:lstStyle/>
                    <a:p>
                      <a:pPr algn="r"/>
                      <a:r>
                        <a:rPr sz="950" b="0" i="0">
                          <a:solidFill>
                            <a:srgbClr val="1E1E1E"/>
                          </a:solidFill>
                          <a:latin typeface="Gill Sans MT"/>
                        </a:rPr>
                        <a:t>75,8 %</a:t>
                      </a:r>
                    </a:p>
                  </a:txBody>
                  <a:tcPr marL="45720" marR="45720" marT="9144" marB="9144" anchor="ctr">
                    <a:noFill/>
                  </a:tcPr>
                </a:tc>
                <a:extLst>
                  <a:ext uri="{0D108BD9-81ED-4DB2-BD59-A6C34878D82A}">
                    <a16:rowId xmlns:a16="http://schemas.microsoft.com/office/drawing/2014/main" val="10003"/>
                  </a:ext>
                </a:extLst>
              </a:tr>
              <a:tr h="242316">
                <a:tc>
                  <a:txBody>
                    <a:bodyPr/>
                    <a:lstStyle/>
                    <a:p>
                      <a:pPr algn="l"/>
                      <a:r>
                        <a:rPr sz="950" b="0" i="0">
                          <a:solidFill>
                            <a:srgbClr val="1E1E1E"/>
                          </a:solidFill>
                          <a:latin typeface="Gill Sans MT"/>
                        </a:rPr>
                        <a:t>Resttilsagn</a:t>
                      </a:r>
                    </a:p>
                  </a:txBody>
                  <a:tcPr marL="45720" marR="45720" marT="9144" marB="9144" anchor="ctr">
                    <a:noFill/>
                  </a:tcPr>
                </a:tc>
                <a:tc>
                  <a:txBody>
                    <a:bodyPr/>
                    <a:lstStyle/>
                    <a:p>
                      <a:pPr algn="r"/>
                      <a:r>
                        <a:rPr sz="950" b="0" i="0">
                          <a:solidFill>
                            <a:srgbClr val="1E1E1E"/>
                          </a:solidFill>
                          <a:latin typeface="Gill Sans MT"/>
                        </a:rPr>
                        <a:t>7.265</a:t>
                      </a:r>
                    </a:p>
                  </a:txBody>
                  <a:tcPr marL="45720" marR="45720" marT="9144" marB="9144" anchor="ctr">
                    <a:noFill/>
                  </a:tcPr>
                </a:tc>
                <a:extLst>
                  <a:ext uri="{0D108BD9-81ED-4DB2-BD59-A6C34878D82A}">
                    <a16:rowId xmlns:a16="http://schemas.microsoft.com/office/drawing/2014/main" val="10004"/>
                  </a:ext>
                </a:extLst>
              </a:tr>
            </a:tbl>
          </a:graphicData>
        </a:graphic>
      </p:graphicFrame>
      <p:sp>
        <p:nvSpPr>
          <p:cNvPr id="18" name="TextBox 17"/>
          <p:cNvSpPr txBox="1"/>
          <p:nvPr/>
        </p:nvSpPr>
        <p:spPr>
          <a:xfrm>
            <a:off x="8449056" y="1115568"/>
            <a:ext cx="1645919" cy="201168"/>
          </a:xfrm>
          <a:prstGeom prst="rect">
            <a:avLst/>
          </a:prstGeom>
          <a:noFill/>
        </p:spPr>
        <p:txBody>
          <a:bodyPr wrap="square" lIns="0" tIns="0" rIns="0" bIns="0" anchor="t">
            <a:spAutoFit/>
          </a:bodyPr>
          <a:lstStyle/>
          <a:p>
            <a:pPr algn="l"/>
            <a:r>
              <a:rPr sz="1050" b="1" i="0">
                <a:solidFill>
                  <a:srgbClr val="545B4A"/>
                </a:solidFill>
                <a:latin typeface="Gill Sans MT"/>
              </a:rPr>
              <a:t>Nøgletal</a:t>
            </a:r>
          </a:p>
        </p:txBody>
      </p:sp>
      <p:cxnSp>
        <p:nvCxnSpPr>
          <p:cNvPr id="19" name="Connector 18"/>
          <p:cNvCxnSpPr/>
          <p:nvPr/>
        </p:nvCxnSpPr>
        <p:spPr>
          <a:xfrm>
            <a:off x="8449056" y="1344168"/>
            <a:ext cx="1645920" cy="0"/>
          </a:xfrm>
          <a:prstGeom prst="line">
            <a:avLst/>
          </a:prstGeom>
          <a:ln w="9525">
            <a:solidFill>
              <a:srgbClr val="545B4A"/>
            </a:solidFill>
          </a:ln>
        </p:spPr>
        <p:style>
          <a:lnRef idx="2">
            <a:schemeClr val="accent1"/>
          </a:lnRef>
          <a:fillRef idx="0">
            <a:schemeClr val="accent1"/>
          </a:fillRef>
          <a:effectRef idx="1">
            <a:schemeClr val="accent1"/>
          </a:effectRef>
          <a:fontRef idx="minor">
            <a:schemeClr val="tx1"/>
          </a:fontRef>
        </p:style>
      </p:cxnSp>
      <p:graphicFrame>
        <p:nvGraphicFramePr>
          <p:cNvPr id="20" name="Table 19"/>
          <p:cNvGraphicFramePr>
            <a:graphicFrameLocks noGrp="1"/>
          </p:cNvGraphicFramePr>
          <p:nvPr/>
        </p:nvGraphicFramePr>
        <p:xfrm>
          <a:off x="8403336" y="1399032"/>
          <a:ext cx="1737359" cy="1211580"/>
        </p:xfrm>
        <a:graphic>
          <a:graphicData uri="http://schemas.openxmlformats.org/drawingml/2006/table">
            <a:tbl>
              <a:tblPr>
                <a:tableStyleId>{2D5ABB26-0587-4C30-8999-92F81FD0307C}</a:tableStyleId>
              </a:tblPr>
              <a:tblGrid>
                <a:gridCol w="929285">
                  <a:extLst>
                    <a:ext uri="{9D8B030D-6E8A-4147-A177-3AD203B41FA5}">
                      <a16:colId xmlns:a16="http://schemas.microsoft.com/office/drawing/2014/main" val="20000"/>
                    </a:ext>
                  </a:extLst>
                </a:gridCol>
                <a:gridCol w="808074">
                  <a:extLst>
                    <a:ext uri="{9D8B030D-6E8A-4147-A177-3AD203B41FA5}">
                      <a16:colId xmlns:a16="http://schemas.microsoft.com/office/drawing/2014/main" val="20001"/>
                    </a:ext>
                  </a:extLst>
                </a:gridCol>
              </a:tblGrid>
              <a:tr h="242316">
                <a:tc>
                  <a:txBody>
                    <a:bodyPr/>
                    <a:lstStyle/>
                    <a:p>
                      <a:pPr algn="l"/>
                      <a:r>
                        <a:rPr sz="950" b="0" i="0">
                          <a:solidFill>
                            <a:srgbClr val="1E1E1E"/>
                          </a:solidFill>
                          <a:latin typeface="Gill Sans MT"/>
                        </a:rPr>
                        <a:t>Udlodninger</a:t>
                      </a:r>
                    </a:p>
                  </a:txBody>
                  <a:tcPr marL="45720" marR="45720" marT="9144" marB="9144" anchor="ctr">
                    <a:noFill/>
                  </a:tcPr>
                </a:tc>
                <a:tc>
                  <a:txBody>
                    <a:bodyPr/>
                    <a:lstStyle/>
                    <a:p>
                      <a:pPr algn="r"/>
                      <a:r>
                        <a:rPr sz="950" b="0" i="0">
                          <a:solidFill>
                            <a:srgbClr val="1E1E1E"/>
                          </a:solidFill>
                          <a:latin typeface="Gill Sans MT"/>
                        </a:rPr>
                        <a:t>1.361</a:t>
                      </a:r>
                    </a:p>
                  </a:txBody>
                  <a:tcPr marL="45720" marR="45720" marT="9144" marB="9144" anchor="ctr">
                    <a:noFill/>
                  </a:tcPr>
                </a:tc>
                <a:extLst>
                  <a:ext uri="{0D108BD9-81ED-4DB2-BD59-A6C34878D82A}">
                    <a16:rowId xmlns:a16="http://schemas.microsoft.com/office/drawing/2014/main" val="10000"/>
                  </a:ext>
                </a:extLst>
              </a:tr>
              <a:tr h="242316">
                <a:tc>
                  <a:txBody>
                    <a:bodyPr/>
                    <a:lstStyle/>
                    <a:p>
                      <a:pPr algn="l"/>
                      <a:r>
                        <a:rPr sz="950" b="0" i="0">
                          <a:solidFill>
                            <a:srgbClr val="1E1E1E"/>
                          </a:solidFill>
                          <a:latin typeface="Gill Sans MT"/>
                        </a:rPr>
                        <a:t>NAV</a:t>
                      </a:r>
                    </a:p>
                  </a:txBody>
                  <a:tcPr marL="45720" marR="45720" marT="9144" marB="9144" anchor="ctr">
                    <a:noFill/>
                  </a:tcPr>
                </a:tc>
                <a:tc>
                  <a:txBody>
                    <a:bodyPr/>
                    <a:lstStyle/>
                    <a:p>
                      <a:pPr algn="r"/>
                      <a:r>
                        <a:rPr sz="950" b="0" i="0">
                          <a:solidFill>
                            <a:srgbClr val="1E1E1E"/>
                          </a:solidFill>
                          <a:latin typeface="Gill Sans MT"/>
                        </a:rPr>
                        <a:t>54.956</a:t>
                      </a:r>
                    </a:p>
                  </a:txBody>
                  <a:tcPr marL="45720" marR="45720" marT="9144" marB="9144" anchor="ctr">
                    <a:noFill/>
                  </a:tcPr>
                </a:tc>
                <a:extLst>
                  <a:ext uri="{0D108BD9-81ED-4DB2-BD59-A6C34878D82A}">
                    <a16:rowId xmlns:a16="http://schemas.microsoft.com/office/drawing/2014/main" val="10001"/>
                  </a:ext>
                </a:extLst>
              </a:tr>
              <a:tr h="242316">
                <a:tc>
                  <a:txBody>
                    <a:bodyPr/>
                    <a:lstStyle/>
                    <a:p>
                      <a:pPr algn="l"/>
                      <a:r>
                        <a:rPr sz="950" b="0" i="0">
                          <a:solidFill>
                            <a:srgbClr val="1E1E1E"/>
                          </a:solidFill>
                          <a:latin typeface="Gill Sans MT"/>
                        </a:rPr>
                        <a:t>DPI</a:t>
                      </a:r>
                    </a:p>
                  </a:txBody>
                  <a:tcPr marL="45720" marR="45720" marT="9144" marB="9144" anchor="ctr">
                    <a:noFill/>
                  </a:tcPr>
                </a:tc>
                <a:tc>
                  <a:txBody>
                    <a:bodyPr/>
                    <a:lstStyle/>
                    <a:p>
                      <a:pPr algn="r"/>
                      <a:r>
                        <a:rPr sz="950" b="0" i="0">
                          <a:solidFill>
                            <a:srgbClr val="1E1E1E"/>
                          </a:solidFill>
                          <a:latin typeface="Gill Sans MT"/>
                        </a:rPr>
                        <a:t>0,06x</a:t>
                      </a:r>
                    </a:p>
                  </a:txBody>
                  <a:tcPr marL="45720" marR="45720" marT="9144" marB="9144" anchor="ctr">
                    <a:noFill/>
                  </a:tcPr>
                </a:tc>
                <a:extLst>
                  <a:ext uri="{0D108BD9-81ED-4DB2-BD59-A6C34878D82A}">
                    <a16:rowId xmlns:a16="http://schemas.microsoft.com/office/drawing/2014/main" val="10002"/>
                  </a:ext>
                </a:extLst>
              </a:tr>
              <a:tr h="242316">
                <a:tc>
                  <a:txBody>
                    <a:bodyPr/>
                    <a:lstStyle/>
                    <a:p>
                      <a:pPr algn="l"/>
                      <a:r>
                        <a:rPr sz="950" b="0" i="0">
                          <a:solidFill>
                            <a:srgbClr val="1E1E1E"/>
                          </a:solidFill>
                          <a:latin typeface="Gill Sans MT"/>
                        </a:rPr>
                        <a:t>TVPI</a:t>
                      </a:r>
                    </a:p>
                  </a:txBody>
                  <a:tcPr marL="45720" marR="45720" marT="9144" marB="9144" anchor="ctr">
                    <a:noFill/>
                  </a:tcPr>
                </a:tc>
                <a:tc>
                  <a:txBody>
                    <a:bodyPr/>
                    <a:lstStyle/>
                    <a:p>
                      <a:pPr algn="r"/>
                      <a:r>
                        <a:rPr sz="950" b="0" i="0">
                          <a:solidFill>
                            <a:srgbClr val="1E1E1E"/>
                          </a:solidFill>
                          <a:latin typeface="Gill Sans MT"/>
                        </a:rPr>
                        <a:t>2,48x</a:t>
                      </a:r>
                    </a:p>
                  </a:txBody>
                  <a:tcPr marL="45720" marR="45720" marT="9144" marB="9144" anchor="ctr">
                    <a:noFill/>
                  </a:tcPr>
                </a:tc>
                <a:extLst>
                  <a:ext uri="{0D108BD9-81ED-4DB2-BD59-A6C34878D82A}">
                    <a16:rowId xmlns:a16="http://schemas.microsoft.com/office/drawing/2014/main" val="10003"/>
                  </a:ext>
                </a:extLst>
              </a:tr>
              <a:tr h="242316">
                <a:tc>
                  <a:txBody>
                    <a:bodyPr/>
                    <a:lstStyle/>
                    <a:p>
                      <a:pPr algn="l"/>
                      <a:r>
                        <a:rPr sz="950" b="0" i="0">
                          <a:solidFill>
                            <a:srgbClr val="1E1E1E"/>
                          </a:solidFill>
                          <a:latin typeface="Gill Sans MT"/>
                        </a:rPr>
                        <a:t>IRR</a:t>
                      </a:r>
                    </a:p>
                  </a:txBody>
                  <a:tcPr marL="45720" marR="45720" marT="9144" marB="9144" anchor="ctr">
                    <a:noFill/>
                  </a:tcPr>
                </a:tc>
                <a:tc>
                  <a:txBody>
                    <a:bodyPr/>
                    <a:lstStyle/>
                    <a:p>
                      <a:pPr algn="r"/>
                      <a:r>
                        <a:rPr sz="950" b="0" i="0">
                          <a:solidFill>
                            <a:srgbClr val="1E1E1E"/>
                          </a:solidFill>
                          <a:latin typeface="Gill Sans MT"/>
                        </a:rPr>
                        <a:t>31,6 %</a:t>
                      </a:r>
                    </a:p>
                  </a:txBody>
                  <a:tcPr marL="45720" marR="45720" marT="9144" marB="9144" anchor="ctr">
                    <a:noFill/>
                  </a:tcPr>
                </a:tc>
                <a:extLst>
                  <a:ext uri="{0D108BD9-81ED-4DB2-BD59-A6C34878D82A}">
                    <a16:rowId xmlns:a16="http://schemas.microsoft.com/office/drawing/2014/main" val="10004"/>
                  </a:ext>
                </a:extLst>
              </a:tr>
            </a:tbl>
          </a:graphicData>
        </a:graphic>
      </p:graphicFrame>
      <p:sp>
        <p:nvSpPr>
          <p:cNvPr id="21" name="TextBox 20"/>
          <p:cNvSpPr txBox="1"/>
          <p:nvPr/>
        </p:nvSpPr>
        <p:spPr>
          <a:xfrm>
            <a:off x="603504" y="2743200"/>
            <a:ext cx="9491472" cy="201168"/>
          </a:xfrm>
          <a:prstGeom prst="rect">
            <a:avLst/>
          </a:prstGeom>
          <a:noFill/>
        </p:spPr>
        <p:txBody>
          <a:bodyPr wrap="square" lIns="0" tIns="0" rIns="0" bIns="0" anchor="t">
            <a:spAutoFit/>
          </a:bodyPr>
          <a:lstStyle/>
          <a:p>
            <a:pPr algn="l"/>
            <a:r>
              <a:rPr sz="1050" b="1" i="0">
                <a:solidFill>
                  <a:srgbClr val="545B4A"/>
                </a:solidFill>
                <a:latin typeface="Gill Sans MT"/>
              </a:rPr>
              <a:t>Porteføljeselskaber – A/S Motortramps andel (tDKK)</a:t>
            </a:r>
          </a:p>
        </p:txBody>
      </p:sp>
      <p:graphicFrame>
        <p:nvGraphicFramePr>
          <p:cNvPr id="22" name="Table 21"/>
          <p:cNvGraphicFramePr>
            <a:graphicFrameLocks noGrp="1"/>
          </p:cNvGraphicFramePr>
          <p:nvPr/>
        </p:nvGraphicFramePr>
        <p:xfrm>
          <a:off x="603504" y="2999232"/>
          <a:ext cx="9491467" cy="1691640"/>
        </p:xfrm>
        <a:graphic>
          <a:graphicData uri="http://schemas.openxmlformats.org/drawingml/2006/table">
            <a:tbl>
              <a:tblPr>
                <a:tableStyleId>{2D5ABB26-0587-4C30-8999-92F81FD0307C}</a:tableStyleId>
              </a:tblPr>
              <a:tblGrid>
                <a:gridCol w="1847897">
                  <a:extLst>
                    <a:ext uri="{9D8B030D-6E8A-4147-A177-3AD203B41FA5}">
                      <a16:colId xmlns:a16="http://schemas.microsoft.com/office/drawing/2014/main" val="20000"/>
                    </a:ext>
                  </a:extLst>
                </a:gridCol>
                <a:gridCol w="2435864">
                  <a:extLst>
                    <a:ext uri="{9D8B030D-6E8A-4147-A177-3AD203B41FA5}">
                      <a16:colId xmlns:a16="http://schemas.microsoft.com/office/drawing/2014/main" val="20001"/>
                    </a:ext>
                  </a:extLst>
                </a:gridCol>
                <a:gridCol w="755957">
                  <a:extLst>
                    <a:ext uri="{9D8B030D-6E8A-4147-A177-3AD203B41FA5}">
                      <a16:colId xmlns:a16="http://schemas.microsoft.com/office/drawing/2014/main" val="20002"/>
                    </a:ext>
                  </a:extLst>
                </a:gridCol>
                <a:gridCol w="923948">
                  <a:extLst>
                    <a:ext uri="{9D8B030D-6E8A-4147-A177-3AD203B41FA5}">
                      <a16:colId xmlns:a16="http://schemas.microsoft.com/office/drawing/2014/main" val="20003"/>
                    </a:ext>
                  </a:extLst>
                </a:gridCol>
                <a:gridCol w="923948">
                  <a:extLst>
                    <a:ext uri="{9D8B030D-6E8A-4147-A177-3AD203B41FA5}">
                      <a16:colId xmlns:a16="http://schemas.microsoft.com/office/drawing/2014/main" val="20004"/>
                    </a:ext>
                  </a:extLst>
                </a:gridCol>
                <a:gridCol w="923948">
                  <a:extLst>
                    <a:ext uri="{9D8B030D-6E8A-4147-A177-3AD203B41FA5}">
                      <a16:colId xmlns:a16="http://schemas.microsoft.com/office/drawing/2014/main" val="20005"/>
                    </a:ext>
                  </a:extLst>
                </a:gridCol>
                <a:gridCol w="923948">
                  <a:extLst>
                    <a:ext uri="{9D8B030D-6E8A-4147-A177-3AD203B41FA5}">
                      <a16:colId xmlns:a16="http://schemas.microsoft.com/office/drawing/2014/main" val="20006"/>
                    </a:ext>
                  </a:extLst>
                </a:gridCol>
                <a:gridCol w="755957">
                  <a:extLst>
                    <a:ext uri="{9D8B030D-6E8A-4147-A177-3AD203B41FA5}">
                      <a16:colId xmlns:a16="http://schemas.microsoft.com/office/drawing/2014/main" val="20007"/>
                    </a:ext>
                  </a:extLst>
                </a:gridCol>
              </a:tblGrid>
              <a:tr h="169164">
                <a:tc>
                  <a:txBody>
                    <a:bodyPr/>
                    <a:lstStyle/>
                    <a:p>
                      <a:pPr algn="l"/>
                      <a:r>
                        <a:rPr sz="800" b="1" i="0">
                          <a:solidFill>
                            <a:srgbClr val="FFFFFF"/>
                          </a:solidFill>
                          <a:latin typeface="Gill Sans MT"/>
                        </a:rPr>
                        <a:t>Selskab</a:t>
                      </a:r>
                    </a:p>
                  </a:txBody>
                  <a:tcPr marL="45720" marR="45720" marT="9144" marB="9144" anchor="ctr">
                    <a:solidFill>
                      <a:srgbClr val="545B4A"/>
                    </a:solidFill>
                  </a:tcPr>
                </a:tc>
                <a:tc>
                  <a:txBody>
                    <a:bodyPr/>
                    <a:lstStyle/>
                    <a:p>
                      <a:pPr algn="l"/>
                      <a:r>
                        <a:rPr sz="800" b="1" i="0">
                          <a:solidFill>
                            <a:srgbClr val="FFFFFF"/>
                          </a:solidFill>
                          <a:latin typeface="Gill Sans MT"/>
                        </a:rPr>
                        <a:t>Sektor</a:t>
                      </a:r>
                    </a:p>
                  </a:txBody>
                  <a:tcPr marL="45720" marR="45720" marT="9144" marB="9144" anchor="ctr">
                    <a:solidFill>
                      <a:srgbClr val="545B4A"/>
                    </a:solidFill>
                  </a:tcPr>
                </a:tc>
                <a:tc>
                  <a:txBody>
                    <a:bodyPr/>
                    <a:lstStyle/>
                    <a:p>
                      <a:pPr algn="ctr"/>
                      <a:r>
                        <a:rPr sz="800" b="1" i="0">
                          <a:solidFill>
                            <a:srgbClr val="FFFFFF"/>
                          </a:solidFill>
                          <a:latin typeface="Gill Sans MT"/>
                        </a:rPr>
                        <a:t>Vintage</a:t>
                      </a:r>
                    </a:p>
                  </a:txBody>
                  <a:tcPr marL="45720" marR="45720" marT="9144" marB="9144" anchor="ctr">
                    <a:solidFill>
                      <a:srgbClr val="545B4A"/>
                    </a:solidFill>
                  </a:tcPr>
                </a:tc>
                <a:tc>
                  <a:txBody>
                    <a:bodyPr/>
                    <a:lstStyle/>
                    <a:p>
                      <a:pPr algn="r"/>
                      <a:r>
                        <a:rPr sz="800" b="1" i="0">
                          <a:solidFill>
                            <a:srgbClr val="FFFFFF"/>
                          </a:solidFill>
                          <a:latin typeface="Gill Sans MT"/>
                        </a:rPr>
                        <a:t>Kostpris</a:t>
                      </a:r>
                    </a:p>
                  </a:txBody>
                  <a:tcPr marL="45720" marR="45720" marT="9144" marB="9144" anchor="ctr">
                    <a:solidFill>
                      <a:srgbClr val="545B4A"/>
                    </a:solidFill>
                  </a:tcPr>
                </a:tc>
                <a:tc>
                  <a:txBody>
                    <a:bodyPr/>
                    <a:lstStyle/>
                    <a:p>
                      <a:pPr algn="r"/>
                      <a:r>
                        <a:rPr sz="800" b="1" i="0">
                          <a:solidFill>
                            <a:srgbClr val="FFFFFF"/>
                          </a:solidFill>
                          <a:latin typeface="Gill Sans MT"/>
                        </a:rPr>
                        <a:t>Dagsværdi</a:t>
                      </a:r>
                    </a:p>
                  </a:txBody>
                  <a:tcPr marL="45720" marR="45720" marT="9144" marB="9144" anchor="ctr">
                    <a:solidFill>
                      <a:srgbClr val="545B4A"/>
                    </a:solidFill>
                  </a:tcPr>
                </a:tc>
                <a:tc>
                  <a:txBody>
                    <a:bodyPr/>
                    <a:lstStyle/>
                    <a:p>
                      <a:pPr algn="r"/>
                      <a:r>
                        <a:rPr sz="800" b="1" i="0">
                          <a:solidFill>
                            <a:srgbClr val="FFFFFF"/>
                          </a:solidFill>
                          <a:latin typeface="Gill Sans MT"/>
                        </a:rPr>
                        <a:t>Realiseret</a:t>
                      </a:r>
                    </a:p>
                  </a:txBody>
                  <a:tcPr marL="45720" marR="45720" marT="9144" marB="9144" anchor="ctr">
                    <a:solidFill>
                      <a:srgbClr val="545B4A"/>
                    </a:solidFill>
                  </a:tcPr>
                </a:tc>
                <a:tc>
                  <a:txBody>
                    <a:bodyPr/>
                    <a:lstStyle/>
                    <a:p>
                      <a:pPr algn="r"/>
                      <a:r>
                        <a:rPr sz="800" b="1" i="0">
                          <a:solidFill>
                            <a:srgbClr val="FFFFFF"/>
                          </a:solidFill>
                          <a:latin typeface="Gill Sans MT"/>
                        </a:rPr>
                        <a:t>Total værdi</a:t>
                      </a:r>
                    </a:p>
                  </a:txBody>
                  <a:tcPr marL="45720" marR="45720" marT="9144" marB="9144" anchor="ctr">
                    <a:solidFill>
                      <a:srgbClr val="545B4A"/>
                    </a:solidFill>
                  </a:tcPr>
                </a:tc>
                <a:tc>
                  <a:txBody>
                    <a:bodyPr/>
                    <a:lstStyle/>
                    <a:p>
                      <a:pPr algn="r"/>
                      <a:r>
                        <a:rPr sz="800" b="1" i="0">
                          <a:solidFill>
                            <a:srgbClr val="FFFFFF"/>
                          </a:solidFill>
                          <a:latin typeface="Gill Sans MT"/>
                        </a:rPr>
                        <a:t>TVPI</a:t>
                      </a:r>
                    </a:p>
                  </a:txBody>
                  <a:tcPr marL="45720" marR="45720" marT="9144" marB="9144" anchor="ctr">
                    <a:solidFill>
                      <a:srgbClr val="545B4A"/>
                    </a:solidFill>
                  </a:tcPr>
                </a:tc>
                <a:extLst>
                  <a:ext uri="{0D108BD9-81ED-4DB2-BD59-A6C34878D82A}">
                    <a16:rowId xmlns:a16="http://schemas.microsoft.com/office/drawing/2014/main" val="10000"/>
                  </a:ext>
                </a:extLst>
              </a:tr>
              <a:tr h="169164">
                <a:tc>
                  <a:txBody>
                    <a:bodyPr/>
                    <a:lstStyle/>
                    <a:p>
                      <a:pPr algn="l"/>
                      <a:r>
                        <a:rPr sz="800" b="0" i="0">
                          <a:solidFill>
                            <a:srgbClr val="1E1E1E"/>
                          </a:solidFill>
                          <a:latin typeface="Gill Sans MT"/>
                        </a:rPr>
                        <a:t>FLATPAY</a:t>
                      </a:r>
                    </a:p>
                  </a:txBody>
                  <a:tcPr marL="45720" marR="45720" marT="9144" marB="9144" anchor="ctr">
                    <a:noFill/>
                  </a:tcPr>
                </a:tc>
                <a:tc>
                  <a:txBody>
                    <a:bodyPr/>
                    <a:lstStyle/>
                    <a:p>
                      <a:pPr algn="l"/>
                      <a:r>
                        <a:rPr sz="800" b="0" i="0">
                          <a:solidFill>
                            <a:srgbClr val="1E1E1E"/>
                          </a:solidFill>
                          <a:latin typeface="Gill Sans MT"/>
                        </a:rPr>
                        <a:t>Technologies, fintech</a:t>
                      </a:r>
                    </a:p>
                  </a:txBody>
                  <a:tcPr marL="45720" marR="45720" marT="9144" marB="9144" anchor="ctr">
                    <a:noFill/>
                  </a:tcPr>
                </a:tc>
                <a:tc>
                  <a:txBody>
                    <a:bodyPr/>
                    <a:lstStyle/>
                    <a:p>
                      <a:pPr algn="ctr"/>
                      <a:r>
                        <a:rPr sz="800" b="0" i="0">
                          <a:solidFill>
                            <a:srgbClr val="1E1E1E"/>
                          </a:solidFill>
                          <a:latin typeface="Gill Sans MT"/>
                        </a:rPr>
                        <a:t>2022</a:t>
                      </a:r>
                    </a:p>
                  </a:txBody>
                  <a:tcPr marL="45720" marR="45720" marT="9144" marB="9144" anchor="ctr">
                    <a:noFill/>
                  </a:tcPr>
                </a:tc>
                <a:tc>
                  <a:txBody>
                    <a:bodyPr/>
                    <a:lstStyle/>
                    <a:p>
                      <a:pPr algn="r"/>
                      <a:r>
                        <a:rPr sz="800" b="0" i="0">
                          <a:solidFill>
                            <a:srgbClr val="1E1E1E"/>
                          </a:solidFill>
                          <a:latin typeface="Gill Sans MT"/>
                        </a:rPr>
                        <a:t>5.349</a:t>
                      </a:r>
                    </a:p>
                  </a:txBody>
                  <a:tcPr marL="45720" marR="45720" marT="9144" marB="9144" anchor="ctr">
                    <a:noFill/>
                  </a:tcPr>
                </a:tc>
                <a:tc>
                  <a:txBody>
                    <a:bodyPr/>
                    <a:lstStyle/>
                    <a:p>
                      <a:pPr algn="r"/>
                      <a:r>
                        <a:rPr sz="800" b="0" i="0">
                          <a:solidFill>
                            <a:srgbClr val="1E1E1E"/>
                          </a:solidFill>
                          <a:latin typeface="Gill Sans MT"/>
                        </a:rPr>
                        <a:t>54.380</a:t>
                      </a:r>
                    </a:p>
                  </a:txBody>
                  <a:tcPr marL="45720" marR="45720" marT="9144" marB="9144" anchor="ctr">
                    <a:noFill/>
                  </a:tcPr>
                </a:tc>
                <a:tc>
                  <a:txBody>
                    <a:bodyPr/>
                    <a:lstStyle/>
                    <a:p>
                      <a:pPr algn="r"/>
                      <a:r>
                        <a:rPr sz="800" b="0" i="0">
                          <a:solidFill>
                            <a:srgbClr val="1E1E1E"/>
                          </a:solidFill>
                          <a:latin typeface="Gill Sans MT"/>
                        </a:rPr>
                        <a:t>0</a:t>
                      </a:r>
                    </a:p>
                  </a:txBody>
                  <a:tcPr marL="45720" marR="45720" marT="9144" marB="9144" anchor="ctr">
                    <a:noFill/>
                  </a:tcPr>
                </a:tc>
                <a:tc>
                  <a:txBody>
                    <a:bodyPr/>
                    <a:lstStyle/>
                    <a:p>
                      <a:pPr algn="r"/>
                      <a:r>
                        <a:rPr sz="800" b="0" i="0">
                          <a:solidFill>
                            <a:srgbClr val="1E1E1E"/>
                          </a:solidFill>
                          <a:latin typeface="Gill Sans MT"/>
                        </a:rPr>
                        <a:t>54.380</a:t>
                      </a:r>
                    </a:p>
                  </a:txBody>
                  <a:tcPr marL="45720" marR="45720" marT="9144" marB="9144" anchor="ctr">
                    <a:noFill/>
                  </a:tcPr>
                </a:tc>
                <a:tc>
                  <a:txBody>
                    <a:bodyPr/>
                    <a:lstStyle/>
                    <a:p>
                      <a:pPr algn="r"/>
                      <a:r>
                        <a:rPr sz="800" b="0" i="0">
                          <a:solidFill>
                            <a:srgbClr val="1E1E1E"/>
                          </a:solidFill>
                          <a:latin typeface="Gill Sans MT"/>
                        </a:rPr>
                        <a:t>10,17x</a:t>
                      </a:r>
                    </a:p>
                  </a:txBody>
                  <a:tcPr marL="45720" marR="45720" marT="9144" marB="9144" anchor="ctr">
                    <a:noFill/>
                  </a:tcPr>
                </a:tc>
                <a:extLst>
                  <a:ext uri="{0D108BD9-81ED-4DB2-BD59-A6C34878D82A}">
                    <a16:rowId xmlns:a16="http://schemas.microsoft.com/office/drawing/2014/main" val="10001"/>
                  </a:ext>
                </a:extLst>
              </a:tr>
              <a:tr h="169164">
                <a:tc>
                  <a:txBody>
                    <a:bodyPr/>
                    <a:lstStyle/>
                    <a:p>
                      <a:pPr algn="l"/>
                      <a:r>
                        <a:rPr sz="800" b="0" i="0">
                          <a:solidFill>
                            <a:srgbClr val="1E1E1E"/>
                          </a:solidFill>
                          <a:latin typeface="Gill Sans MT"/>
                        </a:rPr>
                        <a:t>Embankment</a:t>
                      </a:r>
                    </a:p>
                  </a:txBody>
                  <a:tcPr marL="45720" marR="45720" marT="9144" marB="9144" anchor="ctr">
                    <a:solidFill>
                      <a:srgbClr val="F4F2EB"/>
                    </a:solidFill>
                  </a:tcPr>
                </a:tc>
                <a:tc>
                  <a:txBody>
                    <a:bodyPr/>
                    <a:lstStyle/>
                    <a:p>
                      <a:pPr algn="l"/>
                      <a:r>
                        <a:rPr sz="800" b="0" i="0">
                          <a:solidFill>
                            <a:srgbClr val="1E1E1E"/>
                          </a:solidFill>
                          <a:latin typeface="Gill Sans MT"/>
                        </a:rPr>
                        <a:t>Technologies, software</a:t>
                      </a:r>
                    </a:p>
                  </a:txBody>
                  <a:tcPr marL="45720" marR="45720" marT="9144" marB="9144" anchor="ctr">
                    <a:solidFill>
                      <a:srgbClr val="F4F2EB"/>
                    </a:solidFill>
                  </a:tcPr>
                </a:tc>
                <a:tc>
                  <a:txBody>
                    <a:bodyPr/>
                    <a:lstStyle/>
                    <a:p>
                      <a:pPr algn="ctr"/>
                      <a:r>
                        <a:rPr sz="800" b="0" i="0">
                          <a:solidFill>
                            <a:srgbClr val="1E1E1E"/>
                          </a:solidFill>
                          <a:latin typeface="Gill Sans MT"/>
                        </a:rPr>
                        <a:t>2024</a:t>
                      </a:r>
                    </a:p>
                  </a:txBody>
                  <a:tcPr marL="45720" marR="45720" marT="9144" marB="9144" anchor="ctr">
                    <a:solidFill>
                      <a:srgbClr val="F4F2EB"/>
                    </a:solidFill>
                  </a:tcPr>
                </a:tc>
                <a:tc>
                  <a:txBody>
                    <a:bodyPr/>
                    <a:lstStyle/>
                    <a:p>
                      <a:pPr algn="r"/>
                      <a:r>
                        <a:rPr sz="800" b="0" i="0">
                          <a:solidFill>
                            <a:srgbClr val="1E1E1E"/>
                          </a:solidFill>
                          <a:latin typeface="Gill Sans MT"/>
                        </a:rPr>
                        <a:t>1.157</a:t>
                      </a:r>
                    </a:p>
                  </a:txBody>
                  <a:tcPr marL="45720" marR="45720" marT="9144" marB="9144" anchor="ctr">
                    <a:solidFill>
                      <a:srgbClr val="F4F2EB"/>
                    </a:solidFill>
                  </a:tcPr>
                </a:tc>
                <a:tc>
                  <a:txBody>
                    <a:bodyPr/>
                    <a:lstStyle/>
                    <a:p>
                      <a:pPr algn="r"/>
                      <a:r>
                        <a:rPr sz="800" b="0" i="0">
                          <a:solidFill>
                            <a:srgbClr val="1E1E1E"/>
                          </a:solidFill>
                          <a:latin typeface="Gill Sans MT"/>
                        </a:rPr>
                        <a:t>1.876</a:t>
                      </a:r>
                    </a:p>
                  </a:txBody>
                  <a:tcPr marL="45720" marR="45720" marT="9144" marB="9144" anchor="ctr">
                    <a:solidFill>
                      <a:srgbClr val="F4F2EB"/>
                    </a:solidFill>
                  </a:tcPr>
                </a:tc>
                <a:tc>
                  <a:txBody>
                    <a:bodyPr/>
                    <a:lstStyle/>
                    <a:p>
                      <a:pPr algn="r"/>
                      <a:r>
                        <a:rPr sz="800" b="0" i="0">
                          <a:solidFill>
                            <a:srgbClr val="1E1E1E"/>
                          </a:solidFill>
                          <a:latin typeface="Gill Sans MT"/>
                        </a:rPr>
                        <a:t>0</a:t>
                      </a:r>
                    </a:p>
                  </a:txBody>
                  <a:tcPr marL="45720" marR="45720" marT="9144" marB="9144" anchor="ctr">
                    <a:solidFill>
                      <a:srgbClr val="F4F2EB"/>
                    </a:solidFill>
                  </a:tcPr>
                </a:tc>
                <a:tc>
                  <a:txBody>
                    <a:bodyPr/>
                    <a:lstStyle/>
                    <a:p>
                      <a:pPr algn="r"/>
                      <a:r>
                        <a:rPr sz="800" b="0" i="0">
                          <a:solidFill>
                            <a:srgbClr val="1E1E1E"/>
                          </a:solidFill>
                          <a:latin typeface="Gill Sans MT"/>
                        </a:rPr>
                        <a:t>1.876</a:t>
                      </a:r>
                    </a:p>
                  </a:txBody>
                  <a:tcPr marL="45720" marR="45720" marT="9144" marB="9144" anchor="ctr">
                    <a:solidFill>
                      <a:srgbClr val="F4F2EB"/>
                    </a:solidFill>
                  </a:tcPr>
                </a:tc>
                <a:tc>
                  <a:txBody>
                    <a:bodyPr/>
                    <a:lstStyle/>
                    <a:p>
                      <a:pPr algn="r"/>
                      <a:r>
                        <a:rPr sz="800" b="0" i="0">
                          <a:solidFill>
                            <a:srgbClr val="1E1E1E"/>
                          </a:solidFill>
                          <a:latin typeface="Gill Sans MT"/>
                        </a:rPr>
                        <a:t>1,62x</a:t>
                      </a:r>
                    </a:p>
                  </a:txBody>
                  <a:tcPr marL="45720" marR="45720" marT="9144" marB="9144" anchor="ctr">
                    <a:solidFill>
                      <a:srgbClr val="F4F2EB"/>
                    </a:solidFill>
                  </a:tcPr>
                </a:tc>
                <a:extLst>
                  <a:ext uri="{0D108BD9-81ED-4DB2-BD59-A6C34878D82A}">
                    <a16:rowId xmlns:a16="http://schemas.microsoft.com/office/drawing/2014/main" val="10002"/>
                  </a:ext>
                </a:extLst>
              </a:tr>
              <a:tr h="169164">
                <a:tc>
                  <a:txBody>
                    <a:bodyPr/>
                    <a:lstStyle/>
                    <a:p>
                      <a:pPr algn="l"/>
                      <a:r>
                        <a:rPr sz="800" b="0" i="0">
                          <a:solidFill>
                            <a:srgbClr val="1E1E1E"/>
                          </a:solidFill>
                          <a:latin typeface="Gill Sans MT"/>
                        </a:rPr>
                        <a:t>Landfolk</a:t>
                      </a:r>
                    </a:p>
                  </a:txBody>
                  <a:tcPr marL="45720" marR="45720" marT="9144" marB="9144" anchor="ctr">
                    <a:noFill/>
                  </a:tcPr>
                </a:tc>
                <a:tc>
                  <a:txBody>
                    <a:bodyPr/>
                    <a:lstStyle/>
                    <a:p>
                      <a:pPr algn="l"/>
                      <a:r>
                        <a:rPr sz="800" b="0" i="0">
                          <a:solidFill>
                            <a:srgbClr val="1E1E1E"/>
                          </a:solidFill>
                          <a:latin typeface="Gill Sans MT"/>
                        </a:rPr>
                        <a:t>Technologies, marketplace</a:t>
                      </a:r>
                    </a:p>
                  </a:txBody>
                  <a:tcPr marL="45720" marR="45720" marT="9144" marB="9144" anchor="ctr">
                    <a:noFill/>
                  </a:tcPr>
                </a:tc>
                <a:tc>
                  <a:txBody>
                    <a:bodyPr/>
                    <a:lstStyle/>
                    <a:p>
                      <a:pPr algn="ctr"/>
                      <a:r>
                        <a:rPr sz="800" b="0" i="0">
                          <a:solidFill>
                            <a:srgbClr val="1E1E1E"/>
                          </a:solidFill>
                          <a:latin typeface="Gill Sans MT"/>
                        </a:rPr>
                        <a:t>2023</a:t>
                      </a:r>
                    </a:p>
                  </a:txBody>
                  <a:tcPr marL="45720" marR="45720" marT="9144" marB="9144" anchor="ctr">
                    <a:noFill/>
                  </a:tcPr>
                </a:tc>
                <a:tc>
                  <a:txBody>
                    <a:bodyPr/>
                    <a:lstStyle/>
                    <a:p>
                      <a:pPr algn="r"/>
                      <a:r>
                        <a:rPr sz="800" b="0" i="0">
                          <a:solidFill>
                            <a:srgbClr val="1E1E1E"/>
                          </a:solidFill>
                          <a:latin typeface="Gill Sans MT"/>
                        </a:rPr>
                        <a:t>1.447</a:t>
                      </a:r>
                    </a:p>
                  </a:txBody>
                  <a:tcPr marL="45720" marR="45720" marT="9144" marB="9144" anchor="ctr">
                    <a:noFill/>
                  </a:tcPr>
                </a:tc>
                <a:tc>
                  <a:txBody>
                    <a:bodyPr/>
                    <a:lstStyle/>
                    <a:p>
                      <a:pPr algn="r"/>
                      <a:r>
                        <a:rPr sz="800" b="0" i="0">
                          <a:solidFill>
                            <a:srgbClr val="1E1E1E"/>
                          </a:solidFill>
                          <a:latin typeface="Gill Sans MT"/>
                        </a:rPr>
                        <a:t>1.805</a:t>
                      </a:r>
                    </a:p>
                  </a:txBody>
                  <a:tcPr marL="45720" marR="45720" marT="9144" marB="9144" anchor="ctr">
                    <a:noFill/>
                  </a:tcPr>
                </a:tc>
                <a:tc>
                  <a:txBody>
                    <a:bodyPr/>
                    <a:lstStyle/>
                    <a:p>
                      <a:pPr algn="r"/>
                      <a:r>
                        <a:rPr sz="800" b="0" i="0">
                          <a:solidFill>
                            <a:srgbClr val="1E1E1E"/>
                          </a:solidFill>
                          <a:latin typeface="Gill Sans MT"/>
                        </a:rPr>
                        <a:t>0</a:t>
                      </a:r>
                    </a:p>
                  </a:txBody>
                  <a:tcPr marL="45720" marR="45720" marT="9144" marB="9144" anchor="ctr">
                    <a:noFill/>
                  </a:tcPr>
                </a:tc>
                <a:tc>
                  <a:txBody>
                    <a:bodyPr/>
                    <a:lstStyle/>
                    <a:p>
                      <a:pPr algn="r"/>
                      <a:r>
                        <a:rPr sz="800" b="0" i="0">
                          <a:solidFill>
                            <a:srgbClr val="1E1E1E"/>
                          </a:solidFill>
                          <a:latin typeface="Gill Sans MT"/>
                        </a:rPr>
                        <a:t>1.805</a:t>
                      </a:r>
                    </a:p>
                  </a:txBody>
                  <a:tcPr marL="45720" marR="45720" marT="9144" marB="9144" anchor="ctr">
                    <a:noFill/>
                  </a:tcPr>
                </a:tc>
                <a:tc>
                  <a:txBody>
                    <a:bodyPr/>
                    <a:lstStyle/>
                    <a:p>
                      <a:pPr algn="r"/>
                      <a:r>
                        <a:rPr sz="800" b="0" i="0">
                          <a:solidFill>
                            <a:srgbClr val="1E1E1E"/>
                          </a:solidFill>
                          <a:latin typeface="Gill Sans MT"/>
                        </a:rPr>
                        <a:t>1,25x</a:t>
                      </a:r>
                    </a:p>
                  </a:txBody>
                  <a:tcPr marL="45720" marR="45720" marT="9144" marB="9144" anchor="ctr">
                    <a:noFill/>
                  </a:tcPr>
                </a:tc>
                <a:extLst>
                  <a:ext uri="{0D108BD9-81ED-4DB2-BD59-A6C34878D82A}">
                    <a16:rowId xmlns:a16="http://schemas.microsoft.com/office/drawing/2014/main" val="10003"/>
                  </a:ext>
                </a:extLst>
              </a:tr>
              <a:tr h="169164">
                <a:tc>
                  <a:txBody>
                    <a:bodyPr/>
                    <a:lstStyle/>
                    <a:p>
                      <a:pPr algn="l"/>
                      <a:r>
                        <a:rPr sz="800" b="0" i="0">
                          <a:solidFill>
                            <a:srgbClr val="1E1E1E"/>
                          </a:solidFill>
                          <a:latin typeface="Gill Sans MT"/>
                        </a:rPr>
                        <a:t>Understory</a:t>
                      </a:r>
                    </a:p>
                  </a:txBody>
                  <a:tcPr marL="45720" marR="45720" marT="9144" marB="9144" anchor="ctr">
                    <a:solidFill>
                      <a:srgbClr val="F4F2EB"/>
                    </a:solidFill>
                  </a:tcPr>
                </a:tc>
                <a:tc>
                  <a:txBody>
                    <a:bodyPr/>
                    <a:lstStyle/>
                    <a:p>
                      <a:pPr algn="l"/>
                      <a:r>
                        <a:rPr sz="800" b="0" i="0">
                          <a:solidFill>
                            <a:srgbClr val="1E1E1E"/>
                          </a:solidFill>
                          <a:latin typeface="Gill Sans MT"/>
                        </a:rPr>
                        <a:t>Technologies, software</a:t>
                      </a:r>
                    </a:p>
                  </a:txBody>
                  <a:tcPr marL="45720" marR="45720" marT="9144" marB="9144" anchor="ctr">
                    <a:solidFill>
                      <a:srgbClr val="F4F2EB"/>
                    </a:solidFill>
                  </a:tcPr>
                </a:tc>
                <a:tc>
                  <a:txBody>
                    <a:bodyPr/>
                    <a:lstStyle/>
                    <a:p>
                      <a:pPr algn="ctr"/>
                      <a:r>
                        <a:rPr sz="800" b="0" i="0">
                          <a:solidFill>
                            <a:srgbClr val="1E1E1E"/>
                          </a:solidFill>
                          <a:latin typeface="Gill Sans MT"/>
                        </a:rPr>
                        <a:t>2024</a:t>
                      </a:r>
                    </a:p>
                  </a:txBody>
                  <a:tcPr marL="45720" marR="45720" marT="9144" marB="9144" anchor="ctr">
                    <a:solidFill>
                      <a:srgbClr val="F4F2EB"/>
                    </a:solidFill>
                  </a:tcPr>
                </a:tc>
                <a:tc>
                  <a:txBody>
                    <a:bodyPr/>
                    <a:lstStyle/>
                    <a:p>
                      <a:pPr algn="r"/>
                      <a:r>
                        <a:rPr sz="800" b="0" i="0">
                          <a:solidFill>
                            <a:srgbClr val="1E1E1E"/>
                          </a:solidFill>
                          <a:latin typeface="Gill Sans MT"/>
                        </a:rPr>
                        <a:t>1.238</a:t>
                      </a:r>
                    </a:p>
                  </a:txBody>
                  <a:tcPr marL="45720" marR="45720" marT="9144" marB="9144" anchor="ctr">
                    <a:solidFill>
                      <a:srgbClr val="F4F2EB"/>
                    </a:solidFill>
                  </a:tcPr>
                </a:tc>
                <a:tc>
                  <a:txBody>
                    <a:bodyPr/>
                    <a:lstStyle/>
                    <a:p>
                      <a:pPr algn="r"/>
                      <a:r>
                        <a:rPr sz="800" b="0" i="0">
                          <a:solidFill>
                            <a:srgbClr val="1E1E1E"/>
                          </a:solidFill>
                          <a:latin typeface="Gill Sans MT"/>
                        </a:rPr>
                        <a:t>1.774</a:t>
                      </a:r>
                    </a:p>
                  </a:txBody>
                  <a:tcPr marL="45720" marR="45720" marT="9144" marB="9144" anchor="ctr">
                    <a:solidFill>
                      <a:srgbClr val="F4F2EB"/>
                    </a:solidFill>
                  </a:tcPr>
                </a:tc>
                <a:tc>
                  <a:txBody>
                    <a:bodyPr/>
                    <a:lstStyle/>
                    <a:p>
                      <a:pPr algn="r"/>
                      <a:r>
                        <a:rPr sz="800" b="0" i="0">
                          <a:solidFill>
                            <a:srgbClr val="1E1E1E"/>
                          </a:solidFill>
                          <a:latin typeface="Gill Sans MT"/>
                        </a:rPr>
                        <a:t>0</a:t>
                      </a:r>
                    </a:p>
                  </a:txBody>
                  <a:tcPr marL="45720" marR="45720" marT="9144" marB="9144" anchor="ctr">
                    <a:solidFill>
                      <a:srgbClr val="F4F2EB"/>
                    </a:solidFill>
                  </a:tcPr>
                </a:tc>
                <a:tc>
                  <a:txBody>
                    <a:bodyPr/>
                    <a:lstStyle/>
                    <a:p>
                      <a:pPr algn="r"/>
                      <a:r>
                        <a:rPr sz="800" b="0" i="0">
                          <a:solidFill>
                            <a:srgbClr val="1E1E1E"/>
                          </a:solidFill>
                          <a:latin typeface="Gill Sans MT"/>
                        </a:rPr>
                        <a:t>1.774</a:t>
                      </a:r>
                    </a:p>
                  </a:txBody>
                  <a:tcPr marL="45720" marR="45720" marT="9144" marB="9144" anchor="ctr">
                    <a:solidFill>
                      <a:srgbClr val="F4F2EB"/>
                    </a:solidFill>
                  </a:tcPr>
                </a:tc>
                <a:tc>
                  <a:txBody>
                    <a:bodyPr/>
                    <a:lstStyle/>
                    <a:p>
                      <a:pPr algn="r"/>
                      <a:r>
                        <a:rPr sz="800" b="0" i="0">
                          <a:solidFill>
                            <a:srgbClr val="1E1E1E"/>
                          </a:solidFill>
                          <a:latin typeface="Gill Sans MT"/>
                        </a:rPr>
                        <a:t>1,43x</a:t>
                      </a:r>
                    </a:p>
                  </a:txBody>
                  <a:tcPr marL="45720" marR="45720" marT="9144" marB="9144" anchor="ctr">
                    <a:solidFill>
                      <a:srgbClr val="F4F2EB"/>
                    </a:solidFill>
                  </a:tcPr>
                </a:tc>
                <a:extLst>
                  <a:ext uri="{0D108BD9-81ED-4DB2-BD59-A6C34878D82A}">
                    <a16:rowId xmlns:a16="http://schemas.microsoft.com/office/drawing/2014/main" val="10004"/>
                  </a:ext>
                </a:extLst>
              </a:tr>
              <a:tr h="169164">
                <a:tc>
                  <a:txBody>
                    <a:bodyPr/>
                    <a:lstStyle/>
                    <a:p>
                      <a:pPr algn="l"/>
                      <a:r>
                        <a:rPr sz="800" b="0" i="0">
                          <a:solidFill>
                            <a:srgbClr val="1E1E1E"/>
                          </a:solidFill>
                          <a:latin typeface="Gill Sans MT"/>
                        </a:rPr>
                        <a:t>Risika</a:t>
                      </a:r>
                    </a:p>
                  </a:txBody>
                  <a:tcPr marL="45720" marR="45720" marT="9144" marB="9144" anchor="ctr">
                    <a:noFill/>
                  </a:tcPr>
                </a:tc>
                <a:tc>
                  <a:txBody>
                    <a:bodyPr/>
                    <a:lstStyle/>
                    <a:p>
                      <a:pPr algn="l"/>
                      <a:r>
                        <a:rPr sz="800" b="0" i="0">
                          <a:solidFill>
                            <a:srgbClr val="1E1E1E"/>
                          </a:solidFill>
                          <a:latin typeface="Gill Sans MT"/>
                        </a:rPr>
                        <a:t>Technologies, software</a:t>
                      </a:r>
                    </a:p>
                  </a:txBody>
                  <a:tcPr marL="45720" marR="45720" marT="9144" marB="9144" anchor="ctr">
                    <a:noFill/>
                  </a:tcPr>
                </a:tc>
                <a:tc>
                  <a:txBody>
                    <a:bodyPr/>
                    <a:lstStyle/>
                    <a:p>
                      <a:pPr algn="ctr"/>
                      <a:r>
                        <a:rPr sz="800" b="0" i="0">
                          <a:solidFill>
                            <a:srgbClr val="1E1E1E"/>
                          </a:solidFill>
                          <a:latin typeface="Gill Sans MT"/>
                        </a:rPr>
                        <a:t>2021</a:t>
                      </a:r>
                    </a:p>
                  </a:txBody>
                  <a:tcPr marL="45720" marR="45720" marT="9144" marB="9144" anchor="ctr">
                    <a:noFill/>
                  </a:tcPr>
                </a:tc>
                <a:tc>
                  <a:txBody>
                    <a:bodyPr/>
                    <a:lstStyle/>
                    <a:p>
                      <a:pPr algn="r"/>
                      <a:r>
                        <a:rPr sz="800" b="0" i="0">
                          <a:solidFill>
                            <a:srgbClr val="1E1E1E"/>
                          </a:solidFill>
                          <a:latin typeface="Gill Sans MT"/>
                        </a:rPr>
                        <a:t>854</a:t>
                      </a:r>
                    </a:p>
                  </a:txBody>
                  <a:tcPr marL="45720" marR="45720" marT="9144" marB="9144" anchor="ctr">
                    <a:noFill/>
                  </a:tcPr>
                </a:tc>
                <a:tc>
                  <a:txBody>
                    <a:bodyPr/>
                    <a:lstStyle/>
                    <a:p>
                      <a:pPr algn="r"/>
                      <a:r>
                        <a:rPr sz="800" b="0" i="0">
                          <a:solidFill>
                            <a:srgbClr val="1E1E1E"/>
                          </a:solidFill>
                          <a:latin typeface="Gill Sans MT"/>
                        </a:rPr>
                        <a:t>854</a:t>
                      </a:r>
                    </a:p>
                  </a:txBody>
                  <a:tcPr marL="45720" marR="45720" marT="9144" marB="9144" anchor="ctr">
                    <a:noFill/>
                  </a:tcPr>
                </a:tc>
                <a:tc>
                  <a:txBody>
                    <a:bodyPr/>
                    <a:lstStyle/>
                    <a:p>
                      <a:pPr algn="r"/>
                      <a:r>
                        <a:rPr sz="800" b="0" i="0">
                          <a:solidFill>
                            <a:srgbClr val="1E1E1E"/>
                          </a:solidFill>
                          <a:latin typeface="Gill Sans MT"/>
                        </a:rPr>
                        <a:t>0</a:t>
                      </a:r>
                    </a:p>
                  </a:txBody>
                  <a:tcPr marL="45720" marR="45720" marT="9144" marB="9144" anchor="ctr">
                    <a:noFill/>
                  </a:tcPr>
                </a:tc>
                <a:tc>
                  <a:txBody>
                    <a:bodyPr/>
                    <a:lstStyle/>
                    <a:p>
                      <a:pPr algn="r"/>
                      <a:r>
                        <a:rPr sz="800" b="0" i="0">
                          <a:solidFill>
                            <a:srgbClr val="1E1E1E"/>
                          </a:solidFill>
                          <a:latin typeface="Gill Sans MT"/>
                        </a:rPr>
                        <a:t>854</a:t>
                      </a:r>
                    </a:p>
                  </a:txBody>
                  <a:tcPr marL="45720" marR="45720" marT="9144" marB="9144" anchor="ctr">
                    <a:noFill/>
                  </a:tcPr>
                </a:tc>
                <a:tc>
                  <a:txBody>
                    <a:bodyPr/>
                    <a:lstStyle/>
                    <a:p>
                      <a:pPr algn="r"/>
                      <a:r>
                        <a:rPr sz="800" b="0" i="0">
                          <a:solidFill>
                            <a:srgbClr val="1E1E1E"/>
                          </a:solidFill>
                          <a:latin typeface="Gill Sans MT"/>
                        </a:rPr>
                        <a:t>1,00x</a:t>
                      </a:r>
                    </a:p>
                  </a:txBody>
                  <a:tcPr marL="45720" marR="45720" marT="9144" marB="9144" anchor="ctr">
                    <a:noFill/>
                  </a:tcPr>
                </a:tc>
                <a:extLst>
                  <a:ext uri="{0D108BD9-81ED-4DB2-BD59-A6C34878D82A}">
                    <a16:rowId xmlns:a16="http://schemas.microsoft.com/office/drawing/2014/main" val="10005"/>
                  </a:ext>
                </a:extLst>
              </a:tr>
              <a:tr h="169164">
                <a:tc>
                  <a:txBody>
                    <a:bodyPr/>
                    <a:lstStyle/>
                    <a:p>
                      <a:pPr algn="l"/>
                      <a:r>
                        <a:rPr sz="800" b="0" i="0">
                          <a:solidFill>
                            <a:srgbClr val="1E1E1E"/>
                          </a:solidFill>
                          <a:latin typeface="Gill Sans MT"/>
                        </a:rPr>
                        <a:t>Tembi</a:t>
                      </a:r>
                    </a:p>
                  </a:txBody>
                  <a:tcPr marL="45720" marR="45720" marT="9144" marB="9144" anchor="ctr">
                    <a:solidFill>
                      <a:srgbClr val="F4F2EB"/>
                    </a:solidFill>
                  </a:tcPr>
                </a:tc>
                <a:tc>
                  <a:txBody>
                    <a:bodyPr/>
                    <a:lstStyle/>
                    <a:p>
                      <a:pPr algn="l"/>
                      <a:r>
                        <a:rPr sz="800" b="0" i="0">
                          <a:solidFill>
                            <a:srgbClr val="1E1E1E"/>
                          </a:solidFill>
                          <a:latin typeface="Gill Sans MT"/>
                        </a:rPr>
                        <a:t>Technologies, software</a:t>
                      </a:r>
                    </a:p>
                  </a:txBody>
                  <a:tcPr marL="45720" marR="45720" marT="9144" marB="9144" anchor="ctr">
                    <a:solidFill>
                      <a:srgbClr val="F4F2EB"/>
                    </a:solidFill>
                  </a:tcPr>
                </a:tc>
                <a:tc>
                  <a:txBody>
                    <a:bodyPr/>
                    <a:lstStyle/>
                    <a:p>
                      <a:pPr algn="ctr"/>
                      <a:r>
                        <a:rPr sz="800" b="0" i="0">
                          <a:solidFill>
                            <a:srgbClr val="1E1E1E"/>
                          </a:solidFill>
                          <a:latin typeface="Gill Sans MT"/>
                        </a:rPr>
                        <a:t>2024</a:t>
                      </a:r>
                    </a:p>
                  </a:txBody>
                  <a:tcPr marL="45720" marR="45720" marT="9144" marB="9144" anchor="ctr">
                    <a:solidFill>
                      <a:srgbClr val="F4F2EB"/>
                    </a:solidFill>
                  </a:tcPr>
                </a:tc>
                <a:tc>
                  <a:txBody>
                    <a:bodyPr/>
                    <a:lstStyle/>
                    <a:p>
                      <a:pPr algn="r"/>
                      <a:r>
                        <a:rPr sz="800" b="0" i="0">
                          <a:solidFill>
                            <a:srgbClr val="1E1E1E"/>
                          </a:solidFill>
                          <a:latin typeface="Gill Sans MT"/>
                        </a:rPr>
                        <a:t>588</a:t>
                      </a:r>
                    </a:p>
                  </a:txBody>
                  <a:tcPr marL="45720" marR="45720" marT="9144" marB="9144" anchor="ctr">
                    <a:solidFill>
                      <a:srgbClr val="F4F2EB"/>
                    </a:solidFill>
                  </a:tcPr>
                </a:tc>
                <a:tc>
                  <a:txBody>
                    <a:bodyPr/>
                    <a:lstStyle/>
                    <a:p>
                      <a:pPr algn="r"/>
                      <a:r>
                        <a:rPr sz="800" b="0" i="0">
                          <a:solidFill>
                            <a:srgbClr val="1E1E1E"/>
                          </a:solidFill>
                          <a:latin typeface="Gill Sans MT"/>
                        </a:rPr>
                        <a:t>588</a:t>
                      </a:r>
                    </a:p>
                  </a:txBody>
                  <a:tcPr marL="45720" marR="45720" marT="9144" marB="9144" anchor="ctr">
                    <a:solidFill>
                      <a:srgbClr val="F4F2EB"/>
                    </a:solidFill>
                  </a:tcPr>
                </a:tc>
                <a:tc>
                  <a:txBody>
                    <a:bodyPr/>
                    <a:lstStyle/>
                    <a:p>
                      <a:pPr algn="r"/>
                      <a:r>
                        <a:rPr sz="800" b="0" i="0">
                          <a:solidFill>
                            <a:srgbClr val="1E1E1E"/>
                          </a:solidFill>
                          <a:latin typeface="Gill Sans MT"/>
                        </a:rPr>
                        <a:t>0</a:t>
                      </a:r>
                    </a:p>
                  </a:txBody>
                  <a:tcPr marL="45720" marR="45720" marT="9144" marB="9144" anchor="ctr">
                    <a:solidFill>
                      <a:srgbClr val="F4F2EB"/>
                    </a:solidFill>
                  </a:tcPr>
                </a:tc>
                <a:tc>
                  <a:txBody>
                    <a:bodyPr/>
                    <a:lstStyle/>
                    <a:p>
                      <a:pPr algn="r"/>
                      <a:r>
                        <a:rPr sz="800" b="0" i="0">
                          <a:solidFill>
                            <a:srgbClr val="1E1E1E"/>
                          </a:solidFill>
                          <a:latin typeface="Gill Sans MT"/>
                        </a:rPr>
                        <a:t>588</a:t>
                      </a:r>
                    </a:p>
                  </a:txBody>
                  <a:tcPr marL="45720" marR="45720" marT="9144" marB="9144" anchor="ctr">
                    <a:solidFill>
                      <a:srgbClr val="F4F2EB"/>
                    </a:solidFill>
                  </a:tcPr>
                </a:tc>
                <a:tc>
                  <a:txBody>
                    <a:bodyPr/>
                    <a:lstStyle/>
                    <a:p>
                      <a:pPr algn="r"/>
                      <a:r>
                        <a:rPr sz="800" b="0" i="0">
                          <a:solidFill>
                            <a:srgbClr val="1E1E1E"/>
                          </a:solidFill>
                          <a:latin typeface="Gill Sans MT"/>
                        </a:rPr>
                        <a:t>1,00x</a:t>
                      </a:r>
                    </a:p>
                  </a:txBody>
                  <a:tcPr marL="45720" marR="45720" marT="9144" marB="9144" anchor="ctr">
                    <a:solidFill>
                      <a:srgbClr val="F4F2EB"/>
                    </a:solidFill>
                  </a:tcPr>
                </a:tc>
                <a:extLst>
                  <a:ext uri="{0D108BD9-81ED-4DB2-BD59-A6C34878D82A}">
                    <a16:rowId xmlns:a16="http://schemas.microsoft.com/office/drawing/2014/main" val="10006"/>
                  </a:ext>
                </a:extLst>
              </a:tr>
              <a:tr h="169164">
                <a:tc>
                  <a:txBody>
                    <a:bodyPr/>
                    <a:lstStyle/>
                    <a:p>
                      <a:pPr algn="l"/>
                      <a:r>
                        <a:rPr sz="800" b="0" i="0">
                          <a:solidFill>
                            <a:srgbClr val="1E1E1E"/>
                          </a:solidFill>
                          <a:latin typeface="Gill Sans MT"/>
                        </a:rPr>
                        <a:t>Starred</a:t>
                      </a:r>
                    </a:p>
                  </a:txBody>
                  <a:tcPr marL="45720" marR="45720" marT="9144" marB="9144" anchor="ctr">
                    <a:noFill/>
                  </a:tcPr>
                </a:tc>
                <a:tc>
                  <a:txBody>
                    <a:bodyPr/>
                    <a:lstStyle/>
                    <a:p>
                      <a:pPr algn="l"/>
                      <a:r>
                        <a:rPr sz="800" b="0" i="0">
                          <a:solidFill>
                            <a:srgbClr val="1E1E1E"/>
                          </a:solidFill>
                          <a:latin typeface="Gill Sans MT"/>
                        </a:rPr>
                        <a:t>Technologies, software</a:t>
                      </a:r>
                    </a:p>
                  </a:txBody>
                  <a:tcPr marL="45720" marR="45720" marT="9144" marB="9144" anchor="ctr">
                    <a:noFill/>
                  </a:tcPr>
                </a:tc>
                <a:tc>
                  <a:txBody>
                    <a:bodyPr/>
                    <a:lstStyle/>
                    <a:p>
                      <a:pPr algn="ctr"/>
                      <a:r>
                        <a:rPr sz="800" b="0" i="0">
                          <a:solidFill>
                            <a:srgbClr val="1E1E1E"/>
                          </a:solidFill>
                          <a:latin typeface="Gill Sans MT"/>
                        </a:rPr>
                        <a:t>2022</a:t>
                      </a:r>
                    </a:p>
                  </a:txBody>
                  <a:tcPr marL="45720" marR="45720" marT="9144" marB="9144" anchor="ctr">
                    <a:noFill/>
                  </a:tcPr>
                </a:tc>
                <a:tc>
                  <a:txBody>
                    <a:bodyPr/>
                    <a:lstStyle/>
                    <a:p>
                      <a:pPr algn="r"/>
                      <a:r>
                        <a:rPr sz="800" b="0" i="0">
                          <a:solidFill>
                            <a:srgbClr val="1E1E1E"/>
                          </a:solidFill>
                          <a:latin typeface="Gill Sans MT"/>
                        </a:rPr>
                        <a:t>660</a:t>
                      </a:r>
                    </a:p>
                  </a:txBody>
                  <a:tcPr marL="45720" marR="45720" marT="9144" marB="9144" anchor="ctr">
                    <a:noFill/>
                  </a:tcPr>
                </a:tc>
                <a:tc>
                  <a:txBody>
                    <a:bodyPr/>
                    <a:lstStyle/>
                    <a:p>
                      <a:pPr algn="r"/>
                      <a:r>
                        <a:rPr sz="800" b="0" i="0">
                          <a:solidFill>
                            <a:srgbClr val="1E1E1E"/>
                          </a:solidFill>
                          <a:latin typeface="Gill Sans MT"/>
                        </a:rPr>
                        <a:t>501</a:t>
                      </a:r>
                    </a:p>
                  </a:txBody>
                  <a:tcPr marL="45720" marR="45720" marT="9144" marB="9144" anchor="ctr">
                    <a:noFill/>
                  </a:tcPr>
                </a:tc>
                <a:tc>
                  <a:txBody>
                    <a:bodyPr/>
                    <a:lstStyle/>
                    <a:p>
                      <a:pPr algn="r"/>
                      <a:r>
                        <a:rPr sz="800" b="0" i="0">
                          <a:solidFill>
                            <a:srgbClr val="1E1E1E"/>
                          </a:solidFill>
                          <a:latin typeface="Gill Sans MT"/>
                        </a:rPr>
                        <a:t>0</a:t>
                      </a:r>
                    </a:p>
                  </a:txBody>
                  <a:tcPr marL="45720" marR="45720" marT="9144" marB="9144" anchor="ctr">
                    <a:noFill/>
                  </a:tcPr>
                </a:tc>
                <a:tc>
                  <a:txBody>
                    <a:bodyPr/>
                    <a:lstStyle/>
                    <a:p>
                      <a:pPr algn="r"/>
                      <a:r>
                        <a:rPr sz="800" b="0" i="0">
                          <a:solidFill>
                            <a:srgbClr val="1E1E1E"/>
                          </a:solidFill>
                          <a:latin typeface="Gill Sans MT"/>
                        </a:rPr>
                        <a:t>501</a:t>
                      </a:r>
                    </a:p>
                  </a:txBody>
                  <a:tcPr marL="45720" marR="45720" marT="9144" marB="9144" anchor="ctr">
                    <a:noFill/>
                  </a:tcPr>
                </a:tc>
                <a:tc>
                  <a:txBody>
                    <a:bodyPr/>
                    <a:lstStyle/>
                    <a:p>
                      <a:pPr algn="r"/>
                      <a:r>
                        <a:rPr sz="800" b="0" i="0">
                          <a:solidFill>
                            <a:srgbClr val="1E1E1E"/>
                          </a:solidFill>
                          <a:latin typeface="Gill Sans MT"/>
                        </a:rPr>
                        <a:t>0,76x</a:t>
                      </a:r>
                    </a:p>
                  </a:txBody>
                  <a:tcPr marL="45720" marR="45720" marT="9144" marB="9144" anchor="ctr">
                    <a:noFill/>
                  </a:tcPr>
                </a:tc>
                <a:extLst>
                  <a:ext uri="{0D108BD9-81ED-4DB2-BD59-A6C34878D82A}">
                    <a16:rowId xmlns:a16="http://schemas.microsoft.com/office/drawing/2014/main" val="10007"/>
                  </a:ext>
                </a:extLst>
              </a:tr>
              <a:tr h="169164">
                <a:tc>
                  <a:txBody>
                    <a:bodyPr/>
                    <a:lstStyle/>
                    <a:p>
                      <a:pPr algn="l"/>
                      <a:r>
                        <a:rPr sz="800" b="0" i="0">
                          <a:solidFill>
                            <a:srgbClr val="1E1E1E"/>
                          </a:solidFill>
                          <a:latin typeface="Gill Sans MT"/>
                        </a:rPr>
                        <a:t>Embla</a:t>
                      </a:r>
                    </a:p>
                  </a:txBody>
                  <a:tcPr marL="45720" marR="45720" marT="9144" marB="9144" anchor="ctr">
                    <a:solidFill>
                      <a:srgbClr val="F4F2EB"/>
                    </a:solidFill>
                  </a:tcPr>
                </a:tc>
                <a:tc>
                  <a:txBody>
                    <a:bodyPr/>
                    <a:lstStyle/>
                    <a:p>
                      <a:pPr algn="l"/>
                      <a:r>
                        <a:rPr sz="800" b="0" i="0">
                          <a:solidFill>
                            <a:srgbClr val="1E1E1E"/>
                          </a:solidFill>
                          <a:latin typeface="Gill Sans MT"/>
                        </a:rPr>
                        <a:t>Technologies, Digital Health</a:t>
                      </a:r>
                    </a:p>
                  </a:txBody>
                  <a:tcPr marL="45720" marR="45720" marT="9144" marB="9144" anchor="ctr">
                    <a:solidFill>
                      <a:srgbClr val="F4F2EB"/>
                    </a:solidFill>
                  </a:tcPr>
                </a:tc>
                <a:tc>
                  <a:txBody>
                    <a:bodyPr/>
                    <a:lstStyle/>
                    <a:p>
                      <a:pPr algn="ctr"/>
                      <a:r>
                        <a:rPr sz="800" b="0" i="0">
                          <a:solidFill>
                            <a:srgbClr val="1E1E1E"/>
                          </a:solidFill>
                          <a:latin typeface="Gill Sans MT"/>
                        </a:rPr>
                        <a:t>2023</a:t>
                      </a:r>
                    </a:p>
                  </a:txBody>
                  <a:tcPr marL="45720" marR="45720" marT="9144" marB="9144" anchor="ctr">
                    <a:solidFill>
                      <a:srgbClr val="F4F2EB"/>
                    </a:solidFill>
                  </a:tcPr>
                </a:tc>
                <a:tc>
                  <a:txBody>
                    <a:bodyPr/>
                    <a:lstStyle/>
                    <a:p>
                      <a:pPr algn="r"/>
                      <a:r>
                        <a:rPr sz="800" b="0" i="0">
                          <a:solidFill>
                            <a:srgbClr val="1E1E1E"/>
                          </a:solidFill>
                          <a:latin typeface="Gill Sans MT"/>
                        </a:rPr>
                        <a:t>909</a:t>
                      </a:r>
                    </a:p>
                  </a:txBody>
                  <a:tcPr marL="45720" marR="45720" marT="9144" marB="9144" anchor="ctr">
                    <a:solidFill>
                      <a:srgbClr val="F4F2EB"/>
                    </a:solidFill>
                  </a:tcPr>
                </a:tc>
                <a:tc>
                  <a:txBody>
                    <a:bodyPr/>
                    <a:lstStyle/>
                    <a:p>
                      <a:pPr algn="r"/>
                      <a:r>
                        <a:rPr sz="800" b="0" i="0">
                          <a:solidFill>
                            <a:srgbClr val="1E1E1E"/>
                          </a:solidFill>
                          <a:latin typeface="Gill Sans MT"/>
                        </a:rPr>
                        <a:t>482</a:t>
                      </a:r>
                    </a:p>
                  </a:txBody>
                  <a:tcPr marL="45720" marR="45720" marT="9144" marB="9144" anchor="ctr">
                    <a:solidFill>
                      <a:srgbClr val="F4F2EB"/>
                    </a:solidFill>
                  </a:tcPr>
                </a:tc>
                <a:tc>
                  <a:txBody>
                    <a:bodyPr/>
                    <a:lstStyle/>
                    <a:p>
                      <a:pPr algn="r"/>
                      <a:r>
                        <a:rPr sz="800" b="0" i="0">
                          <a:solidFill>
                            <a:srgbClr val="1E1E1E"/>
                          </a:solidFill>
                          <a:latin typeface="Gill Sans MT"/>
                        </a:rPr>
                        <a:t>0</a:t>
                      </a:r>
                    </a:p>
                  </a:txBody>
                  <a:tcPr marL="45720" marR="45720" marT="9144" marB="9144" anchor="ctr">
                    <a:solidFill>
                      <a:srgbClr val="F4F2EB"/>
                    </a:solidFill>
                  </a:tcPr>
                </a:tc>
                <a:tc>
                  <a:txBody>
                    <a:bodyPr/>
                    <a:lstStyle/>
                    <a:p>
                      <a:pPr algn="r"/>
                      <a:r>
                        <a:rPr sz="800" b="0" i="0">
                          <a:solidFill>
                            <a:srgbClr val="1E1E1E"/>
                          </a:solidFill>
                          <a:latin typeface="Gill Sans MT"/>
                        </a:rPr>
                        <a:t>482</a:t>
                      </a:r>
                    </a:p>
                  </a:txBody>
                  <a:tcPr marL="45720" marR="45720" marT="9144" marB="9144" anchor="ctr">
                    <a:solidFill>
                      <a:srgbClr val="F4F2EB"/>
                    </a:solidFill>
                  </a:tcPr>
                </a:tc>
                <a:tc>
                  <a:txBody>
                    <a:bodyPr/>
                    <a:lstStyle/>
                    <a:p>
                      <a:pPr algn="r"/>
                      <a:r>
                        <a:rPr sz="800" b="0" i="0">
                          <a:solidFill>
                            <a:srgbClr val="1E1E1E"/>
                          </a:solidFill>
                          <a:latin typeface="Gill Sans MT"/>
                        </a:rPr>
                        <a:t>0,53x</a:t>
                      </a:r>
                    </a:p>
                  </a:txBody>
                  <a:tcPr marL="45720" marR="45720" marT="9144" marB="9144" anchor="ctr">
                    <a:solidFill>
                      <a:srgbClr val="F4F2EB"/>
                    </a:solidFill>
                  </a:tcPr>
                </a:tc>
                <a:extLst>
                  <a:ext uri="{0D108BD9-81ED-4DB2-BD59-A6C34878D82A}">
                    <a16:rowId xmlns:a16="http://schemas.microsoft.com/office/drawing/2014/main" val="10008"/>
                  </a:ext>
                </a:extLst>
              </a:tr>
              <a:tr h="169164">
                <a:tc>
                  <a:txBody>
                    <a:bodyPr/>
                    <a:lstStyle/>
                    <a:p>
                      <a:pPr algn="l"/>
                      <a:r>
                        <a:rPr sz="800" b="1" i="0">
                          <a:solidFill>
                            <a:srgbClr val="1E1E1E"/>
                          </a:solidFill>
                          <a:latin typeface="Gill Sans MT"/>
                        </a:rPr>
                        <a:t>I alt</a:t>
                      </a:r>
                    </a:p>
                  </a:txBody>
                  <a:tcPr marL="45720" marR="45720" marT="9144" marB="9144" anchor="ctr">
                    <a:solidFill>
                      <a:srgbClr val="C9CCB8"/>
                    </a:solidFill>
                  </a:tcPr>
                </a:tc>
                <a:tc>
                  <a:txBody>
                    <a:bodyPr/>
                    <a:lstStyle/>
                    <a:p>
                      <a:pPr algn="l"/>
                      <a:endParaRPr/>
                    </a:p>
                  </a:txBody>
                  <a:tcPr marL="45720" marR="45720" marT="9144" marB="9144" anchor="ctr">
                    <a:solidFill>
                      <a:srgbClr val="C9CCB8"/>
                    </a:solidFill>
                  </a:tcPr>
                </a:tc>
                <a:tc>
                  <a:txBody>
                    <a:bodyPr/>
                    <a:lstStyle/>
                    <a:p>
                      <a:pPr algn="ctr"/>
                      <a:endParaRPr/>
                    </a:p>
                  </a:txBody>
                  <a:tcPr marL="45720" marR="45720" marT="9144" marB="9144" anchor="ctr">
                    <a:solidFill>
                      <a:srgbClr val="C9CCB8"/>
                    </a:solidFill>
                  </a:tcPr>
                </a:tc>
                <a:tc>
                  <a:txBody>
                    <a:bodyPr/>
                    <a:lstStyle/>
                    <a:p>
                      <a:pPr algn="r"/>
                      <a:r>
                        <a:rPr sz="800" b="1" i="0">
                          <a:solidFill>
                            <a:srgbClr val="1E1E1E"/>
                          </a:solidFill>
                          <a:latin typeface="Gill Sans MT"/>
                        </a:rPr>
                        <a:t>12.204</a:t>
                      </a:r>
                    </a:p>
                  </a:txBody>
                  <a:tcPr marL="45720" marR="45720" marT="9144" marB="9144" anchor="ctr">
                    <a:solidFill>
                      <a:srgbClr val="C9CCB8"/>
                    </a:solidFill>
                  </a:tcPr>
                </a:tc>
                <a:tc>
                  <a:txBody>
                    <a:bodyPr/>
                    <a:lstStyle/>
                    <a:p>
                      <a:pPr algn="r"/>
                      <a:r>
                        <a:rPr sz="800" b="1" i="0">
                          <a:solidFill>
                            <a:srgbClr val="1E1E1E"/>
                          </a:solidFill>
                          <a:latin typeface="Gill Sans MT"/>
                        </a:rPr>
                        <a:t>62.260</a:t>
                      </a:r>
                    </a:p>
                  </a:txBody>
                  <a:tcPr marL="45720" marR="45720" marT="9144" marB="9144" anchor="ctr">
                    <a:solidFill>
                      <a:srgbClr val="C9CCB8"/>
                    </a:solidFill>
                  </a:tcPr>
                </a:tc>
                <a:tc>
                  <a:txBody>
                    <a:bodyPr/>
                    <a:lstStyle/>
                    <a:p>
                      <a:pPr algn="r"/>
                      <a:r>
                        <a:rPr sz="800" b="1" i="0">
                          <a:solidFill>
                            <a:srgbClr val="1E1E1E"/>
                          </a:solidFill>
                          <a:latin typeface="Gill Sans MT"/>
                        </a:rPr>
                        <a:t>0</a:t>
                      </a:r>
                    </a:p>
                  </a:txBody>
                  <a:tcPr marL="45720" marR="45720" marT="9144" marB="9144" anchor="ctr">
                    <a:solidFill>
                      <a:srgbClr val="C9CCB8"/>
                    </a:solidFill>
                  </a:tcPr>
                </a:tc>
                <a:tc>
                  <a:txBody>
                    <a:bodyPr/>
                    <a:lstStyle/>
                    <a:p>
                      <a:pPr algn="r"/>
                      <a:r>
                        <a:rPr sz="800" b="1" i="0">
                          <a:solidFill>
                            <a:srgbClr val="1E1E1E"/>
                          </a:solidFill>
                          <a:latin typeface="Gill Sans MT"/>
                        </a:rPr>
                        <a:t>62.260</a:t>
                      </a:r>
                    </a:p>
                  </a:txBody>
                  <a:tcPr marL="45720" marR="45720" marT="9144" marB="9144" anchor="ctr">
                    <a:solidFill>
                      <a:srgbClr val="C9CCB8"/>
                    </a:solidFill>
                  </a:tcPr>
                </a:tc>
                <a:tc>
                  <a:txBody>
                    <a:bodyPr/>
                    <a:lstStyle/>
                    <a:p>
                      <a:pPr algn="r"/>
                      <a:r>
                        <a:rPr sz="800" b="1" i="0">
                          <a:solidFill>
                            <a:srgbClr val="1E1E1E"/>
                          </a:solidFill>
                          <a:latin typeface="Gill Sans MT"/>
                        </a:rPr>
                        <a:t>5,10x</a:t>
                      </a:r>
                    </a:p>
                  </a:txBody>
                  <a:tcPr marL="45720" marR="45720" marT="9144" marB="9144" anchor="ctr">
                    <a:solidFill>
                      <a:srgbClr val="C9CCB8"/>
                    </a:solidFill>
                  </a:tcPr>
                </a:tc>
                <a:extLst>
                  <a:ext uri="{0D108BD9-81ED-4DB2-BD59-A6C34878D82A}">
                    <a16:rowId xmlns:a16="http://schemas.microsoft.com/office/drawing/2014/main" val="10009"/>
                  </a:ext>
                </a:extLst>
              </a:tr>
            </a:tbl>
          </a:graphicData>
        </a:graphic>
      </p:graphicFrame>
      <p:sp>
        <p:nvSpPr>
          <p:cNvPr id="23" name="TextBox 22"/>
          <p:cNvSpPr txBox="1"/>
          <p:nvPr/>
        </p:nvSpPr>
        <p:spPr>
          <a:xfrm>
            <a:off x="603504" y="5394960"/>
            <a:ext cx="9491472" cy="457200"/>
          </a:xfrm>
          <a:prstGeom prst="rect">
            <a:avLst/>
          </a:prstGeom>
          <a:noFill/>
        </p:spPr>
        <p:txBody>
          <a:bodyPr wrap="square" lIns="0" tIns="0" rIns="0" bIns="0" anchor="t">
            <a:spAutoFit/>
          </a:bodyPr>
          <a:lstStyle/>
          <a:p>
            <a:pPr algn="l"/>
            <a:r>
              <a:rPr sz="700" b="0" i="1">
                <a:solidFill>
                  <a:srgbClr val="1E1E1E"/>
                </a:solidFill>
                <a:latin typeface="Gill Sans MT"/>
              </a:rPr>
              <a:t>Kilde: GP-rapporter og egne beregninger. Fondens beholdninger pr. 30.06.2026 ganget med ejerandelen. Kostpris er tilsagn × indbetalt andel, hvor GP ikke oplyser den; TVPI og IRR pr. fond er GP'ens. Indbetalt kapital er GP'ens opgørelse (22.735 tDKK); de registrerede kapitalkald summerer til 19.619 tDKK. IRR og historik medregner kapitalkald med skønnet dato, hvor meddelelsen ikke er modtaget: Draw down 14 (mellem 10.04.2024 og 19.09.2024); Draw down 16 (mellem 19.09.2024 og 31.12.2024). Fondsbeskrivelse, geografi og segment er et udkast og ikke gennemgået.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Test til ny master">
  <a:themeElements>
    <a:clrScheme name="PPIM">
      <a:dk1>
        <a:sysClr val="windowText" lastClr="000000"/>
      </a:dk1>
      <a:lt1>
        <a:sysClr val="window" lastClr="FFFFFF"/>
      </a:lt1>
      <a:dk2>
        <a:srgbClr val="775F55"/>
      </a:dk2>
      <a:lt2>
        <a:srgbClr val="EBDDC3"/>
      </a:lt2>
      <a:accent1>
        <a:srgbClr val="5C5F4A"/>
      </a:accent1>
      <a:accent2>
        <a:srgbClr val="0B3041"/>
      </a:accent2>
      <a:accent3>
        <a:srgbClr val="775F55"/>
      </a:accent3>
      <a:accent4>
        <a:srgbClr val="96A2B8"/>
      </a:accent4>
      <a:accent5>
        <a:srgbClr val="B49C8E"/>
      </a:accent5>
      <a:accent6>
        <a:srgbClr val="5B677D"/>
      </a:accent6>
      <a:hlink>
        <a:srgbClr val="F7B615"/>
      </a:hlink>
      <a:folHlink>
        <a:srgbClr val="C28C06"/>
      </a:folHlink>
    </a:clrScheme>
    <a:fontScheme name="Master">
      <a:majorFont>
        <a:latin typeface="Baskerville Old Face"/>
        <a:ea typeface=""/>
        <a:cs typeface=""/>
      </a:majorFont>
      <a:minorFont>
        <a:latin typeface="Gill Sans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defRPr sz="1200" dirty="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6B882AE8C20DC458EC1E712FA8CC499" ma:contentTypeVersion="7" ma:contentTypeDescription="Create a new document." ma:contentTypeScope="" ma:versionID="fcf7af21ab63afd0fdd75f5683e73e03">
  <xsd:schema xmlns:xsd="http://www.w3.org/2001/XMLSchema" xmlns:xs="http://www.w3.org/2001/XMLSchema" xmlns:p="http://schemas.microsoft.com/office/2006/metadata/properties" xmlns:ns3="99538d2a-3963-4e9f-b479-21185d147228" xmlns:ns4="c587d449-4521-4418-bafa-ba0f9c315dd1" targetNamespace="http://schemas.microsoft.com/office/2006/metadata/properties" ma:root="true" ma:fieldsID="033bd692e80f495089b990a126eb7676" ns3:_="" ns4:_="">
    <xsd:import namespace="99538d2a-3963-4e9f-b479-21185d147228"/>
    <xsd:import namespace="c587d449-4521-4418-bafa-ba0f9c315dd1"/>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EventHashCode" minOccurs="0"/>
                <xsd:element ref="ns3:MediaServiceGeneration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538d2a-3963-4e9f-b479-21185d147228"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587d449-4521-4418-bafa-ba0f9c315dd1" elementFormDefault="qualified">
    <xsd:import namespace="http://schemas.microsoft.com/office/2006/documentManagement/types"/>
    <xsd:import namespace="http://schemas.microsoft.com/office/infopath/2007/PartnerControls"/>
    <xsd:element name="SharedWithUsers" ma:index="10"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description="" ma:internalName="SharedWithDetails" ma:readOnly="true">
      <xsd:simpleType>
        <xsd:restriction base="dms:Note">
          <xsd:maxLength value="255"/>
        </xsd:restriction>
      </xsd:simpleType>
    </xsd:element>
    <xsd:element name="SharingHintHash" ma:index="12" nillable="true" ma:displayName="Sharing Hint Hash" ma:descriptio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04AFCB5-9461-4AA4-B6C1-B1BC25709EE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9538d2a-3963-4e9f-b479-21185d147228"/>
    <ds:schemaRef ds:uri="c587d449-4521-4418-bafa-ba0f9c315d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ABE100E-FF14-41F8-A3FA-C01805B249E3}">
  <ds:schemaRefs>
    <ds:schemaRef ds:uri="http://schemas.microsoft.com/sharepoint/v3/contenttype/forms"/>
  </ds:schemaRefs>
</ds:datastoreItem>
</file>

<file path=customXml/itemProps3.xml><?xml version="1.0" encoding="utf-8"?>
<ds:datastoreItem xmlns:ds="http://schemas.openxmlformats.org/officeDocument/2006/customXml" ds:itemID="{C5F4892E-A357-4F16-A2A4-9AE0B843270F}">
  <ds:schemaRefs>
    <ds:schemaRef ds:uri="http://www.w3.org/XML/1998/namespace"/>
    <ds:schemaRef ds:uri="http://schemas.microsoft.com/office/2006/documentManagement/types"/>
    <ds:schemaRef ds:uri="99538d2a-3963-4e9f-b479-21185d147228"/>
    <ds:schemaRef ds:uri="http://schemas.microsoft.com/office/2006/metadata/properties"/>
    <ds:schemaRef ds:uri="http://purl.org/dc/dcmitype/"/>
    <ds:schemaRef ds:uri="http://purl.org/dc/elements/1.1/"/>
    <ds:schemaRef ds:uri="c587d449-4521-4418-bafa-ba0f9c315dd1"/>
    <ds:schemaRef ds:uri="http://schemas.microsoft.com/office/infopath/2007/PartnerControls"/>
    <ds:schemaRef ds:uri="http://schemas.openxmlformats.org/package/2006/metadata/core-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45992</TotalTime>
  <Words>1920</Words>
  <Application>Microsoft Office PowerPoint</Application>
  <PresentationFormat>Brugerdefineret</PresentationFormat>
  <Paragraphs>768</Paragraphs>
  <Slides>12</Slides>
  <Notes>0</Notes>
  <HiddenSlides>0</HiddenSlides>
  <MMClips>0</MMClips>
  <ScaleCrop>false</ScaleCrop>
  <HeadingPairs>
    <vt:vector size="6" baseType="variant">
      <vt:variant>
        <vt:lpstr>Benyttede skrifttyper</vt:lpstr>
      </vt:variant>
      <vt:variant>
        <vt:i4>5</vt:i4>
      </vt:variant>
      <vt:variant>
        <vt:lpstr>Tema</vt:lpstr>
      </vt:variant>
      <vt:variant>
        <vt:i4>1</vt:i4>
      </vt:variant>
      <vt:variant>
        <vt:lpstr>Slidetitler</vt:lpstr>
      </vt:variant>
      <vt:variant>
        <vt:i4>12</vt:i4>
      </vt:variant>
    </vt:vector>
  </HeadingPairs>
  <TitlesOfParts>
    <vt:vector size="18" baseType="lpstr">
      <vt:lpstr>Aptos</vt:lpstr>
      <vt:lpstr>Arial</vt:lpstr>
      <vt:lpstr>Baskerville Old Face</vt:lpstr>
      <vt:lpstr>Calibri</vt:lpstr>
      <vt:lpstr>Gill Sans MT</vt:lpstr>
      <vt:lpstr>Test til ny master</vt:lpstr>
      <vt:lpstr>A/S Motortramp – private equity</vt:lpstr>
      <vt:lpstr>Porteføljeoversigt</vt:lpstr>
      <vt:lpstr>Porteføljeoversigt</vt:lpstr>
      <vt:lpstr>Geografisk fordeling efter indbetalt kapital</vt:lpstr>
      <vt:lpstr>Segmentfordeling efter indbetalt kapital</vt:lpstr>
      <vt:lpstr>Fondsoversigter</vt:lpstr>
      <vt:lpstr>CataCap III K/S</vt:lpstr>
      <vt:lpstr>K Alternativ Private Equity 2020 K/S</vt:lpstr>
      <vt:lpstr>K Alternativ Private Equity 2021 K/S</vt:lpstr>
      <vt:lpstr>K Alternativ Private Equity 2022 K/S</vt:lpstr>
      <vt:lpstr>Seed Capital Denmark IV K/S</vt:lpstr>
      <vt:lpstr>PowerPoint-præsentation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PowerPoint-præsentation</dc:title>
  <dc:creator>Mark Iversen</dc:creator>
  <cp:lastModifiedBy>Rasmus Klitte Andersen</cp:lastModifiedBy>
  <cp:revision>1074</cp:revision>
  <cp:lastPrinted>2024-10-29T13:53:47Z</cp:lastPrinted>
  <dcterms:created xsi:type="dcterms:W3CDTF">2018-07-20T08:43:38Z</dcterms:created>
  <dcterms:modified xsi:type="dcterms:W3CDTF">2026-10-13T12:38:10Z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0x010100A6B882AE8C20DC458EC1E712FA8CC499</vt:lpwstr>
  </property>
</Properties>
</file>
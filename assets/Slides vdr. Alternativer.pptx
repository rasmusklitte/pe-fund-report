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notesSlides/notesSlide6.xml" ContentType="application/vnd.openxmlformats-officedocument.presentationml.notesSlide+xml"/>
  <Override PartName="/ppt/charts/chart57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sldIdLst>
    <p:sldId id="288" r:id="rId5"/>
    <p:sldId id="297" r:id="rId6"/>
    <p:sldId id="331" r:id="rId7"/>
    <p:sldId id="335" r:id="rId8"/>
    <p:sldId id="334" r:id="rId9"/>
    <p:sldId id="336" r:id="rId10"/>
  </p:sldIdLst>
  <p:sldSz cx="12192000" cy="6858000"/>
  <p:notesSz cx="6888163" cy="10018713"/>
  <p:custDataLst>
    <p:tags r:id="rId12"/>
  </p:custDataLst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6" orient="horz" pos="2273" userDrawn="1">
          <p15:clr>
            <a:srgbClr val="A4A3A4"/>
          </p15:clr>
        </p15:guide>
        <p15:guide id="17" orient="horz" pos="187" userDrawn="1">
          <p15:clr>
            <a:srgbClr val="A4A3A4"/>
          </p15:clr>
        </p15:guide>
        <p15:guide id="18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B6AB04-B0B3-556E-C2F4-A6F282066308}" name="August Lindhardt" initials="AL" userId="S::al@motortramp.dk::9317f79f-d4b7-477a-91e0-2ab3a60fcc30" providerId="AD"/>
  <p188:author id="{19617420-9361-A71C-E407-DBD5397B07FE}" name="Johanne C F Riegels" initials="JC" userId="S::jro@motortramp.dk::9d87fa2e-0d32-44fb-a99d-0c657961bcfd" providerId="AD"/>
  <p188:author id="{98D91094-BAA4-C9E9-589C-A1E5B8E34283}" name="Per Høholt" initials="PH" userId="S::ph@motortramp.dk::60614b07-b91b-41c1-8e67-1b10b844951e" providerId="AD"/>
  <p188:author id="{0BC1D4F8-1454-181B-9D31-975FC782A7BD}" name="Albert C. Wanstrup" initials="AW" userId="S::acw@motortramp.dk::a57b6778-fcbe-485b-9f05-d40f4675656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EDE3D9"/>
    <a:srgbClr val="C9AA8C"/>
    <a:srgbClr val="F2F2F2"/>
    <a:srgbClr val="600D10"/>
    <a:srgbClr val="5F0B0E"/>
    <a:srgbClr val="DADADA"/>
    <a:srgbClr val="7A7A7A"/>
    <a:srgbClr val="3D3D3D"/>
    <a:srgbClr val="9A72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273"/>
        <p:guide orient="horz" pos="1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1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2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3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4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5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6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7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8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9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0.xlsb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1.xlsb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2.xlsb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3.xlsb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4.xlsb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5.xlsb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6.xlsb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7.xlsb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8.xlsb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9.xlsb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0.xlsb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1.xlsb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2.xlsb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3.xlsb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4.xlsb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5.xlsb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6.xlsb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7.xlsb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8.xlsb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9.xlsb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0.xlsb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1.xlsb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2.xlsb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3.xlsb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4.xlsb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5.xlsb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6.xlsb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7.xlsb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8.xlsb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9.xlsb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0.xlsb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1.xlsb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2.xlsb"/></Relationships>
</file>

<file path=ppt/charts/_rels/chart5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3.xlsb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4.xlsb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5.xlsb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6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9.8113207547169817E-2"/>
          <c:w val="0.84523809523809523"/>
          <c:h val="0.803773584905660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40-422F-A3CA-73680BC73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56365087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F940-422F-A3CA-73680BC73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3563650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356365087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33333333333334"/>
          <c:w val="0.94970986460348161"/>
          <c:h val="0.653333333333333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7B4-4835-BAFC-BA4EC45962C1}"/>
              </c:ext>
            </c:extLst>
          </c:dPt>
          <c:dLbls>
            <c:dLbl>
              <c:idx val="0"/>
              <c:layout>
                <c:manualLayout>
                  <c:x val="0"/>
                  <c:y val="-0.1847619047619047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7B4-4835-BAFC-BA4EC45962C1}"/>
                </c:ext>
              </c:extLst>
            </c:dLbl>
            <c:dLbl>
              <c:idx val="2"/>
              <c:layout>
                <c:manualLayout>
                  <c:x val="0"/>
                  <c:y val="-9.714285714285714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7B4-4835-BAFC-BA4EC45962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25</c:v>
                </c:pt>
                <c:pt idx="1">
                  <c:v>3.5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7B4-4835-BAFC-BA4EC45962C1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3.8095238095238095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7B4-4835-BAFC-BA4EC45962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21.5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B4-4835-BAFC-BA4EC45962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6866367"/>
        <c:axId val="1"/>
      </c:barChart>
      <c:catAx>
        <c:axId val="1068663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686636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66412213740459"/>
          <c:w val="0.94970986460348161"/>
          <c:h val="0.65267175572519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25A-4A50-A1AD-8ACF6F62961C}"/>
              </c:ext>
            </c:extLst>
          </c:dPt>
          <c:dLbls>
            <c:dLbl>
              <c:idx val="0"/>
              <c:layout>
                <c:manualLayout>
                  <c:x val="0"/>
                  <c:y val="-0.1870229007633587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25A-4A50-A1AD-8ACF6F62961C}"/>
                </c:ext>
              </c:extLst>
            </c:dLbl>
            <c:dLbl>
              <c:idx val="2"/>
              <c:layout>
                <c:manualLayout>
                  <c:x val="0"/>
                  <c:y val="-9.3511450381679392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25A-4A50-A1AD-8ACF6F6296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25</c:v>
                </c:pt>
                <c:pt idx="1">
                  <c:v>2.6000000000000014</c:v>
                </c:pt>
                <c:pt idx="2">
                  <c:v>2.6000000000000014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5A-4A50-A1AD-8ACF6F62961C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3.8167938931297708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25A-4A50-A1AD-8ACF6F6296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25A-4A50-A1AD-8ACF6F6296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6883167"/>
        <c:axId val="1"/>
      </c:barChart>
      <c:catAx>
        <c:axId val="106883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688316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33333333333334"/>
          <c:w val="0.94970986460348161"/>
          <c:h val="0.653333333333333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6AB-4B5D-9CD9-B1DE2AD7C816}"/>
              </c:ext>
            </c:extLst>
          </c:dPt>
          <c:dLbls>
            <c:dLbl>
              <c:idx val="0"/>
              <c:layout>
                <c:manualLayout>
                  <c:x val="0"/>
                  <c:y val="-0.1409523809523809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6AB-4B5D-9CD9-B1DE2AD7C816}"/>
                </c:ext>
              </c:extLst>
            </c:dLbl>
            <c:dLbl>
              <c:idx val="2"/>
              <c:layout>
                <c:manualLayout>
                  <c:x val="0"/>
                  <c:y val="-0.1123809523809523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6AB-4B5D-9CD9-B1DE2AD7C81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14</c:v>
                </c:pt>
                <c:pt idx="1">
                  <c:v>7.1</c:v>
                </c:pt>
                <c:pt idx="2">
                  <c:v>7.1000000000000014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AB-4B5D-9CD9-B1DE2AD7C816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AB-4B5D-9CD9-B1DE2AD7C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53928047"/>
        <c:axId val="1"/>
      </c:barChart>
      <c:catAx>
        <c:axId val="17539280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5392804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66412213740459"/>
          <c:w val="0.94970986460348161"/>
          <c:h val="0.65267175572519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630-43D0-9C21-ABC0A4334E59}"/>
              </c:ext>
            </c:extLst>
          </c:dPt>
          <c:dLbls>
            <c:dLbl>
              <c:idx val="0"/>
              <c:layout>
                <c:manualLayout>
                  <c:x val="0"/>
                  <c:y val="-0.2366412213740458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630-43D0-9C21-ABC0A4334E59}"/>
                </c:ext>
              </c:extLst>
            </c:dLbl>
            <c:dLbl>
              <c:idx val="2"/>
              <c:layout>
                <c:manualLayout>
                  <c:x val="0"/>
                  <c:y val="-0.1583969465648854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630-43D0-9C21-ABC0A4334E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37.5</c:v>
                </c:pt>
                <c:pt idx="1">
                  <c:v>18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630-43D0-9C21-ABC0A4334E5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3.8167938931297708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B630-43D0-9C21-ABC0A4334E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19.5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630-43D0-9C21-ABC0A4334E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1306367"/>
        <c:axId val="1"/>
      </c:barChart>
      <c:catAx>
        <c:axId val="17113063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1130636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9029850746268656"/>
          <c:w val="0.94970986460348161"/>
          <c:h val="0.639925373134328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830-4E17-8876-41375E55C1D9}"/>
              </c:ext>
            </c:extLst>
          </c:dPt>
          <c:dLbls>
            <c:dLbl>
              <c:idx val="0"/>
              <c:layout>
                <c:manualLayout>
                  <c:x val="0"/>
                  <c:y val="-0.371268656716417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830-4E17-8876-41375E55C1D9}"/>
                </c:ext>
              </c:extLst>
            </c:dLbl>
            <c:dLbl>
              <c:idx val="2"/>
              <c:layout>
                <c:manualLayout>
                  <c:x val="0"/>
                  <c:y val="-0.23880597014925373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830-4E17-8876-41375E55C1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72.2</c:v>
                </c:pt>
                <c:pt idx="1">
                  <c:v>39.494723333300001</c:v>
                </c:pt>
                <c:pt idx="2">
                  <c:v>39.494723333300001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830-4E17-8876-41375E55C1D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5.597014925373134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830-4E17-8876-41375E55C1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32.705276666700001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830-4E17-8876-41375E55C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1494751"/>
        <c:axId val="1"/>
      </c:barChart>
      <c:catAx>
        <c:axId val="17114947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11494751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33333333333334"/>
          <c:w val="0.94970986460348161"/>
          <c:h val="0.653333333333333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E9D-4337-BC8D-54E3885CC8C5}"/>
              </c:ext>
            </c:extLst>
          </c:dPt>
          <c:dLbls>
            <c:dLbl>
              <c:idx val="0"/>
              <c:layout>
                <c:manualLayout>
                  <c:x val="0"/>
                  <c:y val="-0.2076190476190476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E9D-4337-BC8D-54E3885CC8C5}"/>
                </c:ext>
              </c:extLst>
            </c:dLbl>
            <c:dLbl>
              <c:idx val="2"/>
              <c:layout>
                <c:manualLayout>
                  <c:x val="0"/>
                  <c:y val="-0.11047619047619048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E9D-4337-BC8D-54E3885CC8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30</c:v>
                </c:pt>
                <c:pt idx="1">
                  <c:v>6.5</c:v>
                </c:pt>
                <c:pt idx="2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9D-4337-BC8D-54E3885CC8C5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5.7142857142857143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E9D-4337-BC8D-54E3885CC8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23.5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9D-4337-BC8D-54E3885CC8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69401023"/>
        <c:axId val="1"/>
      </c:barChart>
      <c:catAx>
        <c:axId val="7694010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769401023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CE-4EB5-B70B-6E02E9424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56607295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15CE-4EB5-B70B-6E02E9424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3566072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356607295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logBase val="10"/>
          <c:orientation val="minMax"/>
          <c:max val="10"/>
          <c:min val="0.1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9.8113207547169817E-2"/>
          <c:w val="0.84523809523809523"/>
          <c:h val="0.803773584905660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41-4C6B-8EB3-5D073EDB6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26708735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8E41-4C6B-8EB3-5D073EDB6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02670873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26708735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7.6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A1-4D2A-AFBF-D55FF26FB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26782047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FEA1-4D2A-AFBF-D55FF26FB6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0267820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26782047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9.8113207547169817E-2"/>
          <c:w val="0.84523809523809523"/>
          <c:h val="0.803773584905660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1.1200000000000001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9B-490E-BCDB-42CB82BD2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625888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FE9B-490E-BCDB-42CB82BD29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862588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8625888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6.8000000000000007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00-404E-B1BE-CBC0595F8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55000623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5600-404E-B1BE-CBC0595F8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8550006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855000623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9.8113207547169817E-2"/>
          <c:w val="0.84523809523809523"/>
          <c:h val="0.803773584905660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04-457E-8EB1-A78C33A7B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54979279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F404-457E-8EB1-A78C33A7BA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8549792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854979279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9.8113207547169817E-2"/>
          <c:w val="0.84523809523809523"/>
          <c:h val="0.803773584905660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8C-4F6C-A3BD-EFF4CBB974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54975567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B98C-4F6C-A3BD-EFF4CBB974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8549755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854975567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8.6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5C-4B30-A6BB-136244859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53909487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215C-4B30-A6BB-1362448598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7539094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53909487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427184466019418"/>
          <c:y val="0.14967105263157895"/>
          <c:w val="0.55145631067961165"/>
          <c:h val="0.700657894736842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2894736842105261E-3"/>
                </c:manualLayout>
              </c:layout>
              <c:numFmt formatCode="0.00&quot;x&quot;;&quot;-&quot;0.00&quot;x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5F5-430F-B76F-63EBFF32F09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F5-430F-B76F-63EBFF32F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35099503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2-E5F5-430F-B76F-63EBFF32F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213509950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135099503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36.1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29-43A5-ACEF-F94EF9297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64375375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DD29-43A5-ACEF-F94EF9297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4643753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464375375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13.900000000000002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A4-4409-BF93-5D91D7223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26647487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6AA4-4409-BF93-5D91D7223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0266474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26647487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20550458715596331"/>
          <c:w val="0.94970986460348161"/>
          <c:h val="0.627522935779816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5F0-484E-960A-0683DACB145A}"/>
              </c:ext>
            </c:extLst>
          </c:dPt>
          <c:dLbls>
            <c:dLbl>
              <c:idx val="0"/>
              <c:layout>
                <c:manualLayout>
                  <c:x val="0"/>
                  <c:y val="-0.37247706422018351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5F0-484E-960A-0683DACB145A}"/>
                </c:ext>
              </c:extLst>
            </c:dLbl>
            <c:dLbl>
              <c:idx val="2"/>
              <c:layout>
                <c:manualLayout>
                  <c:x val="0"/>
                  <c:y val="-0.27889908256880735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5F0-484E-960A-0683DACB14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74.73</c:v>
                </c:pt>
                <c:pt idx="1">
                  <c:v>50.830000000000005</c:v>
                </c:pt>
                <c:pt idx="2">
                  <c:v>50.830000000000013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F0-484E-960A-0683DACB145A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3.669724770642202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5F0-484E-960A-0683DACB145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23.9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5F0-484E-960A-0683DACB14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6950847"/>
        <c:axId val="1"/>
      </c:barChart>
      <c:catAx>
        <c:axId val="1069508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695084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33333333333334"/>
          <c:w val="0.94970986460348161"/>
          <c:h val="0.653333333333333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325-4814-A798-11570D211C91}"/>
              </c:ext>
            </c:extLst>
          </c:dPt>
          <c:dLbls>
            <c:dLbl>
              <c:idx val="0"/>
              <c:layout>
                <c:manualLayout>
                  <c:x val="0"/>
                  <c:y val="-0.245714285714285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325-4814-A798-11570D211C91}"/>
                </c:ext>
              </c:extLst>
            </c:dLbl>
            <c:dLbl>
              <c:idx val="2"/>
              <c:layout>
                <c:manualLayout>
                  <c:x val="0"/>
                  <c:y val="-0.1257142857142857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325-4814-A798-11570D211C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40</c:v>
                </c:pt>
                <c:pt idx="1">
                  <c:v>10.5</c:v>
                </c:pt>
                <c:pt idx="2">
                  <c:v>10.5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25-4814-A798-11570D211C91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3.8095238095238095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325-4814-A798-11570D211C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29.5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325-4814-A798-11570D211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64357743"/>
        <c:axId val="1"/>
      </c:barChart>
      <c:catAx>
        <c:axId val="14643577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464357743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66412213740459"/>
          <c:w val="0.94970986460348161"/>
          <c:h val="0.652671755725190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853-4728-AE8A-1F5C85CB47F3}"/>
              </c:ext>
            </c:extLst>
          </c:dPt>
          <c:dLbls>
            <c:dLbl>
              <c:idx val="0"/>
              <c:layout>
                <c:manualLayout>
                  <c:x val="0"/>
                  <c:y val="-0.26717557251908397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853-4728-AE8A-1F5C85CB47F3}"/>
                </c:ext>
              </c:extLst>
            </c:dLbl>
            <c:dLbl>
              <c:idx val="2"/>
              <c:layout>
                <c:manualLayout>
                  <c:x val="0"/>
                  <c:y val="-8.7786259541984726E-2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853-4728-AE8A-1F5C85CB47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45.177797310000003</c:v>
                </c:pt>
                <c:pt idx="1">
                  <c:v>0.67779731000000254</c:v>
                </c:pt>
                <c:pt idx="2">
                  <c:v>0.67779731000000254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53-4728-AE8A-1F5C85CB47F3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3.8167938931297708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853-4728-AE8A-1F5C85CB47F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1">
                  <c:v>44.5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53-4728-AE8A-1F5C85CB47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16929455"/>
        <c:axId val="1"/>
      </c:barChart>
      <c:catAx>
        <c:axId val="91692945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916929455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145067698259187E-2"/>
          <c:y val="0.17333333333333334"/>
          <c:w val="0.94970986460348161"/>
          <c:h val="0.6533333333333333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5047619047619049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AC9-4CB5-B28D-DC79C6519D44}"/>
                </c:ext>
              </c:extLst>
            </c:dLbl>
            <c:dLbl>
              <c:idx val="1"/>
              <c:layout>
                <c:manualLayout>
                  <c:x val="0"/>
                  <c:y val="-5.7142857142857143E-3"/>
                </c:manualLayout>
              </c:layout>
              <c:numFmt formatCode="#,##0.0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AC9-4CB5-B28D-DC79C6519D4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16</c:v>
                </c:pt>
                <c:pt idx="1">
                  <c:v>16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C9-4CB5-B28D-DC79C6519D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54869647"/>
        <c:axId val="1"/>
      </c:barChart>
      <c:catAx>
        <c:axId val="16548696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654869647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0.10276679841897234"/>
          <c:w val="0.84523809523809523"/>
          <c:h val="0.79446640316205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1.0793404099999999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52-4E80-99BD-2E52862510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38073823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9552-4E80-99BD-2E52862510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380738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38073823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9.8113207547169817E-2"/>
          <c:w val="0.84523809523809523"/>
          <c:h val="0.803773584905660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1.2411670299999999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11-4B14-B112-0BDA37432D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1508671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7211-4B14-B112-0BDA37432D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7115086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11508671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9.4311179999999997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EA-4562-9244-0AA4BF56E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1425151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F7EA-4562-9244-0AA4BF56E9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7114251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11425151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427184466019418"/>
          <c:y val="0.14967105263157895"/>
          <c:w val="0.55145631067961165"/>
          <c:h val="0.700657894736842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2894736842105261E-3"/>
                </c:manualLayout>
              </c:layout>
              <c:numFmt formatCode="0.00&quot;x&quot;;&quot;-&quot;0.00&quot;x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  <a:sym typeface="Arial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8E7-4895-A586-B4EEA411B5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E7-4895-A586-B4EEA411B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026590879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2-B8E7-4895-A586-B4EEA411B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02659087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026590879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4.1217539999999993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43-4E28-904E-D54267DB8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55011295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5143-4E28-904E-D54267DB83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85501129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855011295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380952380952384E-2"/>
          <c:y val="0.1111111111111111"/>
          <c:w val="0.84523809523809523"/>
          <c:h val="0.7777777777777777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ADADA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1.1397139599999999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A7-4090-85F0-99E580558C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1528623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F8A7-4090-85F0-99E580558C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7115286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11528623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038610038610038"/>
          <c:w val="0.85926928281461434"/>
          <c:h val="0.7992277992277991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6.3391459999999995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12-4FB9-AA44-85175463E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75228239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5912-4FB9-AA44-85175463EC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6752282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675228239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0365358592692828E-2"/>
          <c:y val="0.10358565737051793"/>
          <c:w val="0.85926928281461434"/>
          <c:h val="0.7928286852589641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3.5873269999999997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E-4616-B489-341052FE3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53869119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1F1E-4616-B489-341052FE33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753869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53869119"/>
        <c:crosses val="min"/>
        <c:crossBetween val="between"/>
        <c:majorUnit val="10"/>
      </c:valAx>
      <c:catAx>
        <c:axId val="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6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896792189679218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275-4912-ACDE-0640DB4ECF01}"/>
              </c:ext>
            </c:extLst>
          </c:dPt>
          <c:dPt>
            <c:idx val="1"/>
            <c:bubble3D val="0"/>
            <c:spPr>
              <a:solidFill>
                <a:srgbClr val="F197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275-4912-ACDE-0640DB4ECF01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275-4912-ACDE-0640DB4ECF01}"/>
              </c:ext>
            </c:extLst>
          </c:dPt>
          <c:dPt>
            <c:idx val="3"/>
            <c:bubble3D val="0"/>
            <c:spPr>
              <a:solidFill>
                <a:srgbClr val="C9AA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3275-4912-ACDE-0640DB4ECF01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3275-4912-ACDE-0640DB4ECF01}"/>
              </c:ext>
            </c:extLst>
          </c:dPt>
          <c:dPt>
            <c:idx val="5"/>
            <c:bubble3D val="0"/>
            <c:spPr>
              <a:solidFill>
                <a:srgbClr val="3D3D3D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3275-4912-ACDE-0640DB4ECF01}"/>
              </c:ext>
            </c:extLst>
          </c:dPt>
          <c:dPt>
            <c:idx val="6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3275-4912-ACDE-0640DB4ECF01}"/>
              </c:ext>
            </c:extLst>
          </c:dPt>
          <c:dLbls>
            <c:dLbl>
              <c:idx val="0"/>
              <c:layout>
                <c:manualLayout>
                  <c:x val="-2.0920502092050207E-3"/>
                  <c:y val="-2.6223776223776225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275-4912-ACDE-0640DB4ECF01}"/>
                </c:ext>
              </c:extLst>
            </c:dLbl>
            <c:dLbl>
              <c:idx val="1"/>
              <c:layout>
                <c:manualLayout>
                  <c:x val="4.1841004184100415E-3"/>
                  <c:y val="-7.8671328671328679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3275-4912-ACDE-0640DB4ECF01}"/>
                </c:ext>
              </c:extLst>
            </c:dLbl>
            <c:dLbl>
              <c:idx val="2"/>
              <c:layout>
                <c:manualLayout>
                  <c:x val="0"/>
                  <c:y val="-1.7482517482517483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275-4912-ACDE-0640DB4ECF01}"/>
                </c:ext>
              </c:extLst>
            </c:dLbl>
            <c:dLbl>
              <c:idx val="4"/>
              <c:layout>
                <c:manualLayout>
                  <c:x val="4.1841004184100415E-3"/>
                  <c:y val="2.7097902097902096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3275-4912-ACDE-0640DB4ECF01}"/>
                </c:ext>
              </c:extLst>
            </c:dLbl>
            <c:dLbl>
              <c:idx val="6"/>
              <c:layout>
                <c:manualLayout>
                  <c:x val="1.1157601115760111E-2"/>
                  <c:y val="-1.486013986013986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3275-4912-ACDE-0640DB4ECF0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Sheet1!$A$1:$A$7</c:f>
              <c:numCache>
                <c:formatCode>General</c:formatCode>
                <c:ptCount val="7"/>
                <c:pt idx="0">
                  <c:v>30</c:v>
                </c:pt>
                <c:pt idx="1">
                  <c:v>21</c:v>
                </c:pt>
                <c:pt idx="2">
                  <c:v>14.000000000000002</c:v>
                </c:pt>
                <c:pt idx="3">
                  <c:v>7.0000000000000009</c:v>
                </c:pt>
                <c:pt idx="4">
                  <c:v>10</c:v>
                </c:pt>
                <c:pt idx="5">
                  <c:v>4</c:v>
                </c:pt>
                <c:pt idx="6">
                  <c:v>14.000000000000002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275-4912-ACDE-0640DB4EC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52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779342723004695E-2"/>
          <c:y val="0.14054054054054055"/>
          <c:w val="0.96244131455399062"/>
          <c:h val="0.718918918918918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Sheet1!$A$1:$K$1</c:f>
              <c:numCache>
                <c:formatCode>General</c:formatCode>
                <c:ptCount val="11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0E-4043-9F5D-33F2B59C4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17417823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860E-4043-9F5D-33F2B59C4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211741782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117417823"/>
        <c:crosses val="min"/>
        <c:crossBetween val="between"/>
        <c:majorUnit val="5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"/>
          <c:min val="-6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896792189679218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BF21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054-4095-9BBE-D32D259BA3DE}"/>
              </c:ext>
            </c:extLst>
          </c:dPt>
          <c:dPt>
            <c:idx val="1"/>
            <c:bubble3D val="0"/>
            <c:spPr>
              <a:solidFill>
                <a:srgbClr val="DECC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054-4095-9BBE-D32D259BA3DE}"/>
              </c:ext>
            </c:extLst>
          </c:dPt>
          <c:dLbls>
            <c:dLbl>
              <c:idx val="0"/>
              <c:layout>
                <c:manualLayout>
                  <c:x val="-1.3947001394700139E-3"/>
                  <c:y val="-1.7482517482517483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054-4095-9BBE-D32D259BA3DE}"/>
                </c:ext>
              </c:extLst>
            </c:dLbl>
            <c:dLbl>
              <c:idx val="1"/>
              <c:layout>
                <c:manualLayout>
                  <c:x val="1.3947001394700139E-3"/>
                  <c:y val="-8.7412587412587413E-4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054-4095-9BBE-D32D259BA3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68</c:v>
                </c:pt>
                <c:pt idx="1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54-4095-9BBE-D32D259BA3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15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245467224546722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B5A-4DC6-AA5A-D977E855DF09}"/>
              </c:ext>
            </c:extLst>
          </c:dPt>
          <c:dPt>
            <c:idx val="1"/>
            <c:bubble3D val="0"/>
            <c:spPr>
              <a:solidFill>
                <a:srgbClr val="F197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B5A-4DC6-AA5A-D977E855DF09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AB5A-4DC6-AA5A-D977E855DF09}"/>
              </c:ext>
            </c:extLst>
          </c:dPt>
          <c:dPt>
            <c:idx val="3"/>
            <c:bubble3D val="0"/>
            <c:spPr>
              <a:solidFill>
                <a:srgbClr val="C9AA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B5A-4DC6-AA5A-D977E855DF09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AB5A-4DC6-AA5A-D977E855DF09}"/>
              </c:ext>
            </c:extLst>
          </c:dPt>
          <c:dPt>
            <c:idx val="5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B5A-4DC6-AA5A-D977E855DF09}"/>
              </c:ext>
            </c:extLst>
          </c:dPt>
          <c:dLbls>
            <c:dLbl>
              <c:idx val="0"/>
              <c:layout>
                <c:manualLayout>
                  <c:x val="-1.3947001394700139E-3"/>
                  <c:y val="-3.4965034965034965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B5A-4DC6-AA5A-D977E855DF09}"/>
                </c:ext>
              </c:extLst>
            </c:dLbl>
            <c:dLbl>
              <c:idx val="1"/>
              <c:layout>
                <c:manualLayout>
                  <c:x val="6.2761506276150627E-3"/>
                  <c:y val="-1.1363636363636364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B5A-4DC6-AA5A-D977E855DF09}"/>
                </c:ext>
              </c:extLst>
            </c:dLbl>
            <c:dLbl>
              <c:idx val="2"/>
              <c:layout>
                <c:manualLayout>
                  <c:x val="2.0920502092050207E-3"/>
                  <c:y val="0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AB5A-4DC6-AA5A-D977E855DF09}"/>
                </c:ext>
              </c:extLst>
            </c:dLbl>
            <c:dLbl>
              <c:idx val="3"/>
              <c:layout>
                <c:manualLayout>
                  <c:x val="8.368200836820083E-3"/>
                  <c:y val="6.118881118881119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B5A-4DC6-AA5A-D977E855DF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Sheet1!$A$1:$A$6</c:f>
              <c:numCache>
                <c:formatCode>General</c:formatCode>
                <c:ptCount val="6"/>
                <c:pt idx="0">
                  <c:v>56.000000000000007</c:v>
                </c:pt>
                <c:pt idx="1">
                  <c:v>18</c:v>
                </c:pt>
                <c:pt idx="2">
                  <c:v>11</c:v>
                </c:pt>
                <c:pt idx="3">
                  <c:v>7.0000000000000009</c:v>
                </c:pt>
                <c:pt idx="4">
                  <c:v>4</c:v>
                </c:pt>
                <c:pt idx="5">
                  <c:v>4.0000000000000036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5A-4DC6-AA5A-D977E855D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8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585687382297552E-2"/>
          <c:y val="0.14054054054054055"/>
          <c:w val="0.96082862523540491"/>
          <c:h val="0.718918918918918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Sheet1!$A$1:$J$1</c:f>
              <c:numCache>
                <c:formatCode>General</c:formatCode>
                <c:ptCount val="10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47-4DE1-9238-53BC09169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80677904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7447-4DE1-9238-53BC091694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280677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80677904"/>
        <c:crosses val="min"/>
        <c:crossBetween val="between"/>
        <c:majorUnit val="5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"/>
          <c:min val="-6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10599721059972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BF21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A48-4894-910D-7FFD5C952C28}"/>
              </c:ext>
            </c:extLst>
          </c:dPt>
          <c:dPt>
            <c:idx val="1"/>
            <c:bubble3D val="0"/>
            <c:spPr>
              <a:solidFill>
                <a:srgbClr val="DECC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A48-4894-910D-7FFD5C952C28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7A48-4894-910D-7FFD5C952C28}"/>
              </c:ext>
            </c:extLst>
          </c:dPt>
          <c:dPt>
            <c:idx val="3"/>
            <c:bubble3D val="0"/>
            <c:spPr>
              <a:solidFill>
                <a:srgbClr val="C9AA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A48-4894-910D-7FFD5C952C28}"/>
              </c:ext>
            </c:extLst>
          </c:dPt>
          <c:dLbls>
            <c:dLbl>
              <c:idx val="0"/>
              <c:layout>
                <c:manualLayout>
                  <c:x val="-6.9735006973500695E-4"/>
                  <c:y val="-2.6223776223776225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A48-4894-910D-7FFD5C952C28}"/>
                </c:ext>
              </c:extLst>
            </c:dLbl>
            <c:dLbl>
              <c:idx val="1"/>
              <c:layout>
                <c:manualLayout>
                  <c:x val="0"/>
                  <c:y val="-8.7412587412587413E-4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A48-4894-910D-7FFD5C952C2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Sheet1!$A$1:$A$4</c:f>
              <c:numCache>
                <c:formatCode>General</c:formatCode>
                <c:ptCount val="4"/>
                <c:pt idx="0">
                  <c:v>57.999999999999993</c:v>
                </c:pt>
                <c:pt idx="1">
                  <c:v>39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48-4894-910D-7FFD5C952C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1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10599721059972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BF21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80F-4BD8-AABF-F02D48BD28FE}"/>
              </c:ext>
            </c:extLst>
          </c:dPt>
          <c:dPt>
            <c:idx val="1"/>
            <c:bubble3D val="0"/>
            <c:spPr>
              <a:solidFill>
                <a:srgbClr val="DECC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80F-4BD8-AABF-F02D48BD28F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80F-4BD8-AABF-F02D48BD28FE}"/>
              </c:ext>
            </c:extLst>
          </c:dPt>
          <c:dLbls>
            <c:dLbl>
              <c:idx val="0"/>
              <c:layout>
                <c:manualLayout>
                  <c:x val="-6.9735006973500695E-4"/>
                  <c:y val="-2.6223776223776225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80F-4BD8-AABF-F02D48BD28FE}"/>
                </c:ext>
              </c:extLst>
            </c:dLbl>
            <c:dLbl>
              <c:idx val="1"/>
              <c:layout>
                <c:manualLayout>
                  <c:x val="0"/>
                  <c:y val="-8.7412587412587413E-4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80F-4BD8-AABF-F02D48BD28F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57.999999999999993</c:v>
                </c:pt>
                <c:pt idx="1">
                  <c:v>39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0F-4BD8-AABF-F02D48BD2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1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896792189679218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FF0-4FA0-B51D-3BB744DFDAD0}"/>
              </c:ext>
            </c:extLst>
          </c:dPt>
          <c:dPt>
            <c:idx val="1"/>
            <c:bubble3D val="0"/>
            <c:spPr>
              <a:solidFill>
                <a:srgbClr val="F197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6FF0-4FA0-B51D-3BB744DFDAD0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6FF0-4FA0-B51D-3BB744DFDAD0}"/>
              </c:ext>
            </c:extLst>
          </c:dPt>
          <c:dPt>
            <c:idx val="3"/>
            <c:bubble3D val="0"/>
            <c:spPr>
              <a:solidFill>
                <a:srgbClr val="C9AA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6FF0-4FA0-B51D-3BB744DFDAD0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6FF0-4FA0-B51D-3BB744DFDAD0}"/>
              </c:ext>
            </c:extLst>
          </c:dPt>
          <c:dPt>
            <c:idx val="5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6FF0-4FA0-B51D-3BB744DFDAD0}"/>
              </c:ext>
            </c:extLst>
          </c:dPt>
          <c:dLbls>
            <c:dLbl>
              <c:idx val="0"/>
              <c:layout>
                <c:manualLayout>
                  <c:x val="-2.0920502092050207E-3"/>
                  <c:y val="-2.6223776223776225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FF0-4FA0-B51D-3BB744DFDAD0}"/>
                </c:ext>
              </c:extLst>
            </c:dLbl>
            <c:dLbl>
              <c:idx val="1"/>
              <c:layout>
                <c:manualLayout>
                  <c:x val="4.8814504881450485E-3"/>
                  <c:y val="-1.2237762237762238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FF0-4FA0-B51D-3BB744DFDAD0}"/>
                </c:ext>
              </c:extLst>
            </c:dLbl>
            <c:dLbl>
              <c:idx val="2"/>
              <c:layout>
                <c:manualLayout>
                  <c:x val="0"/>
                  <c:y val="-1.7482517482517483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FF0-4FA0-B51D-3BB744DFDAD0}"/>
                </c:ext>
              </c:extLst>
            </c:dLbl>
            <c:dLbl>
              <c:idx val="3"/>
              <c:layout>
                <c:manualLayout>
                  <c:x val="-4.8814504881450485E-3"/>
                  <c:y val="3.3216783216783216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FF0-4FA0-B51D-3BB744DFDAD0}"/>
                </c:ext>
              </c:extLst>
            </c:dLbl>
            <c:dLbl>
              <c:idx val="5"/>
              <c:layout>
                <c:manualLayout>
                  <c:x val="-9.7629009762900971E-3"/>
                  <c:y val="5.244755244755245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FF0-4FA0-B51D-3BB744DFDAD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Sheet1!$A$1:$A$6</c:f>
              <c:numCache>
                <c:formatCode>General</c:formatCode>
                <c:ptCount val="6"/>
                <c:pt idx="0">
                  <c:v>30</c:v>
                </c:pt>
                <c:pt idx="1">
                  <c:v>18</c:v>
                </c:pt>
                <c:pt idx="2">
                  <c:v>31</c:v>
                </c:pt>
                <c:pt idx="3">
                  <c:v>8</c:v>
                </c:pt>
                <c:pt idx="4">
                  <c:v>6</c:v>
                </c:pt>
                <c:pt idx="5">
                  <c:v>7.0000000000000062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FF0-4FA0-B51D-3BB744DFD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52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8779342723004695E-2"/>
          <c:y val="0.14054054054054055"/>
          <c:w val="0.96244131455399062"/>
          <c:h val="0.718918918918918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Sheet1!$A$1:$K$1</c:f>
              <c:numCache>
                <c:formatCode>General</c:formatCode>
                <c:ptCount val="11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1D-4EE0-9411-4C5060ED4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117414943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771D-4EE0-9411-4C5060ED4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21174149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117414943"/>
        <c:crosses val="min"/>
        <c:crossBetween val="between"/>
        <c:majorUnit val="5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0"/>
          <c:min val="-6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2942817294281728"/>
          <c:y val="0.15156950672645739"/>
          <c:w val="0.54184100418410042"/>
          <c:h val="0.6968609865470851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3DC-419A-8126-0F3AF1AF04FE}"/>
              </c:ext>
            </c:extLst>
          </c:dPt>
          <c:dPt>
            <c:idx val="1"/>
            <c:bubble3D val="0"/>
            <c:spPr>
              <a:solidFill>
                <a:srgbClr val="F1979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3DC-419A-8126-0F3AF1AF04FE}"/>
              </c:ext>
            </c:extLst>
          </c:dPt>
          <c:dPt>
            <c:idx val="2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3DC-419A-8126-0F3AF1AF04FE}"/>
              </c:ext>
            </c:extLst>
          </c:dPt>
          <c:dPt>
            <c:idx val="3"/>
            <c:bubble3D val="0"/>
            <c:spPr>
              <a:solidFill>
                <a:srgbClr val="C9AA8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3DC-419A-8126-0F3AF1AF04FE}"/>
              </c:ext>
            </c:extLst>
          </c:dPt>
          <c:dLbls>
            <c:dLbl>
              <c:idx val="0"/>
              <c:layout>
                <c:manualLayout>
                  <c:x val="-4.1841004184100415E-3"/>
                  <c:y val="1.7040358744394617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3DC-419A-8126-0F3AF1AF04F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Sheet1!$A$1:$A$4</c:f>
              <c:numCache>
                <c:formatCode>General</c:formatCode>
                <c:ptCount val="4"/>
                <c:pt idx="0">
                  <c:v>89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3DC-419A-8126-0F3AF1AF0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896792189679218"/>
          <c:y val="0.14772727272727273"/>
          <c:w val="0.56206415620641559"/>
          <c:h val="0.7045454545454545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BF21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DAE-4B61-B72C-471800C5F075}"/>
              </c:ext>
            </c:extLst>
          </c:dPt>
          <c:dPt>
            <c:idx val="1"/>
            <c:bubble3D val="0"/>
            <c:spPr>
              <a:solidFill>
                <a:srgbClr val="DECC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DAE-4B61-B72C-471800C5F075}"/>
              </c:ext>
            </c:extLst>
          </c:dPt>
          <c:dLbls>
            <c:dLbl>
              <c:idx val="0"/>
              <c:layout>
                <c:manualLayout>
                  <c:x val="0"/>
                  <c:y val="8.7412587412587413E-4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DAE-4B61-B72C-471800C5F075}"/>
                </c:ext>
              </c:extLst>
            </c:dLbl>
            <c:dLbl>
              <c:idx val="1"/>
              <c:layout>
                <c:manualLayout>
                  <c:x val="0"/>
                  <c:y val="-4.370629370629371E-3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DAE-4B61-B72C-471800C5F0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69</c:v>
                </c:pt>
                <c:pt idx="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AE-4B61-B72C-471800C5F0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12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225512528473807E-2"/>
          <c:y val="0.12149532710280374"/>
          <c:w val="0.8815489749430524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3D3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ADA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FF0-454E-BF4F-4C872C829490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158</c:v>
                </c:pt>
                <c:pt idx="1">
                  <c:v>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F0-454E-BF4F-4C872C8294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761233264"/>
        <c:axId val="1"/>
      </c:barChart>
      <c:catAx>
        <c:axId val="17612332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612332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6706652126499453E-2"/>
          <c:y val="0.12149532710280374"/>
          <c:w val="0.88658669574700111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3D3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ADA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8A9-4628-A774-EC58DF846CDF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177</c:v>
                </c:pt>
                <c:pt idx="1">
                  <c:v>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A9-4628-A774-EC58DF846C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93659759"/>
        <c:axId val="1"/>
      </c:barChart>
      <c:catAx>
        <c:axId val="193659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36597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7713651498335183E-2"/>
          <c:y val="0.12149532710280374"/>
          <c:w val="0.88457269700332963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3D3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ADA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637C-4217-9657-BC476E3DA366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183</c:v>
                </c:pt>
                <c:pt idx="1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7C-4217-9657-BC476E3DA3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75375199"/>
        <c:axId val="1"/>
      </c:barChart>
      <c:catAx>
        <c:axId val="18753751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53751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06830122591944E-2"/>
          <c:y val="0.12149532710280374"/>
          <c:w val="0.81786339754816118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191F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A9-422D-8A72-704C4D8951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796375871"/>
        <c:axId val="1"/>
      </c:barChart>
      <c:catAx>
        <c:axId val="179637587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79637587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06830122591944E-2"/>
          <c:y val="0.12149532710280374"/>
          <c:w val="0.81786339754816118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191F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97.11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41-4074-A6B7-B6064CD10F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237578912"/>
        <c:axId val="1"/>
      </c:barChart>
      <c:catAx>
        <c:axId val="12375789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2375789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06830122591944E-2"/>
          <c:y val="0.12149532710280374"/>
          <c:w val="0.81786339754816118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191F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C2-43E7-B794-223915EA3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04558207"/>
        <c:axId val="1"/>
      </c:barChart>
      <c:catAx>
        <c:axId val="18045582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45582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8823529411764705E-2"/>
          <c:y val="7.4712643678160925E-2"/>
          <c:w val="0.88235294117647056"/>
          <c:h val="0.8505747126436781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3D3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ADA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7E2-49B0-8BE7-6C440D5DE3A2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148.85499999999999</c:v>
                </c:pt>
                <c:pt idx="1">
                  <c:v>692.54700000000003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E2-49B0-8BE7-6C440D5DE3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466232048"/>
        <c:axId val="1"/>
      </c:barChart>
      <c:catAx>
        <c:axId val="146623204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662320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1513353115727E-2"/>
          <c:y val="0.12149532710280374"/>
          <c:w val="0.8456973293768546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191F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537.84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A8-4671-AC04-3133BB94F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136530847"/>
        <c:axId val="1"/>
      </c:barChart>
      <c:catAx>
        <c:axId val="213653084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3653084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8823529411764705E-2"/>
          <c:y val="7.4712643678160925E-2"/>
          <c:w val="0.88235294117647056"/>
          <c:h val="0.8505747126436781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3D3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ADA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0CA-41EA-8563-5BDB6344BE90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50.4</c:v>
                </c:pt>
                <c:pt idx="1">
                  <c:v>62.8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CA-41EA-8563-5BDB6344BE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466233008"/>
        <c:axId val="1"/>
      </c:barChart>
      <c:catAx>
        <c:axId val="14662330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662330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1513353115727E-2"/>
          <c:y val="0.10196078431372549"/>
          <c:w val="0.8456973293768546"/>
          <c:h val="0.7960784313725489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191F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27.213209999999997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2B-43EF-8CE5-5D67A54380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956165376"/>
        <c:axId val="1"/>
      </c:barChart>
      <c:catAx>
        <c:axId val="19561653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561653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8823529411764705E-2"/>
          <c:y val="7.4712643678160925E-2"/>
          <c:w val="0.88235294117647056"/>
          <c:h val="0.8505747126436781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3D3D3D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ADAD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384-4F4A-B366-E10457E605A3}"/>
              </c:ext>
            </c:extLst>
          </c:dPt>
          <c:val>
            <c:numRef>
              <c:f>Sheet1!$A$1:$B$1</c:f>
              <c:numCache>
                <c:formatCode>General</c:formatCode>
                <c:ptCount val="2"/>
                <c:pt idx="0">
                  <c:v>47.6</c:v>
                </c:pt>
                <c:pt idx="1">
                  <c:v>47.26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84-4F4A-B366-E10457E605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8139743"/>
        <c:axId val="1"/>
      </c:barChart>
      <c:catAx>
        <c:axId val="1881397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81397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1513353115727E-2"/>
          <c:y val="0.12149532710280374"/>
          <c:w val="0.8456973293768546"/>
          <c:h val="0.757009345794392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BF191F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38.89629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4B-4303-AB79-551D1C5433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45473759"/>
        <c:axId val="1"/>
      </c:barChart>
      <c:catAx>
        <c:axId val="45473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92.5470000000000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454737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3360995850622405"/>
          <c:y val="0.23975409836065573"/>
          <c:w val="0.33278008298755185"/>
          <c:h val="0.5204918032786884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9AA8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4344262295081966"/>
                </c:manualLayout>
              </c:layout>
              <c:numFmt formatCode="0.00&quot;x&quot;;&quot;-&quot;0.00&quot;x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E11-4A4B-8B58-A63B984FEC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11-4A4B-8B58-A63B984FE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71464528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2-AE11-4A4B-8B58-A63B984FE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27146452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71464528"/>
        <c:crosses val="min"/>
        <c:crossBetween val="between"/>
        <c:majorUnit val="1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5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3360995850622405"/>
          <c:y val="0.23975409836065573"/>
          <c:w val="0.33278008298755185"/>
          <c:h val="0.5204918032786884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9AA8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3114754098360656"/>
                </c:manualLayout>
              </c:layout>
              <c:numFmt formatCode="0.00&quot;x&quot;;&quot;-&quot;0.00&quot;x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3F7-4575-98E4-A6B34EEAC2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F7-4575-98E4-A6B34EEAC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75599712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2-23F7-4575-98E4-A6B34EEAC2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275599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75599712"/>
        <c:crosses val="min"/>
        <c:crossBetween val="between"/>
        <c:majorUnit val="1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5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297029702970296"/>
          <c:y val="0.14525139664804471"/>
          <c:w val="0.7940594059405941"/>
          <c:h val="0.709497206703910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9AA8C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F0-4882-8B0C-9C4E0BDCB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24245376"/>
        <c:axId val="1"/>
      </c:barChart>
      <c:barChart>
        <c:barDir val="col"/>
        <c:grouping val="clustered"/>
        <c:varyColors val="0"/>
        <c:ser>
          <c:idx val="1"/>
          <c:order val="1"/>
          <c:invertIfNegative val="0"/>
          <c:extLst>
            <c:ext xmlns:c16="http://schemas.microsoft.com/office/drawing/2014/chart" uri="{C3380CC4-5D6E-409C-BE32-E72D297353CC}">
              <c16:uniqueId val="{00000001-81F0-4882-8B0C-9C4E0BDCB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17242453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logBase val="10"/>
          <c:orientation val="minMax"/>
          <c:max val="100"/>
          <c:min val="1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1724245376"/>
        <c:crosses val="min"/>
        <c:crossBetween val="between"/>
        <c:majorUnit val="1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majorTickMark val="out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txPr>
          <a:bodyPr wrap="none"/>
          <a:lstStyle/>
          <a:p>
            <a:pPr>
              <a:defRPr sz="800" kern="1200">
                <a:latin typeface="+mn-lt"/>
                <a:ea typeface="+mn-ea"/>
                <a:cs typeface="+mn-cs"/>
                <a:sym typeface="Arial"/>
              </a:defRPr>
            </a:pPr>
            <a:endParaRPr lang="da-DK"/>
          </a:p>
        </c:txPr>
        <c:crossAx val="2"/>
        <c:crosses val="max"/>
        <c:crossBetween val="between"/>
        <c:majorUnit val="5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a-D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984658298465824E-2"/>
          <c:y val="0.11009771986970684"/>
          <c:w val="0.83472803347280333"/>
          <c:h val="0.77980456026058631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BF212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669-4675-AAC8-F5EA60ABDD75}"/>
              </c:ext>
            </c:extLst>
          </c:dPt>
          <c:dPt>
            <c:idx val="1"/>
            <c:bubble3D val="0"/>
            <c:spPr>
              <a:solidFill>
                <a:srgbClr val="DECCB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669-4675-AAC8-F5EA60ABDD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669-4675-AAC8-F5EA60ABDD75}"/>
              </c:ext>
            </c:extLst>
          </c:dPt>
          <c:dLbls>
            <c:dLbl>
              <c:idx val="0"/>
              <c:layout>
                <c:manualLayout>
                  <c:x val="-2.0920502092050208E-2"/>
                  <c:y val="4.0390879478827364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669-4675-AAC8-F5EA60ABDD75}"/>
                </c:ext>
              </c:extLst>
            </c:dLbl>
            <c:dLbl>
              <c:idx val="1"/>
              <c:layout>
                <c:manualLayout>
                  <c:x val="1.9525801952580194E-2"/>
                  <c:y val="-4.6254071661237788E-2"/>
                </c:manualLayout>
              </c:layout>
              <c:numFmt formatCode="#,##0.0&quot;%&quot;;&quot;-&quot;#,##0.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da-DK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669-4675-AAC8-F5EA60ABDD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86.360452316621632</c:v>
                </c:pt>
                <c:pt idx="1">
                  <c:v>12.008405884118883</c:v>
                </c:pt>
                <c:pt idx="2">
                  <c:v>1.6311417992594817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69-4675-AAC8-F5EA60ABDD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49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9" y="1"/>
            <a:ext cx="2984871" cy="502676"/>
          </a:xfrm>
          <a:prstGeom prst="rect">
            <a:avLst/>
          </a:prstGeom>
        </p:spPr>
        <p:txBody>
          <a:bodyPr vert="horz" lIns="96584" tIns="48293" rIns="96584" bIns="48293" rtlCol="0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901706" y="1"/>
            <a:ext cx="2984871" cy="502676"/>
          </a:xfrm>
          <a:prstGeom prst="rect">
            <a:avLst/>
          </a:prstGeom>
        </p:spPr>
        <p:txBody>
          <a:bodyPr vert="horz" lIns="96584" tIns="48293" rIns="96584" bIns="48293" rtlCol="0"/>
          <a:lstStyle>
            <a:lvl1pPr algn="r">
              <a:defRPr sz="1300"/>
            </a:lvl1pPr>
          </a:lstStyle>
          <a:p>
            <a:fld id="{2B2B4006-6F96-4748-85C9-8913B19866B0}" type="datetimeFigureOut">
              <a:rPr lang="da-DK" smtClean="0"/>
              <a:t>15-10-2026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84" tIns="48293" rIns="96584" bIns="48293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8"/>
          </a:xfrm>
          <a:prstGeom prst="rect">
            <a:avLst/>
          </a:prstGeom>
        </p:spPr>
        <p:txBody>
          <a:bodyPr vert="horz" lIns="96584" tIns="48293" rIns="96584" bIns="48293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9" y="9516039"/>
            <a:ext cx="2984871" cy="502674"/>
          </a:xfrm>
          <a:prstGeom prst="rect">
            <a:avLst/>
          </a:prstGeom>
        </p:spPr>
        <p:txBody>
          <a:bodyPr vert="horz" lIns="96584" tIns="48293" rIns="96584" bIns="48293" rtlCol="0" anchor="b"/>
          <a:lstStyle>
            <a:lvl1pPr algn="l">
              <a:defRPr sz="13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901706" y="9516039"/>
            <a:ext cx="2984871" cy="502674"/>
          </a:xfrm>
          <a:prstGeom prst="rect">
            <a:avLst/>
          </a:prstGeom>
        </p:spPr>
        <p:txBody>
          <a:bodyPr vert="horz" lIns="96584" tIns="48293" rIns="96584" bIns="48293" rtlCol="0" anchor="b"/>
          <a:lstStyle>
            <a:lvl1pPr algn="r">
              <a:defRPr sz="1300"/>
            </a:lvl1pPr>
          </a:lstStyle>
          <a:p>
            <a:fld id="{DF9B4635-3993-CC4B-A23C-7D41ECBF4CC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0872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FC28-D53C-7BDC-F404-3A91C9495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28CA3-C39F-5282-6769-FCE67D8D0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EA850-D1CE-F63C-60BD-8CF6F82F2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FA1E6-2DCB-52A1-AAA7-0444DF4AC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B4635-3993-CC4B-A23C-7D41ECBF4CCD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8373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410C-4BC5-724E-7CCB-54A59B30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DC686-7CEB-CABE-4C5E-355532EB2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481A1-38AD-B2EA-3B9E-74EFDCE0D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D9687-3F60-75D1-163B-278375D7B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B4635-3993-CC4B-A23C-7D41ECBF4CCD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061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C5914-1CEE-A9D3-02EA-1A84E727C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53D71-B50E-B20E-6464-A9118F6E6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B17476-34EB-5550-14A9-EB81E1ECA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7CD5-4202-D28E-CA7B-01A1455E75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B4635-3993-CC4B-A23C-7D41ECBF4CCD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3526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3FCA6-C849-9AF5-5A1D-506589CBC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45822-5B04-3CAB-5C7D-73AA4CAE5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EC793-D410-F14E-841F-F91E2A2F6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2F4B4-D24A-CCF8-60C5-FC70A4764E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B4635-3993-CC4B-A23C-7D41ECBF4CCD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4670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83220-85E0-FF86-54D6-F758D552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C7843-AE6B-0FBA-CB0E-2EBB31700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6BB026-527E-09B1-DABA-4F7AB1D0A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8CBA5-C688-0E82-7268-F8CF2E9ED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B4635-3993-CC4B-A23C-7D41ECBF4CCD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78434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AB740-5D0E-AF4B-B7A6-C516B6FC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2C142-3FCD-6D35-547E-D0514D91B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4F64B-28E6-02E3-5AA5-8DFAB1C0D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E5EC4-D043-0CC0-A595-ACE7C2956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B4635-3993-CC4B-A23C-7D41ECBF4CCD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3320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video" Target="../media/media1.mp4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tags" Target="../tags/tag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7756E14-5ADA-6AE8-4B5F-C93BB682C2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7783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" imgW="408" imgH="408" progId="TCLayout.ActiveDocument.1">
                  <p:embed/>
                </p:oleObj>
              </mc:Choice>
              <mc:Fallback>
                <p:oleObj name="thinkcell Slide" r:id="rId5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756E14-5ADA-6AE8-4B5F-C93BB682C2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motortramp_animation">
            <a:hlinkClick r:id="" action="ppaction://media"/>
            <a:extLst>
              <a:ext uri="{FF2B5EF4-FFF2-40B4-BE49-F238E27FC236}">
                <a16:creationId xmlns:a16="http://schemas.microsoft.com/office/drawing/2014/main" id="{4F87EDC2-C62C-CFE1-88FF-86E857B83E07}"/>
              </a:ext>
            </a:extLst>
          </p:cNvPr>
          <p:cNvPicPr>
            <a:picLocks noChangeAspect="1"/>
          </p:cNvPicPr>
          <p:nvPr userDrawn="1"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50" y="-28308"/>
            <a:ext cx="12261102" cy="7099111"/>
          </a:xfrm>
          <a:prstGeom prst="rect">
            <a:avLst/>
          </a:prstGeom>
        </p:spPr>
      </p:pic>
      <p:cxnSp>
        <p:nvCxnSpPr>
          <p:cNvPr id="10" name="Lige forbindelse 5">
            <a:extLst>
              <a:ext uri="{FF2B5EF4-FFF2-40B4-BE49-F238E27FC236}">
                <a16:creationId xmlns:a16="http://schemas.microsoft.com/office/drawing/2014/main" id="{FECD34F9-64C2-8B9C-6ADF-1C0ECB0B4E31}"/>
              </a:ext>
            </a:extLst>
          </p:cNvPr>
          <p:cNvCxnSpPr>
            <a:cxnSpLocks/>
          </p:cNvCxnSpPr>
          <p:nvPr userDrawn="1"/>
        </p:nvCxnSpPr>
        <p:spPr>
          <a:xfrm>
            <a:off x="0" y="499971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>
            <a:extLst>
              <a:ext uri="{FF2B5EF4-FFF2-40B4-BE49-F238E27FC236}">
                <a16:creationId xmlns:a16="http://schemas.microsoft.com/office/drawing/2014/main" id="{66018E43-BB85-5A60-5F1A-5EFA17BB6A9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422" y="145997"/>
            <a:ext cx="614883" cy="583052"/>
          </a:xfrm>
          <a:prstGeom prst="rect">
            <a:avLst/>
          </a:prstGeom>
        </p:spPr>
      </p:pic>
      <p:pic>
        <p:nvPicPr>
          <p:cNvPr id="13" name="Billede 8">
            <a:extLst>
              <a:ext uri="{FF2B5EF4-FFF2-40B4-BE49-F238E27FC236}">
                <a16:creationId xmlns:a16="http://schemas.microsoft.com/office/drawing/2014/main" id="{8853C4C3-3CD9-1CC8-39CF-1860ADCCCB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57000"/>
          </a:blip>
          <a:stretch>
            <a:fillRect/>
          </a:stretch>
        </p:blipFill>
        <p:spPr>
          <a:xfrm>
            <a:off x="7865295" y="655780"/>
            <a:ext cx="4515427" cy="64991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38F369-2659-6EFB-BF51-4D66A878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4257" y="2766219"/>
            <a:ext cx="5043487" cy="132556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9719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8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D693CA3-9719-DCD3-E955-B0DC3B0C75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8" imgH="408" progId="TCLayout.ActiveDocument.1">
                  <p:embed/>
                </p:oleObj>
              </mc:Choice>
              <mc:Fallback>
                <p:oleObj name="thinkcell Slide" r:id="rId3" imgW="408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693CA3-9719-DCD3-E955-B0DC3B0C7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illede 8">
            <a:extLst>
              <a:ext uri="{FF2B5EF4-FFF2-40B4-BE49-F238E27FC236}">
                <a16:creationId xmlns:a16="http://schemas.microsoft.com/office/drawing/2014/main" id="{AB469FA3-8B59-AC7A-4462-399C9EB6EC7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7000"/>
          </a:blip>
          <a:stretch>
            <a:fillRect/>
          </a:stretch>
        </p:blipFill>
        <p:spPr>
          <a:xfrm>
            <a:off x="7865295" y="655780"/>
            <a:ext cx="4515427" cy="6499146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3178FBF-86D4-8C00-F9B2-FCFA0295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defRPr sz="2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5A97F87-4479-843E-8395-70E6AC0A46B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000" y="6447769"/>
            <a:ext cx="331484" cy="3077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A1513A-E58F-C1A4-C6A9-AC5E80363326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2742729" y="981076"/>
          <a:ext cx="5494492" cy="5292722"/>
        </p:xfrm>
        <a:graphic>
          <a:graphicData uri="http://schemas.openxmlformats.org/drawingml/2006/table">
            <a:tbl>
              <a:tblPr firstRow="1" bandRow="1"/>
              <a:tblGrid>
                <a:gridCol w="425634">
                  <a:extLst>
                    <a:ext uri="{9D8B030D-6E8A-4147-A177-3AD203B41FA5}">
                      <a16:colId xmlns:a16="http://schemas.microsoft.com/office/drawing/2014/main" val="3364065554"/>
                    </a:ext>
                  </a:extLst>
                </a:gridCol>
                <a:gridCol w="4495357">
                  <a:extLst>
                    <a:ext uri="{9D8B030D-6E8A-4147-A177-3AD203B41FA5}">
                      <a16:colId xmlns:a16="http://schemas.microsoft.com/office/drawing/2014/main" val="363967552"/>
                    </a:ext>
                  </a:extLst>
                </a:gridCol>
                <a:gridCol w="573501">
                  <a:extLst>
                    <a:ext uri="{9D8B030D-6E8A-4147-A177-3AD203B41FA5}">
                      <a16:colId xmlns:a16="http://schemas.microsoft.com/office/drawing/2014/main" val="3629730257"/>
                    </a:ext>
                  </a:extLst>
                </a:gridCol>
              </a:tblGrid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>
                          <a:solidFill>
                            <a:schemeClr val="tx1"/>
                          </a:solidFill>
                          <a:latin typeface="+mj-lt"/>
                        </a:rPr>
                        <a:t>Baggrund, opdatering og indstilling 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[3]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62711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Investeringscase</a:t>
                      </a: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[7]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412048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Due diligence </a:t>
                      </a: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afrapportering</a:t>
                      </a: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[12]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45235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Transaktionsstruktur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[12]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7263444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Næste</a:t>
                      </a: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skridt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[17]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1729881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Appendiks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[19]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5104094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endParaRPr lang="en-GB" sz="1400" b="0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Due Diligence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[20]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335308"/>
                  </a:ext>
                </a:extLst>
              </a:tr>
              <a:tr h="608555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EV-EQ bro, </a:t>
                      </a:r>
                      <a:r>
                        <a:rPr lang="da-DK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earn</a:t>
                      </a:r>
                      <a:r>
                        <a:rPr lang="da-DK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-out og incitamentsprogram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[20]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8453731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Resultatopgørelse og balance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[25]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089195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Multipler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[28]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0206688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B097AF-92AC-0F88-A6F6-18AF2B98DB65}"/>
              </a:ext>
            </a:extLst>
          </p:cNvPr>
          <p:cNvCxnSpPr>
            <a:cxnSpLocks/>
          </p:cNvCxnSpPr>
          <p:nvPr userDrawn="1"/>
        </p:nvCxnSpPr>
        <p:spPr>
          <a:xfrm>
            <a:off x="2690922" y="981076"/>
            <a:ext cx="0" cy="5292000"/>
          </a:xfrm>
          <a:prstGeom prst="line">
            <a:avLst/>
          </a:prstGeom>
          <a:ln w="12700">
            <a:solidFill>
              <a:srgbClr val="BF19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82DD20E-8EC3-0C85-CA6B-6DB9A88B5C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002" y="3052057"/>
            <a:ext cx="1238933" cy="11500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531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D693CA3-9719-DCD3-E955-B0DC3B0C75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6931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8" imgH="408" progId="TCLayout.ActiveDocument.1">
                  <p:embed/>
                </p:oleObj>
              </mc:Choice>
              <mc:Fallback>
                <p:oleObj name="thinkcell Slide" r:id="rId3" imgW="408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693CA3-9719-DCD3-E955-B0DC3B0C7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illede 8">
            <a:extLst>
              <a:ext uri="{FF2B5EF4-FFF2-40B4-BE49-F238E27FC236}">
                <a16:creationId xmlns:a16="http://schemas.microsoft.com/office/drawing/2014/main" id="{AB469FA3-8B59-AC7A-4462-399C9EB6EC7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7000"/>
          </a:blip>
          <a:stretch>
            <a:fillRect/>
          </a:stretch>
        </p:blipFill>
        <p:spPr>
          <a:xfrm>
            <a:off x="7865295" y="655780"/>
            <a:ext cx="4515427" cy="6499146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3178FBF-86D4-8C00-F9B2-FCFA0295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defRPr sz="2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5A97F87-4479-843E-8395-70E6AC0A46B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000" y="6447769"/>
            <a:ext cx="331484" cy="3077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A1513A-E58F-C1A4-C6A9-AC5E8036332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061649"/>
              </p:ext>
            </p:extLst>
          </p:nvPr>
        </p:nvGraphicFramePr>
        <p:xfrm>
          <a:off x="2742729" y="981076"/>
          <a:ext cx="5494492" cy="5292722"/>
        </p:xfrm>
        <a:graphic>
          <a:graphicData uri="http://schemas.openxmlformats.org/drawingml/2006/table">
            <a:tbl>
              <a:tblPr firstRow="1" bandRow="1"/>
              <a:tblGrid>
                <a:gridCol w="425634">
                  <a:extLst>
                    <a:ext uri="{9D8B030D-6E8A-4147-A177-3AD203B41FA5}">
                      <a16:colId xmlns:a16="http://schemas.microsoft.com/office/drawing/2014/main" val="3364065554"/>
                    </a:ext>
                  </a:extLst>
                </a:gridCol>
                <a:gridCol w="4495357">
                  <a:extLst>
                    <a:ext uri="{9D8B030D-6E8A-4147-A177-3AD203B41FA5}">
                      <a16:colId xmlns:a16="http://schemas.microsoft.com/office/drawing/2014/main" val="363967552"/>
                    </a:ext>
                  </a:extLst>
                </a:gridCol>
                <a:gridCol w="573501">
                  <a:extLst>
                    <a:ext uri="{9D8B030D-6E8A-4147-A177-3AD203B41FA5}">
                      <a16:colId xmlns:a16="http://schemas.microsoft.com/office/drawing/2014/main" val="3629730257"/>
                    </a:ext>
                  </a:extLst>
                </a:gridCol>
              </a:tblGrid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>
                          <a:solidFill>
                            <a:schemeClr val="tx1"/>
                          </a:solidFill>
                          <a:latin typeface="+mj-lt"/>
                        </a:rPr>
                        <a:t>Baggrund, opdatering og indstilling 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[3]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35062711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Investeringscase</a:t>
                      </a: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[7]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8412048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Due diligence </a:t>
                      </a: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afrapportering</a:t>
                      </a: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[12]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345235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Transaktionsstruktur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[12]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7263444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Næste</a:t>
                      </a: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skridt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[17]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1729881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r>
                        <a:rPr lang="en-GB" sz="1400" b="0">
                          <a:solidFill>
                            <a:schemeClr val="tx1"/>
                          </a:solidFill>
                          <a:latin typeface="+mj-lt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6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Appendiks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[19]</a:t>
                      </a:r>
                      <a:endParaRPr kumimoji="0" lang="en-GB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5104094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endParaRPr lang="en-GB" sz="1400" b="0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Due Diligence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[20]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8335308"/>
                  </a:ext>
                </a:extLst>
              </a:tr>
              <a:tr h="608555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EV-EQ bro, </a:t>
                      </a:r>
                      <a:r>
                        <a:rPr lang="da-DK" sz="1400" b="0" kern="1200" err="1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earn</a:t>
                      </a:r>
                      <a:r>
                        <a:rPr lang="da-DK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-out og incitamentsprogram</a:t>
                      </a:r>
                      <a:endParaRPr lang="en-GB" sz="1400" b="0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[20]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8453731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Resultatopgørelse og balance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[25]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9089195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algn="ctr"/>
                      <a:endParaRPr lang="en-GB" sz="1400" b="1">
                        <a:solidFill>
                          <a:schemeClr val="tx1"/>
                        </a:solidFill>
                        <a:latin typeface="+mj-lt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kern="1200">
                          <a:solidFill>
                            <a:schemeClr val="tx1"/>
                          </a:solidFill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Multipler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21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j-ea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[28]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0206688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B097AF-92AC-0F88-A6F6-18AF2B98DB65}"/>
              </a:ext>
            </a:extLst>
          </p:cNvPr>
          <p:cNvCxnSpPr>
            <a:cxnSpLocks/>
          </p:cNvCxnSpPr>
          <p:nvPr userDrawn="1"/>
        </p:nvCxnSpPr>
        <p:spPr>
          <a:xfrm>
            <a:off x="2690922" y="981076"/>
            <a:ext cx="0" cy="5292000"/>
          </a:xfrm>
          <a:prstGeom prst="line">
            <a:avLst/>
          </a:prstGeom>
          <a:ln w="12700">
            <a:solidFill>
              <a:srgbClr val="BF19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82DD20E-8EC3-0C85-CA6B-6DB9A88B5C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002" y="3052057"/>
            <a:ext cx="1238933" cy="115003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531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000000"/>
          </p15:clr>
        </p15:guide>
        <p15:guide id="2" orient="horz" pos="618" userDrawn="1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D693CA3-9719-DCD3-E955-B0DC3B0C75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8483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8" imgH="408" progId="TCLayout.ActiveDocument.1">
                  <p:embed/>
                </p:oleObj>
              </mc:Choice>
              <mc:Fallback>
                <p:oleObj name="thinkcell Slide" r:id="rId3" imgW="408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693CA3-9719-DCD3-E955-B0DC3B0C7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Billede 8">
            <a:extLst>
              <a:ext uri="{FF2B5EF4-FFF2-40B4-BE49-F238E27FC236}">
                <a16:creationId xmlns:a16="http://schemas.microsoft.com/office/drawing/2014/main" id="{AB469FA3-8B59-AC7A-4462-399C9EB6EC7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7000"/>
          </a:blip>
          <a:stretch>
            <a:fillRect/>
          </a:stretch>
        </p:blipFill>
        <p:spPr>
          <a:xfrm>
            <a:off x="7865295" y="655780"/>
            <a:ext cx="4515427" cy="6499146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73178FBF-86D4-8C00-F9B2-FCFA0295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2662328"/>
            <a:ext cx="11160125" cy="36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defRPr sz="28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5A97F87-4479-843E-8395-70E6AC0A46B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000" y="6447769"/>
            <a:ext cx="331484" cy="307700"/>
          </a:xfrm>
          <a:prstGeom prst="rect">
            <a:avLst/>
          </a:prstGeom>
        </p:spPr>
      </p:pic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48EF88EC-6458-2004-278F-0505E77353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6063" y="981075"/>
            <a:ext cx="1968057" cy="16720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3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31639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000000"/>
          </p15:clr>
        </p15:guide>
        <p15:guide id="2" orient="horz" pos="618" userDrawn="1">
          <p15:clr>
            <a:srgbClr val="00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D693CA3-9719-DCD3-E955-B0DC3B0C75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846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8" imgH="408" progId="TCLayout.ActiveDocument.1">
                  <p:embed/>
                </p:oleObj>
              </mc:Choice>
              <mc:Fallback>
                <p:oleObj name="thinkcell Slide" r:id="rId3" imgW="408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693CA3-9719-DCD3-E955-B0DC3B0C7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73178FBF-86D4-8C00-F9B2-FCFA0295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cxnSp>
        <p:nvCxnSpPr>
          <p:cNvPr id="19" name="Lige forbindelse 4">
            <a:extLst>
              <a:ext uri="{FF2B5EF4-FFF2-40B4-BE49-F238E27FC236}">
                <a16:creationId xmlns:a16="http://schemas.microsoft.com/office/drawing/2014/main" id="{8D94206B-F51B-37DD-F35F-4D34EABAE7D2}"/>
              </a:ext>
            </a:extLst>
          </p:cNvPr>
          <p:cNvCxnSpPr>
            <a:cxnSpLocks/>
          </p:cNvCxnSpPr>
          <p:nvPr userDrawn="1"/>
        </p:nvCxnSpPr>
        <p:spPr>
          <a:xfrm>
            <a:off x="516000" y="914389"/>
            <a:ext cx="11160000" cy="0"/>
          </a:xfrm>
          <a:prstGeom prst="line">
            <a:avLst/>
          </a:prstGeom>
          <a:ln w="15875">
            <a:solidFill>
              <a:srgbClr val="C1202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52E42D8-05E6-45BE-D9F3-62460BF032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6000" y="662389"/>
            <a:ext cx="11160000" cy="25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5A97F87-4479-843E-8395-70E6AC0A46B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000" y="6447769"/>
            <a:ext cx="331484" cy="307700"/>
          </a:xfrm>
          <a:prstGeom prst="rect">
            <a:avLst/>
          </a:prstGeom>
        </p:spPr>
      </p:pic>
      <p:cxnSp>
        <p:nvCxnSpPr>
          <p:cNvPr id="38" name="Lige forbindelse 4">
            <a:extLst>
              <a:ext uri="{FF2B5EF4-FFF2-40B4-BE49-F238E27FC236}">
                <a16:creationId xmlns:a16="http://schemas.microsoft.com/office/drawing/2014/main" id="{31266D4B-3EB3-79D7-E553-7378DA725D9B}"/>
              </a:ext>
            </a:extLst>
          </p:cNvPr>
          <p:cNvCxnSpPr>
            <a:cxnSpLocks/>
          </p:cNvCxnSpPr>
          <p:nvPr userDrawn="1"/>
        </p:nvCxnSpPr>
        <p:spPr>
          <a:xfrm>
            <a:off x="516000" y="6337289"/>
            <a:ext cx="11160000" cy="0"/>
          </a:xfrm>
          <a:prstGeom prst="line">
            <a:avLst/>
          </a:prstGeom>
          <a:ln w="15875">
            <a:solidFill>
              <a:srgbClr val="C1202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4A12D441-31B8-5990-7054-B35B2FFB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da-DK" b="1"/>
              <a:t> A/S Motortramp</a:t>
            </a:r>
            <a:r>
              <a:rPr lang="da-DK"/>
              <a:t> | Side </a:t>
            </a:r>
            <a:fld id="{3F09AB1B-E94D-421F-A6BD-D98A0F2CD80B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6673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000000"/>
          </p15:clr>
        </p15:guide>
        <p15:guide id="2" orient="horz" pos="618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og indholdsobjekt">
    <p:bg>
      <p:bgPr>
        <a:solidFill>
          <a:srgbClr val="EDE3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7756E14-5ADA-6AE8-4B5F-C93BB682C22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59230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408" imgH="408" progId="TCLayout.ActiveDocument.1">
                  <p:embed/>
                </p:oleObj>
              </mc:Choice>
              <mc:Fallback>
                <p:oleObj name="thinkcell Slide" r:id="rId3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756E14-5ADA-6AE8-4B5F-C93BB682C2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Lige forbindelse 5">
            <a:extLst>
              <a:ext uri="{FF2B5EF4-FFF2-40B4-BE49-F238E27FC236}">
                <a16:creationId xmlns:a16="http://schemas.microsoft.com/office/drawing/2014/main" id="{FECD34F9-64C2-8B9C-6ADF-1C0ECB0B4E31}"/>
              </a:ext>
            </a:extLst>
          </p:cNvPr>
          <p:cNvCxnSpPr>
            <a:cxnSpLocks/>
          </p:cNvCxnSpPr>
          <p:nvPr userDrawn="1"/>
        </p:nvCxnSpPr>
        <p:spPr>
          <a:xfrm>
            <a:off x="0" y="499971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>
            <a:extLst>
              <a:ext uri="{FF2B5EF4-FFF2-40B4-BE49-F238E27FC236}">
                <a16:creationId xmlns:a16="http://schemas.microsoft.com/office/drawing/2014/main" id="{66018E43-BB85-5A60-5F1A-5EFA17BB6A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422" y="145997"/>
            <a:ext cx="614883" cy="583052"/>
          </a:xfrm>
          <a:prstGeom prst="rect">
            <a:avLst/>
          </a:prstGeom>
        </p:spPr>
      </p:pic>
      <p:pic>
        <p:nvPicPr>
          <p:cNvPr id="13" name="Billede 8">
            <a:extLst>
              <a:ext uri="{FF2B5EF4-FFF2-40B4-BE49-F238E27FC236}">
                <a16:creationId xmlns:a16="http://schemas.microsoft.com/office/drawing/2014/main" id="{8853C4C3-3CD9-1CC8-39CF-1860ADCCCB0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7000"/>
          </a:blip>
          <a:stretch>
            <a:fillRect/>
          </a:stretch>
        </p:blipFill>
        <p:spPr>
          <a:xfrm>
            <a:off x="7865295" y="655780"/>
            <a:ext cx="4515427" cy="6499146"/>
          </a:xfrm>
          <a:prstGeom prst="rect">
            <a:avLst/>
          </a:prstGeom>
        </p:spPr>
      </p:pic>
      <p:pic>
        <p:nvPicPr>
          <p:cNvPr id="4" name="Billede 3" descr="Et billede, der indeholder Grafik, symbol, logo, design&#10;&#10;Automatisk genereret beskrivelse">
            <a:extLst>
              <a:ext uri="{FF2B5EF4-FFF2-40B4-BE49-F238E27FC236}">
                <a16:creationId xmlns:a16="http://schemas.microsoft.com/office/drawing/2014/main" id="{227A5479-108B-AD5F-AA01-70FDFC6C3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772311" y="2798462"/>
            <a:ext cx="8647379" cy="126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3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A9810EF-0FFF-2368-FB37-4421E053832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0305848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408" imgH="408" progId="TCLayout.ActiveDocument.1">
                  <p:embed/>
                </p:oleObj>
              </mc:Choice>
              <mc:Fallback>
                <p:oleObj name="thinkcell Slide" r:id="rId9" imgW="408" imgH="408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9810EF-0FFF-2368-FB37-4421E05383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1AF20E6-2D98-787E-7036-04E7DE18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688" y="6492407"/>
            <a:ext cx="2743200" cy="218424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900">
                <a:latin typeface="+mn-lt"/>
              </a:defRPr>
            </a:lvl1pPr>
          </a:lstStyle>
          <a:p>
            <a:r>
              <a:rPr lang="da-DK" b="1"/>
              <a:t> A/S Motortramp</a:t>
            </a:r>
            <a:r>
              <a:rPr lang="da-DK"/>
              <a:t> | Side </a:t>
            </a:r>
            <a:fld id="{3F09AB1B-E94D-421F-A6BD-D98A0F2CD80B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7919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8" r:id="rId2"/>
    <p:sldLayoutId id="2147483653" r:id="rId3"/>
    <p:sldLayoutId id="2147483654" r:id="rId4"/>
    <p:sldLayoutId id="2147483657" r:id="rId5"/>
    <p:sldLayoutId id="214748365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orient="horz" pos="3997" userDrawn="1">
          <p15:clr>
            <a:srgbClr val="F26B43"/>
          </p15:clr>
        </p15:guide>
        <p15:guide id="4" pos="73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34.xml"/><Relationship Id="rId21" Type="http://schemas.openxmlformats.org/officeDocument/2006/relationships/tags" Target="../tags/tag29.xml"/><Relationship Id="rId42" Type="http://schemas.openxmlformats.org/officeDocument/2006/relationships/tags" Target="../tags/tag50.xml"/><Relationship Id="rId47" Type="http://schemas.openxmlformats.org/officeDocument/2006/relationships/tags" Target="../tags/tag55.xml"/><Relationship Id="rId63" Type="http://schemas.openxmlformats.org/officeDocument/2006/relationships/tags" Target="../tags/tag71.xml"/><Relationship Id="rId68" Type="http://schemas.openxmlformats.org/officeDocument/2006/relationships/tags" Target="../tags/tag76.xml"/><Relationship Id="rId84" Type="http://schemas.openxmlformats.org/officeDocument/2006/relationships/chart" Target="../charts/chart3.xml"/><Relationship Id="rId89" Type="http://schemas.openxmlformats.org/officeDocument/2006/relationships/chart" Target="../charts/chart8.xml"/><Relationship Id="rId16" Type="http://schemas.openxmlformats.org/officeDocument/2006/relationships/tags" Target="../tags/tag24.xml"/><Relationship Id="rId11" Type="http://schemas.openxmlformats.org/officeDocument/2006/relationships/tags" Target="../tags/tag19.xml"/><Relationship Id="rId32" Type="http://schemas.openxmlformats.org/officeDocument/2006/relationships/tags" Target="../tags/tag40.xml"/><Relationship Id="rId37" Type="http://schemas.openxmlformats.org/officeDocument/2006/relationships/tags" Target="../tags/tag45.xml"/><Relationship Id="rId53" Type="http://schemas.openxmlformats.org/officeDocument/2006/relationships/tags" Target="../tags/tag61.xml"/><Relationship Id="rId58" Type="http://schemas.openxmlformats.org/officeDocument/2006/relationships/tags" Target="../tags/tag66.xml"/><Relationship Id="rId74" Type="http://schemas.openxmlformats.org/officeDocument/2006/relationships/slideLayout" Target="../slideLayouts/slideLayout5.xml"/><Relationship Id="rId79" Type="http://schemas.openxmlformats.org/officeDocument/2006/relationships/image" Target="../media/image9.png"/><Relationship Id="rId5" Type="http://schemas.openxmlformats.org/officeDocument/2006/relationships/tags" Target="../tags/tag13.xml"/><Relationship Id="rId90" Type="http://schemas.openxmlformats.org/officeDocument/2006/relationships/chart" Target="../charts/chart9.xml"/><Relationship Id="rId95" Type="http://schemas.openxmlformats.org/officeDocument/2006/relationships/chart" Target="../charts/chart14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43" Type="http://schemas.openxmlformats.org/officeDocument/2006/relationships/tags" Target="../tags/tag51.xml"/><Relationship Id="rId48" Type="http://schemas.openxmlformats.org/officeDocument/2006/relationships/tags" Target="../tags/tag56.xml"/><Relationship Id="rId64" Type="http://schemas.openxmlformats.org/officeDocument/2006/relationships/tags" Target="../tags/tag72.xml"/><Relationship Id="rId69" Type="http://schemas.openxmlformats.org/officeDocument/2006/relationships/tags" Target="../tags/tag77.xml"/><Relationship Id="rId80" Type="http://schemas.openxmlformats.org/officeDocument/2006/relationships/image" Target="../media/image10.jpeg"/><Relationship Id="rId85" Type="http://schemas.openxmlformats.org/officeDocument/2006/relationships/chart" Target="../charts/chart4.xml"/><Relationship Id="rId3" Type="http://schemas.openxmlformats.org/officeDocument/2006/relationships/tags" Target="../tags/tag11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tags" Target="../tags/tag41.xml"/><Relationship Id="rId38" Type="http://schemas.openxmlformats.org/officeDocument/2006/relationships/tags" Target="../tags/tag46.xml"/><Relationship Id="rId46" Type="http://schemas.openxmlformats.org/officeDocument/2006/relationships/tags" Target="../tags/tag54.xml"/><Relationship Id="rId59" Type="http://schemas.openxmlformats.org/officeDocument/2006/relationships/tags" Target="../tags/tag67.xml"/><Relationship Id="rId67" Type="http://schemas.openxmlformats.org/officeDocument/2006/relationships/tags" Target="../tags/tag75.xml"/><Relationship Id="rId20" Type="http://schemas.openxmlformats.org/officeDocument/2006/relationships/tags" Target="../tags/tag28.xml"/><Relationship Id="rId41" Type="http://schemas.openxmlformats.org/officeDocument/2006/relationships/tags" Target="../tags/tag49.xml"/><Relationship Id="rId54" Type="http://schemas.openxmlformats.org/officeDocument/2006/relationships/tags" Target="../tags/tag62.xml"/><Relationship Id="rId62" Type="http://schemas.openxmlformats.org/officeDocument/2006/relationships/tags" Target="../tags/tag70.xml"/><Relationship Id="rId70" Type="http://schemas.openxmlformats.org/officeDocument/2006/relationships/tags" Target="../tags/tag78.xml"/><Relationship Id="rId75" Type="http://schemas.openxmlformats.org/officeDocument/2006/relationships/notesSlide" Target="../notesSlides/notesSlide1.xml"/><Relationship Id="rId83" Type="http://schemas.openxmlformats.org/officeDocument/2006/relationships/chart" Target="../charts/chart2.xml"/><Relationship Id="rId88" Type="http://schemas.openxmlformats.org/officeDocument/2006/relationships/chart" Target="../charts/chart7.xml"/><Relationship Id="rId91" Type="http://schemas.openxmlformats.org/officeDocument/2006/relationships/chart" Target="../charts/chart10.xml"/><Relationship Id="rId96" Type="http://schemas.openxmlformats.org/officeDocument/2006/relationships/chart" Target="../charts/chart15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36" Type="http://schemas.openxmlformats.org/officeDocument/2006/relationships/tags" Target="../tags/tag44.xml"/><Relationship Id="rId49" Type="http://schemas.openxmlformats.org/officeDocument/2006/relationships/tags" Target="../tags/tag57.xml"/><Relationship Id="rId57" Type="http://schemas.openxmlformats.org/officeDocument/2006/relationships/tags" Target="../tags/tag65.xml"/><Relationship Id="rId10" Type="http://schemas.openxmlformats.org/officeDocument/2006/relationships/tags" Target="../tags/tag18.xml"/><Relationship Id="rId31" Type="http://schemas.openxmlformats.org/officeDocument/2006/relationships/tags" Target="../tags/tag39.xml"/><Relationship Id="rId44" Type="http://schemas.openxmlformats.org/officeDocument/2006/relationships/tags" Target="../tags/tag52.xml"/><Relationship Id="rId52" Type="http://schemas.openxmlformats.org/officeDocument/2006/relationships/tags" Target="../tags/tag60.xml"/><Relationship Id="rId60" Type="http://schemas.openxmlformats.org/officeDocument/2006/relationships/tags" Target="../tags/tag68.xml"/><Relationship Id="rId65" Type="http://schemas.openxmlformats.org/officeDocument/2006/relationships/tags" Target="../tags/tag73.xml"/><Relationship Id="rId73" Type="http://schemas.openxmlformats.org/officeDocument/2006/relationships/tags" Target="../tags/tag81.xml"/><Relationship Id="rId78" Type="http://schemas.openxmlformats.org/officeDocument/2006/relationships/image" Target="../media/image8.png"/><Relationship Id="rId81" Type="http://schemas.openxmlformats.org/officeDocument/2006/relationships/image" Target="../media/image11.jpeg"/><Relationship Id="rId86" Type="http://schemas.openxmlformats.org/officeDocument/2006/relationships/chart" Target="../charts/chart5.xml"/><Relationship Id="rId94" Type="http://schemas.openxmlformats.org/officeDocument/2006/relationships/chart" Target="../charts/chart13.xml"/><Relationship Id="rId99" Type="http://schemas.openxmlformats.org/officeDocument/2006/relationships/chart" Target="../charts/chart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39" Type="http://schemas.openxmlformats.org/officeDocument/2006/relationships/tags" Target="../tags/tag47.xml"/><Relationship Id="rId34" Type="http://schemas.openxmlformats.org/officeDocument/2006/relationships/tags" Target="../tags/tag42.xml"/><Relationship Id="rId50" Type="http://schemas.openxmlformats.org/officeDocument/2006/relationships/tags" Target="../tags/tag58.xml"/><Relationship Id="rId55" Type="http://schemas.openxmlformats.org/officeDocument/2006/relationships/tags" Target="../tags/tag63.xml"/><Relationship Id="rId76" Type="http://schemas.openxmlformats.org/officeDocument/2006/relationships/oleObject" Target="../embeddings/oleObject7.bin"/><Relationship Id="rId97" Type="http://schemas.openxmlformats.org/officeDocument/2006/relationships/chart" Target="../charts/chart16.xml"/><Relationship Id="rId7" Type="http://schemas.openxmlformats.org/officeDocument/2006/relationships/tags" Target="../tags/tag15.xml"/><Relationship Id="rId71" Type="http://schemas.openxmlformats.org/officeDocument/2006/relationships/tags" Target="../tags/tag79.xml"/><Relationship Id="rId92" Type="http://schemas.openxmlformats.org/officeDocument/2006/relationships/chart" Target="../charts/chart11.xml"/><Relationship Id="rId2" Type="http://schemas.openxmlformats.org/officeDocument/2006/relationships/tags" Target="../tags/tag10.xml"/><Relationship Id="rId29" Type="http://schemas.openxmlformats.org/officeDocument/2006/relationships/tags" Target="../tags/tag37.xml"/><Relationship Id="rId24" Type="http://schemas.openxmlformats.org/officeDocument/2006/relationships/tags" Target="../tags/tag32.xml"/><Relationship Id="rId40" Type="http://schemas.openxmlformats.org/officeDocument/2006/relationships/tags" Target="../tags/tag48.xml"/><Relationship Id="rId45" Type="http://schemas.openxmlformats.org/officeDocument/2006/relationships/tags" Target="../tags/tag53.xml"/><Relationship Id="rId66" Type="http://schemas.openxmlformats.org/officeDocument/2006/relationships/tags" Target="../tags/tag74.xml"/><Relationship Id="rId87" Type="http://schemas.openxmlformats.org/officeDocument/2006/relationships/chart" Target="../charts/chart6.xml"/><Relationship Id="rId61" Type="http://schemas.openxmlformats.org/officeDocument/2006/relationships/tags" Target="../tags/tag69.xml"/><Relationship Id="rId82" Type="http://schemas.openxmlformats.org/officeDocument/2006/relationships/chart" Target="../charts/chart1.xml"/><Relationship Id="rId19" Type="http://schemas.openxmlformats.org/officeDocument/2006/relationships/tags" Target="../tags/tag27.xml"/><Relationship Id="rId14" Type="http://schemas.openxmlformats.org/officeDocument/2006/relationships/tags" Target="../tags/tag22.xml"/><Relationship Id="rId30" Type="http://schemas.openxmlformats.org/officeDocument/2006/relationships/tags" Target="../tags/tag38.xml"/><Relationship Id="rId35" Type="http://schemas.openxmlformats.org/officeDocument/2006/relationships/tags" Target="../tags/tag43.xml"/><Relationship Id="rId56" Type="http://schemas.openxmlformats.org/officeDocument/2006/relationships/tags" Target="../tags/tag64.xml"/><Relationship Id="rId77" Type="http://schemas.openxmlformats.org/officeDocument/2006/relationships/image" Target="../media/image7.emf"/><Relationship Id="rId8" Type="http://schemas.openxmlformats.org/officeDocument/2006/relationships/tags" Target="../tags/tag16.xml"/><Relationship Id="rId51" Type="http://schemas.openxmlformats.org/officeDocument/2006/relationships/tags" Target="../tags/tag59.xml"/><Relationship Id="rId72" Type="http://schemas.openxmlformats.org/officeDocument/2006/relationships/tags" Target="../tags/tag80.xml"/><Relationship Id="rId93" Type="http://schemas.openxmlformats.org/officeDocument/2006/relationships/chart" Target="../charts/chart12.xml"/><Relationship Id="rId98" Type="http://schemas.openxmlformats.org/officeDocument/2006/relationships/chart" Target="../charts/chart1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107.xml"/><Relationship Id="rId21" Type="http://schemas.openxmlformats.org/officeDocument/2006/relationships/tags" Target="../tags/tag102.xml"/><Relationship Id="rId42" Type="http://schemas.openxmlformats.org/officeDocument/2006/relationships/tags" Target="../tags/tag123.xml"/><Relationship Id="rId47" Type="http://schemas.openxmlformats.org/officeDocument/2006/relationships/tags" Target="../tags/tag128.xml"/><Relationship Id="rId63" Type="http://schemas.openxmlformats.org/officeDocument/2006/relationships/chart" Target="../charts/chart24.xml"/><Relationship Id="rId68" Type="http://schemas.openxmlformats.org/officeDocument/2006/relationships/chart" Target="../charts/chart29.xml"/><Relationship Id="rId7" Type="http://schemas.openxmlformats.org/officeDocument/2006/relationships/tags" Target="../tags/tag88.xml"/><Relationship Id="rId2" Type="http://schemas.openxmlformats.org/officeDocument/2006/relationships/tags" Target="../tags/tag83.xml"/><Relationship Id="rId16" Type="http://schemas.openxmlformats.org/officeDocument/2006/relationships/tags" Target="../tags/tag97.xml"/><Relationship Id="rId29" Type="http://schemas.openxmlformats.org/officeDocument/2006/relationships/tags" Target="../tags/tag110.xml"/><Relationship Id="rId11" Type="http://schemas.openxmlformats.org/officeDocument/2006/relationships/tags" Target="../tags/tag92.xml"/><Relationship Id="rId24" Type="http://schemas.openxmlformats.org/officeDocument/2006/relationships/tags" Target="../tags/tag105.xml"/><Relationship Id="rId32" Type="http://schemas.openxmlformats.org/officeDocument/2006/relationships/tags" Target="../tags/tag113.xml"/><Relationship Id="rId37" Type="http://schemas.openxmlformats.org/officeDocument/2006/relationships/tags" Target="../tags/tag118.xml"/><Relationship Id="rId40" Type="http://schemas.openxmlformats.org/officeDocument/2006/relationships/tags" Target="../tags/tag121.xml"/><Relationship Id="rId45" Type="http://schemas.openxmlformats.org/officeDocument/2006/relationships/tags" Target="../tags/tag126.xml"/><Relationship Id="rId53" Type="http://schemas.openxmlformats.org/officeDocument/2006/relationships/image" Target="../media/image7.emf"/><Relationship Id="rId58" Type="http://schemas.openxmlformats.org/officeDocument/2006/relationships/chart" Target="../charts/chart20.xml"/><Relationship Id="rId66" Type="http://schemas.openxmlformats.org/officeDocument/2006/relationships/chart" Target="../charts/chart27.xml"/><Relationship Id="rId5" Type="http://schemas.openxmlformats.org/officeDocument/2006/relationships/tags" Target="../tags/tag86.xml"/><Relationship Id="rId61" Type="http://schemas.openxmlformats.org/officeDocument/2006/relationships/image" Target="../media/image15.png"/><Relationship Id="rId19" Type="http://schemas.openxmlformats.org/officeDocument/2006/relationships/tags" Target="../tags/tag100.xml"/><Relationship Id="rId14" Type="http://schemas.openxmlformats.org/officeDocument/2006/relationships/tags" Target="../tags/tag95.xml"/><Relationship Id="rId22" Type="http://schemas.openxmlformats.org/officeDocument/2006/relationships/tags" Target="../tags/tag103.xml"/><Relationship Id="rId27" Type="http://schemas.openxmlformats.org/officeDocument/2006/relationships/tags" Target="../tags/tag108.xml"/><Relationship Id="rId30" Type="http://schemas.openxmlformats.org/officeDocument/2006/relationships/tags" Target="../tags/tag111.xml"/><Relationship Id="rId35" Type="http://schemas.openxmlformats.org/officeDocument/2006/relationships/tags" Target="../tags/tag116.xml"/><Relationship Id="rId43" Type="http://schemas.openxmlformats.org/officeDocument/2006/relationships/tags" Target="../tags/tag124.xml"/><Relationship Id="rId48" Type="http://schemas.openxmlformats.org/officeDocument/2006/relationships/tags" Target="../tags/tag129.xml"/><Relationship Id="rId56" Type="http://schemas.openxmlformats.org/officeDocument/2006/relationships/image" Target="../media/image14.png"/><Relationship Id="rId64" Type="http://schemas.openxmlformats.org/officeDocument/2006/relationships/chart" Target="../charts/chart25.xml"/><Relationship Id="rId69" Type="http://schemas.openxmlformats.org/officeDocument/2006/relationships/chart" Target="../charts/chart30.xml"/><Relationship Id="rId8" Type="http://schemas.openxmlformats.org/officeDocument/2006/relationships/tags" Target="../tags/tag89.xml"/><Relationship Id="rId51" Type="http://schemas.openxmlformats.org/officeDocument/2006/relationships/notesSlide" Target="../notesSlides/notesSlide2.xml"/><Relationship Id="rId3" Type="http://schemas.openxmlformats.org/officeDocument/2006/relationships/tags" Target="../tags/tag84.xml"/><Relationship Id="rId12" Type="http://schemas.openxmlformats.org/officeDocument/2006/relationships/tags" Target="../tags/tag93.xml"/><Relationship Id="rId17" Type="http://schemas.openxmlformats.org/officeDocument/2006/relationships/tags" Target="../tags/tag98.xml"/><Relationship Id="rId25" Type="http://schemas.openxmlformats.org/officeDocument/2006/relationships/tags" Target="../tags/tag106.xml"/><Relationship Id="rId33" Type="http://schemas.openxmlformats.org/officeDocument/2006/relationships/tags" Target="../tags/tag114.xml"/><Relationship Id="rId38" Type="http://schemas.openxmlformats.org/officeDocument/2006/relationships/tags" Target="../tags/tag119.xml"/><Relationship Id="rId46" Type="http://schemas.openxmlformats.org/officeDocument/2006/relationships/tags" Target="../tags/tag127.xml"/><Relationship Id="rId59" Type="http://schemas.openxmlformats.org/officeDocument/2006/relationships/chart" Target="../charts/chart21.xml"/><Relationship Id="rId67" Type="http://schemas.openxmlformats.org/officeDocument/2006/relationships/chart" Target="../charts/chart28.xml"/><Relationship Id="rId20" Type="http://schemas.openxmlformats.org/officeDocument/2006/relationships/tags" Target="../tags/tag101.xml"/><Relationship Id="rId41" Type="http://schemas.openxmlformats.org/officeDocument/2006/relationships/tags" Target="../tags/tag122.xml"/><Relationship Id="rId54" Type="http://schemas.openxmlformats.org/officeDocument/2006/relationships/image" Target="../media/image12.png"/><Relationship Id="rId62" Type="http://schemas.openxmlformats.org/officeDocument/2006/relationships/chart" Target="../charts/chart2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5" Type="http://schemas.openxmlformats.org/officeDocument/2006/relationships/tags" Target="../tags/tag96.xml"/><Relationship Id="rId23" Type="http://schemas.openxmlformats.org/officeDocument/2006/relationships/tags" Target="../tags/tag104.xml"/><Relationship Id="rId28" Type="http://schemas.openxmlformats.org/officeDocument/2006/relationships/tags" Target="../tags/tag109.xml"/><Relationship Id="rId36" Type="http://schemas.openxmlformats.org/officeDocument/2006/relationships/tags" Target="../tags/tag117.xml"/><Relationship Id="rId49" Type="http://schemas.openxmlformats.org/officeDocument/2006/relationships/tags" Target="../tags/tag130.xml"/><Relationship Id="rId57" Type="http://schemas.openxmlformats.org/officeDocument/2006/relationships/chart" Target="../charts/chart19.xml"/><Relationship Id="rId10" Type="http://schemas.openxmlformats.org/officeDocument/2006/relationships/tags" Target="../tags/tag91.xml"/><Relationship Id="rId31" Type="http://schemas.openxmlformats.org/officeDocument/2006/relationships/tags" Target="../tags/tag112.xml"/><Relationship Id="rId44" Type="http://schemas.openxmlformats.org/officeDocument/2006/relationships/tags" Target="../tags/tag125.xml"/><Relationship Id="rId52" Type="http://schemas.openxmlformats.org/officeDocument/2006/relationships/oleObject" Target="../embeddings/oleObject8.bin"/><Relationship Id="rId60" Type="http://schemas.openxmlformats.org/officeDocument/2006/relationships/chart" Target="../charts/chart22.xml"/><Relationship Id="rId65" Type="http://schemas.openxmlformats.org/officeDocument/2006/relationships/chart" Target="../charts/chart26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3" Type="http://schemas.openxmlformats.org/officeDocument/2006/relationships/tags" Target="../tags/tag94.xml"/><Relationship Id="rId18" Type="http://schemas.openxmlformats.org/officeDocument/2006/relationships/tags" Target="../tags/tag99.xml"/><Relationship Id="rId39" Type="http://schemas.openxmlformats.org/officeDocument/2006/relationships/tags" Target="../tags/tag120.xml"/><Relationship Id="rId34" Type="http://schemas.openxmlformats.org/officeDocument/2006/relationships/tags" Target="../tags/tag115.xml"/><Relationship Id="rId50" Type="http://schemas.openxmlformats.org/officeDocument/2006/relationships/slideLayout" Target="../slideLayouts/slideLayout5.xml"/><Relationship Id="rId55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tags" Target="../tags/tag247.xml"/><Relationship Id="rId21" Type="http://schemas.openxmlformats.org/officeDocument/2006/relationships/tags" Target="../tags/tag151.xml"/><Relationship Id="rId42" Type="http://schemas.openxmlformats.org/officeDocument/2006/relationships/tags" Target="../tags/tag172.xml"/><Relationship Id="rId63" Type="http://schemas.openxmlformats.org/officeDocument/2006/relationships/tags" Target="../tags/tag193.xml"/><Relationship Id="rId84" Type="http://schemas.openxmlformats.org/officeDocument/2006/relationships/tags" Target="../tags/tag214.xml"/><Relationship Id="rId138" Type="http://schemas.openxmlformats.org/officeDocument/2006/relationships/oleObject" Target="../embeddings/oleObject9.bin"/><Relationship Id="rId107" Type="http://schemas.openxmlformats.org/officeDocument/2006/relationships/tags" Target="../tags/tag237.xml"/><Relationship Id="rId11" Type="http://schemas.openxmlformats.org/officeDocument/2006/relationships/tags" Target="../tags/tag141.xml"/><Relationship Id="rId32" Type="http://schemas.openxmlformats.org/officeDocument/2006/relationships/tags" Target="../tags/tag162.xml"/><Relationship Id="rId53" Type="http://schemas.openxmlformats.org/officeDocument/2006/relationships/tags" Target="../tags/tag183.xml"/><Relationship Id="rId74" Type="http://schemas.openxmlformats.org/officeDocument/2006/relationships/tags" Target="../tags/tag204.xml"/><Relationship Id="rId128" Type="http://schemas.openxmlformats.org/officeDocument/2006/relationships/tags" Target="../tags/tag258.xml"/><Relationship Id="rId149" Type="http://schemas.openxmlformats.org/officeDocument/2006/relationships/image" Target="../media/image16.jpeg"/><Relationship Id="rId5" Type="http://schemas.openxmlformats.org/officeDocument/2006/relationships/tags" Target="../tags/tag135.xml"/><Relationship Id="rId95" Type="http://schemas.openxmlformats.org/officeDocument/2006/relationships/tags" Target="../tags/tag225.xml"/><Relationship Id="rId22" Type="http://schemas.openxmlformats.org/officeDocument/2006/relationships/tags" Target="../tags/tag152.xml"/><Relationship Id="rId27" Type="http://schemas.openxmlformats.org/officeDocument/2006/relationships/tags" Target="../tags/tag157.xml"/><Relationship Id="rId43" Type="http://schemas.openxmlformats.org/officeDocument/2006/relationships/tags" Target="../tags/tag173.xml"/><Relationship Id="rId48" Type="http://schemas.openxmlformats.org/officeDocument/2006/relationships/tags" Target="../tags/tag178.xml"/><Relationship Id="rId64" Type="http://schemas.openxmlformats.org/officeDocument/2006/relationships/tags" Target="../tags/tag194.xml"/><Relationship Id="rId69" Type="http://schemas.openxmlformats.org/officeDocument/2006/relationships/tags" Target="../tags/tag199.xml"/><Relationship Id="rId113" Type="http://schemas.openxmlformats.org/officeDocument/2006/relationships/tags" Target="../tags/tag243.xml"/><Relationship Id="rId118" Type="http://schemas.openxmlformats.org/officeDocument/2006/relationships/tags" Target="../tags/tag248.xml"/><Relationship Id="rId134" Type="http://schemas.openxmlformats.org/officeDocument/2006/relationships/tags" Target="../tags/tag264.xml"/><Relationship Id="rId139" Type="http://schemas.openxmlformats.org/officeDocument/2006/relationships/image" Target="../media/image1.emf"/><Relationship Id="rId80" Type="http://schemas.openxmlformats.org/officeDocument/2006/relationships/tags" Target="../tags/tag210.xml"/><Relationship Id="rId85" Type="http://schemas.openxmlformats.org/officeDocument/2006/relationships/tags" Target="../tags/tag215.xml"/><Relationship Id="rId150" Type="http://schemas.openxmlformats.org/officeDocument/2006/relationships/image" Target="../media/image17.jpeg"/><Relationship Id="rId155" Type="http://schemas.openxmlformats.org/officeDocument/2006/relationships/image" Target="../media/image22.png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33" Type="http://schemas.openxmlformats.org/officeDocument/2006/relationships/tags" Target="../tags/tag163.xml"/><Relationship Id="rId38" Type="http://schemas.openxmlformats.org/officeDocument/2006/relationships/tags" Target="../tags/tag168.xml"/><Relationship Id="rId59" Type="http://schemas.openxmlformats.org/officeDocument/2006/relationships/tags" Target="../tags/tag189.xml"/><Relationship Id="rId103" Type="http://schemas.openxmlformats.org/officeDocument/2006/relationships/tags" Target="../tags/tag233.xml"/><Relationship Id="rId108" Type="http://schemas.openxmlformats.org/officeDocument/2006/relationships/tags" Target="../tags/tag238.xml"/><Relationship Id="rId124" Type="http://schemas.openxmlformats.org/officeDocument/2006/relationships/tags" Target="../tags/tag254.xml"/><Relationship Id="rId129" Type="http://schemas.openxmlformats.org/officeDocument/2006/relationships/tags" Target="../tags/tag259.xml"/><Relationship Id="rId54" Type="http://schemas.openxmlformats.org/officeDocument/2006/relationships/tags" Target="../tags/tag184.xml"/><Relationship Id="rId70" Type="http://schemas.openxmlformats.org/officeDocument/2006/relationships/tags" Target="../tags/tag200.xml"/><Relationship Id="rId75" Type="http://schemas.openxmlformats.org/officeDocument/2006/relationships/tags" Target="../tags/tag205.xml"/><Relationship Id="rId91" Type="http://schemas.openxmlformats.org/officeDocument/2006/relationships/tags" Target="../tags/tag221.xml"/><Relationship Id="rId96" Type="http://schemas.openxmlformats.org/officeDocument/2006/relationships/tags" Target="../tags/tag226.xml"/><Relationship Id="rId140" Type="http://schemas.openxmlformats.org/officeDocument/2006/relationships/chart" Target="../charts/chart31.xml"/><Relationship Id="rId145" Type="http://schemas.openxmlformats.org/officeDocument/2006/relationships/chart" Target="../charts/chart3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23" Type="http://schemas.openxmlformats.org/officeDocument/2006/relationships/tags" Target="../tags/tag153.xml"/><Relationship Id="rId28" Type="http://schemas.openxmlformats.org/officeDocument/2006/relationships/tags" Target="../tags/tag158.xml"/><Relationship Id="rId49" Type="http://schemas.openxmlformats.org/officeDocument/2006/relationships/tags" Target="../tags/tag179.xml"/><Relationship Id="rId114" Type="http://schemas.openxmlformats.org/officeDocument/2006/relationships/tags" Target="../tags/tag244.xml"/><Relationship Id="rId119" Type="http://schemas.openxmlformats.org/officeDocument/2006/relationships/tags" Target="../tags/tag249.xml"/><Relationship Id="rId44" Type="http://schemas.openxmlformats.org/officeDocument/2006/relationships/tags" Target="../tags/tag174.xml"/><Relationship Id="rId60" Type="http://schemas.openxmlformats.org/officeDocument/2006/relationships/tags" Target="../tags/tag190.xml"/><Relationship Id="rId65" Type="http://schemas.openxmlformats.org/officeDocument/2006/relationships/tags" Target="../tags/tag195.xml"/><Relationship Id="rId81" Type="http://schemas.openxmlformats.org/officeDocument/2006/relationships/tags" Target="../tags/tag211.xml"/><Relationship Id="rId86" Type="http://schemas.openxmlformats.org/officeDocument/2006/relationships/tags" Target="../tags/tag216.xml"/><Relationship Id="rId130" Type="http://schemas.openxmlformats.org/officeDocument/2006/relationships/tags" Target="../tags/tag260.xml"/><Relationship Id="rId135" Type="http://schemas.openxmlformats.org/officeDocument/2006/relationships/tags" Target="../tags/tag265.xml"/><Relationship Id="rId151" Type="http://schemas.openxmlformats.org/officeDocument/2006/relationships/image" Target="../media/image18.png"/><Relationship Id="rId156" Type="http://schemas.openxmlformats.org/officeDocument/2006/relationships/image" Target="../media/image23.png"/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39" Type="http://schemas.openxmlformats.org/officeDocument/2006/relationships/tags" Target="../tags/tag169.xml"/><Relationship Id="rId109" Type="http://schemas.openxmlformats.org/officeDocument/2006/relationships/tags" Target="../tags/tag239.xml"/><Relationship Id="rId34" Type="http://schemas.openxmlformats.org/officeDocument/2006/relationships/tags" Target="../tags/tag164.xml"/><Relationship Id="rId50" Type="http://schemas.openxmlformats.org/officeDocument/2006/relationships/tags" Target="../tags/tag180.xml"/><Relationship Id="rId55" Type="http://schemas.openxmlformats.org/officeDocument/2006/relationships/tags" Target="../tags/tag185.xml"/><Relationship Id="rId76" Type="http://schemas.openxmlformats.org/officeDocument/2006/relationships/tags" Target="../tags/tag206.xml"/><Relationship Id="rId97" Type="http://schemas.openxmlformats.org/officeDocument/2006/relationships/tags" Target="../tags/tag227.xml"/><Relationship Id="rId104" Type="http://schemas.openxmlformats.org/officeDocument/2006/relationships/tags" Target="../tags/tag234.xml"/><Relationship Id="rId120" Type="http://schemas.openxmlformats.org/officeDocument/2006/relationships/tags" Target="../tags/tag250.xml"/><Relationship Id="rId125" Type="http://schemas.openxmlformats.org/officeDocument/2006/relationships/tags" Target="../tags/tag255.xml"/><Relationship Id="rId141" Type="http://schemas.openxmlformats.org/officeDocument/2006/relationships/chart" Target="../charts/chart32.xml"/><Relationship Id="rId146" Type="http://schemas.openxmlformats.org/officeDocument/2006/relationships/chart" Target="../charts/chart37.xml"/><Relationship Id="rId7" Type="http://schemas.openxmlformats.org/officeDocument/2006/relationships/tags" Target="../tags/tag137.xml"/><Relationship Id="rId71" Type="http://schemas.openxmlformats.org/officeDocument/2006/relationships/tags" Target="../tags/tag201.xml"/><Relationship Id="rId92" Type="http://schemas.openxmlformats.org/officeDocument/2006/relationships/tags" Target="../tags/tag222.xml"/><Relationship Id="rId2" Type="http://schemas.openxmlformats.org/officeDocument/2006/relationships/tags" Target="../tags/tag132.xml"/><Relationship Id="rId29" Type="http://schemas.openxmlformats.org/officeDocument/2006/relationships/tags" Target="../tags/tag159.xml"/><Relationship Id="rId24" Type="http://schemas.openxmlformats.org/officeDocument/2006/relationships/tags" Target="../tags/tag154.xml"/><Relationship Id="rId40" Type="http://schemas.openxmlformats.org/officeDocument/2006/relationships/tags" Target="../tags/tag170.xml"/><Relationship Id="rId45" Type="http://schemas.openxmlformats.org/officeDocument/2006/relationships/tags" Target="../tags/tag175.xml"/><Relationship Id="rId66" Type="http://schemas.openxmlformats.org/officeDocument/2006/relationships/tags" Target="../tags/tag196.xml"/><Relationship Id="rId87" Type="http://schemas.openxmlformats.org/officeDocument/2006/relationships/tags" Target="../tags/tag217.xml"/><Relationship Id="rId110" Type="http://schemas.openxmlformats.org/officeDocument/2006/relationships/tags" Target="../tags/tag240.xml"/><Relationship Id="rId115" Type="http://schemas.openxmlformats.org/officeDocument/2006/relationships/tags" Target="../tags/tag245.xml"/><Relationship Id="rId131" Type="http://schemas.openxmlformats.org/officeDocument/2006/relationships/tags" Target="../tags/tag261.xml"/><Relationship Id="rId136" Type="http://schemas.openxmlformats.org/officeDocument/2006/relationships/slideLayout" Target="../slideLayouts/slideLayout5.xml"/><Relationship Id="rId61" Type="http://schemas.openxmlformats.org/officeDocument/2006/relationships/tags" Target="../tags/tag191.xml"/><Relationship Id="rId82" Type="http://schemas.openxmlformats.org/officeDocument/2006/relationships/tags" Target="../tags/tag212.xml"/><Relationship Id="rId152" Type="http://schemas.openxmlformats.org/officeDocument/2006/relationships/image" Target="../media/image19.png"/><Relationship Id="rId19" Type="http://schemas.openxmlformats.org/officeDocument/2006/relationships/tags" Target="../tags/tag149.xml"/><Relationship Id="rId14" Type="http://schemas.openxmlformats.org/officeDocument/2006/relationships/tags" Target="../tags/tag144.xml"/><Relationship Id="rId30" Type="http://schemas.openxmlformats.org/officeDocument/2006/relationships/tags" Target="../tags/tag160.xml"/><Relationship Id="rId35" Type="http://schemas.openxmlformats.org/officeDocument/2006/relationships/tags" Target="../tags/tag165.xml"/><Relationship Id="rId56" Type="http://schemas.openxmlformats.org/officeDocument/2006/relationships/tags" Target="../tags/tag186.xml"/><Relationship Id="rId77" Type="http://schemas.openxmlformats.org/officeDocument/2006/relationships/tags" Target="../tags/tag207.xml"/><Relationship Id="rId100" Type="http://schemas.openxmlformats.org/officeDocument/2006/relationships/tags" Target="../tags/tag230.xml"/><Relationship Id="rId105" Type="http://schemas.openxmlformats.org/officeDocument/2006/relationships/tags" Target="../tags/tag235.xml"/><Relationship Id="rId126" Type="http://schemas.openxmlformats.org/officeDocument/2006/relationships/tags" Target="../tags/tag256.xml"/><Relationship Id="rId147" Type="http://schemas.openxmlformats.org/officeDocument/2006/relationships/chart" Target="../charts/chart38.xml"/><Relationship Id="rId8" Type="http://schemas.openxmlformats.org/officeDocument/2006/relationships/tags" Target="../tags/tag138.xml"/><Relationship Id="rId51" Type="http://schemas.openxmlformats.org/officeDocument/2006/relationships/tags" Target="../tags/tag181.xml"/><Relationship Id="rId72" Type="http://schemas.openxmlformats.org/officeDocument/2006/relationships/tags" Target="../tags/tag202.xml"/><Relationship Id="rId93" Type="http://schemas.openxmlformats.org/officeDocument/2006/relationships/tags" Target="../tags/tag223.xml"/><Relationship Id="rId98" Type="http://schemas.openxmlformats.org/officeDocument/2006/relationships/tags" Target="../tags/tag228.xml"/><Relationship Id="rId121" Type="http://schemas.openxmlformats.org/officeDocument/2006/relationships/tags" Target="../tags/tag251.xml"/><Relationship Id="rId142" Type="http://schemas.openxmlformats.org/officeDocument/2006/relationships/chart" Target="../charts/chart33.xml"/><Relationship Id="rId3" Type="http://schemas.openxmlformats.org/officeDocument/2006/relationships/tags" Target="../tags/tag133.xml"/><Relationship Id="rId25" Type="http://schemas.openxmlformats.org/officeDocument/2006/relationships/tags" Target="../tags/tag155.xml"/><Relationship Id="rId46" Type="http://schemas.openxmlformats.org/officeDocument/2006/relationships/tags" Target="../tags/tag176.xml"/><Relationship Id="rId67" Type="http://schemas.openxmlformats.org/officeDocument/2006/relationships/tags" Target="../tags/tag197.xml"/><Relationship Id="rId116" Type="http://schemas.openxmlformats.org/officeDocument/2006/relationships/tags" Target="../tags/tag246.xml"/><Relationship Id="rId137" Type="http://schemas.openxmlformats.org/officeDocument/2006/relationships/notesSlide" Target="../notesSlides/notesSlide3.xml"/><Relationship Id="rId20" Type="http://schemas.openxmlformats.org/officeDocument/2006/relationships/tags" Target="../tags/tag150.xml"/><Relationship Id="rId41" Type="http://schemas.openxmlformats.org/officeDocument/2006/relationships/tags" Target="../tags/tag171.xml"/><Relationship Id="rId62" Type="http://schemas.openxmlformats.org/officeDocument/2006/relationships/tags" Target="../tags/tag192.xml"/><Relationship Id="rId83" Type="http://schemas.openxmlformats.org/officeDocument/2006/relationships/tags" Target="../tags/tag213.xml"/><Relationship Id="rId88" Type="http://schemas.openxmlformats.org/officeDocument/2006/relationships/tags" Target="../tags/tag218.xml"/><Relationship Id="rId111" Type="http://schemas.openxmlformats.org/officeDocument/2006/relationships/tags" Target="../tags/tag241.xml"/><Relationship Id="rId132" Type="http://schemas.openxmlformats.org/officeDocument/2006/relationships/tags" Target="../tags/tag262.xml"/><Relationship Id="rId153" Type="http://schemas.openxmlformats.org/officeDocument/2006/relationships/image" Target="../media/image20.png"/><Relationship Id="rId15" Type="http://schemas.openxmlformats.org/officeDocument/2006/relationships/tags" Target="../tags/tag145.xml"/><Relationship Id="rId36" Type="http://schemas.openxmlformats.org/officeDocument/2006/relationships/tags" Target="../tags/tag166.xml"/><Relationship Id="rId57" Type="http://schemas.openxmlformats.org/officeDocument/2006/relationships/tags" Target="../tags/tag187.xml"/><Relationship Id="rId106" Type="http://schemas.openxmlformats.org/officeDocument/2006/relationships/tags" Target="../tags/tag236.xml"/><Relationship Id="rId127" Type="http://schemas.openxmlformats.org/officeDocument/2006/relationships/tags" Target="../tags/tag257.xml"/><Relationship Id="rId10" Type="http://schemas.openxmlformats.org/officeDocument/2006/relationships/tags" Target="../tags/tag140.xml"/><Relationship Id="rId31" Type="http://schemas.openxmlformats.org/officeDocument/2006/relationships/tags" Target="../tags/tag161.xml"/><Relationship Id="rId52" Type="http://schemas.openxmlformats.org/officeDocument/2006/relationships/tags" Target="../tags/tag182.xml"/><Relationship Id="rId73" Type="http://schemas.openxmlformats.org/officeDocument/2006/relationships/tags" Target="../tags/tag203.xml"/><Relationship Id="rId78" Type="http://schemas.openxmlformats.org/officeDocument/2006/relationships/tags" Target="../tags/tag208.xml"/><Relationship Id="rId94" Type="http://schemas.openxmlformats.org/officeDocument/2006/relationships/tags" Target="../tags/tag224.xml"/><Relationship Id="rId99" Type="http://schemas.openxmlformats.org/officeDocument/2006/relationships/tags" Target="../tags/tag229.xml"/><Relationship Id="rId101" Type="http://schemas.openxmlformats.org/officeDocument/2006/relationships/tags" Target="../tags/tag231.xml"/><Relationship Id="rId122" Type="http://schemas.openxmlformats.org/officeDocument/2006/relationships/tags" Target="../tags/tag252.xml"/><Relationship Id="rId143" Type="http://schemas.openxmlformats.org/officeDocument/2006/relationships/chart" Target="../charts/chart34.xml"/><Relationship Id="rId148" Type="http://schemas.openxmlformats.org/officeDocument/2006/relationships/chart" Target="../charts/chart39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26" Type="http://schemas.openxmlformats.org/officeDocument/2006/relationships/tags" Target="../tags/tag156.xml"/><Relationship Id="rId47" Type="http://schemas.openxmlformats.org/officeDocument/2006/relationships/tags" Target="../tags/tag177.xml"/><Relationship Id="rId68" Type="http://schemas.openxmlformats.org/officeDocument/2006/relationships/tags" Target="../tags/tag198.xml"/><Relationship Id="rId89" Type="http://schemas.openxmlformats.org/officeDocument/2006/relationships/tags" Target="../tags/tag219.xml"/><Relationship Id="rId112" Type="http://schemas.openxmlformats.org/officeDocument/2006/relationships/tags" Target="../tags/tag242.xml"/><Relationship Id="rId133" Type="http://schemas.openxmlformats.org/officeDocument/2006/relationships/tags" Target="../tags/tag263.xml"/><Relationship Id="rId154" Type="http://schemas.openxmlformats.org/officeDocument/2006/relationships/image" Target="../media/image21.png"/><Relationship Id="rId16" Type="http://schemas.openxmlformats.org/officeDocument/2006/relationships/tags" Target="../tags/tag146.xml"/><Relationship Id="rId37" Type="http://schemas.openxmlformats.org/officeDocument/2006/relationships/tags" Target="../tags/tag167.xml"/><Relationship Id="rId58" Type="http://schemas.openxmlformats.org/officeDocument/2006/relationships/tags" Target="../tags/tag188.xml"/><Relationship Id="rId79" Type="http://schemas.openxmlformats.org/officeDocument/2006/relationships/tags" Target="../tags/tag209.xml"/><Relationship Id="rId102" Type="http://schemas.openxmlformats.org/officeDocument/2006/relationships/tags" Target="../tags/tag232.xml"/><Relationship Id="rId123" Type="http://schemas.openxmlformats.org/officeDocument/2006/relationships/tags" Target="../tags/tag253.xml"/><Relationship Id="rId144" Type="http://schemas.openxmlformats.org/officeDocument/2006/relationships/chart" Target="../charts/chart35.xml"/><Relationship Id="rId90" Type="http://schemas.openxmlformats.org/officeDocument/2006/relationships/tags" Target="../tags/tag2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tags" Target="../tags/tag278.xml"/><Relationship Id="rId18" Type="http://schemas.openxmlformats.org/officeDocument/2006/relationships/image" Target="../media/image1.emf"/><Relationship Id="rId3" Type="http://schemas.openxmlformats.org/officeDocument/2006/relationships/tags" Target="../tags/tag268.xml"/><Relationship Id="rId21" Type="http://schemas.openxmlformats.org/officeDocument/2006/relationships/image" Target="../media/image9.png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17" Type="http://schemas.openxmlformats.org/officeDocument/2006/relationships/oleObject" Target="../embeddings/oleObject10.bin"/><Relationship Id="rId2" Type="http://schemas.openxmlformats.org/officeDocument/2006/relationships/tags" Target="../tags/tag267.xml"/><Relationship Id="rId16" Type="http://schemas.openxmlformats.org/officeDocument/2006/relationships/notesSlide" Target="../notesSlides/notesSlide4.xml"/><Relationship Id="rId20" Type="http://schemas.openxmlformats.org/officeDocument/2006/relationships/chart" Target="../charts/chart41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5" Type="http://schemas.openxmlformats.org/officeDocument/2006/relationships/tags" Target="../tags/tag270.xml"/><Relationship Id="rId15" Type="http://schemas.openxmlformats.org/officeDocument/2006/relationships/slideLayout" Target="../slideLayouts/slideLayout5.xml"/><Relationship Id="rId10" Type="http://schemas.openxmlformats.org/officeDocument/2006/relationships/tags" Target="../tags/tag275.xml"/><Relationship Id="rId19" Type="http://schemas.openxmlformats.org/officeDocument/2006/relationships/chart" Target="../charts/chart40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tags" Target="../tags/tag279.xml"/><Relationship Id="rId22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305.xml"/><Relationship Id="rId21" Type="http://schemas.openxmlformats.org/officeDocument/2006/relationships/tags" Target="../tags/tag300.xml"/><Relationship Id="rId42" Type="http://schemas.openxmlformats.org/officeDocument/2006/relationships/tags" Target="../tags/tag321.xml"/><Relationship Id="rId47" Type="http://schemas.openxmlformats.org/officeDocument/2006/relationships/tags" Target="../tags/tag326.xml"/><Relationship Id="rId63" Type="http://schemas.openxmlformats.org/officeDocument/2006/relationships/oleObject" Target="../embeddings/oleObject11.bin"/><Relationship Id="rId68" Type="http://schemas.openxmlformats.org/officeDocument/2006/relationships/image" Target="../media/image27.png"/><Relationship Id="rId84" Type="http://schemas.openxmlformats.org/officeDocument/2006/relationships/chart" Target="../charts/chart53.xml"/><Relationship Id="rId89" Type="http://schemas.openxmlformats.org/officeDocument/2006/relationships/image" Target="../media/image36.png"/><Relationship Id="rId16" Type="http://schemas.openxmlformats.org/officeDocument/2006/relationships/tags" Target="../tags/tag295.xml"/><Relationship Id="rId11" Type="http://schemas.openxmlformats.org/officeDocument/2006/relationships/tags" Target="../tags/tag290.xml"/><Relationship Id="rId32" Type="http://schemas.openxmlformats.org/officeDocument/2006/relationships/tags" Target="../tags/tag311.xml"/><Relationship Id="rId37" Type="http://schemas.openxmlformats.org/officeDocument/2006/relationships/tags" Target="../tags/tag316.xml"/><Relationship Id="rId53" Type="http://schemas.openxmlformats.org/officeDocument/2006/relationships/tags" Target="../tags/tag332.xml"/><Relationship Id="rId58" Type="http://schemas.openxmlformats.org/officeDocument/2006/relationships/tags" Target="../tags/tag337.xml"/><Relationship Id="rId74" Type="http://schemas.openxmlformats.org/officeDocument/2006/relationships/chart" Target="../charts/chart47.xml"/><Relationship Id="rId79" Type="http://schemas.openxmlformats.org/officeDocument/2006/relationships/image" Target="../media/image30.png"/><Relationship Id="rId5" Type="http://schemas.openxmlformats.org/officeDocument/2006/relationships/tags" Target="../tags/tag284.xml"/><Relationship Id="rId90" Type="http://schemas.openxmlformats.org/officeDocument/2006/relationships/image" Target="../media/image37.png"/><Relationship Id="rId22" Type="http://schemas.openxmlformats.org/officeDocument/2006/relationships/tags" Target="../tags/tag301.xml"/><Relationship Id="rId27" Type="http://schemas.openxmlformats.org/officeDocument/2006/relationships/tags" Target="../tags/tag306.xml"/><Relationship Id="rId43" Type="http://schemas.openxmlformats.org/officeDocument/2006/relationships/tags" Target="../tags/tag322.xml"/><Relationship Id="rId48" Type="http://schemas.openxmlformats.org/officeDocument/2006/relationships/tags" Target="../tags/tag327.xml"/><Relationship Id="rId64" Type="http://schemas.openxmlformats.org/officeDocument/2006/relationships/image" Target="../media/image1.emf"/><Relationship Id="rId69" Type="http://schemas.openxmlformats.org/officeDocument/2006/relationships/chart" Target="../charts/chart42.xml"/><Relationship Id="rId8" Type="http://schemas.openxmlformats.org/officeDocument/2006/relationships/tags" Target="../tags/tag287.xml"/><Relationship Id="rId51" Type="http://schemas.openxmlformats.org/officeDocument/2006/relationships/tags" Target="../tags/tag330.xml"/><Relationship Id="rId72" Type="http://schemas.openxmlformats.org/officeDocument/2006/relationships/chart" Target="../charts/chart45.xml"/><Relationship Id="rId80" Type="http://schemas.openxmlformats.org/officeDocument/2006/relationships/chart" Target="../charts/chart50.xml"/><Relationship Id="rId85" Type="http://schemas.openxmlformats.org/officeDocument/2006/relationships/image" Target="../media/image32.png"/><Relationship Id="rId93" Type="http://schemas.openxmlformats.org/officeDocument/2006/relationships/chart" Target="../charts/chart55.xml"/><Relationship Id="rId3" Type="http://schemas.openxmlformats.org/officeDocument/2006/relationships/tags" Target="../tags/tag282.xml"/><Relationship Id="rId12" Type="http://schemas.openxmlformats.org/officeDocument/2006/relationships/tags" Target="../tags/tag291.xml"/><Relationship Id="rId17" Type="http://schemas.openxmlformats.org/officeDocument/2006/relationships/tags" Target="../tags/tag296.xml"/><Relationship Id="rId25" Type="http://schemas.openxmlformats.org/officeDocument/2006/relationships/tags" Target="../tags/tag304.xml"/><Relationship Id="rId33" Type="http://schemas.openxmlformats.org/officeDocument/2006/relationships/tags" Target="../tags/tag312.xml"/><Relationship Id="rId38" Type="http://schemas.openxmlformats.org/officeDocument/2006/relationships/tags" Target="../tags/tag317.xml"/><Relationship Id="rId46" Type="http://schemas.openxmlformats.org/officeDocument/2006/relationships/tags" Target="../tags/tag325.xml"/><Relationship Id="rId59" Type="http://schemas.openxmlformats.org/officeDocument/2006/relationships/tags" Target="../tags/tag338.xml"/><Relationship Id="rId67" Type="http://schemas.openxmlformats.org/officeDocument/2006/relationships/image" Target="../media/image26.png"/><Relationship Id="rId20" Type="http://schemas.openxmlformats.org/officeDocument/2006/relationships/tags" Target="../tags/tag299.xml"/><Relationship Id="rId41" Type="http://schemas.openxmlformats.org/officeDocument/2006/relationships/tags" Target="../tags/tag320.xml"/><Relationship Id="rId54" Type="http://schemas.openxmlformats.org/officeDocument/2006/relationships/tags" Target="../tags/tag333.xml"/><Relationship Id="rId62" Type="http://schemas.openxmlformats.org/officeDocument/2006/relationships/notesSlide" Target="../notesSlides/notesSlide5.xml"/><Relationship Id="rId70" Type="http://schemas.openxmlformats.org/officeDocument/2006/relationships/chart" Target="../charts/chart43.xml"/><Relationship Id="rId75" Type="http://schemas.openxmlformats.org/officeDocument/2006/relationships/image" Target="../media/image28.png"/><Relationship Id="rId83" Type="http://schemas.openxmlformats.org/officeDocument/2006/relationships/chart" Target="../charts/chart52.xml"/><Relationship Id="rId88" Type="http://schemas.openxmlformats.org/officeDocument/2006/relationships/image" Target="../media/image35.png"/><Relationship Id="rId91" Type="http://schemas.openxmlformats.org/officeDocument/2006/relationships/image" Target="../media/image38.png"/><Relationship Id="rId1" Type="http://schemas.openxmlformats.org/officeDocument/2006/relationships/tags" Target="../tags/tag280.xml"/><Relationship Id="rId6" Type="http://schemas.openxmlformats.org/officeDocument/2006/relationships/tags" Target="../tags/tag285.xml"/><Relationship Id="rId15" Type="http://schemas.openxmlformats.org/officeDocument/2006/relationships/tags" Target="../tags/tag294.xml"/><Relationship Id="rId23" Type="http://schemas.openxmlformats.org/officeDocument/2006/relationships/tags" Target="../tags/tag302.xml"/><Relationship Id="rId28" Type="http://schemas.openxmlformats.org/officeDocument/2006/relationships/tags" Target="../tags/tag307.xml"/><Relationship Id="rId36" Type="http://schemas.openxmlformats.org/officeDocument/2006/relationships/tags" Target="../tags/tag315.xml"/><Relationship Id="rId49" Type="http://schemas.openxmlformats.org/officeDocument/2006/relationships/tags" Target="../tags/tag328.xml"/><Relationship Id="rId57" Type="http://schemas.openxmlformats.org/officeDocument/2006/relationships/tags" Target="../tags/tag336.xml"/><Relationship Id="rId10" Type="http://schemas.openxmlformats.org/officeDocument/2006/relationships/tags" Target="../tags/tag289.xml"/><Relationship Id="rId31" Type="http://schemas.openxmlformats.org/officeDocument/2006/relationships/tags" Target="../tags/tag310.xml"/><Relationship Id="rId44" Type="http://schemas.openxmlformats.org/officeDocument/2006/relationships/tags" Target="../tags/tag323.xml"/><Relationship Id="rId52" Type="http://schemas.openxmlformats.org/officeDocument/2006/relationships/tags" Target="../tags/tag331.xml"/><Relationship Id="rId60" Type="http://schemas.openxmlformats.org/officeDocument/2006/relationships/tags" Target="../tags/tag339.xml"/><Relationship Id="rId65" Type="http://schemas.openxmlformats.org/officeDocument/2006/relationships/image" Target="../media/image10.jpeg"/><Relationship Id="rId73" Type="http://schemas.openxmlformats.org/officeDocument/2006/relationships/chart" Target="../charts/chart46.xml"/><Relationship Id="rId78" Type="http://schemas.openxmlformats.org/officeDocument/2006/relationships/chart" Target="../charts/chart49.xml"/><Relationship Id="rId81" Type="http://schemas.openxmlformats.org/officeDocument/2006/relationships/chart" Target="../charts/chart51.xml"/><Relationship Id="rId86" Type="http://schemas.openxmlformats.org/officeDocument/2006/relationships/image" Target="../media/image33.png"/><Relationship Id="rId94" Type="http://schemas.openxmlformats.org/officeDocument/2006/relationships/chart" Target="../charts/chart56.xml"/><Relationship Id="rId4" Type="http://schemas.openxmlformats.org/officeDocument/2006/relationships/tags" Target="../tags/tag283.xml"/><Relationship Id="rId9" Type="http://schemas.openxmlformats.org/officeDocument/2006/relationships/tags" Target="../tags/tag288.xml"/><Relationship Id="rId13" Type="http://schemas.openxmlformats.org/officeDocument/2006/relationships/tags" Target="../tags/tag292.xml"/><Relationship Id="rId18" Type="http://schemas.openxmlformats.org/officeDocument/2006/relationships/tags" Target="../tags/tag297.xml"/><Relationship Id="rId39" Type="http://schemas.openxmlformats.org/officeDocument/2006/relationships/tags" Target="../tags/tag318.xml"/><Relationship Id="rId34" Type="http://schemas.openxmlformats.org/officeDocument/2006/relationships/tags" Target="../tags/tag313.xml"/><Relationship Id="rId50" Type="http://schemas.openxmlformats.org/officeDocument/2006/relationships/tags" Target="../tags/tag329.xml"/><Relationship Id="rId55" Type="http://schemas.openxmlformats.org/officeDocument/2006/relationships/tags" Target="../tags/tag334.xml"/><Relationship Id="rId76" Type="http://schemas.openxmlformats.org/officeDocument/2006/relationships/image" Target="../media/image29.png"/><Relationship Id="rId7" Type="http://schemas.openxmlformats.org/officeDocument/2006/relationships/tags" Target="../tags/tag286.xml"/><Relationship Id="rId71" Type="http://schemas.openxmlformats.org/officeDocument/2006/relationships/chart" Target="../charts/chart44.xml"/><Relationship Id="rId92" Type="http://schemas.openxmlformats.org/officeDocument/2006/relationships/chart" Target="../charts/chart54.xml"/><Relationship Id="rId2" Type="http://schemas.openxmlformats.org/officeDocument/2006/relationships/tags" Target="../tags/tag281.xml"/><Relationship Id="rId29" Type="http://schemas.openxmlformats.org/officeDocument/2006/relationships/tags" Target="../tags/tag308.xml"/><Relationship Id="rId24" Type="http://schemas.openxmlformats.org/officeDocument/2006/relationships/tags" Target="../tags/tag303.xml"/><Relationship Id="rId40" Type="http://schemas.openxmlformats.org/officeDocument/2006/relationships/tags" Target="../tags/tag319.xml"/><Relationship Id="rId45" Type="http://schemas.openxmlformats.org/officeDocument/2006/relationships/tags" Target="../tags/tag324.xml"/><Relationship Id="rId66" Type="http://schemas.openxmlformats.org/officeDocument/2006/relationships/image" Target="../media/image25.png"/><Relationship Id="rId87" Type="http://schemas.openxmlformats.org/officeDocument/2006/relationships/image" Target="../media/image34.png"/><Relationship Id="rId61" Type="http://schemas.openxmlformats.org/officeDocument/2006/relationships/slideLayout" Target="../slideLayouts/slideLayout5.xml"/><Relationship Id="rId82" Type="http://schemas.openxmlformats.org/officeDocument/2006/relationships/image" Target="../media/image31.png"/><Relationship Id="rId19" Type="http://schemas.openxmlformats.org/officeDocument/2006/relationships/tags" Target="../tags/tag298.xml"/><Relationship Id="rId14" Type="http://schemas.openxmlformats.org/officeDocument/2006/relationships/tags" Target="../tags/tag293.xml"/><Relationship Id="rId30" Type="http://schemas.openxmlformats.org/officeDocument/2006/relationships/tags" Target="../tags/tag309.xml"/><Relationship Id="rId35" Type="http://schemas.openxmlformats.org/officeDocument/2006/relationships/tags" Target="../tags/tag314.xml"/><Relationship Id="rId56" Type="http://schemas.openxmlformats.org/officeDocument/2006/relationships/tags" Target="../tags/tag335.xml"/><Relationship Id="rId77" Type="http://schemas.openxmlformats.org/officeDocument/2006/relationships/chart" Target="../charts/chart4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13" Type="http://schemas.openxmlformats.org/officeDocument/2006/relationships/image" Target="../media/image39.png"/><Relationship Id="rId18" Type="http://schemas.openxmlformats.org/officeDocument/2006/relationships/image" Target="../media/image43.png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12" Type="http://schemas.openxmlformats.org/officeDocument/2006/relationships/image" Target="../media/image36.png"/><Relationship Id="rId17" Type="http://schemas.openxmlformats.org/officeDocument/2006/relationships/image" Target="../media/image42.png"/><Relationship Id="rId2" Type="http://schemas.openxmlformats.org/officeDocument/2006/relationships/tags" Target="../tags/tag341.xml"/><Relationship Id="rId16" Type="http://schemas.openxmlformats.org/officeDocument/2006/relationships/image" Target="../media/image41.png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11" Type="http://schemas.openxmlformats.org/officeDocument/2006/relationships/image" Target="../media/image1.emf"/><Relationship Id="rId5" Type="http://schemas.openxmlformats.org/officeDocument/2006/relationships/tags" Target="../tags/tag344.xml"/><Relationship Id="rId15" Type="http://schemas.openxmlformats.org/officeDocument/2006/relationships/image" Target="../media/image40.png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44.png"/><Relationship Id="rId4" Type="http://schemas.openxmlformats.org/officeDocument/2006/relationships/tags" Target="../tags/tag343.xml"/><Relationship Id="rId9" Type="http://schemas.openxmlformats.org/officeDocument/2006/relationships/notesSlide" Target="../notesSlides/notesSlide6.xml"/><Relationship Id="rId14" Type="http://schemas.openxmlformats.org/officeDocument/2006/relationships/chart" Target="../charts/char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A56E9-D016-A045-FEF7-2D3F28E5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7595F17-5FD0-46B9-F5E2-68733BA47BB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0304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6" imgW="592" imgH="595" progId="TCLayout.ActiveDocument.1">
                  <p:embed/>
                </p:oleObj>
              </mc:Choice>
              <mc:Fallback>
                <p:oleObj name="thinkcell Slide" r:id="rId76" imgW="592" imgH="59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595F17-5FD0-46B9-F5E2-68733BA47B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C719FA4-87DF-AE10-9532-5332C7D26BE0}"/>
              </a:ext>
            </a:extLst>
          </p:cNvPr>
          <p:cNvSpPr txBox="1"/>
          <p:nvPr/>
        </p:nvSpPr>
        <p:spPr>
          <a:xfrm>
            <a:off x="970260" y="6404096"/>
            <a:ext cx="83331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700"/>
              <a:t>Note 1: </a:t>
            </a:r>
            <a:r>
              <a:rPr lang="da-DK" sz="700" u="none" strike="noStrike">
                <a:effectLst/>
                <a:cs typeface="Arial" panose="020B0604020202020204" pitchFamily="34" charset="0"/>
              </a:rPr>
              <a:t>PE/VC-investeringer opgøres altid med en kvartalsmæssig forsinkelse</a:t>
            </a:r>
            <a:br>
              <a:rPr lang="da-DK" sz="700" u="none" strike="noStrike">
                <a:effectLst/>
                <a:cs typeface="Arial" panose="020B0604020202020204" pitchFamily="34" charset="0"/>
              </a:rPr>
            </a:br>
            <a:r>
              <a:rPr lang="da-DK" sz="700" u="none" strike="noStrike">
                <a:effectLst/>
                <a:cs typeface="Arial" panose="020B0604020202020204" pitchFamily="34" charset="0"/>
              </a:rPr>
              <a:t>Note 2: </a:t>
            </a:r>
            <a:r>
              <a:rPr lang="da-DK" sz="700" u="none" strike="noStrike" err="1">
                <a:effectLst/>
                <a:cs typeface="Arial" panose="020B0604020202020204" pitchFamily="34" charset="0"/>
              </a:rPr>
              <a:t>Newbury</a:t>
            </a:r>
            <a:r>
              <a:rPr lang="da-DK" sz="700" u="none" strike="noStrike">
                <a:effectLst/>
                <a:cs typeface="Arial" panose="020B0604020202020204" pitchFamily="34" charset="0"/>
              </a:rPr>
              <a:t> tilsagn er steget fra DKK 70m til DKK 71,5m pga</a:t>
            </a:r>
            <a:r>
              <a:rPr lang="da-DK" sz="700">
                <a:cs typeface="Arial" panose="020B0604020202020204" pitchFamily="34" charset="0"/>
              </a:rPr>
              <a:t>. kursudviklingen i USD.</a:t>
            </a:r>
            <a:br>
              <a:rPr lang="da-DK" sz="700">
                <a:cs typeface="Arial" panose="020B0604020202020204" pitchFamily="34" charset="0"/>
              </a:rPr>
            </a:br>
            <a:r>
              <a:rPr lang="da-DK" sz="700">
                <a:cs typeface="Arial" panose="020B0604020202020204" pitchFamily="34" charset="0"/>
              </a:rPr>
              <a:t>Note 3: Der er en </a:t>
            </a:r>
            <a:r>
              <a:rPr lang="da-DK" sz="700" err="1">
                <a:cs typeface="Arial" panose="020B0604020202020204" pitchFamily="34" charset="0"/>
              </a:rPr>
              <a:t>diff</a:t>
            </a:r>
            <a:r>
              <a:rPr lang="da-DK" sz="700">
                <a:cs typeface="Arial" panose="020B0604020202020204" pitchFamily="34" charset="0"/>
              </a:rPr>
              <a:t> på DKK 1m i resttilsagnet til </a:t>
            </a:r>
            <a:r>
              <a:rPr lang="da-DK" sz="700" err="1">
                <a:cs typeface="Arial" panose="020B0604020202020204" pitchFamily="34" charset="0"/>
              </a:rPr>
              <a:t>CataCap</a:t>
            </a:r>
            <a:r>
              <a:rPr lang="da-DK" sz="700">
                <a:cs typeface="Arial" panose="020B0604020202020204" pitchFamily="34" charset="0"/>
              </a:rPr>
              <a:t> – hvilket skyldes en udlodning til Motortramp på DKK 1m i sep-24.</a:t>
            </a:r>
            <a:endParaRPr lang="da-DK" sz="70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DC7E893C-D8A4-659A-48FB-8E4BFD22C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a-DK"/>
              <a:t>Lange tilsagn (1:2)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D8643A-9DF3-22FF-A7B0-80447569CD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b-NO"/>
              <a:t>Underliggende private equity og private credit investeringer i porteføljen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CDE76-888D-E183-6EAB-9749A107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688" y="6492407"/>
            <a:ext cx="2743200" cy="218424"/>
          </a:xfrm>
        </p:spPr>
        <p:txBody>
          <a:bodyPr/>
          <a:lstStyle/>
          <a:p>
            <a:r>
              <a:rPr lang="da-DK" b="1"/>
              <a:t> A/S Motortramp</a:t>
            </a:r>
            <a:r>
              <a:rPr lang="da-DK"/>
              <a:t> | Side </a:t>
            </a:r>
            <a:fld id="{3F09AB1B-E94D-421F-A6BD-D98A0F2CD80B}" type="slidenum">
              <a:rPr lang="da-DK" smtClean="0"/>
              <a:pPr/>
              <a:t>1</a:t>
            </a:fld>
            <a:endParaRPr lang="da-DK"/>
          </a:p>
        </p:txBody>
      </p:sp>
      <p:pic>
        <p:nvPicPr>
          <p:cNvPr id="33" name="Picture 2" descr="Alternative Equity Partners">
            <a:extLst>
              <a:ext uri="{FF2B5EF4-FFF2-40B4-BE49-F238E27FC236}">
                <a16:creationId xmlns:a16="http://schemas.microsoft.com/office/drawing/2014/main" id="{1B8026AB-8CF0-300E-B64A-951851A13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631" y="1689100"/>
            <a:ext cx="841375" cy="14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Newbury Partners 's Competitors, Revenue, Number of Employees, Funding,  Acquisitions &amp; News - Owler Company Profile">
            <a:extLst>
              <a:ext uri="{FF2B5EF4-FFF2-40B4-BE49-F238E27FC236}">
                <a16:creationId xmlns:a16="http://schemas.microsoft.com/office/drawing/2014/main" id="{F41718E5-1C24-DCA3-536F-8E9CC7FBE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249" y="4945063"/>
            <a:ext cx="592138" cy="24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8" descr="CataCap Management | Aktive Ejere">
            <a:extLst>
              <a:ext uri="{FF2B5EF4-FFF2-40B4-BE49-F238E27FC236}">
                <a16:creationId xmlns:a16="http://schemas.microsoft.com/office/drawing/2014/main" id="{683FF274-4117-AC85-8A9F-060003AB2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30" b="37830"/>
          <a:stretch/>
        </p:blipFill>
        <p:spPr bwMode="auto">
          <a:xfrm>
            <a:off x="2032081" y="4178300"/>
            <a:ext cx="752475" cy="12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64" descr="Seed Capital Denmark | LinkedIn">
            <a:extLst>
              <a:ext uri="{FF2B5EF4-FFF2-40B4-BE49-F238E27FC236}">
                <a16:creationId xmlns:a16="http://schemas.microsoft.com/office/drawing/2014/main" id="{D8FEB84E-67E8-C09F-39B9-945D9AE6B9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9" t="28812" r="8869" b="28812"/>
          <a:stretch/>
        </p:blipFill>
        <p:spPr bwMode="auto">
          <a:xfrm>
            <a:off x="2106693" y="5737226"/>
            <a:ext cx="603250" cy="310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" descr="Alternative Equity Partners">
            <a:extLst>
              <a:ext uri="{FF2B5EF4-FFF2-40B4-BE49-F238E27FC236}">
                <a16:creationId xmlns:a16="http://schemas.microsoft.com/office/drawing/2014/main" id="{B26F8F89-9B30-F2BB-9B54-851419051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868" y="2505076"/>
            <a:ext cx="850900" cy="14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2" descr="Alternative Equity Partners">
            <a:extLst>
              <a:ext uri="{FF2B5EF4-FFF2-40B4-BE49-F238E27FC236}">
                <a16:creationId xmlns:a16="http://schemas.microsoft.com/office/drawing/2014/main" id="{83CB68BE-2689-6AA6-B278-825905D1C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631" y="3317875"/>
            <a:ext cx="841375" cy="14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C81554F-9EA3-6FA7-297A-B0B49D6C6DFD}"/>
              </a:ext>
            </a:extLst>
          </p:cNvPr>
          <p:cNvCxnSpPr>
            <a:cxnSpLocks/>
          </p:cNvCxnSpPr>
          <p:nvPr/>
        </p:nvCxnSpPr>
        <p:spPr>
          <a:xfrm>
            <a:off x="516000" y="2212023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C911D755-CFB0-772E-1FD8-B5C58997F134}"/>
              </a:ext>
            </a:extLst>
          </p:cNvPr>
          <p:cNvCxnSpPr>
            <a:cxnSpLocks/>
          </p:cNvCxnSpPr>
          <p:nvPr/>
        </p:nvCxnSpPr>
        <p:spPr>
          <a:xfrm>
            <a:off x="516000" y="3851117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373E951-CF77-A088-F3B6-2CAFE2FE834B}"/>
              </a:ext>
            </a:extLst>
          </p:cNvPr>
          <p:cNvCxnSpPr>
            <a:cxnSpLocks/>
          </p:cNvCxnSpPr>
          <p:nvPr/>
        </p:nvCxnSpPr>
        <p:spPr>
          <a:xfrm>
            <a:off x="516000" y="4670664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2AC33785-A06D-9C66-0FD6-D3EE6770B6C7}"/>
              </a:ext>
            </a:extLst>
          </p:cNvPr>
          <p:cNvCxnSpPr>
            <a:cxnSpLocks/>
          </p:cNvCxnSpPr>
          <p:nvPr/>
        </p:nvCxnSpPr>
        <p:spPr>
          <a:xfrm>
            <a:off x="516000" y="5490210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87635CE-E5CD-14A6-A91E-FE9C7C91CCE2}"/>
              </a:ext>
            </a:extLst>
          </p:cNvPr>
          <p:cNvCxnSpPr>
            <a:cxnSpLocks/>
          </p:cNvCxnSpPr>
          <p:nvPr/>
        </p:nvCxnSpPr>
        <p:spPr>
          <a:xfrm>
            <a:off x="516000" y="3031570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E9D382E-E100-9204-FF6A-C3190514F13B}"/>
              </a:ext>
            </a:extLst>
          </p:cNvPr>
          <p:cNvSpPr txBox="1"/>
          <p:nvPr/>
        </p:nvSpPr>
        <p:spPr>
          <a:xfrm>
            <a:off x="4211520" y="1639888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D5667A-9875-0D0E-1F0A-FC3D7CE9D359}"/>
              </a:ext>
            </a:extLst>
          </p:cNvPr>
          <p:cNvSpPr txBox="1"/>
          <p:nvPr/>
        </p:nvSpPr>
        <p:spPr>
          <a:xfrm>
            <a:off x="4211520" y="24701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CEB07B3-6425-9B89-FD4C-3CE81EB54694}"/>
              </a:ext>
            </a:extLst>
          </p:cNvPr>
          <p:cNvSpPr txBox="1"/>
          <p:nvPr/>
        </p:nvSpPr>
        <p:spPr>
          <a:xfrm>
            <a:off x="4211520" y="328136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E28EE11-B616-D6A0-B51D-A4B59CB68BF8}"/>
              </a:ext>
            </a:extLst>
          </p:cNvPr>
          <p:cNvSpPr txBox="1"/>
          <p:nvPr/>
        </p:nvSpPr>
        <p:spPr>
          <a:xfrm>
            <a:off x="4211520" y="41338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5B436BA-2CA8-C5BF-4EF8-B4496BF0E773}"/>
              </a:ext>
            </a:extLst>
          </p:cNvPr>
          <p:cNvSpPr txBox="1"/>
          <p:nvPr/>
        </p:nvSpPr>
        <p:spPr>
          <a:xfrm>
            <a:off x="4211520" y="4960938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D129676-0B8C-DC4F-6C11-4BFE702AE53C}"/>
              </a:ext>
            </a:extLst>
          </p:cNvPr>
          <p:cNvSpPr txBox="1"/>
          <p:nvPr/>
        </p:nvSpPr>
        <p:spPr>
          <a:xfrm>
            <a:off x="4211520" y="57848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E830415-1C50-D668-C8C5-D7B898057F89}"/>
              </a:ext>
            </a:extLst>
          </p:cNvPr>
          <p:cNvSpPr txBox="1"/>
          <p:nvPr/>
        </p:nvSpPr>
        <p:spPr>
          <a:xfrm>
            <a:off x="5250180" y="1635125"/>
            <a:ext cx="669925" cy="21431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5AD590B-0DB3-6AB0-09DE-0EC6A01B4AFD}"/>
              </a:ext>
            </a:extLst>
          </p:cNvPr>
          <p:cNvSpPr txBox="1"/>
          <p:nvPr/>
        </p:nvSpPr>
        <p:spPr>
          <a:xfrm>
            <a:off x="5250180" y="24701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4CEF84-5AFA-93EE-8877-4217AFEDB056}"/>
              </a:ext>
            </a:extLst>
          </p:cNvPr>
          <p:cNvSpPr txBox="1"/>
          <p:nvPr/>
        </p:nvSpPr>
        <p:spPr>
          <a:xfrm>
            <a:off x="5250180" y="328136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FA0B9DE-EA86-C4A9-AC43-D0F797FBB743}"/>
              </a:ext>
            </a:extLst>
          </p:cNvPr>
          <p:cNvSpPr txBox="1"/>
          <p:nvPr/>
        </p:nvSpPr>
        <p:spPr>
          <a:xfrm>
            <a:off x="5250180" y="41338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10+1+1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F82301-0CAB-E6C6-FF80-659BEFB159D6}"/>
              </a:ext>
            </a:extLst>
          </p:cNvPr>
          <p:cNvSpPr txBox="1"/>
          <p:nvPr/>
        </p:nvSpPr>
        <p:spPr>
          <a:xfrm>
            <a:off x="5250180" y="4960938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10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7B033E3-BAAD-14A9-DB60-DA3138666E32}"/>
              </a:ext>
            </a:extLst>
          </p:cNvPr>
          <p:cNvSpPr txBox="1"/>
          <p:nvPr/>
        </p:nvSpPr>
        <p:spPr>
          <a:xfrm>
            <a:off x="5179536" y="5784850"/>
            <a:ext cx="811213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10+1+1+1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F332B40-2950-B909-AB20-B1BC7BCB7E24}"/>
              </a:ext>
            </a:extLst>
          </p:cNvPr>
          <p:cNvSpPr txBox="1"/>
          <p:nvPr/>
        </p:nvSpPr>
        <p:spPr>
          <a:xfrm>
            <a:off x="544693" y="1577767"/>
            <a:ext cx="84772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K Alternativ Private Equity 2020 K/S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87F2264-722F-C83E-7A7C-0DD9AE663F86}"/>
              </a:ext>
            </a:extLst>
          </p:cNvPr>
          <p:cNvSpPr txBox="1"/>
          <p:nvPr/>
        </p:nvSpPr>
        <p:spPr>
          <a:xfrm>
            <a:off x="544693" y="2408029"/>
            <a:ext cx="84772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K Alternativ Private Equity 2021 K/S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AFE7B4D-0758-5A30-BEC1-FF84DE81FC5A}"/>
              </a:ext>
            </a:extLst>
          </p:cNvPr>
          <p:cNvSpPr txBox="1"/>
          <p:nvPr/>
        </p:nvSpPr>
        <p:spPr>
          <a:xfrm>
            <a:off x="544693" y="3220829"/>
            <a:ext cx="847725" cy="338554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K Alternativ Private Equity 2022 K/S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4574709-F751-DAE0-6130-B42A25A62A5D}"/>
              </a:ext>
            </a:extLst>
          </p:cNvPr>
          <p:cNvSpPr txBox="1"/>
          <p:nvPr/>
        </p:nvSpPr>
        <p:spPr>
          <a:xfrm>
            <a:off x="544693" y="4133850"/>
            <a:ext cx="847725" cy="21590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 err="1">
                <a:cs typeface="Arial" panose="020B0604020202020204" pitchFamily="34" charset="0"/>
              </a:rPr>
              <a:t>CataCap</a:t>
            </a:r>
            <a:r>
              <a:rPr lang="da-DK" sz="800">
                <a:cs typeface="Arial" panose="020B0604020202020204" pitchFamily="34" charset="0"/>
              </a:rPr>
              <a:t> III K/S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D54A6EA-78E1-03DF-B1CB-CDCE4EAFFAD4}"/>
              </a:ext>
            </a:extLst>
          </p:cNvPr>
          <p:cNvSpPr txBox="1"/>
          <p:nvPr/>
        </p:nvSpPr>
        <p:spPr>
          <a:xfrm>
            <a:off x="544693" y="4900613"/>
            <a:ext cx="733425" cy="338138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 err="1">
                <a:cs typeface="Arial" panose="020B0604020202020204" pitchFamily="34" charset="0"/>
              </a:rPr>
              <a:t>Newbury</a:t>
            </a:r>
            <a:r>
              <a:rPr lang="da-DK" sz="800">
                <a:cs typeface="Arial" panose="020B0604020202020204" pitchFamily="34" charset="0"/>
              </a:rPr>
              <a:t> Equity Partners VI L.P.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8FDD74C-7D57-F68C-A2E4-7166B2436188}"/>
              </a:ext>
            </a:extLst>
          </p:cNvPr>
          <p:cNvSpPr txBox="1"/>
          <p:nvPr/>
        </p:nvSpPr>
        <p:spPr>
          <a:xfrm>
            <a:off x="544693" y="5722938"/>
            <a:ext cx="847725" cy="338138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Seed Capital </a:t>
            </a:r>
            <a:br>
              <a:rPr lang="da-DK" sz="800">
                <a:cs typeface="Arial" panose="020B0604020202020204" pitchFamily="34" charset="0"/>
              </a:rPr>
            </a:br>
            <a:r>
              <a:rPr lang="da-DK" sz="800">
                <a:cs typeface="Arial" panose="020B0604020202020204" pitchFamily="34" charset="0"/>
              </a:rPr>
              <a:t>Denmark IV K/S</a:t>
            </a: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CACA7AEE-FA39-7108-1B1E-730001CDF95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05888528"/>
              </p:ext>
            </p:extLst>
          </p:nvPr>
        </p:nvGraphicFramePr>
        <p:xfrm>
          <a:off x="9598025" y="1201738"/>
          <a:ext cx="1066800" cy="84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2"/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8C11F91E-265C-DEB2-A8E8-528DCF6909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0031413" y="1897063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E484CEE-2DA4-4C91-8861-F61E03CB2318}" type="datetime'''''''''''''''1'''',''''''''''''''''''''3''4''''x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1,34x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53" name="Pladsholder til tekst 2">
            <a:extLst>
              <a:ext uri="{FF2B5EF4-FFF2-40B4-BE49-F238E27FC236}">
                <a16:creationId xmlns:a16="http://schemas.microsoft.com/office/drawing/2014/main" id="{FEF0B2A8-2CA5-1BD4-3C6F-2F260BC68C0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10064750" y="2005013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E6A8EFA-B907-4E83-B897-C422C9C9758E}" type="datetime'''''''''''''''''''''''''''''''''''''''''''M''''''''M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F49800D-F749-E11C-2D71-7DFC11739BDD}"/>
              </a:ext>
            </a:extLst>
          </p:cNvPr>
          <p:cNvSpPr txBox="1"/>
          <p:nvPr/>
        </p:nvSpPr>
        <p:spPr>
          <a:xfrm>
            <a:off x="3119896" y="16446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PE (</a:t>
            </a:r>
            <a:r>
              <a:rPr lang="da-DK" sz="800" err="1">
                <a:cs typeface="Arial" panose="020B0604020202020204" pitchFamily="34" charset="0"/>
              </a:rPr>
              <a:t>FoF</a:t>
            </a:r>
            <a:r>
              <a:rPr lang="da-DK" sz="8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867350A-6169-C965-C78B-103A3A70B2BF}"/>
              </a:ext>
            </a:extLst>
          </p:cNvPr>
          <p:cNvSpPr txBox="1"/>
          <p:nvPr/>
        </p:nvSpPr>
        <p:spPr>
          <a:xfrm>
            <a:off x="3119896" y="247491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PE (</a:t>
            </a:r>
            <a:r>
              <a:rPr lang="da-DK" sz="800" err="1">
                <a:cs typeface="Arial" panose="020B0604020202020204" pitchFamily="34" charset="0"/>
              </a:rPr>
              <a:t>FoF</a:t>
            </a:r>
            <a:r>
              <a:rPr lang="da-DK" sz="8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83D512F-F0E3-A6AA-B557-FF88A9F18576}"/>
              </a:ext>
            </a:extLst>
          </p:cNvPr>
          <p:cNvSpPr txBox="1"/>
          <p:nvPr/>
        </p:nvSpPr>
        <p:spPr>
          <a:xfrm>
            <a:off x="3119896" y="328771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PE (</a:t>
            </a:r>
            <a:r>
              <a:rPr lang="da-DK" sz="800" err="1">
                <a:cs typeface="Arial" panose="020B0604020202020204" pitchFamily="34" charset="0"/>
              </a:rPr>
              <a:t>FoF</a:t>
            </a:r>
            <a:r>
              <a:rPr lang="da-DK" sz="8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260B15B-E384-B9D8-E673-4BA26DD8985C}"/>
              </a:ext>
            </a:extLst>
          </p:cNvPr>
          <p:cNvSpPr txBox="1"/>
          <p:nvPr/>
        </p:nvSpPr>
        <p:spPr>
          <a:xfrm>
            <a:off x="3119896" y="413861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PE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710948B-2A3C-3909-27EC-BBCBC0C76605}"/>
              </a:ext>
            </a:extLst>
          </p:cNvPr>
          <p:cNvSpPr txBox="1"/>
          <p:nvPr/>
        </p:nvSpPr>
        <p:spPr>
          <a:xfrm>
            <a:off x="3086558" y="4905375"/>
            <a:ext cx="736600" cy="3381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PE (</a:t>
            </a:r>
            <a:r>
              <a:rPr lang="da-DK" sz="800" err="1">
                <a:cs typeface="Arial" panose="020B0604020202020204" pitchFamily="34" charset="0"/>
              </a:rPr>
              <a:t>secondary</a:t>
            </a:r>
            <a:r>
              <a:rPr lang="da-DK" sz="8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D87EFD6-2595-BDE1-C358-27A47BDC126E}"/>
              </a:ext>
            </a:extLst>
          </p:cNvPr>
          <p:cNvSpPr txBox="1"/>
          <p:nvPr/>
        </p:nvSpPr>
        <p:spPr>
          <a:xfrm>
            <a:off x="3119896" y="578961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VC</a:t>
            </a: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19DD588F-52AE-26C3-D0B5-97CCFF684075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7080250" y="1790700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95FEB47C-83A3-1CE1-95A1-B53E94654584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8120063" y="1936750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6" name="Chart 495">
            <a:extLst>
              <a:ext uri="{FF2B5EF4-FFF2-40B4-BE49-F238E27FC236}">
                <a16:creationId xmlns:a16="http://schemas.microsoft.com/office/drawing/2014/main" id="{37CC6E0A-79AD-DA56-5998-93B74BD36381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70175377"/>
              </p:ext>
            </p:extLst>
          </p:nvPr>
        </p:nvGraphicFramePr>
        <p:xfrm>
          <a:off x="6189663" y="1271588"/>
          <a:ext cx="3282950" cy="833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3"/>
          </a:graphicData>
        </a:graphic>
      </p:graphicFrame>
      <p:sp>
        <p:nvSpPr>
          <p:cNvPr id="133" name="Pladsholder til tekst 2">
            <a:extLst>
              <a:ext uri="{FF2B5EF4-FFF2-40B4-BE49-F238E27FC236}">
                <a16:creationId xmlns:a16="http://schemas.microsoft.com/office/drawing/2014/main" id="{093E23B0-72A6-128B-3AA4-22FDD868E04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6670675" y="1985963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670693B-F26F-4A0B-A9E3-A9A085EEC12F}" type="datetime'Ti''''l''''''''''''''''s''''''''''''''ag''''''''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34" name="Pladsholder til tekst 2">
            <a:extLst>
              <a:ext uri="{FF2B5EF4-FFF2-40B4-BE49-F238E27FC236}">
                <a16:creationId xmlns:a16="http://schemas.microsoft.com/office/drawing/2014/main" id="{292626AB-21AF-C9D2-471F-70BB9AA66D3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7739063" y="1985963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265E9C0-A79E-4280-91F1-76A4C04187FF}" type="datetime'''''''K''''''''''''''a''''''ld''''''''''''''''''''''''''''t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35" name="Pladsholder til tekst 2">
            <a:extLst>
              <a:ext uri="{FF2B5EF4-FFF2-40B4-BE49-F238E27FC236}">
                <a16:creationId xmlns:a16="http://schemas.microsoft.com/office/drawing/2014/main" id="{8F387D1A-7C24-D6D5-9EAA-DD0E535C5E02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680450" y="1985963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5973677-4A87-49CB-88F2-616C2C7316D4}" type="datetime'R''''e''''''s''t''''''''t''il''s''a''''''''gn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119237C9-05F7-5C32-0151-C20119ECECA9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7080250" y="2630488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0386B008-DD81-E821-3087-9A73224EF4FC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8120063" y="2782888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97" name="Chart 496">
            <a:extLst>
              <a:ext uri="{FF2B5EF4-FFF2-40B4-BE49-F238E27FC236}">
                <a16:creationId xmlns:a16="http://schemas.microsoft.com/office/drawing/2014/main" id="{BADD68F5-EBD1-32C7-37C1-095987FAA087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162901814"/>
              </p:ext>
            </p:extLst>
          </p:nvPr>
        </p:nvGraphicFramePr>
        <p:xfrm>
          <a:off x="6189663" y="2112963"/>
          <a:ext cx="3282950" cy="83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4"/>
          </a:graphicData>
        </a:graphic>
      </p:graphicFrame>
      <p:sp>
        <p:nvSpPr>
          <p:cNvPr id="141" name="Pladsholder til tekst 2">
            <a:extLst>
              <a:ext uri="{FF2B5EF4-FFF2-40B4-BE49-F238E27FC236}">
                <a16:creationId xmlns:a16="http://schemas.microsoft.com/office/drawing/2014/main" id="{ADA616EA-9526-6896-B08B-D5C65554AB0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6670675" y="2825750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CA6CED9-BDA4-4372-8DE8-6896FCC9A0CE}" type="datetime'''Ti''''''l''''''''s''''''''''a''''g''''''''n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42" name="Pladsholder til tekst 2">
            <a:extLst>
              <a:ext uri="{FF2B5EF4-FFF2-40B4-BE49-F238E27FC236}">
                <a16:creationId xmlns:a16="http://schemas.microsoft.com/office/drawing/2014/main" id="{9ABC8818-E0AD-4FCF-B6BA-16E80400907A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739063" y="2825750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326276D-7B9A-4051-B0D2-2CB2C8B6D8FF}" type="datetime'''''''''''Ka''''''''l''''''''''''''d''''''''''t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43" name="Pladsholder til tekst 2">
            <a:extLst>
              <a:ext uri="{FF2B5EF4-FFF2-40B4-BE49-F238E27FC236}">
                <a16:creationId xmlns:a16="http://schemas.microsoft.com/office/drawing/2014/main" id="{1CC2EB7A-62D3-F3E7-4FD0-8113828239A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8680450" y="2825750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79D364B-9B94-481F-9F83-4CEC5D981C34}" type="datetime'''''''R''e''''''''''''''''s''''ttil''''s''''''''''''''a''gn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3F183E23-D7CE-9A3E-8E7B-34C11DBBAC81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7080250" y="3511550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B2A79501-C9B2-ACB8-3ED7-54CF262C3F9F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8120063" y="3559175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8" name="Chart 447">
            <a:extLst>
              <a:ext uri="{FF2B5EF4-FFF2-40B4-BE49-F238E27FC236}">
                <a16:creationId xmlns:a16="http://schemas.microsoft.com/office/drawing/2014/main" id="{0F6D27E7-0865-65D4-F1AC-B870F996107F}"/>
              </a:ext>
            </a:extLst>
          </p:cNvPr>
          <p:cNvGraphicFramePr/>
          <p:nvPr>
            <p:custDataLst>
              <p:tags r:id="rId19"/>
            </p:custDataLst>
            <p:extLst>
              <p:ext uri="{D42A27DB-BD31-4B8C-83A1-F6EECF244321}">
                <p14:modId xmlns:p14="http://schemas.microsoft.com/office/powerpoint/2010/main" val="578838581"/>
              </p:ext>
            </p:extLst>
          </p:nvPr>
        </p:nvGraphicFramePr>
        <p:xfrm>
          <a:off x="6189663" y="2917825"/>
          <a:ext cx="3282950" cy="833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5"/>
          </a:graphicData>
        </a:graphic>
      </p:graphicFrame>
      <p:sp>
        <p:nvSpPr>
          <p:cNvPr id="147" name="Pladsholder til tekst 2">
            <a:extLst>
              <a:ext uri="{FF2B5EF4-FFF2-40B4-BE49-F238E27FC236}">
                <a16:creationId xmlns:a16="http://schemas.microsoft.com/office/drawing/2014/main" id="{2E43625A-0ACC-2EDD-914F-FBE97187CB5E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6670675" y="3632200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3554196-DB8A-49B0-9C1F-5AA41D056FAF}" type="datetime'T''''i''''''''l''''''''''sa''g''n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52" name="Pladsholder til tekst 2">
            <a:extLst>
              <a:ext uri="{FF2B5EF4-FFF2-40B4-BE49-F238E27FC236}">
                <a16:creationId xmlns:a16="http://schemas.microsoft.com/office/drawing/2014/main" id="{84278094-442E-3C1A-91AB-BBA90C46514C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7767638" y="3494088"/>
            <a:ext cx="127000" cy="82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8167074-69C7-4F8D-B697-0E26CFBD74D3}" type="datetime'''''''''''''''''''''''''6'''''''''''''',''''''''''9'''''''''">
              <a:rPr lang="da-DK" altLang="en-US" sz="600" smtClean="0">
                <a:solidFill>
                  <a:schemeClr val="bg1"/>
                </a:solidFill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6,9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68" name="Pladsholder til tekst 2">
            <a:extLst>
              <a:ext uri="{FF2B5EF4-FFF2-40B4-BE49-F238E27FC236}">
                <a16:creationId xmlns:a16="http://schemas.microsoft.com/office/drawing/2014/main" id="{C770673F-103B-0A3F-B830-DA6189466AD3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7739063" y="3632200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9878DDB-5967-4730-B2F4-1DC9EE93EE8F}" type="datetime'''''''''K''''''a''''''''''''''l''''''''d''t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70" name="Pladsholder til tekst 2">
            <a:extLst>
              <a:ext uri="{FF2B5EF4-FFF2-40B4-BE49-F238E27FC236}">
                <a16:creationId xmlns:a16="http://schemas.microsoft.com/office/drawing/2014/main" id="{7A3E5E0A-1A73-2923-CF51-CBE82987936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8680450" y="3632200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04311CD-D395-4F65-B22B-F21F9A69F994}" type="datetime'R''''''e''''s''t''t''i''''l''''s''a''''''''''g''''''''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C384E904-212F-C404-758B-8B8D9D780495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7080250" y="4171950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057BF5D2-7C15-6ADF-8A9D-1DC8F80A14AB}"/>
              </a:ext>
            </a:extLst>
          </p:cNvPr>
          <p:cNvCxnSpPr/>
          <p:nvPr>
            <p:custDataLst>
              <p:tags r:id="rId25"/>
            </p:custDataLst>
          </p:nvPr>
        </p:nvCxnSpPr>
        <p:spPr bwMode="auto">
          <a:xfrm>
            <a:off x="8120063" y="4303713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3" name="Chart 462">
            <a:extLst>
              <a:ext uri="{FF2B5EF4-FFF2-40B4-BE49-F238E27FC236}">
                <a16:creationId xmlns:a16="http://schemas.microsoft.com/office/drawing/2014/main" id="{4CBCB90F-7A4D-69FA-06D1-F0D8997B1ADB}"/>
              </a:ext>
            </a:extLst>
          </p:cNvPr>
          <p:cNvGraphicFramePr/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1381649081"/>
              </p:ext>
            </p:extLst>
          </p:nvPr>
        </p:nvGraphicFramePr>
        <p:xfrm>
          <a:off x="6189663" y="3738563"/>
          <a:ext cx="3282950" cy="83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6"/>
          </a:graphicData>
        </a:graphic>
      </p:graphicFrame>
      <p:sp>
        <p:nvSpPr>
          <p:cNvPr id="209" name="Pladsholder til tekst 2">
            <a:extLst>
              <a:ext uri="{FF2B5EF4-FFF2-40B4-BE49-F238E27FC236}">
                <a16:creationId xmlns:a16="http://schemas.microsoft.com/office/drawing/2014/main" id="{D629DA15-48BD-EAA4-A994-9E21A12D59BA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6670675" y="4451350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D0F8D6B-094C-427F-AF4E-1EB0461649B1}" type="datetime'''Ti''l''''''''''''''''sa''''''''''''g''''''''''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15" name="Pladsholder til tekst 2">
            <a:extLst>
              <a:ext uri="{FF2B5EF4-FFF2-40B4-BE49-F238E27FC236}">
                <a16:creationId xmlns:a16="http://schemas.microsoft.com/office/drawing/2014/main" id="{290873CC-C932-65DA-F771-194C41EBBD44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auto">
          <a:xfrm>
            <a:off x="7739063" y="4451350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20DDB7B-FE12-4E5A-911F-1828E9806850}" type="datetime'''''''''''''''''''''''''''K''''''''''''''''al''dt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16" name="Pladsholder til tekst 2">
            <a:extLst>
              <a:ext uri="{FF2B5EF4-FFF2-40B4-BE49-F238E27FC236}">
                <a16:creationId xmlns:a16="http://schemas.microsoft.com/office/drawing/2014/main" id="{BFEE92AA-2A23-52A3-6557-78D341E71F85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8680450" y="4451350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8F1BFE9-DF6B-4877-9795-F8518090E38B}" type="datetime'''''''R''''''''''''''es''tt''il''sag''''''''''''n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043A7742-3323-BD63-66BB-AEE39753C775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>
            <a:off x="7080250" y="4862513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F57965BA-E5AF-D058-B2AB-9DB78F226F4B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>
            <a:off x="8120063" y="5086350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68" name="Chart 467">
            <a:extLst>
              <a:ext uri="{FF2B5EF4-FFF2-40B4-BE49-F238E27FC236}">
                <a16:creationId xmlns:a16="http://schemas.microsoft.com/office/drawing/2014/main" id="{5BCC61A2-B306-D9A4-29D0-38FF6B3D4B10}"/>
              </a:ext>
            </a:extLst>
          </p:cNvPr>
          <p:cNvGraphicFramePr/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9615539"/>
              </p:ext>
            </p:extLst>
          </p:nvPr>
        </p:nvGraphicFramePr>
        <p:xfrm>
          <a:off x="6189663" y="4648200"/>
          <a:ext cx="3282950" cy="850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7"/>
          </a:graphicData>
        </a:graphic>
      </p:graphicFrame>
      <p:sp>
        <p:nvSpPr>
          <p:cNvPr id="221" name="Pladsholder til tekst 2">
            <a:extLst>
              <a:ext uri="{FF2B5EF4-FFF2-40B4-BE49-F238E27FC236}">
                <a16:creationId xmlns:a16="http://schemas.microsoft.com/office/drawing/2014/main" id="{9528A9C1-A6FC-E90B-6303-50AB85DF5B99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6670675" y="5380038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73C785B-57C0-4CBC-A4E4-5BA6E0D06F5B}" type="datetime'''''''''''''''''''''T''i''l''s''''a''g''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49" name="Pladsholder til tekst 2">
            <a:extLst>
              <a:ext uri="{FF2B5EF4-FFF2-40B4-BE49-F238E27FC236}">
                <a16:creationId xmlns:a16="http://schemas.microsoft.com/office/drawing/2014/main" id="{DF6644CD-363F-14AA-FC14-11E6A646F85B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7739063" y="5380038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95E4C98-FD32-4E84-9E0A-1281C8CC2794}" type="datetime'Ka''''''l''''''''d''''''''''''t''''''''''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50" name="Pladsholder til tekst 2">
            <a:extLst>
              <a:ext uri="{FF2B5EF4-FFF2-40B4-BE49-F238E27FC236}">
                <a16:creationId xmlns:a16="http://schemas.microsoft.com/office/drawing/2014/main" id="{718FC0AB-1E1E-3638-83E4-78D537DFF909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8680450" y="5380038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20F746C-1AF6-4797-B71B-7CEC1F743305}" type="datetime'Re''''st''''''t''''''''''''''i''l''''''''''''sag''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3A2ECF84-EF3E-AAE9-05FA-7D0F16EB5E00}"/>
              </a:ext>
            </a:extLst>
          </p:cNvPr>
          <p:cNvCxnSpPr/>
          <p:nvPr>
            <p:custDataLst>
              <p:tags r:id="rId36"/>
            </p:custDataLst>
          </p:nvPr>
        </p:nvCxnSpPr>
        <p:spPr bwMode="auto">
          <a:xfrm>
            <a:off x="7080250" y="5856288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Straight Connector 338">
            <a:extLst>
              <a:ext uri="{FF2B5EF4-FFF2-40B4-BE49-F238E27FC236}">
                <a16:creationId xmlns:a16="http://schemas.microsoft.com/office/drawing/2014/main" id="{7FB0FB69-7E89-7FF9-162C-DA25FF7D4E60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8120063" y="6016625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3" name="Chart 472">
            <a:extLst>
              <a:ext uri="{FF2B5EF4-FFF2-40B4-BE49-F238E27FC236}">
                <a16:creationId xmlns:a16="http://schemas.microsoft.com/office/drawing/2014/main" id="{22CF8CD0-EEE9-5EDE-B131-523ACAA69CCF}"/>
              </a:ext>
            </a:extLst>
          </p:cNvPr>
          <p:cNvGraphicFramePr/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2408884467"/>
              </p:ext>
            </p:extLst>
          </p:nvPr>
        </p:nvGraphicFramePr>
        <p:xfrm>
          <a:off x="6189663" y="5372100"/>
          <a:ext cx="3282950" cy="833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8"/>
          </a:graphicData>
        </a:graphic>
      </p:graphicFrame>
      <p:sp>
        <p:nvSpPr>
          <p:cNvPr id="254" name="Pladsholder til tekst 2">
            <a:extLst>
              <a:ext uri="{FF2B5EF4-FFF2-40B4-BE49-F238E27FC236}">
                <a16:creationId xmlns:a16="http://schemas.microsoft.com/office/drawing/2014/main" id="{0F2810D4-BB21-41E8-731D-C5B40491C9BF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auto">
          <a:xfrm>
            <a:off x="6670675" y="6086475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236D71E-63EB-4A3F-A522-EA5FB14287D5}" type="datetime'T''''''''i''''l''''''''sa''''''''g''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55" name="Pladsholder til tekst 2">
            <a:extLst>
              <a:ext uri="{FF2B5EF4-FFF2-40B4-BE49-F238E27FC236}">
                <a16:creationId xmlns:a16="http://schemas.microsoft.com/office/drawing/2014/main" id="{7C3C5F0F-B7BA-CDA1-53D0-3742900BDDE6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7739063" y="6086475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6CE1E26-8861-4F5F-B486-52B5FA113432}" type="datetime'''K''''''a''''l''''''''d''''''''''''''t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56" name="Pladsholder til tekst 2">
            <a:extLst>
              <a:ext uri="{FF2B5EF4-FFF2-40B4-BE49-F238E27FC236}">
                <a16:creationId xmlns:a16="http://schemas.microsoft.com/office/drawing/2014/main" id="{C9E4D2E4-A202-3C03-74CE-081CFB5C5D5A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8680450" y="6086475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C46F5D1-5A28-4248-AE41-3CD28F3B2814}" type="datetime'''''R''e''''s''''''''''''''''tt''''''''''''''''i''lsa''g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E7A56D1B-3505-C444-E9E1-D3F31DC13A82}"/>
              </a:ext>
            </a:extLst>
          </p:cNvPr>
          <p:cNvGraphicFramePr/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3097918886"/>
              </p:ext>
            </p:extLst>
          </p:nvPr>
        </p:nvGraphicFramePr>
        <p:xfrm>
          <a:off x="10577513" y="1220788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9"/>
          </a:graphicData>
        </a:graphic>
      </p:graphicFrame>
      <p:sp>
        <p:nvSpPr>
          <p:cNvPr id="271" name="Pladsholder til tekst 2">
            <a:extLst>
              <a:ext uri="{FF2B5EF4-FFF2-40B4-BE49-F238E27FC236}">
                <a16:creationId xmlns:a16="http://schemas.microsoft.com/office/drawing/2014/main" id="{25E4B554-6D9D-5A81-F325-0C090CF4BFD1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gray">
          <a:xfrm>
            <a:off x="11047413" y="1751013"/>
            <a:ext cx="23177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6B856DB-FC0B-4BBC-A9BC-AB372A2B7340}" type="datetime'''''''''1''''''''''''''''''''''0'''''''''''',''''''6''%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10,6%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272" name="Pladsholder til tekst 2">
            <a:extLst>
              <a:ext uri="{FF2B5EF4-FFF2-40B4-BE49-F238E27FC236}">
                <a16:creationId xmlns:a16="http://schemas.microsoft.com/office/drawing/2014/main" id="{7ED8F5D5-820D-9213-B023-24B098C617C2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11001375" y="1985963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C152106-A7D3-4DD4-AC47-B5F988239E74}" type="datetime'N''e''''''''''''''''''t''''''''''t''o'' ''''''''''IRR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52AAA39-9BDE-BA94-90FA-3C8C36B58054}"/>
              </a:ext>
            </a:extLst>
          </p:cNvPr>
          <p:cNvSpPr txBox="1"/>
          <p:nvPr/>
        </p:nvSpPr>
        <p:spPr>
          <a:xfrm>
            <a:off x="2048749" y="1076325"/>
            <a:ext cx="719138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3C2EF87-D1EC-D7B6-E732-0768B9E00860}"/>
              </a:ext>
            </a:extLst>
          </p:cNvPr>
          <p:cNvSpPr txBox="1"/>
          <p:nvPr/>
        </p:nvSpPr>
        <p:spPr>
          <a:xfrm>
            <a:off x="525097" y="1054022"/>
            <a:ext cx="914400" cy="246063"/>
          </a:xfrm>
          <a:prstGeom prst="rect">
            <a:avLst/>
          </a:prstGeom>
          <a:noFill/>
          <a:ln>
            <a:noFill/>
          </a:ln>
        </p:spPr>
        <p:txBody>
          <a:bodyPr wrap="square" lIns="0" rtlCol="0">
            <a:spAutoFit/>
          </a:bodyPr>
          <a:lstStyle/>
          <a:p>
            <a:r>
              <a:rPr lang="da-DK" sz="1000" b="1">
                <a:cs typeface="Arial" panose="020B0604020202020204" pitchFamily="34" charset="0"/>
              </a:rPr>
              <a:t>Fond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CDDAA7E-01C9-CD37-0A44-2EF929926091}"/>
              </a:ext>
            </a:extLst>
          </p:cNvPr>
          <p:cNvSpPr txBox="1"/>
          <p:nvPr/>
        </p:nvSpPr>
        <p:spPr>
          <a:xfrm>
            <a:off x="4977130" y="1044418"/>
            <a:ext cx="12160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Term</a:t>
            </a:r>
            <a:endParaRPr lang="da-DK" sz="900" b="1"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541124D-EB8B-7099-80C0-EAE16F4B80E6}"/>
              </a:ext>
            </a:extLst>
          </p:cNvPr>
          <p:cNvSpPr txBox="1"/>
          <p:nvPr/>
        </p:nvSpPr>
        <p:spPr>
          <a:xfrm>
            <a:off x="4178182" y="1054022"/>
            <a:ext cx="736600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Vintage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658D1F9-C2EF-8697-397B-4C2E8E2449AB}"/>
              </a:ext>
            </a:extLst>
          </p:cNvPr>
          <p:cNvCxnSpPr>
            <a:cxnSpLocks/>
          </p:cNvCxnSpPr>
          <p:nvPr/>
        </p:nvCxnSpPr>
        <p:spPr>
          <a:xfrm>
            <a:off x="525097" y="1298409"/>
            <a:ext cx="1223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C7F202DE-E1E4-6794-9902-92747183C9AC}"/>
              </a:ext>
            </a:extLst>
          </p:cNvPr>
          <p:cNvCxnSpPr>
            <a:cxnSpLocks/>
          </p:cNvCxnSpPr>
          <p:nvPr/>
        </p:nvCxnSpPr>
        <p:spPr>
          <a:xfrm>
            <a:off x="2036049" y="1298409"/>
            <a:ext cx="7445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435E61F2-0172-EDCB-95AC-2FE615A1AB29}"/>
              </a:ext>
            </a:extLst>
          </p:cNvPr>
          <p:cNvCxnSpPr>
            <a:cxnSpLocks/>
          </p:cNvCxnSpPr>
          <p:nvPr/>
        </p:nvCxnSpPr>
        <p:spPr>
          <a:xfrm>
            <a:off x="4214695" y="1298409"/>
            <a:ext cx="663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892A7B9-9716-5B55-8565-9C0033341B3C}"/>
              </a:ext>
            </a:extLst>
          </p:cNvPr>
          <p:cNvSpPr txBox="1"/>
          <p:nvPr/>
        </p:nvSpPr>
        <p:spPr>
          <a:xfrm>
            <a:off x="3008771" y="1054022"/>
            <a:ext cx="892175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Type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6317FA5-4F01-557E-357B-AF02153EACF2}"/>
              </a:ext>
            </a:extLst>
          </p:cNvPr>
          <p:cNvCxnSpPr>
            <a:cxnSpLocks/>
          </p:cNvCxnSpPr>
          <p:nvPr/>
        </p:nvCxnSpPr>
        <p:spPr>
          <a:xfrm flipV="1">
            <a:off x="3054951" y="1297179"/>
            <a:ext cx="799814" cy="1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60296B98-A5E6-3F2D-6111-44282DDF5BC0}"/>
              </a:ext>
            </a:extLst>
          </p:cNvPr>
          <p:cNvSpPr txBox="1"/>
          <p:nvPr/>
        </p:nvSpPr>
        <p:spPr>
          <a:xfrm>
            <a:off x="6599959" y="1053943"/>
            <a:ext cx="246310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Tilsagn / kaldt / resttilsagn (</a:t>
            </a:r>
            <a:r>
              <a:rPr lang="da-DK" sz="1000" b="1" err="1">
                <a:cs typeface="Arial" panose="020B0604020202020204" pitchFamily="34" charset="0"/>
              </a:rPr>
              <a:t>DKKm</a:t>
            </a:r>
            <a:r>
              <a:rPr lang="da-DK" sz="1000" b="1"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3C4C26DB-2332-B2B7-DEEB-78EE9595BED5}"/>
              </a:ext>
            </a:extLst>
          </p:cNvPr>
          <p:cNvCxnSpPr>
            <a:cxnSpLocks/>
          </p:cNvCxnSpPr>
          <p:nvPr/>
        </p:nvCxnSpPr>
        <p:spPr>
          <a:xfrm flipV="1">
            <a:off x="6272350" y="1293768"/>
            <a:ext cx="3118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D9E59CB-1373-3ACC-9F38-E75E8A413097}"/>
              </a:ext>
            </a:extLst>
          </p:cNvPr>
          <p:cNvCxnSpPr>
            <a:cxnSpLocks/>
          </p:cNvCxnSpPr>
          <p:nvPr/>
        </p:nvCxnSpPr>
        <p:spPr>
          <a:xfrm>
            <a:off x="5152223" y="1298409"/>
            <a:ext cx="8658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Straight Connector 415">
            <a:extLst>
              <a:ext uri="{FF2B5EF4-FFF2-40B4-BE49-F238E27FC236}">
                <a16:creationId xmlns:a16="http://schemas.microsoft.com/office/drawing/2014/main" id="{8FB97338-548E-E9C2-29A9-C3B283F8164A}"/>
              </a:ext>
            </a:extLst>
          </p:cNvPr>
          <p:cNvCxnSpPr>
            <a:cxnSpLocks/>
          </p:cNvCxnSpPr>
          <p:nvPr/>
        </p:nvCxnSpPr>
        <p:spPr>
          <a:xfrm>
            <a:off x="9680575" y="1297179"/>
            <a:ext cx="19868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7" name="TextBox 416">
            <a:extLst>
              <a:ext uri="{FF2B5EF4-FFF2-40B4-BE49-F238E27FC236}">
                <a16:creationId xmlns:a16="http://schemas.microsoft.com/office/drawing/2014/main" id="{B6CE72B5-F411-AA12-CF00-F4E9B6F40660}"/>
              </a:ext>
            </a:extLst>
          </p:cNvPr>
          <p:cNvSpPr txBox="1"/>
          <p:nvPr/>
        </p:nvSpPr>
        <p:spPr>
          <a:xfrm>
            <a:off x="9736137" y="1047953"/>
            <a:ext cx="1957388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Afkast pr. 31.03.2025</a:t>
            </a:r>
          </a:p>
        </p:txBody>
      </p:sp>
      <p:graphicFrame>
        <p:nvGraphicFramePr>
          <p:cNvPr id="38" name="Chart 37">
            <a:extLst>
              <a:ext uri="{FF2B5EF4-FFF2-40B4-BE49-F238E27FC236}">
                <a16:creationId xmlns:a16="http://schemas.microsoft.com/office/drawing/2014/main" id="{8337FF94-83EC-7826-9EC1-F05E843DCBF8}"/>
              </a:ext>
            </a:extLst>
          </p:cNvPr>
          <p:cNvGraphicFramePr/>
          <p:nvPr>
            <p:custDataLst>
              <p:tags r:id="rId45"/>
            </p:custDataLst>
            <p:extLst>
              <p:ext uri="{D42A27DB-BD31-4B8C-83A1-F6EECF244321}">
                <p14:modId xmlns:p14="http://schemas.microsoft.com/office/powerpoint/2010/main" val="3455004430"/>
              </p:ext>
            </p:extLst>
          </p:nvPr>
        </p:nvGraphicFramePr>
        <p:xfrm>
          <a:off x="9598025" y="2041525"/>
          <a:ext cx="1066800" cy="84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0"/>
          </a:graphicData>
        </a:graphic>
      </p:graphicFrame>
      <p:sp>
        <p:nvSpPr>
          <p:cNvPr id="450" name="Rectangle 449">
            <a:extLst>
              <a:ext uri="{FF2B5EF4-FFF2-40B4-BE49-F238E27FC236}">
                <a16:creationId xmlns:a16="http://schemas.microsoft.com/office/drawing/2014/main" id="{E7E3762E-E1AB-4444-F5BE-4DC7D3B8F8A8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31413" y="2740025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A5915BE-9F74-4391-9F1F-0C615DD892AC}" type="datetime'''''''''''''''''''''''1'''''''''''',3''0''x''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1,30x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" name="Pladsholder til tekst 2">
            <a:extLst>
              <a:ext uri="{FF2B5EF4-FFF2-40B4-BE49-F238E27FC236}">
                <a16:creationId xmlns:a16="http://schemas.microsoft.com/office/drawing/2014/main" id="{6F751C86-5CC5-48EA-6C7A-FCC62227BA34}"/>
              </a:ext>
            </a:extLst>
          </p:cNvPr>
          <p:cNvSpPr>
            <a:spLocks/>
          </p:cNvSpPr>
          <p:nvPr>
            <p:custDataLst>
              <p:tags r:id="rId47"/>
            </p:custDataLst>
          </p:nvPr>
        </p:nvSpPr>
        <p:spPr bwMode="auto">
          <a:xfrm>
            <a:off x="10064750" y="2847975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FEA032C-D9D9-44C7-92BB-846D598AB8E1}" type="datetime'''''''''''''''''''''''''M''''''''''''''''''''''''M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93300B0C-1241-2DC8-563C-61FA60D56557}"/>
              </a:ext>
            </a:extLst>
          </p:cNvPr>
          <p:cNvGraphicFramePr/>
          <p:nvPr>
            <p:custDataLst>
              <p:tags r:id="rId48"/>
            </p:custDataLst>
            <p:extLst>
              <p:ext uri="{D42A27DB-BD31-4B8C-83A1-F6EECF244321}">
                <p14:modId xmlns:p14="http://schemas.microsoft.com/office/powerpoint/2010/main" val="1712383752"/>
              </p:ext>
            </p:extLst>
          </p:nvPr>
        </p:nvGraphicFramePr>
        <p:xfrm>
          <a:off x="10577513" y="2057400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1"/>
          </a:graphicData>
        </a:graphic>
      </p:graphicFrame>
      <p:sp>
        <p:nvSpPr>
          <p:cNvPr id="50" name="Pladsholder til tekst 2">
            <a:extLst>
              <a:ext uri="{FF2B5EF4-FFF2-40B4-BE49-F238E27FC236}">
                <a16:creationId xmlns:a16="http://schemas.microsoft.com/office/drawing/2014/main" id="{1380EA81-800C-40AE-C64A-D848DB198462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gray">
          <a:xfrm>
            <a:off x="11068050" y="2611438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A1949D3-D1A1-4635-9AC7-57B249A3BD15}" type="datetime'''''7'''',''''''''''''''''6''''''''''''''%''''''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7,6%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51" name="Pladsholder til tekst 2">
            <a:extLst>
              <a:ext uri="{FF2B5EF4-FFF2-40B4-BE49-F238E27FC236}">
                <a16:creationId xmlns:a16="http://schemas.microsoft.com/office/drawing/2014/main" id="{45CC1B89-FFAC-6BBC-18F9-3DE6727661A3}"/>
              </a:ext>
            </a:extLst>
          </p:cNvPr>
          <p:cNvSpPr>
            <a:spLocks/>
          </p:cNvSpPr>
          <p:nvPr>
            <p:custDataLst>
              <p:tags r:id="rId50"/>
            </p:custDataLst>
          </p:nvPr>
        </p:nvSpPr>
        <p:spPr bwMode="auto">
          <a:xfrm>
            <a:off x="11001375" y="2822575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3531BD9-AA4A-4064-8261-4E2FC6D786E5}" type="datetime'''''''''''''''''Net''t''''o'' ''I''''''''''''''''R''''''''R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49202BF8-16E8-FC26-A5B3-C7C6FC783D49}"/>
              </a:ext>
            </a:extLst>
          </p:cNvPr>
          <p:cNvGraphicFramePr/>
          <p:nvPr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316319333"/>
              </p:ext>
            </p:extLst>
          </p:nvPr>
        </p:nvGraphicFramePr>
        <p:xfrm>
          <a:off x="9598025" y="2862263"/>
          <a:ext cx="1066800" cy="84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2"/>
          </a:graphicData>
        </a:graphic>
      </p:graphicFrame>
      <p:sp>
        <p:nvSpPr>
          <p:cNvPr id="455" name="Rectangle 454">
            <a:extLst>
              <a:ext uri="{FF2B5EF4-FFF2-40B4-BE49-F238E27FC236}">
                <a16:creationId xmlns:a16="http://schemas.microsoft.com/office/drawing/2014/main" id="{B1636461-5662-A8A7-A6B1-032B85E735A2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10031413" y="3571875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87EA632-1BEB-4AAD-9303-CC96643C3EAE}" type="datetime'''''''''''''1'''''''''',''''1''''''''''''''2''''''''x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1,12x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" name="Pladsholder til tekst 2">
            <a:extLst>
              <a:ext uri="{FF2B5EF4-FFF2-40B4-BE49-F238E27FC236}">
                <a16:creationId xmlns:a16="http://schemas.microsoft.com/office/drawing/2014/main" id="{3DA107D7-E10A-7812-1A70-8261F3E72B68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10064750" y="3679825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2F48800-D429-4794-8B73-438EA4538CC8}" type="datetime'''''''''''M''''''M''''''''''''''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B4AA6E3D-0F11-483B-14A3-61BB73DA2D9D}"/>
              </a:ext>
            </a:extLst>
          </p:cNvPr>
          <p:cNvGraphicFramePr/>
          <p:nvPr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3799688703"/>
              </p:ext>
            </p:extLst>
          </p:nvPr>
        </p:nvGraphicFramePr>
        <p:xfrm>
          <a:off x="10577513" y="2881313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3"/>
          </a:graphicData>
        </a:graphic>
      </p:graphicFrame>
      <p:sp>
        <p:nvSpPr>
          <p:cNvPr id="452" name="Pladsholder til tekst 2">
            <a:extLst>
              <a:ext uri="{FF2B5EF4-FFF2-40B4-BE49-F238E27FC236}">
                <a16:creationId xmlns:a16="http://schemas.microsoft.com/office/drawing/2014/main" id="{72F60CC4-18FB-C349-0539-6A9C5363698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gray">
          <a:xfrm>
            <a:off x="11068050" y="3443288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1EAF8F0-FF63-4731-AEE1-D5AC54E3EE93}" type="datetime'''6,8''''''''''''''''''''''''''''''%''''''''''''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6,8%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453" name="Pladsholder til tekst 2">
            <a:extLst>
              <a:ext uri="{FF2B5EF4-FFF2-40B4-BE49-F238E27FC236}">
                <a16:creationId xmlns:a16="http://schemas.microsoft.com/office/drawing/2014/main" id="{1BA903C1-D2DC-4EB5-656C-3CF70C374FBE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11001375" y="3646488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BA2EAD5-0E02-4DD2-8C29-8A605E8320DD}" type="datetime'Net''''''''t''''''''''''''''o ''''''''''I''''RR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254CFD02-98FB-146D-2347-610077CB45DD}"/>
              </a:ext>
            </a:extLst>
          </p:cNvPr>
          <p:cNvGraphicFramePr/>
          <p:nvPr>
            <p:custDataLst>
              <p:tags r:id="rId57"/>
            </p:custDataLst>
            <p:extLst>
              <p:ext uri="{D42A27DB-BD31-4B8C-83A1-F6EECF244321}">
                <p14:modId xmlns:p14="http://schemas.microsoft.com/office/powerpoint/2010/main" val="1640436765"/>
              </p:ext>
            </p:extLst>
          </p:nvPr>
        </p:nvGraphicFramePr>
        <p:xfrm>
          <a:off x="9598025" y="3667125"/>
          <a:ext cx="1066800" cy="84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4"/>
          </a:graphicData>
        </a:graphic>
      </p:graphicFrame>
      <p:sp>
        <p:nvSpPr>
          <p:cNvPr id="459" name="Rectangle 458">
            <a:extLst>
              <a:ext uri="{FF2B5EF4-FFF2-40B4-BE49-F238E27FC236}">
                <a16:creationId xmlns:a16="http://schemas.microsoft.com/office/drawing/2014/main" id="{7C6D0A52-2ECC-5031-E1F9-A3CE06672E18}"/>
              </a:ext>
            </a:extLst>
          </p:cNvPr>
          <p:cNvSpPr/>
          <p:nvPr>
            <p:custDataLst>
              <p:tags r:id="rId58"/>
            </p:custDataLst>
          </p:nvPr>
        </p:nvSpPr>
        <p:spPr bwMode="gray">
          <a:xfrm>
            <a:off x="10031413" y="4367213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B80E42E-BB7B-4EBB-BE14-0E453E10EF4A}" type="datetime'1'''''''''''''''''',''2''''''''''''''5''''''x''''''''''''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1,25x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57" name="Pladsholder til tekst 2">
            <a:extLst>
              <a:ext uri="{FF2B5EF4-FFF2-40B4-BE49-F238E27FC236}">
                <a16:creationId xmlns:a16="http://schemas.microsoft.com/office/drawing/2014/main" id="{DD9DF6E4-7171-5AAB-2C3E-304F83948B97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10064750" y="4475163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C2E1D8E-CCEA-4C7C-A931-31A72F2771F0}" type="datetime'''''''''M''''''''''''''''''M''''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111799EC-CAA7-7D4B-6CDB-98EF8564DB6C}"/>
              </a:ext>
            </a:extLst>
          </p:cNvPr>
          <p:cNvGraphicFramePr/>
          <p:nvPr>
            <p:custDataLst>
              <p:tags r:id="rId60"/>
            </p:custDataLst>
            <p:extLst>
              <p:ext uri="{D42A27DB-BD31-4B8C-83A1-F6EECF244321}">
                <p14:modId xmlns:p14="http://schemas.microsoft.com/office/powerpoint/2010/main" val="3648682586"/>
              </p:ext>
            </p:extLst>
          </p:nvPr>
        </p:nvGraphicFramePr>
        <p:xfrm>
          <a:off x="9598025" y="4595813"/>
          <a:ext cx="1066800" cy="84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5"/>
          </a:graphicData>
        </a:graphic>
      </p:graphicFrame>
      <p:sp>
        <p:nvSpPr>
          <p:cNvPr id="462" name="Rectangle 461">
            <a:extLst>
              <a:ext uri="{FF2B5EF4-FFF2-40B4-BE49-F238E27FC236}">
                <a16:creationId xmlns:a16="http://schemas.microsoft.com/office/drawing/2014/main" id="{CB45CC1A-EB1D-5F96-1168-8B65B5994227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10031413" y="5305425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31CD3B4-E8B4-4AB3-A004-87BB56946468}" type="datetime'''1'''',''''''''1''''''''0''''''''''x''''''''''''''''''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1,10x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4" name="Pladsholder til tekst 2">
            <a:extLst>
              <a:ext uri="{FF2B5EF4-FFF2-40B4-BE49-F238E27FC236}">
                <a16:creationId xmlns:a16="http://schemas.microsoft.com/office/drawing/2014/main" id="{22198BE3-1487-B3E4-7967-1B5E30637A53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 bwMode="auto">
          <a:xfrm>
            <a:off x="10064750" y="5413375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C28DDE5-C443-450C-AD69-2725FFA9FF58}" type="datetime'''''''''''''''''''''M''''''''''''''''M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9263E66E-2169-0736-4C5F-B5983FD1AAF3}"/>
              </a:ext>
            </a:extLst>
          </p:cNvPr>
          <p:cNvGraphicFramePr/>
          <p:nvPr>
            <p:custDataLst>
              <p:tags r:id="rId63"/>
            </p:custDataLst>
            <p:extLst>
              <p:ext uri="{D42A27DB-BD31-4B8C-83A1-F6EECF244321}">
                <p14:modId xmlns:p14="http://schemas.microsoft.com/office/powerpoint/2010/main" val="4033770342"/>
              </p:ext>
            </p:extLst>
          </p:nvPr>
        </p:nvGraphicFramePr>
        <p:xfrm>
          <a:off x="10577513" y="4614863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6"/>
          </a:graphicData>
        </a:graphic>
      </p:graphicFrame>
      <p:sp>
        <p:nvSpPr>
          <p:cNvPr id="466" name="Pladsholder til tekst 2">
            <a:extLst>
              <a:ext uri="{FF2B5EF4-FFF2-40B4-BE49-F238E27FC236}">
                <a16:creationId xmlns:a16="http://schemas.microsoft.com/office/drawing/2014/main" id="{500212DC-F53E-50B5-5FBA-F0204DDEBE60}"/>
              </a:ext>
            </a:extLst>
          </p:cNvPr>
          <p:cNvSpPr>
            <a:spLocks/>
          </p:cNvSpPr>
          <p:nvPr>
            <p:custDataLst>
              <p:tags r:id="rId64"/>
            </p:custDataLst>
          </p:nvPr>
        </p:nvSpPr>
        <p:spPr bwMode="gray">
          <a:xfrm>
            <a:off x="11068050" y="5159375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D91966E-6EB4-4728-85AB-DB43A896B7AF}" type="datetime'''8'''''''',''''''''''''6''''''''''%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8,6%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467" name="Pladsholder til tekst 2">
            <a:extLst>
              <a:ext uri="{FF2B5EF4-FFF2-40B4-BE49-F238E27FC236}">
                <a16:creationId xmlns:a16="http://schemas.microsoft.com/office/drawing/2014/main" id="{1F336CC4-D930-B0D0-8BB1-E5E6F3B7FABE}"/>
              </a:ext>
            </a:extLst>
          </p:cNvPr>
          <p:cNvSpPr>
            <a:spLocks/>
          </p:cNvSpPr>
          <p:nvPr>
            <p:custDataLst>
              <p:tags r:id="rId65"/>
            </p:custDataLst>
          </p:nvPr>
        </p:nvSpPr>
        <p:spPr bwMode="auto">
          <a:xfrm>
            <a:off x="11001375" y="5380038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C7DEB31-F0B6-4232-88DE-D3DAAC2DD6A5}" type="datetime'''''N''''''e''''''tt''o ''''''''''''I''''''''''''R''''''R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3CDF9362-6C9A-C51C-1978-1E4260128973}"/>
              </a:ext>
            </a:extLst>
          </p:cNvPr>
          <p:cNvGraphicFramePr/>
          <p:nvPr>
            <p:custDataLst>
              <p:tags r:id="rId66"/>
            </p:custDataLst>
            <p:extLst>
              <p:ext uri="{D42A27DB-BD31-4B8C-83A1-F6EECF244321}">
                <p14:modId xmlns:p14="http://schemas.microsoft.com/office/powerpoint/2010/main" val="3526085914"/>
              </p:ext>
            </p:extLst>
          </p:nvPr>
        </p:nvGraphicFramePr>
        <p:xfrm>
          <a:off x="9313863" y="5240338"/>
          <a:ext cx="1635125" cy="96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>
        <p:nvSpPr>
          <p:cNvPr id="469" name="Pladsholder til tekst 2">
            <a:extLst>
              <a:ext uri="{FF2B5EF4-FFF2-40B4-BE49-F238E27FC236}">
                <a16:creationId xmlns:a16="http://schemas.microsoft.com/office/drawing/2014/main" id="{D637B9B4-2B99-13B3-572C-2CE9D0C6824D}"/>
              </a:ext>
            </a:extLst>
          </p:cNvPr>
          <p:cNvSpPr>
            <a:spLocks/>
          </p:cNvSpPr>
          <p:nvPr>
            <p:custDataLst>
              <p:tags r:id="rId67"/>
            </p:custDataLst>
          </p:nvPr>
        </p:nvSpPr>
        <p:spPr bwMode="auto">
          <a:xfrm>
            <a:off x="10064750" y="6086475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24EF775-CF59-427C-8AD6-5AD2400C125F}" type="datetime'''''''''''''M''''''''M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58" name="Chart 57">
            <a:extLst>
              <a:ext uri="{FF2B5EF4-FFF2-40B4-BE49-F238E27FC236}">
                <a16:creationId xmlns:a16="http://schemas.microsoft.com/office/drawing/2014/main" id="{E843C37C-2521-D604-6643-B06029E6C1EB}"/>
              </a:ext>
            </a:extLst>
          </p:cNvPr>
          <p:cNvGraphicFramePr/>
          <p:nvPr>
            <p:custDataLst>
              <p:tags r:id="rId68"/>
            </p:custDataLst>
            <p:extLst>
              <p:ext uri="{D42A27DB-BD31-4B8C-83A1-F6EECF244321}">
                <p14:modId xmlns:p14="http://schemas.microsoft.com/office/powerpoint/2010/main" val="2802917541"/>
              </p:ext>
            </p:extLst>
          </p:nvPr>
        </p:nvGraphicFramePr>
        <p:xfrm>
          <a:off x="10577513" y="5321300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>
        <p:nvSpPr>
          <p:cNvPr id="471" name="Pladsholder til tekst 2">
            <a:extLst>
              <a:ext uri="{FF2B5EF4-FFF2-40B4-BE49-F238E27FC236}">
                <a16:creationId xmlns:a16="http://schemas.microsoft.com/office/drawing/2014/main" id="{AA9B17D8-4C0F-7F26-53EB-D6FF2A093EAD}"/>
              </a:ext>
            </a:extLst>
          </p:cNvPr>
          <p:cNvSpPr>
            <a:spLocks/>
          </p:cNvSpPr>
          <p:nvPr>
            <p:custDataLst>
              <p:tags r:id="rId69"/>
            </p:custDataLst>
          </p:nvPr>
        </p:nvSpPr>
        <p:spPr bwMode="gray">
          <a:xfrm>
            <a:off x="11047413" y="5764213"/>
            <a:ext cx="23177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5D0FA3E-785A-4FB1-AD9C-E9CC27AE49CF}" type="datetime'''''3''6,''''''''''1''''''%''''''''''''''''''''''''''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36,1%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472" name="Pladsholder til tekst 2">
            <a:extLst>
              <a:ext uri="{FF2B5EF4-FFF2-40B4-BE49-F238E27FC236}">
                <a16:creationId xmlns:a16="http://schemas.microsoft.com/office/drawing/2014/main" id="{B08B8F58-F59D-2233-89B9-B82542583330}"/>
              </a:ext>
            </a:extLst>
          </p:cNvPr>
          <p:cNvSpPr>
            <a:spLocks/>
          </p:cNvSpPr>
          <p:nvPr>
            <p:custDataLst>
              <p:tags r:id="rId70"/>
            </p:custDataLst>
          </p:nvPr>
        </p:nvSpPr>
        <p:spPr bwMode="auto">
          <a:xfrm>
            <a:off x="11001375" y="6086475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6001A1F-E85E-4B0D-90DE-5B77F2D90C10}" type="datetime'N''et''''t''o'''''''' ''''I''''''''''''''R''''''''''R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71DB1048-630D-174E-CAA9-147DBF191281}"/>
              </a:ext>
            </a:extLst>
          </p:cNvPr>
          <p:cNvGraphicFramePr/>
          <p:nvPr>
            <p:custDataLst>
              <p:tags r:id="rId71"/>
            </p:custDataLst>
            <p:extLst>
              <p:ext uri="{D42A27DB-BD31-4B8C-83A1-F6EECF244321}">
                <p14:modId xmlns:p14="http://schemas.microsoft.com/office/powerpoint/2010/main" val="37411808"/>
              </p:ext>
            </p:extLst>
          </p:nvPr>
        </p:nvGraphicFramePr>
        <p:xfrm>
          <a:off x="10577513" y="3686175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9"/>
          </a:graphicData>
        </a:graphic>
      </p:graphicFrame>
      <p:sp>
        <p:nvSpPr>
          <p:cNvPr id="25" name="Pladsholder til tekst 2">
            <a:extLst>
              <a:ext uri="{FF2B5EF4-FFF2-40B4-BE49-F238E27FC236}">
                <a16:creationId xmlns:a16="http://schemas.microsoft.com/office/drawing/2014/main" id="{B8366691-71B0-FCB7-67E3-36D588B97000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gray">
          <a:xfrm>
            <a:off x="11047413" y="4195763"/>
            <a:ext cx="23177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2A80637-A9C4-4E18-A9B4-3A3B3DEB6BB3}" type="datetime'''''''''''''''''1''''''3,''9''''''''%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13,9%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26" name="Pladsholder til tekst 2">
            <a:extLst>
              <a:ext uri="{FF2B5EF4-FFF2-40B4-BE49-F238E27FC236}">
                <a16:creationId xmlns:a16="http://schemas.microsoft.com/office/drawing/2014/main" id="{E47D6A73-49D6-C821-F002-2C77B9A3C58C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11001375" y="4451350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629F150-60D7-4E19-9D68-EEEE4E00AE24}" type="datetime'''''''''N''''''''''''''etto'' ''''''I''''''R''''''R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8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7EBB0-DF31-12E6-DB0D-3C5C9BD79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7DDCF6C-B7A7-EF77-E23A-756649AF8A5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2349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52" imgW="592" imgH="595" progId="TCLayout.ActiveDocument.1">
                  <p:embed/>
                </p:oleObj>
              </mc:Choice>
              <mc:Fallback>
                <p:oleObj name="thinkcell Slide" r:id="rId52" imgW="592" imgH="59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7DDCF6C-B7A7-EF77-E23A-756649AF8A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" name="Title 168">
            <a:extLst>
              <a:ext uri="{FF2B5EF4-FFF2-40B4-BE49-F238E27FC236}">
                <a16:creationId xmlns:a16="http://schemas.microsoft.com/office/drawing/2014/main" id="{D136AEEE-45D8-E73F-1E21-6DB874886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a-DK"/>
              <a:t>Lange tilsagn (2:2)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5787627-EC6E-7984-7437-9777B9F337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b-NO"/>
              <a:t>Underliggende private equity og private credit investeringer i porteføljen</a:t>
            </a:r>
            <a:endParaRPr lang="da-DK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8618399C-0CED-F80C-E02D-8A153B2B9D88}"/>
              </a:ext>
            </a:extLst>
          </p:cNvPr>
          <p:cNvSpPr txBox="1"/>
          <p:nvPr/>
        </p:nvSpPr>
        <p:spPr>
          <a:xfrm>
            <a:off x="519293" y="1362075"/>
            <a:ext cx="2330450" cy="92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 fontAlgn="ctr"/>
            <a:r>
              <a:rPr lang="en-US" sz="600" u="none" strike="noStrike">
                <a:effectLst/>
                <a:cs typeface="Arial" panose="020B0604020202020204" pitchFamily="34" charset="0"/>
              </a:rPr>
              <a:t> Benchmark: iShares MSCI ACWI Acc (EUR) </a:t>
            </a:r>
          </a:p>
        </p:txBody>
      </p:sp>
      <p:pic>
        <p:nvPicPr>
          <p:cNvPr id="185" name="Picture 10" descr="Expertise in alternatives - LGT Capital Partners">
            <a:extLst>
              <a:ext uri="{FF2B5EF4-FFF2-40B4-BE49-F238E27FC236}">
                <a16:creationId xmlns:a16="http://schemas.microsoft.com/office/drawing/2014/main" id="{2BE40F0A-FF91-0EF9-8CB0-D0FCB08322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72" b="27472"/>
          <a:stretch/>
        </p:blipFill>
        <p:spPr bwMode="auto">
          <a:xfrm>
            <a:off x="2004695" y="2435225"/>
            <a:ext cx="782638" cy="22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Picture 12" descr="Home.Earth - Breathe">
            <a:extLst>
              <a:ext uri="{FF2B5EF4-FFF2-40B4-BE49-F238E27FC236}">
                <a16:creationId xmlns:a16="http://schemas.microsoft.com/office/drawing/2014/main" id="{4A960EED-B2D1-B2D7-6DCA-9876129C0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58" y="4169930"/>
            <a:ext cx="823913" cy="16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Picture 14">
            <a:extLst>
              <a:ext uri="{FF2B5EF4-FFF2-40B4-BE49-F238E27FC236}">
                <a16:creationId xmlns:a16="http://schemas.microsoft.com/office/drawing/2014/main" id="{694C6515-8A53-4A96-5CC9-FBE7A5AA7D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6"/>
          <a:srcRect l="37705" t="18657" r="37289" b="20714"/>
          <a:stretch>
            <a:fillRect/>
          </a:stretch>
        </p:blipFill>
        <p:spPr bwMode="auto">
          <a:xfrm>
            <a:off x="2058613" y="3237012"/>
            <a:ext cx="699410" cy="287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D1ACAB34-254C-806F-FC90-F6A7614258AB}"/>
              </a:ext>
            </a:extLst>
          </p:cNvPr>
          <p:cNvSpPr txBox="1"/>
          <p:nvPr/>
        </p:nvSpPr>
        <p:spPr>
          <a:xfrm>
            <a:off x="4219341" y="16319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C3818BB-095C-3FBB-EDD0-933FA6E826FA}"/>
              </a:ext>
            </a:extLst>
          </p:cNvPr>
          <p:cNvSpPr txBox="1"/>
          <p:nvPr/>
        </p:nvSpPr>
        <p:spPr>
          <a:xfrm>
            <a:off x="4219341" y="243681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8C087E-6748-EA4C-F493-E22205E15F64}"/>
              </a:ext>
            </a:extLst>
          </p:cNvPr>
          <p:cNvSpPr txBox="1"/>
          <p:nvPr/>
        </p:nvSpPr>
        <p:spPr>
          <a:xfrm>
            <a:off x="4219341" y="3267075"/>
            <a:ext cx="669925" cy="21431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2005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5BE72DF7-2C2B-CD26-18C6-BE616493FE63}"/>
              </a:ext>
            </a:extLst>
          </p:cNvPr>
          <p:cNvSpPr txBox="1"/>
          <p:nvPr/>
        </p:nvSpPr>
        <p:spPr>
          <a:xfrm>
            <a:off x="4219341" y="4142105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868196F-18BF-4FEA-87C0-E627D01AAFBD}"/>
              </a:ext>
            </a:extLst>
          </p:cNvPr>
          <p:cNvSpPr txBox="1"/>
          <p:nvPr/>
        </p:nvSpPr>
        <p:spPr>
          <a:xfrm>
            <a:off x="5187156" y="1631950"/>
            <a:ext cx="811213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10+1+1+1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DA00880-E38A-F0AA-C6F2-689EF08814FB}"/>
              </a:ext>
            </a:extLst>
          </p:cNvPr>
          <p:cNvSpPr txBox="1"/>
          <p:nvPr/>
        </p:nvSpPr>
        <p:spPr>
          <a:xfrm>
            <a:off x="5257800" y="2436813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8+1+1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4F402490-704B-F7C4-6614-6EBAC02261F9}"/>
              </a:ext>
            </a:extLst>
          </p:cNvPr>
          <p:cNvSpPr txBox="1"/>
          <p:nvPr/>
        </p:nvSpPr>
        <p:spPr>
          <a:xfrm>
            <a:off x="5146675" y="3267075"/>
            <a:ext cx="892175" cy="21431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Evergreen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A110771-D65A-AF17-9A88-EAEC9C9ED513}"/>
              </a:ext>
            </a:extLst>
          </p:cNvPr>
          <p:cNvSpPr txBox="1"/>
          <p:nvPr/>
        </p:nvSpPr>
        <p:spPr>
          <a:xfrm>
            <a:off x="5146675" y="4142899"/>
            <a:ext cx="892175" cy="21431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Evergreen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DBEC6B98-1F7A-895D-FCA7-666CBF0F4C0D}"/>
              </a:ext>
            </a:extLst>
          </p:cNvPr>
          <p:cNvSpPr txBox="1"/>
          <p:nvPr/>
        </p:nvSpPr>
        <p:spPr>
          <a:xfrm>
            <a:off x="544513" y="1508125"/>
            <a:ext cx="847725" cy="46196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Petersen &amp; Partners Private Credit II A/S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61E7BB3-7DBC-0C18-A120-220D360A9DB9}"/>
              </a:ext>
            </a:extLst>
          </p:cNvPr>
          <p:cNvSpPr txBox="1"/>
          <p:nvPr/>
        </p:nvSpPr>
        <p:spPr>
          <a:xfrm>
            <a:off x="544513" y="2374900"/>
            <a:ext cx="847725" cy="339725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Private </a:t>
            </a:r>
            <a:r>
              <a:rPr lang="da-DK" sz="800" err="1">
                <a:cs typeface="Arial" panose="020B0604020202020204" pitchFamily="34" charset="0"/>
              </a:rPr>
              <a:t>Debt</a:t>
            </a:r>
            <a:r>
              <a:rPr lang="da-DK" sz="800">
                <a:cs typeface="Arial" panose="020B0604020202020204" pitchFamily="34" charset="0"/>
              </a:rPr>
              <a:t> III LGT K/S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A629515-4126-708D-378A-911062DA5D5C}"/>
              </a:ext>
            </a:extLst>
          </p:cNvPr>
          <p:cNvSpPr txBox="1"/>
          <p:nvPr/>
        </p:nvSpPr>
        <p:spPr>
          <a:xfrm>
            <a:off x="544513" y="3143250"/>
            <a:ext cx="847725" cy="461963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>
                <a:cs typeface="Arial" panose="020B0604020202020204" pitchFamily="34" charset="0"/>
              </a:rPr>
              <a:t>Commercial Real </a:t>
            </a:r>
            <a:r>
              <a:rPr lang="da-DK" sz="800" err="1">
                <a:cs typeface="Arial" panose="020B0604020202020204" pitchFamily="34" charset="0"/>
              </a:rPr>
              <a:t>Estate</a:t>
            </a:r>
            <a:r>
              <a:rPr lang="da-DK" sz="800">
                <a:cs typeface="Arial" panose="020B0604020202020204" pitchFamily="34" charset="0"/>
              </a:rPr>
              <a:t> Denmark P/S (CRED)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D968FA64-4AB4-CE3E-8E28-7CD020201876}"/>
              </a:ext>
            </a:extLst>
          </p:cNvPr>
          <p:cNvSpPr txBox="1"/>
          <p:nvPr/>
        </p:nvSpPr>
        <p:spPr>
          <a:xfrm>
            <a:off x="544513" y="4142105"/>
            <a:ext cx="847725" cy="215900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 anchor="ctr">
            <a:spAutoFit/>
          </a:bodyPr>
          <a:lstStyle/>
          <a:p>
            <a:r>
              <a:rPr lang="da-DK" sz="800" err="1">
                <a:cs typeface="Arial" panose="020B0604020202020204" pitchFamily="34" charset="0"/>
              </a:rPr>
              <a:t>Home.Earth</a:t>
            </a:r>
            <a:r>
              <a:rPr lang="da-DK" sz="800">
                <a:cs typeface="Arial" panose="020B0604020202020204" pitchFamily="34" charset="0"/>
              </a:rPr>
              <a:t> K/S</a:t>
            </a: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DBFD5401-9CDD-0457-324B-6F9982444768}"/>
              </a:ext>
            </a:extLst>
          </p:cNvPr>
          <p:cNvSpPr txBox="1"/>
          <p:nvPr/>
        </p:nvSpPr>
        <p:spPr>
          <a:xfrm>
            <a:off x="3171737" y="1631950"/>
            <a:ext cx="669925" cy="2159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Credit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E800BC46-DC51-CEA6-0C83-0DF29A77FC8B}"/>
              </a:ext>
            </a:extLst>
          </p:cNvPr>
          <p:cNvSpPr txBox="1"/>
          <p:nvPr/>
        </p:nvSpPr>
        <p:spPr>
          <a:xfrm>
            <a:off x="3171737" y="2438400"/>
            <a:ext cx="669925" cy="214313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Credit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83C81C8A-57B3-5A15-943F-B9FB5129CC46}"/>
              </a:ext>
            </a:extLst>
          </p:cNvPr>
          <p:cNvSpPr txBox="1"/>
          <p:nvPr/>
        </p:nvSpPr>
        <p:spPr>
          <a:xfrm>
            <a:off x="3171737" y="3205163"/>
            <a:ext cx="669925" cy="33972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Real </a:t>
            </a:r>
            <a:r>
              <a:rPr lang="da-DK" sz="800" err="1">
                <a:cs typeface="Arial" panose="020B0604020202020204" pitchFamily="34" charset="0"/>
              </a:rPr>
              <a:t>Estate</a:t>
            </a:r>
            <a:endParaRPr lang="da-DK" sz="800">
              <a:cs typeface="Arial" panose="020B0604020202020204" pitchFamily="34" charset="0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9FBEAC41-5ABB-4A24-FD09-EB9BC483ACE8}"/>
              </a:ext>
            </a:extLst>
          </p:cNvPr>
          <p:cNvSpPr txBox="1"/>
          <p:nvPr/>
        </p:nvSpPr>
        <p:spPr>
          <a:xfrm>
            <a:off x="3171737" y="4080986"/>
            <a:ext cx="669925" cy="33813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da-DK" sz="800">
                <a:cs typeface="Arial" panose="020B0604020202020204" pitchFamily="34" charset="0"/>
              </a:rPr>
              <a:t>Real </a:t>
            </a:r>
            <a:r>
              <a:rPr lang="da-DK" sz="800" err="1">
                <a:cs typeface="Arial" panose="020B0604020202020204" pitchFamily="34" charset="0"/>
              </a:rPr>
              <a:t>Estate</a:t>
            </a:r>
            <a:endParaRPr lang="da-DK" sz="800">
              <a:cs typeface="Arial" panose="020B0604020202020204" pitchFamily="34" charset="0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5336270-29FB-DD97-5EFE-09F4EEBFEF63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7080250" y="1463675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E8BEB9B-61D8-2A50-C158-BB543EEAED5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8120063" y="1625600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73" name="Chart 172">
            <a:extLst>
              <a:ext uri="{FF2B5EF4-FFF2-40B4-BE49-F238E27FC236}">
                <a16:creationId xmlns:a16="http://schemas.microsoft.com/office/drawing/2014/main" id="{89527145-C00D-2D71-BF59-9F1800BC19BB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29509173"/>
              </p:ext>
            </p:extLst>
          </p:nvPr>
        </p:nvGraphicFramePr>
        <p:xfrm>
          <a:off x="6189663" y="1249363"/>
          <a:ext cx="3282950" cy="865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7"/>
          </a:graphicData>
        </a:graphic>
      </p:graphicFrame>
      <p:sp>
        <p:nvSpPr>
          <p:cNvPr id="230" name="Pladsholder til tekst 2">
            <a:extLst>
              <a:ext uri="{FF2B5EF4-FFF2-40B4-BE49-F238E27FC236}">
                <a16:creationId xmlns:a16="http://schemas.microsoft.com/office/drawing/2014/main" id="{FC92526B-D962-31B7-EECF-83AB9B7CF9BA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6670675" y="1995488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95064A4-7C90-4B0B-B1C7-7472F21AF308}" type="datetime'T''''''i''''''l''''''s''a''''''''''''''''''g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31" name="Pladsholder til tekst 2">
            <a:extLst>
              <a:ext uri="{FF2B5EF4-FFF2-40B4-BE49-F238E27FC236}">
                <a16:creationId xmlns:a16="http://schemas.microsoft.com/office/drawing/2014/main" id="{ED2E6C9B-C0D9-D83D-417B-0C32F1A010B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39063" y="1995488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0FBB791-7020-46F2-B3E4-493A9D0B8110}" type="datetime'''K''''''''''a''''''l''''dt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32" name="Pladsholder til tekst 2">
            <a:extLst>
              <a:ext uri="{FF2B5EF4-FFF2-40B4-BE49-F238E27FC236}">
                <a16:creationId xmlns:a16="http://schemas.microsoft.com/office/drawing/2014/main" id="{B13DC3CA-9C90-0F04-5B78-6AAD3A502B91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8680450" y="1995488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98F4FC7-C420-44EC-9881-26C25B92DC9A}" type="datetime'Re''s''''''''''t''''''''''''til''''''''sa''''''''''''g''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EA0D6EA9-3DB5-178A-AB14-33B7CE55F8F2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080250" y="2516188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2BB02D0C-9448-4D9E-F20B-A79ED02C61D1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8120063" y="2716213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9" name="Chart 38">
            <a:extLst>
              <a:ext uri="{FF2B5EF4-FFF2-40B4-BE49-F238E27FC236}">
                <a16:creationId xmlns:a16="http://schemas.microsoft.com/office/drawing/2014/main" id="{5CF87092-6246-4545-FC52-347C826A94D3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679944329"/>
              </p:ext>
            </p:extLst>
          </p:nvPr>
        </p:nvGraphicFramePr>
        <p:xfrm>
          <a:off x="6189663" y="2098675"/>
          <a:ext cx="3282950" cy="8334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8"/>
          </a:graphicData>
        </a:graphic>
      </p:graphicFrame>
      <p:sp>
        <p:nvSpPr>
          <p:cNvPr id="236" name="Pladsholder til tekst 2">
            <a:extLst>
              <a:ext uri="{FF2B5EF4-FFF2-40B4-BE49-F238E27FC236}">
                <a16:creationId xmlns:a16="http://schemas.microsoft.com/office/drawing/2014/main" id="{3DD8167C-B9D6-615F-1D84-212DE37EFB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6670675" y="2813050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380A925-2F93-4B3B-B6F3-E07EF968BAB7}" type="datetime'''''''Ti''''''''''l''''''''''sa''''''''''''''''gn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37" name="Pladsholder til tekst 2">
            <a:extLst>
              <a:ext uri="{FF2B5EF4-FFF2-40B4-BE49-F238E27FC236}">
                <a16:creationId xmlns:a16="http://schemas.microsoft.com/office/drawing/2014/main" id="{4752C246-0B73-B034-5DEF-D3A586503CA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739063" y="2813050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C676F39-4AE9-45B4-9466-05C15EA28E8C}" type="datetime'''''K''''''a''''l''''''''''''d''t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38" name="Pladsholder til tekst 2">
            <a:extLst>
              <a:ext uri="{FF2B5EF4-FFF2-40B4-BE49-F238E27FC236}">
                <a16:creationId xmlns:a16="http://schemas.microsoft.com/office/drawing/2014/main" id="{829EA2B1-4946-386E-BADA-9F8579E67A6F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680450" y="2813050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6636B61-2DD5-4544-8F6E-4203504BD71D}" type="datetime'''''''R''''e''s''t''t''''''''i''l''''''''''s''a''''''''g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3345DEF-ED98-DB34-FCAE-3866C414ECA9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7080250" y="4119563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5CA48629-6CBC-5CEB-7A45-92F7CFD6F727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8120063" y="4421188"/>
            <a:ext cx="46037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8" name="Rectangle 187">
            <a:extLst>
              <a:ext uri="{FF2B5EF4-FFF2-40B4-BE49-F238E27FC236}">
                <a16:creationId xmlns:a16="http://schemas.microsoft.com/office/drawing/2014/main" id="{9E962173-B1C2-A922-AA5B-357A4D1AC62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8580438" y="4421188"/>
            <a:ext cx="577850" cy="4762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graphicFrame>
        <p:nvGraphicFramePr>
          <p:cNvPr id="210" name="Chart 209">
            <a:extLst>
              <a:ext uri="{FF2B5EF4-FFF2-40B4-BE49-F238E27FC236}">
                <a16:creationId xmlns:a16="http://schemas.microsoft.com/office/drawing/2014/main" id="{ADDB2426-8622-0769-B7AD-FEDBE56DDDAC}"/>
              </a:ext>
            </a:extLst>
          </p:cNvPr>
          <p:cNvGraphicFramePr/>
          <p:nvPr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233729514"/>
              </p:ext>
            </p:extLst>
          </p:nvPr>
        </p:nvGraphicFramePr>
        <p:xfrm>
          <a:off x="6189663" y="3738563"/>
          <a:ext cx="3282950" cy="831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9"/>
          </a:graphicData>
        </a:graphic>
      </p:graphicFrame>
      <p:sp>
        <p:nvSpPr>
          <p:cNvPr id="242" name="Pladsholder til tekst 2">
            <a:extLst>
              <a:ext uri="{FF2B5EF4-FFF2-40B4-BE49-F238E27FC236}">
                <a16:creationId xmlns:a16="http://schemas.microsoft.com/office/drawing/2014/main" id="{2BF841FC-5483-8589-F232-906F5EDC7C12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6670675" y="4451350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70D4830-7073-4259-90AE-174013D18375}" type="datetime'''''''''''''''T''''''''''''i''''l''''s''''''''a''''''''''g''n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43" name="Pladsholder til tekst 2">
            <a:extLst>
              <a:ext uri="{FF2B5EF4-FFF2-40B4-BE49-F238E27FC236}">
                <a16:creationId xmlns:a16="http://schemas.microsoft.com/office/drawing/2014/main" id="{ABCA9E0C-D76B-09FB-DE59-2AAE0BB8BF54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7739063" y="4451350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23850A2-4C3A-4269-8ADE-9B013906118C}" type="datetime'''''K''a''l''''''''''d''''''''''t''''''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45" name="Pladsholder til tekst 2">
            <a:extLst>
              <a:ext uri="{FF2B5EF4-FFF2-40B4-BE49-F238E27FC236}">
                <a16:creationId xmlns:a16="http://schemas.microsoft.com/office/drawing/2014/main" id="{3FEEB085-243B-AD31-71AC-0A4200F12ECB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8680450" y="4451350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781805F-5216-4CCC-9BF1-C6A263622A4A}" type="datetime'R''''''''''''e''s''tt''''il''''''s''a''g''n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19A286A1-F278-4EB6-7252-729939BAA42F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080250" y="3495675"/>
            <a:ext cx="4619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C5C52337-4378-6986-0056-84E88CEAC14F}"/>
              </a:ext>
            </a:extLst>
          </p:cNvPr>
          <p:cNvGraphicFramePr/>
          <p:nvPr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448959206"/>
              </p:ext>
            </p:extLst>
          </p:nvPr>
        </p:nvGraphicFramePr>
        <p:xfrm>
          <a:off x="6189663" y="2916238"/>
          <a:ext cx="3282950" cy="833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0"/>
          </a:graphicData>
        </a:graphic>
      </p:graphicFrame>
      <p:sp>
        <p:nvSpPr>
          <p:cNvPr id="248" name="Pladsholder til tekst 2">
            <a:extLst>
              <a:ext uri="{FF2B5EF4-FFF2-40B4-BE49-F238E27FC236}">
                <a16:creationId xmlns:a16="http://schemas.microsoft.com/office/drawing/2014/main" id="{BF6DAC47-2C19-F597-F1C4-7A532096A4D6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6670675" y="3630613"/>
            <a:ext cx="2413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2578512-AA1E-44CD-8AE8-1C253F6DF7E4}" type="datetime'''T''''''''''''il''s''a''''''''''''''''g''''''''''''''''n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53" name="Pladsholder til tekst 2">
            <a:extLst>
              <a:ext uri="{FF2B5EF4-FFF2-40B4-BE49-F238E27FC236}">
                <a16:creationId xmlns:a16="http://schemas.microsoft.com/office/drawing/2014/main" id="{DA9A84FA-56C7-B820-F38E-BC0610AC7B3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7739063" y="3630613"/>
            <a:ext cx="1841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7ED912E2-E975-46BC-AE29-601ACB656F99}" type="datetime'''''''''''Ka''''''l''''''''d''''''''t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Kaldt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63" name="Pladsholder til tekst 2">
            <a:extLst>
              <a:ext uri="{FF2B5EF4-FFF2-40B4-BE49-F238E27FC236}">
                <a16:creationId xmlns:a16="http://schemas.microsoft.com/office/drawing/2014/main" id="{C54E212C-802C-5759-52AE-6FD59FD5BD68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8680450" y="3630613"/>
            <a:ext cx="377825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7685027-C903-4896-8090-4394E85E2CB9}" type="datetime'''''Rest''''''''''''t''il''s''''a''''''''g''''n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Resttilsagn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67" name="Pladsholder til tekst 2">
            <a:extLst>
              <a:ext uri="{FF2B5EF4-FFF2-40B4-BE49-F238E27FC236}">
                <a16:creationId xmlns:a16="http://schemas.microsoft.com/office/drawing/2014/main" id="{4FE5326B-5463-F418-29D2-5F36897D5C8F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8805863" y="3497263"/>
            <a:ext cx="1270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1113" tIns="0" rIns="1111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8B8B91C-BE77-4EE1-904D-87E1D732A463}" type="datetime'''''''''''''''''''0'''''''''',''''''''0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0,0</a:t>
            </a:fld>
            <a:endParaRPr lang="da-DK" sz="600">
              <a:sym typeface="Arial" panose="020B0604020202020204" pitchFamily="34" charset="0"/>
            </a:endParaRPr>
          </a:p>
        </p:txBody>
      </p:sp>
      <p:pic>
        <p:nvPicPr>
          <p:cNvPr id="270" name="Picture 2" descr="Contact - Park Square">
            <a:extLst>
              <a:ext uri="{FF2B5EF4-FFF2-40B4-BE49-F238E27FC236}">
                <a16:creationId xmlns:a16="http://schemas.microsoft.com/office/drawing/2014/main" id="{7E8A5AE2-441C-701D-94F1-EEBA998695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73" t="26429" r="37473" b="26240"/>
          <a:stretch/>
        </p:blipFill>
        <p:spPr bwMode="auto">
          <a:xfrm>
            <a:off x="2236470" y="1581150"/>
            <a:ext cx="319088" cy="316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2" name="TextBox 281">
            <a:extLst>
              <a:ext uri="{FF2B5EF4-FFF2-40B4-BE49-F238E27FC236}">
                <a16:creationId xmlns:a16="http://schemas.microsoft.com/office/drawing/2014/main" id="{955D3653-3463-A0CE-01E4-91E0AA57605C}"/>
              </a:ext>
            </a:extLst>
          </p:cNvPr>
          <p:cNvSpPr txBox="1"/>
          <p:nvPr/>
        </p:nvSpPr>
        <p:spPr>
          <a:xfrm>
            <a:off x="542925" y="2184400"/>
            <a:ext cx="2330450" cy="936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 fontAlgn="ctr"/>
            <a:r>
              <a:rPr lang="da-DK" sz="600" u="none" strike="noStrike">
                <a:effectLst/>
                <a:cs typeface="Arial" panose="020B0604020202020204" pitchFamily="34" charset="0"/>
              </a:rPr>
              <a:t> Benchmark: </a:t>
            </a:r>
            <a:r>
              <a:rPr lang="fr-FR" sz="600" u="none" strike="noStrike">
                <a:effectLst/>
                <a:cs typeface="Arial" panose="020B0604020202020204" pitchFamily="34" charset="0"/>
              </a:rPr>
              <a:t> </a:t>
            </a:r>
            <a:r>
              <a:rPr lang="fr-FR" sz="600" u="none" strike="noStrike" err="1">
                <a:effectLst/>
                <a:cs typeface="Arial" panose="020B0604020202020204" pitchFamily="34" charset="0"/>
              </a:rPr>
              <a:t>iSh</a:t>
            </a:r>
            <a:r>
              <a:rPr lang="fr-FR" sz="600" u="none" strike="noStrike">
                <a:effectLst/>
                <a:cs typeface="Arial" panose="020B0604020202020204" pitchFamily="34" charset="0"/>
              </a:rPr>
              <a:t> EUR HY </a:t>
            </a:r>
            <a:r>
              <a:rPr lang="fr-FR" sz="600" u="none" strike="noStrike" err="1">
                <a:effectLst/>
                <a:cs typeface="Arial" panose="020B0604020202020204" pitchFamily="34" charset="0"/>
              </a:rPr>
              <a:t>CorpBnd</a:t>
            </a:r>
            <a:r>
              <a:rPr lang="fr-FR" sz="600" u="none" strike="noStrike">
                <a:effectLst/>
                <a:cs typeface="Arial" panose="020B0604020202020204" pitchFamily="34" charset="0"/>
              </a:rPr>
              <a:t> EUR Acc </a:t>
            </a:r>
          </a:p>
        </p:txBody>
      </p: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BB8723E1-06B4-85E2-6D91-909713B3CA99}"/>
              </a:ext>
            </a:extLst>
          </p:cNvPr>
          <p:cNvCxnSpPr>
            <a:cxnSpLocks/>
          </p:cNvCxnSpPr>
          <p:nvPr/>
        </p:nvCxnSpPr>
        <p:spPr>
          <a:xfrm>
            <a:off x="516000" y="2151063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FAE0181D-9E89-8EEC-1961-B82F6AA5C73B}"/>
              </a:ext>
            </a:extLst>
          </p:cNvPr>
          <p:cNvCxnSpPr>
            <a:cxnSpLocks/>
          </p:cNvCxnSpPr>
          <p:nvPr/>
        </p:nvCxnSpPr>
        <p:spPr>
          <a:xfrm>
            <a:off x="516000" y="3790950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D6C03F88-3758-CEE1-0D41-C96B95B9E3BD}"/>
              </a:ext>
            </a:extLst>
          </p:cNvPr>
          <p:cNvCxnSpPr>
            <a:cxnSpLocks/>
          </p:cNvCxnSpPr>
          <p:nvPr/>
        </p:nvCxnSpPr>
        <p:spPr>
          <a:xfrm>
            <a:off x="507460" y="4709160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C5EDF125-486D-ACEB-8C72-66BFFE705E24}"/>
              </a:ext>
            </a:extLst>
          </p:cNvPr>
          <p:cNvCxnSpPr>
            <a:cxnSpLocks/>
          </p:cNvCxnSpPr>
          <p:nvPr/>
        </p:nvCxnSpPr>
        <p:spPr>
          <a:xfrm>
            <a:off x="516000" y="2970213"/>
            <a:ext cx="1116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FB7D6A46-30B2-61E8-C9CB-5359EC2CCA73}"/>
              </a:ext>
            </a:extLst>
          </p:cNvPr>
          <p:cNvSpPr txBox="1"/>
          <p:nvPr/>
        </p:nvSpPr>
        <p:spPr>
          <a:xfrm>
            <a:off x="2048749" y="1076325"/>
            <a:ext cx="719138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Manager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1EF93E8-7CB7-661B-1A8C-0BA5D0DB9606}"/>
              </a:ext>
            </a:extLst>
          </p:cNvPr>
          <p:cNvSpPr txBox="1"/>
          <p:nvPr/>
        </p:nvSpPr>
        <p:spPr>
          <a:xfrm>
            <a:off x="525097" y="1054022"/>
            <a:ext cx="914400" cy="246063"/>
          </a:xfrm>
          <a:prstGeom prst="rect">
            <a:avLst/>
          </a:prstGeom>
          <a:noFill/>
          <a:ln>
            <a:noFill/>
          </a:ln>
        </p:spPr>
        <p:txBody>
          <a:bodyPr wrap="square" lIns="0" rtlCol="0">
            <a:spAutoFit/>
          </a:bodyPr>
          <a:lstStyle/>
          <a:p>
            <a:r>
              <a:rPr lang="da-DK" sz="1000" b="1">
                <a:cs typeface="Arial" panose="020B0604020202020204" pitchFamily="34" charset="0"/>
              </a:rPr>
              <a:t>Fond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E7D0F63-FEDD-7D06-0D89-FA3C55093A57}"/>
              </a:ext>
            </a:extLst>
          </p:cNvPr>
          <p:cNvSpPr txBox="1"/>
          <p:nvPr/>
        </p:nvSpPr>
        <p:spPr>
          <a:xfrm>
            <a:off x="4977130" y="1044418"/>
            <a:ext cx="1216025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Term</a:t>
            </a:r>
            <a:endParaRPr lang="da-DK" sz="900" b="1">
              <a:cs typeface="Arial" panose="020B0604020202020204" pitchFamily="34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DEFCD54-D7E5-99F1-C731-994DE993D03F}"/>
              </a:ext>
            </a:extLst>
          </p:cNvPr>
          <p:cNvSpPr txBox="1"/>
          <p:nvPr/>
        </p:nvSpPr>
        <p:spPr>
          <a:xfrm>
            <a:off x="4178182" y="1054022"/>
            <a:ext cx="736600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Vintage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8793B92-BEA9-5011-FC62-69BF5730D7CD}"/>
              </a:ext>
            </a:extLst>
          </p:cNvPr>
          <p:cNvCxnSpPr>
            <a:cxnSpLocks/>
          </p:cNvCxnSpPr>
          <p:nvPr/>
        </p:nvCxnSpPr>
        <p:spPr>
          <a:xfrm>
            <a:off x="525097" y="1298409"/>
            <a:ext cx="12239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27F33B0-60AB-E08C-E2DF-7E302B6326DF}"/>
              </a:ext>
            </a:extLst>
          </p:cNvPr>
          <p:cNvCxnSpPr>
            <a:cxnSpLocks/>
          </p:cNvCxnSpPr>
          <p:nvPr/>
        </p:nvCxnSpPr>
        <p:spPr>
          <a:xfrm>
            <a:off x="2036049" y="1298409"/>
            <a:ext cx="7445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161AE95B-4767-CF46-07AB-87758BD019AD}"/>
              </a:ext>
            </a:extLst>
          </p:cNvPr>
          <p:cNvCxnSpPr>
            <a:cxnSpLocks/>
          </p:cNvCxnSpPr>
          <p:nvPr/>
        </p:nvCxnSpPr>
        <p:spPr>
          <a:xfrm>
            <a:off x="4214695" y="1298409"/>
            <a:ext cx="6635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63F243E9-EEC0-2BA6-A10C-7AFDF1BB9F23}"/>
              </a:ext>
            </a:extLst>
          </p:cNvPr>
          <p:cNvSpPr txBox="1"/>
          <p:nvPr/>
        </p:nvSpPr>
        <p:spPr>
          <a:xfrm>
            <a:off x="3008771" y="1054022"/>
            <a:ext cx="892175" cy="2460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Type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11673D8B-B65D-F4DD-FCD8-EC6223E12091}"/>
              </a:ext>
            </a:extLst>
          </p:cNvPr>
          <p:cNvCxnSpPr>
            <a:cxnSpLocks/>
          </p:cNvCxnSpPr>
          <p:nvPr/>
        </p:nvCxnSpPr>
        <p:spPr>
          <a:xfrm flipV="1">
            <a:off x="3054951" y="1297179"/>
            <a:ext cx="799814" cy="1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2B9D49D0-B714-724C-2B83-147250DA4D50}"/>
              </a:ext>
            </a:extLst>
          </p:cNvPr>
          <p:cNvSpPr txBox="1"/>
          <p:nvPr/>
        </p:nvSpPr>
        <p:spPr>
          <a:xfrm>
            <a:off x="6653137" y="1053943"/>
            <a:ext cx="235674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Tilsagn / kaldt / resttilsagn (</a:t>
            </a:r>
            <a:r>
              <a:rPr lang="da-DK" sz="1000" b="1" err="1">
                <a:cs typeface="Arial" panose="020B0604020202020204" pitchFamily="34" charset="0"/>
              </a:rPr>
              <a:t>DKKm</a:t>
            </a:r>
            <a:r>
              <a:rPr lang="da-DK" sz="1000" b="1"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EF4FA682-3C34-7634-5604-C736EA7F00DA}"/>
              </a:ext>
            </a:extLst>
          </p:cNvPr>
          <p:cNvCxnSpPr>
            <a:cxnSpLocks/>
          </p:cNvCxnSpPr>
          <p:nvPr/>
        </p:nvCxnSpPr>
        <p:spPr>
          <a:xfrm flipV="1">
            <a:off x="6272350" y="1293768"/>
            <a:ext cx="31183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ED736DD-B029-8819-5D84-87683A6A4E17}"/>
              </a:ext>
            </a:extLst>
          </p:cNvPr>
          <p:cNvCxnSpPr>
            <a:cxnSpLocks/>
          </p:cNvCxnSpPr>
          <p:nvPr/>
        </p:nvCxnSpPr>
        <p:spPr>
          <a:xfrm>
            <a:off x="5152223" y="1298409"/>
            <a:ext cx="8658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71C0878C-DAEF-1323-05A8-41553B97A844}"/>
              </a:ext>
            </a:extLst>
          </p:cNvPr>
          <p:cNvCxnSpPr>
            <a:cxnSpLocks/>
          </p:cNvCxnSpPr>
          <p:nvPr/>
        </p:nvCxnSpPr>
        <p:spPr>
          <a:xfrm>
            <a:off x="9680575" y="1297179"/>
            <a:ext cx="19868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DBCD9D19-B14B-7A60-4243-5B11C850C15A}"/>
              </a:ext>
            </a:extLst>
          </p:cNvPr>
          <p:cNvSpPr txBox="1"/>
          <p:nvPr/>
        </p:nvSpPr>
        <p:spPr>
          <a:xfrm>
            <a:off x="9736137" y="1047953"/>
            <a:ext cx="1957388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a-DK" sz="1000" b="1">
                <a:cs typeface="Arial" panose="020B0604020202020204" pitchFamily="34" charset="0"/>
              </a:rPr>
              <a:t>Afkast pr. 31.03.2026</a:t>
            </a:r>
          </a:p>
        </p:txBody>
      </p: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C32E589B-0CAE-45ED-87DB-66CA4AEB22F8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2752587340"/>
              </p:ext>
            </p:extLst>
          </p:nvPr>
        </p:nvGraphicFramePr>
        <p:xfrm>
          <a:off x="9598025" y="1239838"/>
          <a:ext cx="1066800" cy="803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2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9BBC4B28-932D-5D3E-65DF-B80B357CDF70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10031413" y="1912938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A5BD7F8-405A-4B6D-8CFB-23F9FB157F37}" type="datetime'''''''''''1'',0''''''8''''''''''''''''''''''''''''x''''''''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1,08x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29" name="Pladsholder til tekst 2">
            <a:extLst>
              <a:ext uri="{FF2B5EF4-FFF2-40B4-BE49-F238E27FC236}">
                <a16:creationId xmlns:a16="http://schemas.microsoft.com/office/drawing/2014/main" id="{92D4C3D0-D28A-E59F-A726-4894D145FD10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10064750" y="2020888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5B74327-DCE3-4FAB-82B3-095B0F487CA8}" type="datetime'''''''M''''''''''''''''''''''''''''M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DC69BE8C-67E8-E22A-427A-0CCBD28395BC}"/>
              </a:ext>
            </a:extLst>
          </p:cNvPr>
          <p:cNvGraphicFramePr/>
          <p:nvPr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2931828718"/>
              </p:ext>
            </p:extLst>
          </p:nvPr>
        </p:nvGraphicFramePr>
        <p:xfrm>
          <a:off x="9598025" y="2041525"/>
          <a:ext cx="1066800" cy="84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3"/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110396AA-E356-0E7B-1397-4D2310171E49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10031413" y="2743200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E4318-B483-4E42-852E-D7EC6D42260A}" type="datetime'1'''''''''',''''''''''''''''''2''''''''4''''''''''x''''''''''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1,24x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34" name="Pladsholder til tekst 2">
            <a:extLst>
              <a:ext uri="{FF2B5EF4-FFF2-40B4-BE49-F238E27FC236}">
                <a16:creationId xmlns:a16="http://schemas.microsoft.com/office/drawing/2014/main" id="{D9AFCFDD-2036-6FBC-BA5C-B3C6FE3FC404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10064750" y="2851150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D3F8885-CD07-4FDE-8A9E-E6AC80B2EEC1}" type="datetime'''''''''''''''''''''''''''''''M''M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3FE9E41D-8257-4D88-24BA-43C9D3525EF5}"/>
              </a:ext>
            </a:extLst>
          </p:cNvPr>
          <p:cNvGraphicFramePr/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3720962879"/>
              </p:ext>
            </p:extLst>
          </p:nvPr>
        </p:nvGraphicFramePr>
        <p:xfrm>
          <a:off x="10577513" y="2057400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4"/>
          </a:graphicData>
        </a:graphic>
      </p:graphicFrame>
      <p:sp>
        <p:nvSpPr>
          <p:cNvPr id="136" name="Pladsholder til tekst 2">
            <a:extLst>
              <a:ext uri="{FF2B5EF4-FFF2-40B4-BE49-F238E27FC236}">
                <a16:creationId xmlns:a16="http://schemas.microsoft.com/office/drawing/2014/main" id="{44EB5B48-C515-D634-D80E-17B534781765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1068050" y="2595563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862975D-A170-4122-AAED-EED8E4F6DF81}" type="datetime'9,''''''''''''''''4''''''''''''''''''''''%''''''''''''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9,4%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37" name="Pladsholder til tekst 2">
            <a:extLst>
              <a:ext uri="{FF2B5EF4-FFF2-40B4-BE49-F238E27FC236}">
                <a16:creationId xmlns:a16="http://schemas.microsoft.com/office/drawing/2014/main" id="{2CE96C1F-350C-B2D2-84AC-F2F95669F3D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11001375" y="2822575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4328936-D2F3-4DE8-8487-90AB4C896981}" type="datetime'''''''''N''''e''''''''t''''''''t''''''''''o'''' ''''''I''R''R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4CEA4887-487F-0343-EED2-B4BA2DF73625}"/>
              </a:ext>
            </a:extLst>
          </p:cNvPr>
          <p:cNvGraphicFramePr/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622456421"/>
              </p:ext>
            </p:extLst>
          </p:nvPr>
        </p:nvGraphicFramePr>
        <p:xfrm>
          <a:off x="9313863" y="2800350"/>
          <a:ext cx="1635125" cy="96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5"/>
          </a:graphicData>
        </a:graphic>
      </p:graphicFrame>
      <p:sp>
        <p:nvSpPr>
          <p:cNvPr id="139" name="Pladsholder til tekst 2">
            <a:extLst>
              <a:ext uri="{FF2B5EF4-FFF2-40B4-BE49-F238E27FC236}">
                <a16:creationId xmlns:a16="http://schemas.microsoft.com/office/drawing/2014/main" id="{91FC9888-218D-9DC7-746B-1987695D090F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10064750" y="3646488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EECFCD5-6807-4DFB-A5B2-7843D4037863}" type="datetime'''''''''''''M''M''''''''''''''''''''''''''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5CA7C952-50F8-639F-0378-10DF19DC94C2}"/>
              </a:ext>
            </a:extLst>
          </p:cNvPr>
          <p:cNvGraphicFramePr/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2836760950"/>
              </p:ext>
            </p:extLst>
          </p:nvPr>
        </p:nvGraphicFramePr>
        <p:xfrm>
          <a:off x="10577513" y="2881313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sp>
        <p:nvSpPr>
          <p:cNvPr id="155" name="Pladsholder til tekst 2">
            <a:extLst>
              <a:ext uri="{FF2B5EF4-FFF2-40B4-BE49-F238E27FC236}">
                <a16:creationId xmlns:a16="http://schemas.microsoft.com/office/drawing/2014/main" id="{6ADE9CE2-D980-F3BF-EE43-4C23ACB574D7}"/>
              </a:ext>
            </a:extLst>
          </p:cNvPr>
          <p:cNvSpPr>
            <a:spLocks/>
          </p:cNvSpPr>
          <p:nvPr>
            <p:custDataLst>
              <p:tags r:id="rId39"/>
            </p:custDataLst>
          </p:nvPr>
        </p:nvSpPr>
        <p:spPr bwMode="gray">
          <a:xfrm>
            <a:off x="11068050" y="3478213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587476A-6EB0-4290-8B5B-2277A32E24AC}" type="datetime'''''''4'',''''''''''''''''''1%''''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4,1%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56" name="Pladsholder til tekst 2">
            <a:extLst>
              <a:ext uri="{FF2B5EF4-FFF2-40B4-BE49-F238E27FC236}">
                <a16:creationId xmlns:a16="http://schemas.microsoft.com/office/drawing/2014/main" id="{CB19523F-158C-12BB-6B09-28D8B734ACED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11001375" y="3646488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A5E97C8-9AB6-4544-A8B0-D8346CAA043E}" type="datetime'''''''''''''N''etto'''''''''''' ''I''''''R''''''''''''R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E9728A9F-3D6B-4B49-32A4-3FF56FC9D051}"/>
              </a:ext>
            </a:extLst>
          </p:cNvPr>
          <p:cNvGraphicFramePr/>
          <p:nvPr>
            <p:custDataLst>
              <p:tags r:id="rId41"/>
            </p:custDataLst>
            <p:extLst>
              <p:ext uri="{D42A27DB-BD31-4B8C-83A1-F6EECF244321}">
                <p14:modId xmlns:p14="http://schemas.microsoft.com/office/powerpoint/2010/main" val="3177199369"/>
              </p:ext>
            </p:extLst>
          </p:nvPr>
        </p:nvGraphicFramePr>
        <p:xfrm>
          <a:off x="9598025" y="3765550"/>
          <a:ext cx="1066800" cy="742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7"/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E53085E1-7D84-C451-1636-E7C243BCA56F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31413" y="4376738"/>
            <a:ext cx="201613" cy="82550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2709274-7966-4F82-96DF-BA65609DAEF8}" type="datetime'''''''1'''''''''''',''''''''''''''1''''''''''4x'">
              <a:rPr lang="da-DK" altLang="en-US" sz="6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1,14x</a:t>
            </a:fld>
            <a:endParaRPr lang="da-DK" sz="6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58" name="Pladsholder til tekst 2">
            <a:extLst>
              <a:ext uri="{FF2B5EF4-FFF2-40B4-BE49-F238E27FC236}">
                <a16:creationId xmlns:a16="http://schemas.microsoft.com/office/drawing/2014/main" id="{4010DCEE-5561-EF71-F089-0C61FF722931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10064750" y="4484688"/>
            <a:ext cx="13335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6AF1AA8-4CFA-4EF1-BF03-726BF9FD1DEA}" type="datetime'''''''''''''M''''''''''''''''''''''''''''''''''''M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600">
              <a:sym typeface="Arial" panose="020B0604020202020204" pitchFamily="34" charset="0"/>
            </a:endParaRPr>
          </a:p>
        </p:txBody>
      </p:sp>
      <p:graphicFrame>
        <p:nvGraphicFramePr>
          <p:cNvPr id="43" name="Chart 42">
            <a:extLst>
              <a:ext uri="{FF2B5EF4-FFF2-40B4-BE49-F238E27FC236}">
                <a16:creationId xmlns:a16="http://schemas.microsoft.com/office/drawing/2014/main" id="{0013C78E-9707-1DC3-A959-BAA5BD6ADB50}"/>
              </a:ext>
            </a:extLst>
          </p:cNvPr>
          <p:cNvGraphicFramePr/>
          <p:nvPr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3727111385"/>
              </p:ext>
            </p:extLst>
          </p:nvPr>
        </p:nvGraphicFramePr>
        <p:xfrm>
          <a:off x="10577513" y="3686175"/>
          <a:ext cx="1173162" cy="82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8"/>
          </a:graphicData>
        </a:graphic>
      </p:graphicFrame>
      <p:sp>
        <p:nvSpPr>
          <p:cNvPr id="160" name="Pladsholder til tekst 2">
            <a:extLst>
              <a:ext uri="{FF2B5EF4-FFF2-40B4-BE49-F238E27FC236}">
                <a16:creationId xmlns:a16="http://schemas.microsoft.com/office/drawing/2014/main" id="{CE471E5B-986B-E58A-55C8-9B0CF6ED4EF9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gray">
          <a:xfrm>
            <a:off x="11068050" y="4252913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09957D7-3924-41B4-9BBC-D9F54E54E501}" type="datetime'''''''''''''''''''''''''''''''''6,''''''''''''''3%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6,3%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61" name="Pladsholder til tekst 2">
            <a:extLst>
              <a:ext uri="{FF2B5EF4-FFF2-40B4-BE49-F238E27FC236}">
                <a16:creationId xmlns:a16="http://schemas.microsoft.com/office/drawing/2014/main" id="{04A3801E-1FCE-219F-E1C0-8F2D935A69AB}"/>
              </a:ext>
            </a:extLst>
          </p:cNvPr>
          <p:cNvSpPr>
            <a:spLocks/>
          </p:cNvSpPr>
          <p:nvPr>
            <p:custDataLst>
              <p:tags r:id="rId46"/>
            </p:custDataLst>
          </p:nvPr>
        </p:nvSpPr>
        <p:spPr bwMode="auto">
          <a:xfrm>
            <a:off x="11001375" y="4451350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9E95E8F-5F29-4FB5-A0A1-8534639ABF62}" type="datetime'''''''N''''''e''''''''''''''tt''o'''''''' ''''I''''''''''''RR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CC393-1714-BBC1-8FC2-7F030441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688" y="6492407"/>
            <a:ext cx="2743200" cy="218424"/>
          </a:xfrm>
        </p:spPr>
        <p:txBody>
          <a:bodyPr/>
          <a:lstStyle/>
          <a:p>
            <a:r>
              <a:rPr lang="da-DK" b="1"/>
              <a:t> A/S Motortramp</a:t>
            </a:r>
            <a:r>
              <a:rPr lang="da-DK"/>
              <a:t> | Side </a:t>
            </a:r>
            <a:fld id="{3F09AB1B-E94D-421F-A6BD-D98A0F2CD80B}" type="slidenum">
              <a:rPr lang="da-DK" smtClean="0"/>
              <a:pPr/>
              <a:t>2</a:t>
            </a:fld>
            <a:endParaRPr lang="da-DK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D52537BE-F8AF-7E34-11D4-75E9A8BF4310}"/>
              </a:ext>
            </a:extLst>
          </p:cNvPr>
          <p:cNvGraphicFramePr/>
          <p:nvPr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3057316919"/>
              </p:ext>
            </p:extLst>
          </p:nvPr>
        </p:nvGraphicFramePr>
        <p:xfrm>
          <a:off x="10577513" y="1239838"/>
          <a:ext cx="1173162" cy="796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9"/>
          </a:graphicData>
        </a:graphic>
      </p:graphicFrame>
      <p:sp>
        <p:nvSpPr>
          <p:cNvPr id="17" name="Pladsholder til tekst 2">
            <a:extLst>
              <a:ext uri="{FF2B5EF4-FFF2-40B4-BE49-F238E27FC236}">
                <a16:creationId xmlns:a16="http://schemas.microsoft.com/office/drawing/2014/main" id="{4F9A5D65-EAA7-EB7A-5708-91591C7EDA81}"/>
              </a:ext>
            </a:extLst>
          </p:cNvPr>
          <p:cNvSpPr>
            <a:spLocks/>
          </p:cNvSpPr>
          <p:nvPr>
            <p:custDataLst>
              <p:tags r:id="rId48"/>
            </p:custDataLst>
          </p:nvPr>
        </p:nvSpPr>
        <p:spPr bwMode="gray">
          <a:xfrm>
            <a:off x="11068050" y="1825625"/>
            <a:ext cx="190500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98D8E"/>
                </a:solidFill>
              </a14:hiddenFill>
            </a:ext>
          </a:extLst>
        </p:spPr>
        <p:txBody>
          <a:bodyPr vert="horz" wrap="none" lIns="11113" tIns="0" rIns="11113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471B1AF-091D-490F-8A95-C48DB67CEA3A}" type="datetime'''''''''''''''''''''''''''''3'''',6''''%'''''''''''''''''">
              <a:rPr lang="da-DK" altLang="en-US" sz="600" smtClean="0">
                <a:solidFill>
                  <a:schemeClr val="bg1"/>
                </a:solidFill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3,6%</a:t>
            </a:fld>
            <a:endParaRPr lang="da-DK" sz="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18" name="Pladsholder til tekst 2">
            <a:extLst>
              <a:ext uri="{FF2B5EF4-FFF2-40B4-BE49-F238E27FC236}">
                <a16:creationId xmlns:a16="http://schemas.microsoft.com/office/drawing/2014/main" id="{FAC09E38-72B3-29AF-CEB4-786411456F9B}"/>
              </a:ext>
            </a:extLst>
          </p:cNvPr>
          <p:cNvSpPr>
            <a:spLocks/>
          </p:cNvSpPr>
          <p:nvPr>
            <p:custDataLst>
              <p:tags r:id="rId49"/>
            </p:custDataLst>
          </p:nvPr>
        </p:nvSpPr>
        <p:spPr bwMode="auto">
          <a:xfrm>
            <a:off x="11001375" y="1979613"/>
            <a:ext cx="325438" cy="8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D151021-B9D9-48D8-A7DD-593262164C3E}" type="datetime'N''''''e''''t''t''''''o'' ''I''''''''''''''''''''''''''R''R'''">
              <a:rPr lang="da-DK" altLang="en-US" sz="6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Netto IRR</a:t>
            </a:fld>
            <a:endParaRPr lang="da-DK" sz="600">
              <a:sym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C187C3-F6F8-EDD8-3B5B-9B80949E24B9}"/>
              </a:ext>
            </a:extLst>
          </p:cNvPr>
          <p:cNvSpPr txBox="1"/>
          <p:nvPr/>
        </p:nvSpPr>
        <p:spPr>
          <a:xfrm>
            <a:off x="970260" y="6510776"/>
            <a:ext cx="83331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700"/>
              <a:t>Note: </a:t>
            </a:r>
            <a:r>
              <a:rPr lang="da-DK" sz="700" err="1"/>
              <a:t>Rubik</a:t>
            </a:r>
            <a:r>
              <a:rPr lang="da-DK" sz="700"/>
              <a:t> Properties har overtaget forvaltningen af CRED pr. 1 januar 2025 – tidligere forvaltet af Fokus Asset Management</a:t>
            </a:r>
          </a:p>
        </p:txBody>
      </p:sp>
    </p:spTree>
    <p:extLst>
      <p:ext uri="{BB962C8B-B14F-4D97-AF65-F5344CB8AC3E}">
        <p14:creationId xmlns:p14="http://schemas.microsoft.com/office/powerpoint/2010/main" val="270473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F0131-E21D-E33E-A2CE-DF01397D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E56510A-394C-86C0-87C4-800E812E373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38" imgW="408" imgH="408" progId="TCLayout.ActiveDocument.1">
                  <p:embed/>
                </p:oleObj>
              </mc:Choice>
              <mc:Fallback>
                <p:oleObj name="thinkcell Slide" r:id="rId138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56510A-394C-86C0-87C4-800E812E37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1B78D99-D17F-C7C0-3DD4-EC757127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</p:spPr>
        <p:txBody>
          <a:bodyPr vert="horz"/>
          <a:lstStyle/>
          <a:p>
            <a:r>
              <a:rPr lang="da-DK"/>
              <a:t>Analyse af Motortramps alternative investeringer (1:4)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0310B-79D0-7686-995C-329E6EF48A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/>
              <a:t>Motortramp har investeret i tre fund of funds strukturer, administreret af Alternative Equity Partners med et samlet tilsagn på </a:t>
            </a:r>
            <a:r>
              <a:rPr lang="da-DK" b="1"/>
              <a:t>DKK 64m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72BF3-924C-E813-4B20-841B62FA6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a-DK" b="1"/>
              <a:t> A/S Motortramp</a:t>
            </a:r>
            <a:r>
              <a:rPr lang="da-DK"/>
              <a:t> | Side </a:t>
            </a:r>
            <a:fld id="{3F09AB1B-E94D-421F-A6BD-D98A0F2CD80B}" type="slidenum">
              <a:rPr lang="da-DK" smtClean="0"/>
              <a:pPr/>
              <a:t>3</a:t>
            </a:fld>
            <a:endParaRPr lang="da-DK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14A8AA-5825-6B3C-FD7A-0942C46053B6}"/>
              </a:ext>
            </a:extLst>
          </p:cNvPr>
          <p:cNvSpPr/>
          <p:nvPr/>
        </p:nvSpPr>
        <p:spPr>
          <a:xfrm rot="5400000">
            <a:off x="5287793" y="-3463752"/>
            <a:ext cx="1615102" cy="11042650"/>
          </a:xfrm>
          <a:prstGeom prst="roundRect">
            <a:avLst>
              <a:gd name="adj" fmla="val 5157"/>
            </a:avLst>
          </a:prstGeom>
          <a:noFill/>
          <a:ln>
            <a:solidFill>
              <a:srgbClr val="ED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000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AFFA15E5-0FF6-7BF2-8233-979A4EE0C4B9}"/>
              </a:ext>
            </a:extLst>
          </p:cNvPr>
          <p:cNvSpPr/>
          <p:nvPr/>
        </p:nvSpPr>
        <p:spPr>
          <a:xfrm rot="16200000">
            <a:off x="-93651" y="1863713"/>
            <a:ext cx="1615102" cy="387350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KAPE 2020</a:t>
            </a: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766DCFB1-E2C7-4377-805A-E559226FF0BA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432425" y="1095375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0"/>
          </a:graphicData>
        </a:graphic>
      </p:graphicFrame>
      <p:sp>
        <p:nvSpPr>
          <p:cNvPr id="397" name="Rectangle 396">
            <a:extLst>
              <a:ext uri="{FF2B5EF4-FFF2-40B4-BE49-F238E27FC236}">
                <a16:creationId xmlns:a16="http://schemas.microsoft.com/office/drawing/2014/main" id="{C0A2B2EF-42EE-E4A5-4001-C2718CBE7BD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784975" y="2332038"/>
            <a:ext cx="249238" cy="109538"/>
          </a:xfrm>
          <a:prstGeom prst="rect">
            <a:avLst/>
          </a:prstGeom>
          <a:solidFill>
            <a:srgbClr val="C9AA8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9A2DEC7-1E0C-4581-84E8-A3B4B3C71019}" type="datetime'''''7'''''''',''''''''''''''''''''''0''''''''%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7,0%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8178AF-E76B-B97E-86B4-0DA2F011DA2A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6340475" y="2363788"/>
            <a:ext cx="249238" cy="109538"/>
          </a:xfrm>
          <a:prstGeom prst="rect">
            <a:avLst/>
          </a:prstGeom>
          <a:solidFill>
            <a:srgbClr val="3D3D3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9AE023-8FD8-4B4B-B396-F56E1A5A225D}" type="datetime'''''''''''''''4'',''''''''''''0''''''''''''%'''''''''''''''">
              <a:rPr lang="da-DK" altLang="en-US" sz="8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D6DF7210-4923-1C96-DF29-5F5E05E6CBE0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7304088" y="2085975"/>
          <a:ext cx="4395787" cy="58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1"/>
          </a:graphicData>
        </a:graphic>
      </p:graphicFrame>
      <p:sp>
        <p:nvSpPr>
          <p:cNvPr id="42" name="Pladsholder til tekst 2">
            <a:extLst>
              <a:ext uri="{FF2B5EF4-FFF2-40B4-BE49-F238E27FC236}">
                <a16:creationId xmlns:a16="http://schemas.microsoft.com/office/drawing/2014/main" id="{AFA52B17-13D5-1358-8136-0CF322684AE9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383463" y="2624138"/>
            <a:ext cx="3873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1BEBB60-F144-4029-BEEF-912C271A84CF}" type="datetime'L''ido ''''Ad''''vi''''s''''''''''''''''o''r''''s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Lido Advisors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43" name="Pladsholder til tekst 2">
            <a:extLst>
              <a:ext uri="{FF2B5EF4-FFF2-40B4-BE49-F238E27FC236}">
                <a16:creationId xmlns:a16="http://schemas.microsoft.com/office/drawing/2014/main" id="{17253B0D-821D-0831-2F38-4E5CA075980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816850" y="2624138"/>
            <a:ext cx="2936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1BCC205-6804-41D8-B273-A51075E0A453}" type="datetime'''''''''''M''''a''''''''''r''''''''t''''i''''''''''''n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Martin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44" name="Pladsholder til tekst 2">
            <a:extLst>
              <a:ext uri="{FF2B5EF4-FFF2-40B4-BE49-F238E27FC236}">
                <a16:creationId xmlns:a16="http://schemas.microsoft.com/office/drawing/2014/main" id="{CBE4438B-ED72-6047-47C2-1EFE26EC08B6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59750" y="2624138"/>
            <a:ext cx="3762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44BF403-784C-426D-9414-D9E9BDBF3114}" type="datetime'''''''''''P''''''''''''isc''''e''''''''''''s I''I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Pisces II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45" name="Pladsholder til tekst 2">
            <a:extLst>
              <a:ext uri="{FF2B5EF4-FFF2-40B4-BE49-F238E27FC236}">
                <a16:creationId xmlns:a16="http://schemas.microsoft.com/office/drawing/2014/main" id="{62DB0EB3-B32A-3AA1-2C9C-00C9359D516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75675" y="2624138"/>
            <a:ext cx="3127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DF4D006-A400-40D0-94C6-AB5CAA6E8020}" type="datetime'''''''''''Way''''''n''''''e''''''''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Wayne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46" name="Pladsholder til tekst 2">
            <a:extLst>
              <a:ext uri="{FF2B5EF4-FFF2-40B4-BE49-F238E27FC236}">
                <a16:creationId xmlns:a16="http://schemas.microsoft.com/office/drawing/2014/main" id="{539D111E-9F33-8D86-22CC-CBCDA4891582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8978900" y="2624138"/>
            <a:ext cx="2730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84F3407-0EA9-45D5-AF74-A998D131E600}" type="datetime'G''''''r''''''''''''''''''''o''''''''''''''v''e''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Grove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2" name="Pladsholder til tekst 2">
            <a:extLst>
              <a:ext uri="{FF2B5EF4-FFF2-40B4-BE49-F238E27FC236}">
                <a16:creationId xmlns:a16="http://schemas.microsoft.com/office/drawing/2014/main" id="{0F620E8B-72E6-5CCB-841D-BEB0DC292E2F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345613" y="2624138"/>
            <a:ext cx="3111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CE91164-5899-4EDB-876F-EF1661AB486A}" type="datetime'''R''''''o''''''''''''''y''''''''''''''al''''''''''''e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Royale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" name="Pladsholder til tekst 2">
            <a:extLst>
              <a:ext uri="{FF2B5EF4-FFF2-40B4-BE49-F238E27FC236}">
                <a16:creationId xmlns:a16="http://schemas.microsoft.com/office/drawing/2014/main" id="{F1AD004D-D380-092E-D549-2019569025A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9705975" y="2624138"/>
            <a:ext cx="3603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23E99B34-D92F-4237-87D6-B986B53092A0}" type="datetime'''R''''''o''''''''''''''c''''''''''k''''''i''es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Rockies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4" name="Pladsholder til tekst 2">
            <a:extLst>
              <a:ext uri="{FF2B5EF4-FFF2-40B4-BE49-F238E27FC236}">
                <a16:creationId xmlns:a16="http://schemas.microsoft.com/office/drawing/2014/main" id="{595FA93D-82F7-7BE3-2EFD-4EAED3D7E0E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10101263" y="2624138"/>
            <a:ext cx="3365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9510B25-8AEC-4D97-9055-3A32188D0DFA}" type="datetime'''''''''''''''''''''P''''a''''p''''a''''''''''''y''''''a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Papaya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5" name="Pladsholder til tekst 2">
            <a:extLst>
              <a:ext uri="{FF2B5EF4-FFF2-40B4-BE49-F238E27FC236}">
                <a16:creationId xmlns:a16="http://schemas.microsoft.com/office/drawing/2014/main" id="{9BB2965D-FCB3-2D7F-9E29-4DA323048F89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472738" y="2624138"/>
            <a:ext cx="36353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7A3A960-F6DF-4968-99FC-F2E41AF7B382}" type="datetime'''''''''''Je''''t'''' S''''''up''p''''''o''''r''''''''''t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Jet Support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454" name="Pladsholder til tekst 2">
            <a:extLst>
              <a:ext uri="{FF2B5EF4-FFF2-40B4-BE49-F238E27FC236}">
                <a16:creationId xmlns:a16="http://schemas.microsoft.com/office/drawing/2014/main" id="{563E044E-EA62-8B99-C04C-725E2FEF7E89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0882314" y="2624138"/>
            <a:ext cx="3159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4DEE8A0-6457-4078-9D22-FCA6F3772969}" type="datetime'''''''S''''''''''c''''''''''''ho''l''''t 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Scholt 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424" name="Pladsholder til tekst 2">
            <a:extLst>
              <a:ext uri="{FF2B5EF4-FFF2-40B4-BE49-F238E27FC236}">
                <a16:creationId xmlns:a16="http://schemas.microsoft.com/office/drawing/2014/main" id="{E1C61E19-CDA1-920A-EA93-D93BEBC805F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1287125" y="2624138"/>
            <a:ext cx="2730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3EEA4D4-3E58-40A6-A052-EF09A568CB54}" type="datetime'''''''''''''''''''''''''''A''''''n''d''''''r''''e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Andre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2E68CDA-5B5E-347D-0816-7A399C984BE7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7453313" y="2443163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19352EB-8E4E-404E-A244-030BC04C49C5}" type="datetime'''3'''''''',''''0''''''''''''''''''''''''''''''''''''%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0C3043-559A-447B-A765-268F471FC869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7839075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D5328E6-275E-44A2-AF07-73634551D356}" type="datetime'''''''2,''''''''''''''0''''%''''''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97AE361-67A2-4D48-B4E5-4CA722A2FD0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8223250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D8581FE-BD17-473E-A7F6-9EF2A83F5969}" type="datetime'''''''2'''''''',''''''''''''''''0''''''''''''''''%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B20909D-8981-4F4E-C717-44004183EA75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8607425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F612F9-F85A-4D7E-8FCC-AF54CBFCC3AA}" type="datetime'''''''''2'''''''''',''''''''''''''''''''''0''%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BAB2A2B-955F-35B7-7681-0BAE82423739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8991600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880CB4C-A513-4DB7-9ACB-EE85D9E3B70A}" type="datetime'''''2'',''''''''''''''''''0''''''''''''''''''''''%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496E469-47CD-9809-9A96-9666873D9C62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9377363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F052D0B-23E1-475F-9111-CF7F843878BC}" type="datetime'''''''''''''''''''''''''''''''2,0''''''''''''''''%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F686780-F5B1-52F4-4D8F-5E476BE8E3A1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9761538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70634BF-FAE3-4E55-906A-E02ECD9A27B4}" type="datetime'''''''''''''''''''2,''''''''''''''''0''''%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A65BBC5-8901-86D8-A603-A1E3127393FB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10145713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136BCCE-64D1-4CAB-ADB1-CF3D05E03CE4}" type="datetime'''''''''''2'''''''''''',''''''''''''''''0''''''''''''''''''%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6BA7D4F-5E65-7D7C-F11B-E672A9D2D386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10529888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11FB9F2-3071-4326-865F-B011A39CD75E}" type="datetime'''''''2,''''''''''0''%''''''''''''''''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15B1393D-4463-916C-17B2-05F17C065BCB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10915650" y="24463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DE45E62-BAC5-42CB-B851-6C977996FA40}" type="datetime'''2'''',''''''''''''''''''''''''''''''''''''0''''%'''''">
              <a:rPr lang="da-DK" altLang="en-US" sz="800" smtClean="0">
                <a:solidFill>
                  <a:schemeClr val="tx1"/>
                </a:solidFill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8E338B18-5A3D-652A-4E5F-0FA7688F3872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11272838" y="2122488"/>
            <a:ext cx="303213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1C22582-C897-4796-B509-0F71541F99E6}" type="datetime'7''9'''''''''''',''''0''''''''''''''''''%'''''''''''''''''">
              <a:rPr lang="da-DK" altLang="en-US" sz="800" smtClean="0">
                <a:solidFill>
                  <a:schemeClr val="tx1"/>
                </a:solidFill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79,0%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4AFAD14A-5C47-C61A-A018-0B2B49D3B7E3}"/>
              </a:ext>
            </a:extLst>
          </p:cNvPr>
          <p:cNvGraphicFramePr/>
          <p:nvPr>
            <p:custDataLst>
              <p:tags r:id="rId28"/>
            </p:custDataLst>
          </p:nvPr>
        </p:nvGraphicFramePr>
        <p:xfrm>
          <a:off x="2497138" y="1143000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2"/>
          </a:graphicData>
        </a:graphic>
      </p:graphicFrame>
      <p:sp>
        <p:nvSpPr>
          <p:cNvPr id="140" name="Pladsholder til tekst 2">
            <a:extLst>
              <a:ext uri="{FF2B5EF4-FFF2-40B4-BE49-F238E27FC236}">
                <a16:creationId xmlns:a16="http://schemas.microsoft.com/office/drawing/2014/main" id="{998F6422-28A1-8F63-2088-E6A07FEEB78F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auto">
          <a:xfrm>
            <a:off x="2486025" y="1533525"/>
            <a:ext cx="6080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799C1210-E444-4388-AF17-97E538DD1BF2}" type="datetime'N''''''''''o''''''''''''''''r''d''ame''''r''''''ik''''a'''''''">
              <a:rPr lang="da-DK" altLang="en-US" sz="800" b="1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Nordamerika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42" name="Pladsholder til tekst 2">
            <a:extLst>
              <a:ext uri="{FF2B5EF4-FFF2-40B4-BE49-F238E27FC236}">
                <a16:creationId xmlns:a16="http://schemas.microsoft.com/office/drawing/2014/main" id="{5B7C3392-F6D9-C219-C113-EABB179EDFB5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auto">
          <a:xfrm>
            <a:off x="3810000" y="1298575"/>
            <a:ext cx="330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6BE6411-179E-41E5-8A4A-8D616E96513C}" type="datetime'Eu''r''''''''''''''''''''''''''''''''''o''''''''''''''''p''a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Europa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58" name="Rectangle: Top Corners Rounded 157">
            <a:extLst>
              <a:ext uri="{FF2B5EF4-FFF2-40B4-BE49-F238E27FC236}">
                <a16:creationId xmlns:a16="http://schemas.microsoft.com/office/drawing/2014/main" id="{82347973-AAC3-0402-A796-2AEBD54385A0}"/>
              </a:ext>
            </a:extLst>
          </p:cNvPr>
          <p:cNvSpPr/>
          <p:nvPr/>
        </p:nvSpPr>
        <p:spPr>
          <a:xfrm>
            <a:off x="906782" y="989013"/>
            <a:ext cx="1501138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161" name="Rectangle: Top Corners Rounded 160">
            <a:extLst>
              <a:ext uri="{FF2B5EF4-FFF2-40B4-BE49-F238E27FC236}">
                <a16:creationId xmlns:a16="http://schemas.microsoft.com/office/drawing/2014/main" id="{B60FD416-350A-DB6B-625C-C8BC026B9866}"/>
              </a:ext>
            </a:extLst>
          </p:cNvPr>
          <p:cNvSpPr/>
          <p:nvPr/>
        </p:nvSpPr>
        <p:spPr>
          <a:xfrm>
            <a:off x="2458086" y="989013"/>
            <a:ext cx="4872354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162" name="Rectangle: Top Corners Rounded 161">
            <a:extLst>
              <a:ext uri="{FF2B5EF4-FFF2-40B4-BE49-F238E27FC236}">
                <a16:creationId xmlns:a16="http://schemas.microsoft.com/office/drawing/2014/main" id="{BE0D2795-BC41-509A-E7D3-550774D1F53B}"/>
              </a:ext>
            </a:extLst>
          </p:cNvPr>
          <p:cNvSpPr/>
          <p:nvPr/>
        </p:nvSpPr>
        <p:spPr>
          <a:xfrm>
            <a:off x="7386637" y="989013"/>
            <a:ext cx="4230243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Top eksponeringer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D9A9292-20A2-8AF7-F425-7315FF49F9D4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740275" y="1455738"/>
            <a:ext cx="142875" cy="1063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CC186A3-1575-C0DE-12EF-F83912A29A69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740275" y="1628775"/>
            <a:ext cx="142875" cy="106363"/>
          </a:xfrm>
          <a:prstGeom prst="rect">
            <a:avLst/>
          </a:prstGeom>
          <a:solidFill>
            <a:srgbClr val="F1979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5647BE7F-C339-26D5-B1E1-69219C2D0E44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740275" y="1801813"/>
            <a:ext cx="142875" cy="10636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D1821A6-7EA5-BC86-99EE-D1E38158496B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740275" y="1974850"/>
            <a:ext cx="142875" cy="106363"/>
          </a:xfrm>
          <a:prstGeom prst="rect">
            <a:avLst/>
          </a:prstGeom>
          <a:solidFill>
            <a:srgbClr val="C9AA8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40C62C68-6CF5-6B23-ACCB-60F11E641F2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740275" y="2147888"/>
            <a:ext cx="142875" cy="10636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EF8C1DE7-1065-9813-B0A9-548397D5D711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4740275" y="2320925"/>
            <a:ext cx="142875" cy="106363"/>
          </a:xfrm>
          <a:prstGeom prst="rect">
            <a:avLst/>
          </a:prstGeom>
          <a:solidFill>
            <a:srgbClr val="3D3D3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F67662BC-0DB0-81E5-35AB-BDAB03D483EC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4740275" y="2493963"/>
            <a:ext cx="142875" cy="106362"/>
          </a:xfrm>
          <a:prstGeom prst="rect">
            <a:avLst/>
          </a:prstGeom>
          <a:solidFill>
            <a:srgbClr val="DFE5E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AD665563-79BD-F966-5447-613CFC95176D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933950" y="1450975"/>
            <a:ext cx="9636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AEDF0427-E37F-4D11-94D4-CC435ABD5286}" type="datetime'I''''nfor''''''ma''''''tions''''t''e''knolo''''g''''''''i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Informationsteknologi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E28659C-970E-B2D0-B7AA-D34A978C2CC2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933950" y="1624013"/>
            <a:ext cx="33655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3A0B7FD-29A7-4351-AB40-ED7A0363A4E8}" type="datetime'''''''''''''''''''''''''''''''In''d''''us''''''''''t''''''ri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Industri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EE62719-1BC1-DC19-8708-B1282EDD510E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933950" y="1797050"/>
            <a:ext cx="3937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BBF92F1-2612-48A1-ADC9-F861A9C21555}" type="datetime'''''''S''u''''''''''''''''n''''''d''''h''''e''''''''''''d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Sundhed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CE0F6E1B-E9BF-44B1-15B5-02D30CEEE459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4933950" y="1970088"/>
            <a:ext cx="638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D2A85DA-1C38-4857-8C9F-C0E06B1F97E4}" type="datetime'''''''''''''''''Fo''''''''''rbrug''s''''''goder''''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Forbrugsgoder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2999A048-542E-CAEB-4979-C5379037477A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4933950" y="2143125"/>
            <a:ext cx="2921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FF6D5F35-8644-4860-A7F8-AFA49548D0F1}" type="datetime'''''''''''''''''''''''''''''''''Fi''''nan''''''''''s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Finans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704DB6C5-38A2-2D96-F482-654548D0DE75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4933950" y="2316163"/>
            <a:ext cx="113506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87D9FFA-0986-4381-A714-7B77B8198368}" type="datetime'''''K''om''m''un''ik''ati''o''n''stje''n''e''''s''t''''''er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Kommunikationstjenester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063A7E8D-B125-8576-1BCA-E17B22B35C5F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4933950" y="2489200"/>
            <a:ext cx="3302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187B957-F543-42B2-95D3-AAA07A25130D}" type="datetime'''''D''''''''''''''''''''''''''''''''i''''''''v''er''''s''''e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Diverse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58" name="Rectangle: Rounded Corners 257">
            <a:extLst>
              <a:ext uri="{FF2B5EF4-FFF2-40B4-BE49-F238E27FC236}">
                <a16:creationId xmlns:a16="http://schemas.microsoft.com/office/drawing/2014/main" id="{E7E32E4C-40BA-CF8C-8D57-A3C17412B78A}"/>
              </a:ext>
            </a:extLst>
          </p:cNvPr>
          <p:cNvSpPr/>
          <p:nvPr/>
        </p:nvSpPr>
        <p:spPr>
          <a:xfrm rot="5400000">
            <a:off x="5287793" y="-1759414"/>
            <a:ext cx="1615102" cy="11042650"/>
          </a:xfrm>
          <a:prstGeom prst="roundRect">
            <a:avLst>
              <a:gd name="adj" fmla="val 5157"/>
            </a:avLst>
          </a:prstGeom>
          <a:noFill/>
          <a:ln>
            <a:solidFill>
              <a:srgbClr val="ED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000"/>
          </a:p>
        </p:txBody>
      </p:sp>
      <p:sp>
        <p:nvSpPr>
          <p:cNvPr id="259" name="Rectangle: Rounded Corners 258">
            <a:extLst>
              <a:ext uri="{FF2B5EF4-FFF2-40B4-BE49-F238E27FC236}">
                <a16:creationId xmlns:a16="http://schemas.microsoft.com/office/drawing/2014/main" id="{EC76A64A-D944-464B-9A0D-719C016DDEEF}"/>
              </a:ext>
            </a:extLst>
          </p:cNvPr>
          <p:cNvSpPr/>
          <p:nvPr/>
        </p:nvSpPr>
        <p:spPr>
          <a:xfrm rot="5400000">
            <a:off x="5287793" y="-55076"/>
            <a:ext cx="1615102" cy="11042650"/>
          </a:xfrm>
          <a:prstGeom prst="roundRect">
            <a:avLst>
              <a:gd name="adj" fmla="val 5157"/>
            </a:avLst>
          </a:prstGeom>
          <a:noFill/>
          <a:ln>
            <a:solidFill>
              <a:srgbClr val="ED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000"/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4841957F-3A69-850E-7BF1-FD7DAE695400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440488" y="1881188"/>
            <a:ext cx="261938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412m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7EEEDA25-DD83-2239-A14F-989A029612EA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3503613" y="1881188"/>
            <a:ext cx="263525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412m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298" name="Rectangle: Rounded Corners 297">
            <a:extLst>
              <a:ext uri="{FF2B5EF4-FFF2-40B4-BE49-F238E27FC236}">
                <a16:creationId xmlns:a16="http://schemas.microsoft.com/office/drawing/2014/main" id="{28ADB8A6-D50B-70F3-5C2A-6533F277977C}"/>
              </a:ext>
            </a:extLst>
          </p:cNvPr>
          <p:cNvSpPr/>
          <p:nvPr/>
        </p:nvSpPr>
        <p:spPr>
          <a:xfrm rot="5400000">
            <a:off x="5287963" y="-55563"/>
            <a:ext cx="1614488" cy="11042650"/>
          </a:xfrm>
          <a:prstGeom prst="roundRect">
            <a:avLst>
              <a:gd name="adj" fmla="val 5157"/>
            </a:avLst>
          </a:prstGeom>
          <a:noFill/>
          <a:ln>
            <a:solidFill>
              <a:srgbClr val="ED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000"/>
          </a:p>
        </p:txBody>
      </p:sp>
      <p:sp>
        <p:nvSpPr>
          <p:cNvPr id="299" name="Rectangle: Top Corners Rounded 298">
            <a:extLst>
              <a:ext uri="{FF2B5EF4-FFF2-40B4-BE49-F238E27FC236}">
                <a16:creationId xmlns:a16="http://schemas.microsoft.com/office/drawing/2014/main" id="{65394881-37C9-234E-5E49-108A86980941}"/>
              </a:ext>
            </a:extLst>
          </p:cNvPr>
          <p:cNvSpPr/>
          <p:nvPr/>
        </p:nvSpPr>
        <p:spPr>
          <a:xfrm rot="16200000">
            <a:off x="-93663" y="5272088"/>
            <a:ext cx="1614488" cy="387350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KAPE 2022</a:t>
            </a:r>
          </a:p>
        </p:txBody>
      </p:sp>
      <p:graphicFrame>
        <p:nvGraphicFramePr>
          <p:cNvPr id="490" name="Chart 489">
            <a:extLst>
              <a:ext uri="{FF2B5EF4-FFF2-40B4-BE49-F238E27FC236}">
                <a16:creationId xmlns:a16="http://schemas.microsoft.com/office/drawing/2014/main" id="{0A45E014-F10A-B907-4EA8-2999541F194C}"/>
              </a:ext>
            </a:extLst>
          </p:cNvPr>
          <p:cNvGraphicFramePr/>
          <p:nvPr>
            <p:custDataLst>
              <p:tags r:id="rId47"/>
            </p:custDataLst>
          </p:nvPr>
        </p:nvGraphicFramePr>
        <p:xfrm>
          <a:off x="5424488" y="4503738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3"/>
          </a:graphicData>
        </a:graphic>
      </p:graphicFrame>
      <p:sp>
        <p:nvSpPr>
          <p:cNvPr id="301" name="Rectangle 300">
            <a:extLst>
              <a:ext uri="{FF2B5EF4-FFF2-40B4-BE49-F238E27FC236}">
                <a16:creationId xmlns:a16="http://schemas.microsoft.com/office/drawing/2014/main" id="{66323FAF-25F8-3625-AB9C-CCCC18A399F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6794500" y="5729288"/>
            <a:ext cx="249238" cy="1095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78A020F-6C2D-44DD-AD94-D6C1879E0D82}" type="datetime'''''''''4'''''''',''''''''''''''''''0''''''''%'''''''">
              <a:rPr lang="da-DK" altLang="en-US" sz="8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580FFDD7-941E-CACB-B800-F2B5822C52F5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591300" y="5619750"/>
            <a:ext cx="249238" cy="109538"/>
          </a:xfrm>
          <a:prstGeom prst="rect">
            <a:avLst/>
          </a:prstGeom>
          <a:solidFill>
            <a:srgbClr val="DFE5E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8482FB-52EA-4862-98F4-6DD467FC9A10}" type="datetime'''4'''',''''''0%''''''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D913A25-178A-AD27-ED58-7D5A07E307D4}"/>
              </a:ext>
            </a:extLst>
          </p:cNvPr>
          <p:cNvGraphicFramePr/>
          <p:nvPr>
            <p:custDataLst>
              <p:tags r:id="rId50"/>
            </p:custDataLst>
          </p:nvPr>
        </p:nvGraphicFramePr>
        <p:xfrm>
          <a:off x="7372350" y="5568950"/>
          <a:ext cx="4214813" cy="58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4"/>
          </a:graphicData>
        </a:graphic>
      </p:graphicFrame>
      <p:sp>
        <p:nvSpPr>
          <p:cNvPr id="304" name="Pladsholder til tekst 2">
            <a:extLst>
              <a:ext uri="{FF2B5EF4-FFF2-40B4-BE49-F238E27FC236}">
                <a16:creationId xmlns:a16="http://schemas.microsoft.com/office/drawing/2014/main" id="{3C24309B-5858-4B6E-CE94-3FC9F3719F6E}"/>
              </a:ext>
            </a:extLst>
          </p:cNvPr>
          <p:cNvSpPr>
            <a:spLocks/>
          </p:cNvSpPr>
          <p:nvPr>
            <p:custDataLst>
              <p:tags r:id="rId51"/>
            </p:custDataLst>
          </p:nvPr>
        </p:nvSpPr>
        <p:spPr bwMode="auto">
          <a:xfrm>
            <a:off x="7469188" y="6107113"/>
            <a:ext cx="3762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A5DF3F0-E702-4BC0-A941-3B729E0608EF}" type="datetime'''I''''''''''''''''''''r''''o''n''c''''''''''''l''''''''ad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Ironclad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05" name="Pladsholder til tekst 2">
            <a:extLst>
              <a:ext uri="{FF2B5EF4-FFF2-40B4-BE49-F238E27FC236}">
                <a16:creationId xmlns:a16="http://schemas.microsoft.com/office/drawing/2014/main" id="{4E63FF2C-8839-DC58-EBFC-7EA90AD72CAE}"/>
              </a:ext>
            </a:extLst>
          </p:cNvPr>
          <p:cNvSpPr>
            <a:spLocks/>
          </p:cNvSpPr>
          <p:nvPr>
            <p:custDataLst>
              <p:tags r:id="rId52"/>
            </p:custDataLst>
          </p:nvPr>
        </p:nvSpPr>
        <p:spPr bwMode="auto">
          <a:xfrm>
            <a:off x="7961313" y="6107113"/>
            <a:ext cx="2000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6877A9E-1006-4E21-8A26-952B23D95189}" type="datetime'''''''A''''v''''''''''''''''i''''''''''''''''''''d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Avid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06" name="Pladsholder til tekst 2">
            <a:extLst>
              <a:ext uri="{FF2B5EF4-FFF2-40B4-BE49-F238E27FC236}">
                <a16:creationId xmlns:a16="http://schemas.microsoft.com/office/drawing/2014/main" id="{A4041CCD-DB92-875A-B4DB-6A9F3526ADCD}"/>
              </a:ext>
            </a:extLst>
          </p:cNvPr>
          <p:cNvSpPr>
            <a:spLocks/>
          </p:cNvSpPr>
          <p:nvPr>
            <p:custDataLst>
              <p:tags r:id="rId53"/>
            </p:custDataLst>
          </p:nvPr>
        </p:nvSpPr>
        <p:spPr bwMode="auto">
          <a:xfrm>
            <a:off x="8324851" y="6107113"/>
            <a:ext cx="2825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F2F75D8E-EFCC-4959-B25B-F9961EAC2E58}" type="datetime'''''''''R''a''''n''''''ta''''''''&#10;''''lai''n''en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Ranta
lainen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07" name="Pladsholder til tekst 2">
            <a:extLst>
              <a:ext uri="{FF2B5EF4-FFF2-40B4-BE49-F238E27FC236}">
                <a16:creationId xmlns:a16="http://schemas.microsoft.com/office/drawing/2014/main" id="{74D3ED70-2CF1-3C2F-895A-31208C89D7D2}"/>
              </a:ext>
            </a:extLst>
          </p:cNvPr>
          <p:cNvSpPr>
            <a:spLocks/>
          </p:cNvSpPr>
          <p:nvPr>
            <p:custDataLst>
              <p:tags r:id="rId54"/>
            </p:custDataLst>
          </p:nvPr>
        </p:nvSpPr>
        <p:spPr bwMode="auto">
          <a:xfrm>
            <a:off x="8716963" y="6107113"/>
            <a:ext cx="307975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00BF80A-19A4-4A89-97AA-2FE99CCBBDAB}" type="datetime'Be''''''''t''t''''''er'' Hea''lt''''h''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Better Health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08" name="Pladsholder til tekst 2">
            <a:extLst>
              <a:ext uri="{FF2B5EF4-FFF2-40B4-BE49-F238E27FC236}">
                <a16:creationId xmlns:a16="http://schemas.microsoft.com/office/drawing/2014/main" id="{D789EFB7-3480-326B-EE63-C3D3E6034E63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9113838" y="6107113"/>
            <a:ext cx="325438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DE7EF03-1705-47FF-B521-41965ABD40F3}" type="datetime'''''''''G''''''lu''eck&#10;''k''''''''''''''''''an''j''a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Glueck
kanja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09" name="Pladsholder til tekst 2">
            <a:extLst>
              <a:ext uri="{FF2B5EF4-FFF2-40B4-BE49-F238E27FC236}">
                <a16:creationId xmlns:a16="http://schemas.microsoft.com/office/drawing/2014/main" id="{244A28E8-5A34-45AF-4309-1ED047E26B29}"/>
              </a:ext>
            </a:extLst>
          </p:cNvPr>
          <p:cNvSpPr>
            <a:spLocks/>
          </p:cNvSpPr>
          <p:nvPr>
            <p:custDataLst>
              <p:tags r:id="rId56"/>
            </p:custDataLst>
          </p:nvPr>
        </p:nvSpPr>
        <p:spPr bwMode="auto">
          <a:xfrm>
            <a:off x="9567863" y="6107113"/>
            <a:ext cx="2301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1606316-51AC-4A4E-AE48-E1BB1CF894F8}" type="datetime'''''''A''v''''''''''''''i''''''''''t''''''''a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Avita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10" name="Pladsholder til tekst 2">
            <a:extLst>
              <a:ext uri="{FF2B5EF4-FFF2-40B4-BE49-F238E27FC236}">
                <a16:creationId xmlns:a16="http://schemas.microsoft.com/office/drawing/2014/main" id="{820003CE-E93D-9D78-64CB-9FA0240553C3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9972675" y="6107113"/>
            <a:ext cx="2286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CEB972AA-3779-41AC-95C8-8EC661B08B2A}" type="datetime'''''''''''''''''''''''''''''''''''R''E''''I''''''''C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REIC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11" name="Pladsholder til tekst 2">
            <a:extLst>
              <a:ext uri="{FF2B5EF4-FFF2-40B4-BE49-F238E27FC236}">
                <a16:creationId xmlns:a16="http://schemas.microsoft.com/office/drawing/2014/main" id="{1F9D0DFB-9247-5EBD-9CFE-CEBE798F25B7}"/>
              </a:ext>
            </a:extLst>
          </p:cNvPr>
          <p:cNvSpPr>
            <a:spLocks/>
          </p:cNvSpPr>
          <p:nvPr>
            <p:custDataLst>
              <p:tags r:id="rId58"/>
            </p:custDataLst>
          </p:nvPr>
        </p:nvSpPr>
        <p:spPr bwMode="auto">
          <a:xfrm>
            <a:off x="10310813" y="6107113"/>
            <a:ext cx="3619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93346983-AF78-4CAF-B68E-F37B6FBDDF9F}" type="datetime'''''''E''M''''''''''''''''''''''''P''''''''W''''''''R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EMPWR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12" name="Pladsholder til tekst 2">
            <a:extLst>
              <a:ext uri="{FF2B5EF4-FFF2-40B4-BE49-F238E27FC236}">
                <a16:creationId xmlns:a16="http://schemas.microsoft.com/office/drawing/2014/main" id="{7C40645A-FEA7-951F-040D-9FC8135BBC98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10710863" y="6107113"/>
            <a:ext cx="3730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31FB2D73-7F13-4AE2-B398-E4B02DD265B8}" type="datetime'''''''''''''''''''''''''''I''N''''''''NI''''''''''O''''''-2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INNIO-2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13" name="Pladsholder til tekst 2">
            <a:extLst>
              <a:ext uri="{FF2B5EF4-FFF2-40B4-BE49-F238E27FC236}">
                <a16:creationId xmlns:a16="http://schemas.microsoft.com/office/drawing/2014/main" id="{6014E7F0-3039-64D6-6838-EFF5BC007FF5}"/>
              </a:ext>
            </a:extLst>
          </p:cNvPr>
          <p:cNvSpPr>
            <a:spLocks/>
          </p:cNvSpPr>
          <p:nvPr>
            <p:custDataLst>
              <p:tags r:id="rId60"/>
            </p:custDataLst>
          </p:nvPr>
        </p:nvSpPr>
        <p:spPr bwMode="auto">
          <a:xfrm>
            <a:off x="11164888" y="6107113"/>
            <a:ext cx="2730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5DCF760-752D-4DAD-9ADA-0196DE8ED831}" type="datetime'''A''''''''n''''''d''''''''''''''''''''r''e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Andre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D6C4130E-28DE-0432-3106-61AD5262391C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7532688" y="5918200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241C356-E3E1-4028-A211-800C5BE240BD}" type="datetime'''''5'''''',''''''''''''''''0%''''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41C1A59C-5ED8-3B13-E9D4-71A875E84626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7937500" y="592137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C4BCA2F-0E5E-4FDC-BBC5-EBEA39BAD9BC}" type="datetime'''''''''4'''',''''''''''''0''%''''''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58ADE901-E11C-2091-FFBB-C9A0707AC4CC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8342313" y="592137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105DB12-D58E-4CE9-A549-C8DFCF5451FA}" type="datetime'''''''''''''''''''''4'',''''''''''''0%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44992D67-1F41-6A80-75F2-06816563B28B}"/>
              </a:ext>
            </a:extLst>
          </p:cNvPr>
          <p:cNvSpPr/>
          <p:nvPr>
            <p:custDataLst>
              <p:tags r:id="rId64"/>
            </p:custDataLst>
          </p:nvPr>
        </p:nvSpPr>
        <p:spPr bwMode="gray">
          <a:xfrm>
            <a:off x="8747125" y="592137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0A62192-D046-4D6B-BC48-5FDFE2338E37}" type="datetime'''''''''''''''4'''',0''''''''''''%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18E78EFA-DF4B-2DE7-312B-FEFDB2EAFC13}"/>
              </a:ext>
            </a:extLst>
          </p:cNvPr>
          <p:cNvSpPr/>
          <p:nvPr>
            <p:custDataLst>
              <p:tags r:id="rId65"/>
            </p:custDataLst>
          </p:nvPr>
        </p:nvSpPr>
        <p:spPr bwMode="gray">
          <a:xfrm>
            <a:off x="9151938" y="592137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EAC6C50-50D2-4F8C-A62A-2D5756B3DBDC}" type="datetime'''''''''''''''''''4'''''''''''''',''''''0''''''%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B26A7268-6C9A-3D00-58C4-A8BF74E36A66}"/>
              </a:ext>
            </a:extLst>
          </p:cNvPr>
          <p:cNvSpPr/>
          <p:nvPr>
            <p:custDataLst>
              <p:tags r:id="rId66"/>
            </p:custDataLst>
          </p:nvPr>
        </p:nvSpPr>
        <p:spPr bwMode="gray">
          <a:xfrm>
            <a:off x="9558338" y="59261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103CF62-A98B-4A22-858F-EA55A1F0F2B8}" type="datetime'''3'''''''',''''''''''''''''''''0%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8FAA9760-ED34-EBEB-B9A1-8DE8A6BC1561}"/>
              </a:ext>
            </a:extLst>
          </p:cNvPr>
          <p:cNvSpPr/>
          <p:nvPr>
            <p:custDataLst>
              <p:tags r:id="rId67"/>
            </p:custDataLst>
          </p:nvPr>
        </p:nvSpPr>
        <p:spPr bwMode="gray">
          <a:xfrm>
            <a:off x="9963150" y="59261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C09AAF3-7659-44BF-A7DF-FFCA7C98FE82}" type="datetime'''''''''''''''''''3'''''''',''''0%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120B4F0C-4AFF-A8F0-59A0-90F06CD5D03C}"/>
              </a:ext>
            </a:extLst>
          </p:cNvPr>
          <p:cNvSpPr/>
          <p:nvPr>
            <p:custDataLst>
              <p:tags r:id="rId68"/>
            </p:custDataLst>
          </p:nvPr>
        </p:nvSpPr>
        <p:spPr bwMode="gray">
          <a:xfrm>
            <a:off x="10367963" y="59261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CC1E8A5-C391-45D2-AF47-0DD370E1EDC1}" type="datetime'''''3'''''''''''',''0''''''''''''%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13229A18-4DCE-4513-44C8-AF74489FFE5A}"/>
              </a:ext>
            </a:extLst>
          </p:cNvPr>
          <p:cNvSpPr/>
          <p:nvPr>
            <p:custDataLst>
              <p:tags r:id="rId69"/>
            </p:custDataLst>
          </p:nvPr>
        </p:nvSpPr>
        <p:spPr bwMode="gray">
          <a:xfrm>
            <a:off x="10772775" y="5926138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86D7B93-3EAD-4FE8-BB1A-6799F077805E}" type="datetime'''''''3'''''''''''',''''''0''''''%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AE29F4D9-8658-245A-415A-D19C3C1B2B94}"/>
              </a:ext>
            </a:extLst>
          </p:cNvPr>
          <p:cNvSpPr/>
          <p:nvPr>
            <p:custDataLst>
              <p:tags r:id="rId70"/>
            </p:custDataLst>
          </p:nvPr>
        </p:nvSpPr>
        <p:spPr bwMode="gray">
          <a:xfrm>
            <a:off x="11150600" y="5656263"/>
            <a:ext cx="303213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D61537E-4BD5-4695-8431-CCCC5815C8EB}" type="datetime'''6''''''''''''''''''7'''',''''''0%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67,0%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28317B9D-D7BF-B49F-059E-57B24F346590}"/>
              </a:ext>
            </a:extLst>
          </p:cNvPr>
          <p:cNvGraphicFramePr/>
          <p:nvPr>
            <p:custDataLst>
              <p:tags r:id="rId71"/>
            </p:custDataLst>
          </p:nvPr>
        </p:nvGraphicFramePr>
        <p:xfrm>
          <a:off x="2492375" y="4503738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5"/>
          </a:graphicData>
        </a:graphic>
      </p:graphicFrame>
      <p:sp>
        <p:nvSpPr>
          <p:cNvPr id="326" name="Pladsholder til tekst 2">
            <a:extLst>
              <a:ext uri="{FF2B5EF4-FFF2-40B4-BE49-F238E27FC236}">
                <a16:creationId xmlns:a16="http://schemas.microsoft.com/office/drawing/2014/main" id="{7AD79C42-4EDD-88A1-775C-9ADC5AAA18BC}"/>
              </a:ext>
            </a:extLst>
          </p:cNvPr>
          <p:cNvSpPr>
            <a:spLocks/>
          </p:cNvSpPr>
          <p:nvPr>
            <p:custDataLst>
              <p:tags r:id="rId72"/>
            </p:custDataLst>
          </p:nvPr>
        </p:nvSpPr>
        <p:spPr bwMode="auto">
          <a:xfrm>
            <a:off x="2557463" y="4821238"/>
            <a:ext cx="6080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6D8C1737-3F03-433D-92D7-5E2EBBC4D15B}" type="datetime'''''Nord''''''''''''''''a''m''eri''''''''k''''''a'''''''''''">
              <a:rPr lang="da-DK" altLang="en-US" sz="800" b="1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Nordamerika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327" name="Pladsholder til tekst 2">
            <a:extLst>
              <a:ext uri="{FF2B5EF4-FFF2-40B4-BE49-F238E27FC236}">
                <a16:creationId xmlns:a16="http://schemas.microsoft.com/office/drawing/2014/main" id="{7AD1DA9C-510C-FDBE-8AC4-4403038C0B3C}"/>
              </a:ext>
            </a:extLst>
          </p:cNvPr>
          <p:cNvSpPr>
            <a:spLocks/>
          </p:cNvSpPr>
          <p:nvPr>
            <p:custDataLst>
              <p:tags r:id="rId73"/>
            </p:custDataLst>
          </p:nvPr>
        </p:nvSpPr>
        <p:spPr bwMode="auto">
          <a:xfrm>
            <a:off x="3859213" y="4675188"/>
            <a:ext cx="330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6E414F8-4272-4FAE-AC88-ACD88290F4AD}" type="datetime'''''''''''E''''''''''''''''u''''''''r''o''''''''''p''a''''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Europa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1A4BFF0D-4822-5A11-5947-A7E6BF6A2A99}"/>
              </a:ext>
            </a:extLst>
          </p:cNvPr>
          <p:cNvSpPr/>
          <p:nvPr>
            <p:custDataLst>
              <p:tags r:id="rId74"/>
            </p:custDataLst>
          </p:nvPr>
        </p:nvSpPr>
        <p:spPr bwMode="gray">
          <a:xfrm>
            <a:off x="3813175" y="5773738"/>
            <a:ext cx="249238" cy="1095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5A04076-D85C-4178-BCB7-2D6D0B25357C}" type="datetime'2'''''',''''''''''''''''''''''''''''''''''''''''''''''''0%'">
              <a:rPr lang="da-DK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29" name="Pladsholder til tekst 2">
            <a:extLst>
              <a:ext uri="{FF2B5EF4-FFF2-40B4-BE49-F238E27FC236}">
                <a16:creationId xmlns:a16="http://schemas.microsoft.com/office/drawing/2014/main" id="{E59B1845-6473-27B6-6632-073DC7FC44FA}"/>
              </a:ext>
            </a:extLst>
          </p:cNvPr>
          <p:cNvSpPr>
            <a:spLocks/>
          </p:cNvSpPr>
          <p:nvPr>
            <p:custDataLst>
              <p:tags r:id="rId75"/>
            </p:custDataLst>
          </p:nvPr>
        </p:nvSpPr>
        <p:spPr bwMode="auto">
          <a:xfrm>
            <a:off x="4078288" y="5916613"/>
            <a:ext cx="2587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C701BB0B-3A83-4B71-B8CD-1510A9D1E85F}" type="datetime'''''''''''As''''''''''''''''''i''''''en''''''''''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Asien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C97576B6-5CED-1BB8-27D2-DDD826203878}"/>
              </a:ext>
            </a:extLst>
          </p:cNvPr>
          <p:cNvSpPr/>
          <p:nvPr>
            <p:custDataLst>
              <p:tags r:id="rId76"/>
            </p:custDataLst>
          </p:nvPr>
        </p:nvSpPr>
        <p:spPr bwMode="gray">
          <a:xfrm>
            <a:off x="3692525" y="5664200"/>
            <a:ext cx="249238" cy="109538"/>
          </a:xfrm>
          <a:prstGeom prst="rect">
            <a:avLst/>
          </a:prstGeom>
          <a:solidFill>
            <a:srgbClr val="C9AA8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D74D33C-798A-47ED-8AF6-3B1DC7AC0693}" type="datetime'''''''''''''''1'''',''''''''''''''''''''''''0%'''">
              <a:rPr lang="da-DK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31" name="Pladsholder til tekst 2">
            <a:extLst>
              <a:ext uri="{FF2B5EF4-FFF2-40B4-BE49-F238E27FC236}">
                <a16:creationId xmlns:a16="http://schemas.microsoft.com/office/drawing/2014/main" id="{E03F3019-6BF1-CFA2-E13D-7B683949B51C}"/>
              </a:ext>
            </a:extLst>
          </p:cNvPr>
          <p:cNvSpPr>
            <a:spLocks/>
          </p:cNvSpPr>
          <p:nvPr>
            <p:custDataLst>
              <p:tags r:id="rId77"/>
            </p:custDataLst>
          </p:nvPr>
        </p:nvSpPr>
        <p:spPr bwMode="auto">
          <a:xfrm>
            <a:off x="3976688" y="6026150"/>
            <a:ext cx="4445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19EC56C3-2BD3-45A2-89EF-33A54C925614}" type="datetime'Oc''e''''''''''a''''''''''''''n''''''''''''''''''''ie''n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Oceanien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A720EE8E-38E4-5BCC-B649-1E629FFE33DB}"/>
              </a:ext>
            </a:extLst>
          </p:cNvPr>
          <p:cNvSpPr txBox="1"/>
          <p:nvPr/>
        </p:nvSpPr>
        <p:spPr>
          <a:xfrm>
            <a:off x="906781" y="4683539"/>
            <a:ext cx="17117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et totalt tilsagn på DKK 841m, hvoraf </a:t>
            </a:r>
            <a:r>
              <a:rPr lang="da-DK" sz="900" err="1"/>
              <a:t>Motortramps</a:t>
            </a:r>
            <a:r>
              <a:rPr lang="da-DK" sz="900"/>
              <a:t> investering </a:t>
            </a:r>
            <a:r>
              <a:rPr lang="da-DK" sz="900" b="1"/>
              <a:t>udgør DKK 14m</a:t>
            </a:r>
            <a:r>
              <a:rPr lang="da-DK" sz="900"/>
              <a:t>. Fonden investerer primært i EU og Nordamerika, samt en smule i Asien og Oceanien.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eksponering til 8 PE-forvaltere i gennem 11 fonde og 109 selskaber.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1AA9B00C-86DA-2688-F619-C9A9E3677C2A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4740275" y="4864100"/>
            <a:ext cx="142875" cy="1063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BB195F1F-F8EA-6C46-E451-E041E21BCE0D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4740275" y="5037138"/>
            <a:ext cx="142875" cy="106363"/>
          </a:xfrm>
          <a:prstGeom prst="rect">
            <a:avLst/>
          </a:prstGeom>
          <a:solidFill>
            <a:srgbClr val="F1979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31B3F66D-8AD0-7D92-3D83-64B2C2FB345D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4740275" y="5210175"/>
            <a:ext cx="142875" cy="10636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A10AC616-4668-20EE-D72C-8E01A899510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4740275" y="5383213"/>
            <a:ext cx="142875" cy="106363"/>
          </a:xfrm>
          <a:prstGeom prst="rect">
            <a:avLst/>
          </a:prstGeom>
          <a:solidFill>
            <a:srgbClr val="C9AA8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C2A0657E-D433-0E33-F2CE-B875F33B31BA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4740275" y="5556250"/>
            <a:ext cx="142875" cy="10636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5939F640-05A4-9B68-CB4D-A2F484CADAAC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740275" y="5729288"/>
            <a:ext cx="142875" cy="106362"/>
          </a:xfrm>
          <a:prstGeom prst="rect">
            <a:avLst/>
          </a:prstGeom>
          <a:solidFill>
            <a:srgbClr val="DFE5E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BCDB611C-D910-CA07-66C5-99EAA781129D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4933950" y="4859338"/>
            <a:ext cx="33655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72461E58-C80C-4328-ADB4-D5A4DDA4EDC6}" type="datetime'''I''''''''n''''''''''''''du''s''''t''''''r''''''''''''''i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Industri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307262DF-79BB-72E1-1D2C-6D27DE04282C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4933950" y="5032375"/>
            <a:ext cx="9636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F47219F-3878-4290-9B2C-292B7F31C499}" type="datetime'In''f''''orm''''''at''i''onste''''''k''n''ol''''''''o''g''''i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Informationsteknologi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3157D94C-4063-89D3-185B-305E4BBE61E1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4933950" y="5205413"/>
            <a:ext cx="3937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A3BC9DA-157D-4D12-85EC-B25218BC65BE}" type="datetime'''''S''''''''''u''''''''n''''dh''''''''''''''''''''''ed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Sundhed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43" name="Rectangle 342">
            <a:extLst>
              <a:ext uri="{FF2B5EF4-FFF2-40B4-BE49-F238E27FC236}">
                <a16:creationId xmlns:a16="http://schemas.microsoft.com/office/drawing/2014/main" id="{3D722FA2-3CED-906B-F56B-41C7FEA665F0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4933950" y="5378450"/>
            <a:ext cx="638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28EFED2-BF6B-4A54-92B8-7CF0C4809D3D}" type="datetime'F''o''''''r''''''br''''''ug''''s''''''''g''''''''''o''de''r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Forbrugsgoder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18ECFFBE-3C86-5B4F-7765-E1EE02937F32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4933950" y="5551488"/>
            <a:ext cx="2921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5559CFE2-EE68-4B51-B189-CD822D8E1979}" type="datetime'''''''''''''F''i''''''''''''n''''''''''''''an''s''''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Finans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35A833DC-EDC4-F772-B374-C8638613D735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33950" y="5724525"/>
            <a:ext cx="3302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68954DA-C257-4763-BF6B-451F20710CB6}" type="datetime'''''''D''''i''''''''''''''v''''e''''''''''''''''''''''''''rse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Diverse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801AC262-8E66-C0D0-6BEF-621A8A44E321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6440488" y="5289550"/>
            <a:ext cx="261938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823m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D2E99F05-9980-0158-8337-1533FEFD6C34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3503613" y="5289550"/>
            <a:ext cx="263525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823m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352" name="Rectangle: Top Corners Rounded 351">
            <a:extLst>
              <a:ext uri="{FF2B5EF4-FFF2-40B4-BE49-F238E27FC236}">
                <a16:creationId xmlns:a16="http://schemas.microsoft.com/office/drawing/2014/main" id="{0C63610B-37FF-24C7-954D-9566E72B38E6}"/>
              </a:ext>
            </a:extLst>
          </p:cNvPr>
          <p:cNvSpPr/>
          <p:nvPr/>
        </p:nvSpPr>
        <p:spPr>
          <a:xfrm rot="16200000">
            <a:off x="-93651" y="3567857"/>
            <a:ext cx="1615102" cy="387350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KAPE 2021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A7A88341-98BA-93AA-54E8-CF1E3B251197}"/>
              </a:ext>
            </a:extLst>
          </p:cNvPr>
          <p:cNvSpPr txBox="1"/>
          <p:nvPr/>
        </p:nvSpPr>
        <p:spPr>
          <a:xfrm>
            <a:off x="970259" y="6510776"/>
            <a:ext cx="9424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700"/>
              <a:t>Note) Årsagen til at fordelingen for 2020 og KAPE 2021 er højere end tilsagnet i eksponeringsdiagrammet skyldes, at USD er svækket over for DKK siden fondenes åbning i henholdsvis 2020 og 2021, samt at afkast er indregnet. </a:t>
            </a:r>
            <a:br>
              <a:rPr lang="da-DK" sz="700"/>
            </a:br>
            <a:r>
              <a:rPr lang="da-DK" sz="700"/>
              <a:t>Note 1) </a:t>
            </a:r>
            <a:r>
              <a:rPr lang="da-DK" sz="700" err="1"/>
              <a:t>Talet</a:t>
            </a:r>
            <a:r>
              <a:rPr lang="da-DK" sz="700"/>
              <a:t> i rødt under de respektive forvaltere er det totale tilsagn givet fra KAPE til den specifikke fond.</a:t>
            </a:r>
          </a:p>
        </p:txBody>
      </p:sp>
      <p:sp>
        <p:nvSpPr>
          <p:cNvPr id="439" name="TextBox 438">
            <a:extLst>
              <a:ext uri="{FF2B5EF4-FFF2-40B4-BE49-F238E27FC236}">
                <a16:creationId xmlns:a16="http://schemas.microsoft.com/office/drawing/2014/main" id="{8B67E38C-9E27-579A-3BDA-8B9852BB9171}"/>
              </a:ext>
            </a:extLst>
          </p:cNvPr>
          <p:cNvSpPr txBox="1"/>
          <p:nvPr/>
        </p:nvSpPr>
        <p:spPr>
          <a:xfrm>
            <a:off x="913450" y="2953619"/>
            <a:ext cx="166956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et totalt tilsagn på DKK 558m, hvoraf Motortramps investering </a:t>
            </a:r>
            <a:r>
              <a:rPr lang="da-DK" sz="900" b="1"/>
              <a:t>udgør DKK 25m. </a:t>
            </a:r>
            <a:r>
              <a:rPr lang="da-DK" sz="900"/>
              <a:t>Fonden investerer primært i EU og Nordamerika, samt en smule i asien.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eksponering til 6 PE- forvaltere gennem 7 fonde og 197 selskaber.</a:t>
            </a:r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A18C632C-BE1F-1E0C-A86D-C50E54524D86}"/>
              </a:ext>
            </a:extLst>
          </p:cNvPr>
          <p:cNvGraphicFramePr/>
          <p:nvPr>
            <p:custDataLst>
              <p:tags r:id="rId92"/>
            </p:custDataLst>
          </p:nvPr>
        </p:nvGraphicFramePr>
        <p:xfrm>
          <a:off x="2492375" y="2870200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6"/>
          </a:graphicData>
        </a:graphic>
      </p:graphicFrame>
      <p:sp>
        <p:nvSpPr>
          <p:cNvPr id="448" name="Pladsholder til tekst 2">
            <a:extLst>
              <a:ext uri="{FF2B5EF4-FFF2-40B4-BE49-F238E27FC236}">
                <a16:creationId xmlns:a16="http://schemas.microsoft.com/office/drawing/2014/main" id="{B30D2A2B-76B2-B92B-66C2-7AC4788DF866}"/>
              </a:ext>
            </a:extLst>
          </p:cNvPr>
          <p:cNvSpPr>
            <a:spLocks/>
          </p:cNvSpPr>
          <p:nvPr>
            <p:custDataLst>
              <p:tags r:id="rId93"/>
            </p:custDataLst>
          </p:nvPr>
        </p:nvSpPr>
        <p:spPr bwMode="auto">
          <a:xfrm>
            <a:off x="2557463" y="3187700"/>
            <a:ext cx="6080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D05F9E49-5B54-4D94-BA2B-98D194BA2E00}" type="datetime'''''''N''o''r''d''''''''''a''''''mer''''''''''ik''''''''''''a'">
              <a:rPr lang="da-DK" altLang="en-US" sz="800" b="1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Nordamerika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449" name="Pladsholder til tekst 2">
            <a:extLst>
              <a:ext uri="{FF2B5EF4-FFF2-40B4-BE49-F238E27FC236}">
                <a16:creationId xmlns:a16="http://schemas.microsoft.com/office/drawing/2014/main" id="{BF330B16-8F14-3A40-9C61-DFD1F546E136}"/>
              </a:ext>
            </a:extLst>
          </p:cNvPr>
          <p:cNvSpPr>
            <a:spLocks/>
          </p:cNvSpPr>
          <p:nvPr>
            <p:custDataLst>
              <p:tags r:id="rId94"/>
            </p:custDataLst>
          </p:nvPr>
        </p:nvSpPr>
        <p:spPr bwMode="auto">
          <a:xfrm>
            <a:off x="3859213" y="3041650"/>
            <a:ext cx="330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8088B62C-B3CA-41B0-8049-25FA6EAED742}" type="datetime'''''E''''''''u''''''''''''''''''''r''''''''o''p''''a''''''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Europa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02BE9-2E09-C855-7036-FB68E7AA6AC6}"/>
              </a:ext>
            </a:extLst>
          </p:cNvPr>
          <p:cNvSpPr/>
          <p:nvPr>
            <p:custDataLst>
              <p:tags r:id="rId95"/>
            </p:custDataLst>
          </p:nvPr>
        </p:nvSpPr>
        <p:spPr bwMode="gray">
          <a:xfrm>
            <a:off x="3802063" y="4151313"/>
            <a:ext cx="249238" cy="1095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90313E1-D0A7-46E0-ADE2-24B8654E91F9}" type="datetime'''3'',''''0''''%''''''''''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" name="Pladsholder til tekst 2">
            <a:extLst>
              <a:ext uri="{FF2B5EF4-FFF2-40B4-BE49-F238E27FC236}">
                <a16:creationId xmlns:a16="http://schemas.microsoft.com/office/drawing/2014/main" id="{900B5B03-071D-199C-335A-909B5C1A3FC1}"/>
              </a:ext>
            </a:extLst>
          </p:cNvPr>
          <p:cNvSpPr>
            <a:spLocks/>
          </p:cNvSpPr>
          <p:nvPr>
            <p:custDataLst>
              <p:tags r:id="rId96"/>
            </p:custDataLst>
          </p:nvPr>
        </p:nvSpPr>
        <p:spPr bwMode="auto">
          <a:xfrm>
            <a:off x="3998914" y="4338638"/>
            <a:ext cx="2587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E39C53DF-FA74-46D0-94D8-D3B0E32F6A84}" type="datetime'''''''''''A''''''''''''s''''''i''''e''n''''''''''''''''''''''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Asien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1F6E05E3-F560-5356-6C54-440F4B2D3246}"/>
              </a:ext>
            </a:extLst>
          </p:cNvPr>
          <p:cNvSpPr/>
          <p:nvPr>
            <p:custDataLst>
              <p:tags r:id="rId97"/>
            </p:custDataLst>
          </p:nvPr>
        </p:nvSpPr>
        <p:spPr bwMode="auto">
          <a:xfrm>
            <a:off x="3503613" y="3656013"/>
            <a:ext cx="263525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578m</a:t>
            </a:r>
            <a:endParaRPr lang="da-DK" sz="800">
              <a:solidFill>
                <a:schemeClr val="tx1"/>
              </a:solidFill>
            </a:endParaRPr>
          </a:p>
        </p:txBody>
      </p:sp>
      <p:graphicFrame>
        <p:nvGraphicFramePr>
          <p:cNvPr id="473" name="Chart 472">
            <a:extLst>
              <a:ext uri="{FF2B5EF4-FFF2-40B4-BE49-F238E27FC236}">
                <a16:creationId xmlns:a16="http://schemas.microsoft.com/office/drawing/2014/main" id="{ECDEE14D-1C07-28EA-9FC7-79F627537079}"/>
              </a:ext>
            </a:extLst>
          </p:cNvPr>
          <p:cNvGraphicFramePr/>
          <p:nvPr>
            <p:custDataLst>
              <p:tags r:id="rId98"/>
            </p:custDataLst>
          </p:nvPr>
        </p:nvGraphicFramePr>
        <p:xfrm>
          <a:off x="5432425" y="2870200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7"/>
          </a:graphicData>
        </a:graphic>
      </p:graphicFrame>
      <p:sp>
        <p:nvSpPr>
          <p:cNvPr id="513" name="Rectangle 512">
            <a:extLst>
              <a:ext uri="{FF2B5EF4-FFF2-40B4-BE49-F238E27FC236}">
                <a16:creationId xmlns:a16="http://schemas.microsoft.com/office/drawing/2014/main" id="{3C2CAE81-5A32-29F9-768E-A96F9ABF4BD4}"/>
              </a:ext>
            </a:extLst>
          </p:cNvPr>
          <p:cNvSpPr/>
          <p:nvPr>
            <p:custDataLst>
              <p:tags r:id="rId99"/>
            </p:custDataLst>
          </p:nvPr>
        </p:nvSpPr>
        <p:spPr bwMode="gray">
          <a:xfrm>
            <a:off x="6143625" y="4141788"/>
            <a:ext cx="249238" cy="1095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698A5E-B64D-45F7-BC6B-434B9F242208}" type="datetime'''''''''''''''''6'',''''''''''''''''''''''''''0%'''">
              <a:rPr lang="da-DK" altLang="en-US" sz="800" smtClean="0">
                <a:solidFill>
                  <a:schemeClr val="bg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6,0%</a:t>
            </a:fld>
            <a:endParaRPr lang="da-DK" sz="8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A6DAD0D7-F235-DB89-2AA9-3FA0CE851E97}"/>
              </a:ext>
            </a:extLst>
          </p:cNvPr>
          <p:cNvSpPr/>
          <p:nvPr>
            <p:custDataLst>
              <p:tags r:id="rId100"/>
            </p:custDataLst>
          </p:nvPr>
        </p:nvSpPr>
        <p:spPr bwMode="auto">
          <a:xfrm>
            <a:off x="4740275" y="3184525"/>
            <a:ext cx="142875" cy="106363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7C7DDF0C-E34A-91D7-3B9B-50A42A1C4DE4}"/>
              </a:ext>
            </a:extLst>
          </p:cNvPr>
          <p:cNvSpPr/>
          <p:nvPr>
            <p:custDataLst>
              <p:tags r:id="rId101"/>
            </p:custDataLst>
          </p:nvPr>
        </p:nvSpPr>
        <p:spPr bwMode="auto">
          <a:xfrm>
            <a:off x="4740275" y="3357563"/>
            <a:ext cx="142875" cy="106363"/>
          </a:xfrm>
          <a:prstGeom prst="rect">
            <a:avLst/>
          </a:prstGeom>
          <a:solidFill>
            <a:srgbClr val="F1979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EABEDB1B-274F-442E-CB6E-78FA40B77721}"/>
              </a:ext>
            </a:extLst>
          </p:cNvPr>
          <p:cNvSpPr/>
          <p:nvPr>
            <p:custDataLst>
              <p:tags r:id="rId102"/>
            </p:custDataLst>
          </p:nvPr>
        </p:nvSpPr>
        <p:spPr bwMode="auto">
          <a:xfrm>
            <a:off x="4740275" y="3530600"/>
            <a:ext cx="142875" cy="106363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48D76123-85CE-9DD9-126D-F5FF6467EBD2}"/>
              </a:ext>
            </a:extLst>
          </p:cNvPr>
          <p:cNvSpPr/>
          <p:nvPr>
            <p:custDataLst>
              <p:tags r:id="rId103"/>
            </p:custDataLst>
          </p:nvPr>
        </p:nvSpPr>
        <p:spPr bwMode="auto">
          <a:xfrm>
            <a:off x="4740275" y="3703638"/>
            <a:ext cx="142875" cy="106363"/>
          </a:xfrm>
          <a:prstGeom prst="rect">
            <a:avLst/>
          </a:prstGeom>
          <a:solidFill>
            <a:srgbClr val="C9AA8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6E2CB67E-60F2-5154-9DA0-B28F60349154}"/>
              </a:ext>
            </a:extLst>
          </p:cNvPr>
          <p:cNvSpPr/>
          <p:nvPr>
            <p:custDataLst>
              <p:tags r:id="rId104"/>
            </p:custDataLst>
          </p:nvPr>
        </p:nvSpPr>
        <p:spPr bwMode="auto">
          <a:xfrm>
            <a:off x="4740275" y="3876675"/>
            <a:ext cx="142875" cy="106363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901D6AD-1D76-A000-45C6-21957B912922}"/>
              </a:ext>
            </a:extLst>
          </p:cNvPr>
          <p:cNvSpPr/>
          <p:nvPr>
            <p:custDataLst>
              <p:tags r:id="rId105"/>
            </p:custDataLst>
          </p:nvPr>
        </p:nvSpPr>
        <p:spPr bwMode="auto">
          <a:xfrm>
            <a:off x="4740275" y="4049713"/>
            <a:ext cx="142875" cy="106363"/>
          </a:xfrm>
          <a:prstGeom prst="rect">
            <a:avLst/>
          </a:prstGeom>
          <a:solidFill>
            <a:srgbClr val="DFE5EF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8D749AB5-1969-25F7-543F-A4FCDDF31581}"/>
              </a:ext>
            </a:extLst>
          </p:cNvPr>
          <p:cNvSpPr/>
          <p:nvPr>
            <p:custDataLst>
              <p:tags r:id="rId106"/>
            </p:custDataLst>
          </p:nvPr>
        </p:nvSpPr>
        <p:spPr bwMode="auto">
          <a:xfrm>
            <a:off x="4933950" y="3179763"/>
            <a:ext cx="9636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310B7FE5-6F0C-47D0-AE51-1ED3AD72A59E}" type="datetime'Infor''''''''m''a''tions''t''''e''''k''''nol''og''''''i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Informationsteknologi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F5BF9635-5F49-B05B-E131-0FE230C84536}"/>
              </a:ext>
            </a:extLst>
          </p:cNvPr>
          <p:cNvSpPr/>
          <p:nvPr>
            <p:custDataLst>
              <p:tags r:id="rId107"/>
            </p:custDataLst>
          </p:nvPr>
        </p:nvSpPr>
        <p:spPr bwMode="auto">
          <a:xfrm>
            <a:off x="4933950" y="3352800"/>
            <a:ext cx="33655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5A2A4C0-E4C8-441E-9A82-55D468E0EB88}" type="datetime'I''n''''dus''''''''''''''''''''t''''''''''''ri''''''''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Industri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D323688E-AB67-84DA-8511-14172B273E98}"/>
              </a:ext>
            </a:extLst>
          </p:cNvPr>
          <p:cNvSpPr/>
          <p:nvPr>
            <p:custDataLst>
              <p:tags r:id="rId108"/>
            </p:custDataLst>
          </p:nvPr>
        </p:nvSpPr>
        <p:spPr bwMode="auto">
          <a:xfrm>
            <a:off x="4933950" y="3525838"/>
            <a:ext cx="3937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7EA8BC89-6923-427E-BF60-BCE500FF5416}" type="datetime'S''''''''''''''u''''n''''d''''h''e''d''''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Sundhed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23DFAAEE-D1F6-87DC-86D8-98A35C36E323}"/>
              </a:ext>
            </a:extLst>
          </p:cNvPr>
          <p:cNvSpPr/>
          <p:nvPr>
            <p:custDataLst>
              <p:tags r:id="rId109"/>
            </p:custDataLst>
          </p:nvPr>
        </p:nvSpPr>
        <p:spPr bwMode="auto">
          <a:xfrm>
            <a:off x="4933950" y="3698875"/>
            <a:ext cx="638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9A94C2FD-9C07-4789-B14D-F90C307506A8}" type="datetime'''Fo''r''''''''''''''b''r''''ug''''''sgo''''''''d''''er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Forbrugsgoder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DE099974-8399-8E5B-C3F5-BC6BFF61A14E}"/>
              </a:ext>
            </a:extLst>
          </p:cNvPr>
          <p:cNvSpPr/>
          <p:nvPr>
            <p:custDataLst>
              <p:tags r:id="rId110"/>
            </p:custDataLst>
          </p:nvPr>
        </p:nvSpPr>
        <p:spPr bwMode="auto">
          <a:xfrm>
            <a:off x="4933950" y="3871913"/>
            <a:ext cx="2921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AAC3DB1A-5234-424C-9DED-71E19D34BB1E}" type="datetime'''Fi''''n''a''''''''''''''''n''''''''''''''''''s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Finans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85E362B4-2DC2-4FD9-F491-E7918583D2E1}"/>
              </a:ext>
            </a:extLst>
          </p:cNvPr>
          <p:cNvSpPr/>
          <p:nvPr>
            <p:custDataLst>
              <p:tags r:id="rId111"/>
            </p:custDataLst>
          </p:nvPr>
        </p:nvSpPr>
        <p:spPr bwMode="auto">
          <a:xfrm>
            <a:off x="4933950" y="4044950"/>
            <a:ext cx="33020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AF1CB83-2584-41F7-903D-683DBB175513}" type="datetime'''''''''''''''''''''Di''''''''''''v''e''''''''''rse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Diverse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5B167ACE-6CEF-3901-F758-7D6B9079F734}"/>
              </a:ext>
            </a:extLst>
          </p:cNvPr>
          <p:cNvSpPr/>
          <p:nvPr>
            <p:custDataLst>
              <p:tags r:id="rId112"/>
            </p:custDataLst>
          </p:nvPr>
        </p:nvSpPr>
        <p:spPr bwMode="auto">
          <a:xfrm>
            <a:off x="6440488" y="3656013"/>
            <a:ext cx="261938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578m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476" name="Rectangle: Rounded Corners 475">
            <a:extLst>
              <a:ext uri="{FF2B5EF4-FFF2-40B4-BE49-F238E27FC236}">
                <a16:creationId xmlns:a16="http://schemas.microsoft.com/office/drawing/2014/main" id="{BFC68455-7BA9-A96A-D922-C3E3112ECB44}"/>
              </a:ext>
            </a:extLst>
          </p:cNvPr>
          <p:cNvSpPr/>
          <p:nvPr/>
        </p:nvSpPr>
        <p:spPr>
          <a:xfrm>
            <a:off x="7400925" y="1375579"/>
            <a:ext cx="4159250" cy="692948"/>
          </a:xfrm>
          <a:prstGeom prst="roundRect">
            <a:avLst>
              <a:gd name="adj" fmla="val 4358"/>
            </a:avLst>
          </a:prstGeom>
          <a:noFill/>
          <a:ln>
            <a:solidFill>
              <a:srgbClr val="EDE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da-DK" sz="1000">
              <a:solidFill>
                <a:schemeClr val="tx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7DA7E3E-F468-10D2-6F36-A26B82AF2441}"/>
              </a:ext>
            </a:extLst>
          </p:cNvPr>
          <p:cNvSpPr txBox="1"/>
          <p:nvPr/>
        </p:nvSpPr>
        <p:spPr>
          <a:xfrm>
            <a:off x="7383463" y="1309575"/>
            <a:ext cx="776287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Top 3 forvaltere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98017D78-4C4C-D77B-6966-1B7502101961}"/>
              </a:ext>
            </a:extLst>
          </p:cNvPr>
          <p:cNvSpPr txBox="1"/>
          <p:nvPr/>
        </p:nvSpPr>
        <p:spPr>
          <a:xfrm>
            <a:off x="7428309" y="2086094"/>
            <a:ext cx="2399904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Top 10 direkte virksomheds eksponeringer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280D6D89-DE47-5019-E2FE-DA56BE26C6E7}"/>
              </a:ext>
            </a:extLst>
          </p:cNvPr>
          <p:cNvSpPr txBox="1"/>
          <p:nvPr/>
        </p:nvSpPr>
        <p:spPr>
          <a:xfrm>
            <a:off x="911863" y="1318724"/>
            <a:ext cx="162813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et totalt tilsagn på DKK 389m, hvoraf Motortramps investering </a:t>
            </a:r>
            <a:r>
              <a:rPr lang="da-DK" sz="900" b="1"/>
              <a:t>udgør DKK 25m</a:t>
            </a:r>
            <a:r>
              <a:rPr lang="da-DK" sz="900"/>
              <a:t>. Fonden investerer i EU og Nordamerika.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eksponering til 6 PE-forvaltere gennem 8 fonde og 112 selskaber.</a:t>
            </a: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08EBE246-2664-A7F3-226F-566F2AE95954}"/>
              </a:ext>
            </a:extLst>
          </p:cNvPr>
          <p:cNvGraphicFramePr/>
          <p:nvPr>
            <p:custDataLst>
              <p:tags r:id="rId113"/>
            </p:custDataLst>
          </p:nvPr>
        </p:nvGraphicFramePr>
        <p:xfrm>
          <a:off x="7304088" y="3817938"/>
          <a:ext cx="4395787" cy="58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8"/>
          </a:graphicData>
        </a:graphic>
      </p:graphicFrame>
      <p:sp>
        <p:nvSpPr>
          <p:cNvPr id="524" name="Pladsholder til tekst 2">
            <a:extLst>
              <a:ext uri="{FF2B5EF4-FFF2-40B4-BE49-F238E27FC236}">
                <a16:creationId xmlns:a16="http://schemas.microsoft.com/office/drawing/2014/main" id="{7CDCEA13-E8CF-BB17-34C6-DE5403B6FD70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 bwMode="auto">
          <a:xfrm>
            <a:off x="7434263" y="4356100"/>
            <a:ext cx="2857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C392EEB-E8AA-4589-9641-7077C0E889FB}" type="datetime'''''''''''''''So''l''''i''''''''''n''''''''''''''a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Solina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25" name="Pladsholder til tekst 2">
            <a:extLst>
              <a:ext uri="{FF2B5EF4-FFF2-40B4-BE49-F238E27FC236}">
                <a16:creationId xmlns:a16="http://schemas.microsoft.com/office/drawing/2014/main" id="{A49BD60F-3486-022E-6A9C-1A3C4090DE58}"/>
              </a:ext>
            </a:extLst>
          </p:cNvPr>
          <p:cNvSpPr>
            <a:spLocks/>
          </p:cNvSpPr>
          <p:nvPr>
            <p:custDataLst>
              <p:tags r:id="rId115"/>
            </p:custDataLst>
          </p:nvPr>
        </p:nvSpPr>
        <p:spPr bwMode="auto">
          <a:xfrm>
            <a:off x="7777163" y="4356100"/>
            <a:ext cx="37147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A1DA53F0-0603-4001-828C-BEFF79C59E7A}" type="datetime'''''Pr''''''''''''''o''''Dat''''''''a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ProData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26" name="Pladsholder til tekst 2">
            <a:extLst>
              <a:ext uri="{FF2B5EF4-FFF2-40B4-BE49-F238E27FC236}">
                <a16:creationId xmlns:a16="http://schemas.microsoft.com/office/drawing/2014/main" id="{941503F6-76D7-2D2C-917E-191A84CFD457}"/>
              </a:ext>
            </a:extLst>
          </p:cNvPr>
          <p:cNvSpPr>
            <a:spLocks/>
          </p:cNvSpPr>
          <p:nvPr>
            <p:custDataLst>
              <p:tags r:id="rId116"/>
            </p:custDataLst>
          </p:nvPr>
        </p:nvSpPr>
        <p:spPr bwMode="auto">
          <a:xfrm>
            <a:off x="8220075" y="4356100"/>
            <a:ext cx="25558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169A04F-9A7A-443F-B032-876407D6F527}" type="datetime'''''''''''''''''''''''O''''''''''''''''n''''''e''''''P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OneP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27" name="Pladsholder til tekst 2">
            <a:extLst>
              <a:ext uri="{FF2B5EF4-FFF2-40B4-BE49-F238E27FC236}">
                <a16:creationId xmlns:a16="http://schemas.microsoft.com/office/drawing/2014/main" id="{CC154B7C-FCAA-F971-4478-53CAC34230F4}"/>
              </a:ext>
            </a:extLst>
          </p:cNvPr>
          <p:cNvSpPr>
            <a:spLocks/>
          </p:cNvSpPr>
          <p:nvPr>
            <p:custDataLst>
              <p:tags r:id="rId117"/>
            </p:custDataLst>
          </p:nvPr>
        </p:nvSpPr>
        <p:spPr bwMode="auto">
          <a:xfrm>
            <a:off x="8558213" y="4356100"/>
            <a:ext cx="3476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ECBFF07-4A36-43F8-8ABD-E8693DDD5D6F}" type="datetime'''''''B''eac''o''''''''''''''''''''''''''''''n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Beacon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28" name="Pladsholder til tekst 2">
            <a:extLst>
              <a:ext uri="{FF2B5EF4-FFF2-40B4-BE49-F238E27FC236}">
                <a16:creationId xmlns:a16="http://schemas.microsoft.com/office/drawing/2014/main" id="{9DEF24AE-77E7-B50F-A465-229968EE07CC}"/>
              </a:ext>
            </a:extLst>
          </p:cNvPr>
          <p:cNvSpPr>
            <a:spLocks/>
          </p:cNvSpPr>
          <p:nvPr>
            <p:custDataLst>
              <p:tags r:id="rId118"/>
            </p:custDataLst>
          </p:nvPr>
        </p:nvSpPr>
        <p:spPr bwMode="auto">
          <a:xfrm>
            <a:off x="8940800" y="4356100"/>
            <a:ext cx="3492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7554250-5157-47D1-948B-E2A62636DE5B}" type="datetime'V''''''''e''''t''o''''''''p''''i''''a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Vetopia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29" name="Pladsholder til tekst 2">
            <a:extLst>
              <a:ext uri="{FF2B5EF4-FFF2-40B4-BE49-F238E27FC236}">
                <a16:creationId xmlns:a16="http://schemas.microsoft.com/office/drawing/2014/main" id="{AFD191A2-C589-E703-F15A-0A53336DF9E1}"/>
              </a:ext>
            </a:extLst>
          </p:cNvPr>
          <p:cNvSpPr>
            <a:spLocks/>
          </p:cNvSpPr>
          <p:nvPr>
            <p:custDataLst>
              <p:tags r:id="rId119"/>
            </p:custDataLst>
          </p:nvPr>
        </p:nvSpPr>
        <p:spPr bwMode="auto">
          <a:xfrm>
            <a:off x="9347200" y="4356100"/>
            <a:ext cx="3095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DD65FF39-4E50-42EB-B746-38E7E28D6C09}" type="datetime'''''''''''''''''W''''''''''''''''i''l''''''l''''ow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Willow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0" name="Pladsholder til tekst 2">
            <a:extLst>
              <a:ext uri="{FF2B5EF4-FFF2-40B4-BE49-F238E27FC236}">
                <a16:creationId xmlns:a16="http://schemas.microsoft.com/office/drawing/2014/main" id="{C2C08382-C088-DD9A-2ACA-AB030C400CD5}"/>
              </a:ext>
            </a:extLst>
          </p:cNvPr>
          <p:cNvSpPr>
            <a:spLocks/>
          </p:cNvSpPr>
          <p:nvPr>
            <p:custDataLst>
              <p:tags r:id="rId120"/>
            </p:custDataLst>
          </p:nvPr>
        </p:nvSpPr>
        <p:spPr bwMode="auto">
          <a:xfrm>
            <a:off x="9740901" y="4356100"/>
            <a:ext cx="2889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118A0D27-BBD2-42C1-B515-22749D3F1911}" type="datetime'''''''''''V''''''''''''all''''e''''''''''''''''''''''''n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Vallen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1" name="Pladsholder til tekst 2">
            <a:extLst>
              <a:ext uri="{FF2B5EF4-FFF2-40B4-BE49-F238E27FC236}">
                <a16:creationId xmlns:a16="http://schemas.microsoft.com/office/drawing/2014/main" id="{C9B7E86F-1557-EEC6-374F-07C0FA72C28D}"/>
              </a:ext>
            </a:extLst>
          </p:cNvPr>
          <p:cNvSpPr>
            <a:spLocks/>
          </p:cNvSpPr>
          <p:nvPr>
            <p:custDataLst>
              <p:tags r:id="rId121"/>
            </p:custDataLst>
          </p:nvPr>
        </p:nvSpPr>
        <p:spPr bwMode="auto">
          <a:xfrm>
            <a:off x="10045700" y="4356100"/>
            <a:ext cx="449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0CF6EDB9-9C99-4BFA-9C2D-BA2F06E1151E}" type="datetime'''''''''M''''''''i''m''e''''''c''a''''''''''s''''''t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Mimecast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2" name="Pladsholder til tekst 2">
            <a:extLst>
              <a:ext uri="{FF2B5EF4-FFF2-40B4-BE49-F238E27FC236}">
                <a16:creationId xmlns:a16="http://schemas.microsoft.com/office/drawing/2014/main" id="{B3C70F5E-36CB-CBB8-89B4-087EDDC0E4EF}"/>
              </a:ext>
            </a:extLst>
          </p:cNvPr>
          <p:cNvSpPr>
            <a:spLocks/>
          </p:cNvSpPr>
          <p:nvPr>
            <p:custDataLst>
              <p:tags r:id="rId122"/>
            </p:custDataLst>
          </p:nvPr>
        </p:nvSpPr>
        <p:spPr bwMode="auto">
          <a:xfrm>
            <a:off x="10485438" y="4356100"/>
            <a:ext cx="3381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DED372E-574D-4087-8281-398DE48B5471}" type="datetime'''''C''''''''''''''''o''''r''''''d''''en''''''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Corden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3" name="Pladsholder til tekst 2">
            <a:extLst>
              <a:ext uri="{FF2B5EF4-FFF2-40B4-BE49-F238E27FC236}">
                <a16:creationId xmlns:a16="http://schemas.microsoft.com/office/drawing/2014/main" id="{52CB123E-1662-F3F5-680D-3B97296975D9}"/>
              </a:ext>
            </a:extLst>
          </p:cNvPr>
          <p:cNvSpPr>
            <a:spLocks/>
          </p:cNvSpPr>
          <p:nvPr>
            <p:custDataLst>
              <p:tags r:id="rId123"/>
            </p:custDataLst>
          </p:nvPr>
        </p:nvSpPr>
        <p:spPr bwMode="auto">
          <a:xfrm>
            <a:off x="10896600" y="4356100"/>
            <a:ext cx="287338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154B4FF-256F-4CDE-92FB-60843642F057}" type="datetime'''''''''''''''''''''''A''''g''''''ap''''''''e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Agape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4" name="Pladsholder til tekst 2">
            <a:extLst>
              <a:ext uri="{FF2B5EF4-FFF2-40B4-BE49-F238E27FC236}">
                <a16:creationId xmlns:a16="http://schemas.microsoft.com/office/drawing/2014/main" id="{14B131F4-69BD-8D99-5F67-01AA274F994D}"/>
              </a:ext>
            </a:extLst>
          </p:cNvPr>
          <p:cNvSpPr>
            <a:spLocks/>
          </p:cNvSpPr>
          <p:nvPr>
            <p:custDataLst>
              <p:tags r:id="rId124"/>
            </p:custDataLst>
          </p:nvPr>
        </p:nvSpPr>
        <p:spPr bwMode="auto">
          <a:xfrm>
            <a:off x="11287125" y="4356100"/>
            <a:ext cx="27305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5017AE65-565C-4C7E-9A3D-209A9C84518B}" type="datetime'''An''''''''''''''''''d''''''''''''r''''e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Andre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891DE426-10C9-6345-10FB-389D678A1AEC}"/>
              </a:ext>
            </a:extLst>
          </p:cNvPr>
          <p:cNvSpPr/>
          <p:nvPr>
            <p:custDataLst>
              <p:tags r:id="rId125"/>
            </p:custDataLst>
          </p:nvPr>
        </p:nvSpPr>
        <p:spPr bwMode="gray">
          <a:xfrm>
            <a:off x="7453313" y="4170363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20E6A02-1112-48B4-916B-E693CA808D2C}" type="datetime'''''4'''''''''''''''''''''''''''''''''''''',0''%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22A1405A-7D2B-19F4-7013-70FA2C68D59C}"/>
              </a:ext>
            </a:extLst>
          </p:cNvPr>
          <p:cNvSpPr/>
          <p:nvPr>
            <p:custDataLst>
              <p:tags r:id="rId126"/>
            </p:custDataLst>
          </p:nvPr>
        </p:nvSpPr>
        <p:spPr bwMode="gray">
          <a:xfrm>
            <a:off x="7839075" y="417512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ACE6D28-F8DA-4F98-9082-DA647F060CD7}" type="datetime'''''''''''''''''3'''''''''',''0''''''''''''''''%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04D49C6D-4F95-24FE-56DA-0F48E858F31D}"/>
              </a:ext>
            </a:extLst>
          </p:cNvPr>
          <p:cNvSpPr/>
          <p:nvPr>
            <p:custDataLst>
              <p:tags r:id="rId127"/>
            </p:custDataLst>
          </p:nvPr>
        </p:nvSpPr>
        <p:spPr bwMode="gray">
          <a:xfrm>
            <a:off x="8223250" y="417512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65DD7A4-D1BE-41C8-9C09-F9EAF3A2B148}" type="datetime'''''''''3,''''''''''''''0''''''''''''''''''''%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C980A200-ACA2-B14E-2F9B-8575D3A3B4CE}"/>
              </a:ext>
            </a:extLst>
          </p:cNvPr>
          <p:cNvSpPr/>
          <p:nvPr>
            <p:custDataLst>
              <p:tags r:id="rId128"/>
            </p:custDataLst>
          </p:nvPr>
        </p:nvSpPr>
        <p:spPr bwMode="gray">
          <a:xfrm>
            <a:off x="8607425" y="417512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E5B2B53-76E5-499C-8AEE-D88FF58E6E89}" type="datetime'''''''''''''''3'''''''''''''''''''',''''''''0''''%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619C9D6A-68FE-3139-85E6-F06D69002E4D}"/>
              </a:ext>
            </a:extLst>
          </p:cNvPr>
          <p:cNvSpPr/>
          <p:nvPr>
            <p:custDataLst>
              <p:tags r:id="rId129"/>
            </p:custDataLst>
          </p:nvPr>
        </p:nvSpPr>
        <p:spPr bwMode="gray">
          <a:xfrm>
            <a:off x="8991600" y="4175125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0397E63-64EA-4C28-B621-D6E35F4630CB}" type="datetime'''''''''''3'''',''0''''''''''%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EDC42E45-FB44-EAF5-0F12-44C849CEA0D7}"/>
              </a:ext>
            </a:extLst>
          </p:cNvPr>
          <p:cNvSpPr/>
          <p:nvPr>
            <p:custDataLst>
              <p:tags r:id="rId130"/>
            </p:custDataLst>
          </p:nvPr>
        </p:nvSpPr>
        <p:spPr bwMode="gray">
          <a:xfrm>
            <a:off x="9377363" y="4178300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F6356FF-DFCC-444D-8140-AF67729E44EC}" type="datetime'''''''''''2'',0''%''''''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A2E83217-5887-605E-B473-0DB5BB52DBE7}"/>
              </a:ext>
            </a:extLst>
          </p:cNvPr>
          <p:cNvSpPr/>
          <p:nvPr>
            <p:custDataLst>
              <p:tags r:id="rId131"/>
            </p:custDataLst>
          </p:nvPr>
        </p:nvSpPr>
        <p:spPr bwMode="gray">
          <a:xfrm>
            <a:off x="9761538" y="4178300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0453957-27B8-4629-AFAC-9F04D685BD05}" type="datetime'''''''2,''''''''''0''''''''''''''''''%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12E53973-A823-7EF1-3269-7EB359262D40}"/>
              </a:ext>
            </a:extLst>
          </p:cNvPr>
          <p:cNvSpPr/>
          <p:nvPr>
            <p:custDataLst>
              <p:tags r:id="rId132"/>
            </p:custDataLst>
          </p:nvPr>
        </p:nvSpPr>
        <p:spPr bwMode="gray">
          <a:xfrm>
            <a:off x="10145713" y="4178300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0E4FF2B-2824-449A-A517-0D2A492173D8}" type="datetime'''''''''2'''''',''''''0''''%''''''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490D16EF-2589-8A83-3FCD-BAAE8962173A}"/>
              </a:ext>
            </a:extLst>
          </p:cNvPr>
          <p:cNvSpPr/>
          <p:nvPr>
            <p:custDataLst>
              <p:tags r:id="rId133"/>
            </p:custDataLst>
          </p:nvPr>
        </p:nvSpPr>
        <p:spPr bwMode="gray">
          <a:xfrm>
            <a:off x="10529888" y="4178300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04BDF56-7D93-4823-B2AE-10DA69F3B9B4}" type="datetime'''''''''''2'''''''''''''''',''''''''''''0''''''%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C3E14BF3-CC42-7E6F-68FC-307BFCA6D60E}"/>
              </a:ext>
            </a:extLst>
          </p:cNvPr>
          <p:cNvSpPr/>
          <p:nvPr>
            <p:custDataLst>
              <p:tags r:id="rId134"/>
            </p:custDataLst>
          </p:nvPr>
        </p:nvSpPr>
        <p:spPr bwMode="gray">
          <a:xfrm>
            <a:off x="10915650" y="4178300"/>
            <a:ext cx="249238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6CF3C3-002C-45CA-B63E-5CA763D4DEC6}" type="datetime'''2,''''''''''''''''''''''0''''''''%''''''''''''''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38974146-D865-47C5-23A8-0E9D932E77D9}"/>
              </a:ext>
            </a:extLst>
          </p:cNvPr>
          <p:cNvSpPr/>
          <p:nvPr>
            <p:custDataLst>
              <p:tags r:id="rId135"/>
            </p:custDataLst>
          </p:nvPr>
        </p:nvSpPr>
        <p:spPr bwMode="gray">
          <a:xfrm>
            <a:off x="11272838" y="3875088"/>
            <a:ext cx="303213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10C9F-2864-4AFD-B5E7-F218E64F4E6E}" type="datetime'''''''''''7''''4'''''''''''''',''''''''''''''''0''''%'''''''''">
              <a:rPr lang="da-DK" altLang="en-US" sz="8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74,0%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pic>
        <p:nvPicPr>
          <p:cNvPr id="4098" name="Picture 2" descr="IBS AS Private Equity Fund - IBSCA - FM - New">
            <a:extLst>
              <a:ext uri="{FF2B5EF4-FFF2-40B4-BE49-F238E27FC236}">
                <a16:creationId xmlns:a16="http://schemas.microsoft.com/office/drawing/2014/main" id="{49296CDB-2B2B-B777-C321-D1D648EC2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814" y="1386599"/>
            <a:ext cx="1074737" cy="44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iddle-Market Private Equity | Charlesbank Capital Partners">
            <a:extLst>
              <a:ext uri="{FF2B5EF4-FFF2-40B4-BE49-F238E27FC236}">
                <a16:creationId xmlns:a16="http://schemas.microsoft.com/office/drawing/2014/main" id="{D3B35A8C-7DFF-34F7-54D5-2D325152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0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347" y="1178471"/>
            <a:ext cx="1473282" cy="773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ETL Systems receives major investment from CBPE Capital - ETL Systems">
            <a:extLst>
              <a:ext uri="{FF2B5EF4-FFF2-40B4-BE49-F238E27FC236}">
                <a16:creationId xmlns:a16="http://schemas.microsoft.com/office/drawing/2014/main" id="{41D4EC76-F9A1-2522-823B-A2800877D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0050" y="1401349"/>
            <a:ext cx="863600" cy="321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1DF7034-284B-2BB7-9ACC-9BE841717763}"/>
              </a:ext>
            </a:extLst>
          </p:cNvPr>
          <p:cNvSpPr/>
          <p:nvPr/>
        </p:nvSpPr>
        <p:spPr>
          <a:xfrm>
            <a:off x="7400925" y="3105422"/>
            <a:ext cx="4159250" cy="692948"/>
          </a:xfrm>
          <a:prstGeom prst="roundRect">
            <a:avLst>
              <a:gd name="adj" fmla="val 4358"/>
            </a:avLst>
          </a:prstGeom>
          <a:noFill/>
          <a:ln>
            <a:solidFill>
              <a:srgbClr val="EDE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da-DK" sz="100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A7BA4C-ECF3-2954-C0AF-CD4C92DC94CF}"/>
              </a:ext>
            </a:extLst>
          </p:cNvPr>
          <p:cNvSpPr txBox="1"/>
          <p:nvPr/>
        </p:nvSpPr>
        <p:spPr>
          <a:xfrm>
            <a:off x="7383463" y="3039418"/>
            <a:ext cx="776287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Top 3 forvaltere</a:t>
            </a:r>
          </a:p>
        </p:txBody>
      </p:sp>
      <p:pic>
        <p:nvPicPr>
          <p:cNvPr id="29" name="Picture 2" descr="IBS AS Private Equity Fund - IBSCA - FM - New">
            <a:extLst>
              <a:ext uri="{FF2B5EF4-FFF2-40B4-BE49-F238E27FC236}">
                <a16:creationId xmlns:a16="http://schemas.microsoft.com/office/drawing/2014/main" id="{D98766F4-9162-C8C9-4F60-9C64CE3B4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956" y="3109710"/>
            <a:ext cx="1074737" cy="441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62E505E6-AAE0-CF77-2285-E754FC5CB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 bwMode="auto">
          <a:xfrm>
            <a:off x="9064308" y="3091340"/>
            <a:ext cx="873760" cy="43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>
            <a:extLst>
              <a:ext uri="{FF2B5EF4-FFF2-40B4-BE49-F238E27FC236}">
                <a16:creationId xmlns:a16="http://schemas.microsoft.com/office/drawing/2014/main" id="{C522B94C-9019-0D36-6748-978EC68E6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3"/>
          <a:srcRect/>
          <a:stretch/>
        </p:blipFill>
        <p:spPr bwMode="auto">
          <a:xfrm>
            <a:off x="10546694" y="3245198"/>
            <a:ext cx="863600" cy="156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8C5C897F-9714-C57C-7291-02AF17B2742B}"/>
              </a:ext>
            </a:extLst>
          </p:cNvPr>
          <p:cNvSpPr txBox="1"/>
          <p:nvPr/>
        </p:nvSpPr>
        <p:spPr>
          <a:xfrm>
            <a:off x="7428309" y="3826947"/>
            <a:ext cx="2399904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Top 10 direkte virksomheds eksponeringer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B036C8BD-6341-BEAC-29C1-2F57836CF2C0}"/>
              </a:ext>
            </a:extLst>
          </p:cNvPr>
          <p:cNvSpPr/>
          <p:nvPr/>
        </p:nvSpPr>
        <p:spPr>
          <a:xfrm>
            <a:off x="7400925" y="4793452"/>
            <a:ext cx="4159250" cy="692948"/>
          </a:xfrm>
          <a:prstGeom prst="roundRect">
            <a:avLst>
              <a:gd name="adj" fmla="val 4358"/>
            </a:avLst>
          </a:prstGeom>
          <a:noFill/>
          <a:ln>
            <a:solidFill>
              <a:srgbClr val="EDE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da-DK" sz="100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5A139D4-3DCA-7157-BCFE-793CAF64BD17}"/>
              </a:ext>
            </a:extLst>
          </p:cNvPr>
          <p:cNvSpPr txBox="1"/>
          <p:nvPr/>
        </p:nvSpPr>
        <p:spPr>
          <a:xfrm>
            <a:off x="7383463" y="4727448"/>
            <a:ext cx="776287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Top 3 forvaltere</a:t>
            </a:r>
          </a:p>
        </p:txBody>
      </p:sp>
      <p:pic>
        <p:nvPicPr>
          <p:cNvPr id="101" name="Picture 2">
            <a:extLst>
              <a:ext uri="{FF2B5EF4-FFF2-40B4-BE49-F238E27FC236}">
                <a16:creationId xmlns:a16="http://schemas.microsoft.com/office/drawing/2014/main" id="{8099D5D3-38D4-FDC0-D0A3-9EACABC1E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4"/>
          <a:srcRect/>
          <a:stretch/>
        </p:blipFill>
        <p:spPr bwMode="auto">
          <a:xfrm>
            <a:off x="7631995" y="4918713"/>
            <a:ext cx="822284" cy="185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4">
            <a:extLst>
              <a:ext uri="{FF2B5EF4-FFF2-40B4-BE49-F238E27FC236}">
                <a16:creationId xmlns:a16="http://schemas.microsoft.com/office/drawing/2014/main" id="{E55FB336-197A-65E5-1FF7-0BF48BF8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 bwMode="auto">
          <a:xfrm>
            <a:off x="9006562" y="4722192"/>
            <a:ext cx="1126156" cy="56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6">
            <a:extLst>
              <a:ext uri="{FF2B5EF4-FFF2-40B4-BE49-F238E27FC236}">
                <a16:creationId xmlns:a16="http://schemas.microsoft.com/office/drawing/2014/main" id="{3454544A-5568-2047-50E3-6B2861F36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 bwMode="auto">
          <a:xfrm>
            <a:off x="10011373" y="4608828"/>
            <a:ext cx="1827604" cy="81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3" name="TextBox 4112">
            <a:extLst>
              <a:ext uri="{FF2B5EF4-FFF2-40B4-BE49-F238E27FC236}">
                <a16:creationId xmlns:a16="http://schemas.microsoft.com/office/drawing/2014/main" id="{24CBA6FB-25D2-3603-DC77-4C5C7B976BC1}"/>
              </a:ext>
            </a:extLst>
          </p:cNvPr>
          <p:cNvSpPr txBox="1"/>
          <p:nvPr/>
        </p:nvSpPr>
        <p:spPr>
          <a:xfrm>
            <a:off x="7428309" y="5519657"/>
            <a:ext cx="2399904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Top 10 direkte virksomheds eksponeringer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20BA43-83E6-3E08-E99A-AA6E2DD3A46B}"/>
              </a:ext>
            </a:extLst>
          </p:cNvPr>
          <p:cNvSpPr txBox="1"/>
          <p:nvPr/>
        </p:nvSpPr>
        <p:spPr>
          <a:xfrm>
            <a:off x="7847112" y="1716793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203</a:t>
            </a:r>
            <a:r>
              <a:rPr lang="da-DK" sz="1200" b="1" baseline="30000">
                <a:solidFill>
                  <a:srgbClr val="C00000"/>
                </a:solidFill>
              </a:rPr>
              <a:t>1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B8435B-1EDA-70D2-2EF4-521135232583}"/>
              </a:ext>
            </a:extLst>
          </p:cNvPr>
          <p:cNvSpPr txBox="1"/>
          <p:nvPr/>
        </p:nvSpPr>
        <p:spPr>
          <a:xfrm>
            <a:off x="9313119" y="1716793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54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2F0C0-A99D-8634-8026-868A68BB8F07}"/>
              </a:ext>
            </a:extLst>
          </p:cNvPr>
          <p:cNvSpPr txBox="1"/>
          <p:nvPr/>
        </p:nvSpPr>
        <p:spPr>
          <a:xfrm>
            <a:off x="10779126" y="1716793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44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7BD660-245E-A6C2-D6A8-CCF41CFEAC20}"/>
              </a:ext>
            </a:extLst>
          </p:cNvPr>
          <p:cNvSpPr txBox="1"/>
          <p:nvPr/>
        </p:nvSpPr>
        <p:spPr>
          <a:xfrm>
            <a:off x="7847112" y="3429000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239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055897-3ABD-5DC1-36B6-3ABF2BAC94C5}"/>
              </a:ext>
            </a:extLst>
          </p:cNvPr>
          <p:cNvSpPr txBox="1"/>
          <p:nvPr/>
        </p:nvSpPr>
        <p:spPr>
          <a:xfrm>
            <a:off x="9313119" y="3429000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87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9DE9A-E158-BDAC-9D81-614B33CCAB2A}"/>
              </a:ext>
            </a:extLst>
          </p:cNvPr>
          <p:cNvSpPr txBox="1"/>
          <p:nvPr/>
        </p:nvSpPr>
        <p:spPr>
          <a:xfrm>
            <a:off x="10779126" y="3429000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62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14E82F-BF51-45BD-1495-9EE93A9ED55E}"/>
              </a:ext>
            </a:extLst>
          </p:cNvPr>
          <p:cNvSpPr txBox="1"/>
          <p:nvPr/>
        </p:nvSpPr>
        <p:spPr>
          <a:xfrm>
            <a:off x="7879606" y="3429000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239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4AAEE3-EC06-69AD-4D44-C60409455054}"/>
              </a:ext>
            </a:extLst>
          </p:cNvPr>
          <p:cNvSpPr txBox="1"/>
          <p:nvPr/>
        </p:nvSpPr>
        <p:spPr>
          <a:xfrm>
            <a:off x="9345613" y="3429000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87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FE04CA-2846-8046-1BA6-4CF3DF8E7F1B}"/>
              </a:ext>
            </a:extLst>
          </p:cNvPr>
          <p:cNvSpPr txBox="1"/>
          <p:nvPr/>
        </p:nvSpPr>
        <p:spPr>
          <a:xfrm>
            <a:off x="10779126" y="5158491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102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7B46A4-D3E9-A574-DEE1-022C4997FDE6}"/>
              </a:ext>
            </a:extLst>
          </p:cNvPr>
          <p:cNvSpPr txBox="1"/>
          <p:nvPr/>
        </p:nvSpPr>
        <p:spPr>
          <a:xfrm>
            <a:off x="7879606" y="5158491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134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D4F5A2-B16D-A8E0-10A2-B94E654BA609}"/>
              </a:ext>
            </a:extLst>
          </p:cNvPr>
          <p:cNvSpPr txBox="1"/>
          <p:nvPr/>
        </p:nvSpPr>
        <p:spPr>
          <a:xfrm>
            <a:off x="9345613" y="5158491"/>
            <a:ext cx="414140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1200" b="1">
                <a:solidFill>
                  <a:srgbClr val="C00000"/>
                </a:solidFill>
              </a:rPr>
              <a:t>119</a:t>
            </a:r>
            <a:r>
              <a:rPr lang="da-DK" sz="800"/>
              <a:t> </a:t>
            </a:r>
            <a:br>
              <a:rPr lang="da-DK" sz="800"/>
            </a:br>
            <a:r>
              <a:rPr lang="da-DK" sz="800" err="1"/>
              <a:t>DKKm</a:t>
            </a:r>
            <a:endParaRPr lang="da-DK" sz="800"/>
          </a:p>
        </p:txBody>
      </p:sp>
    </p:spTree>
    <p:extLst>
      <p:ext uri="{BB962C8B-B14F-4D97-AF65-F5344CB8AC3E}">
        <p14:creationId xmlns:p14="http://schemas.microsoft.com/office/powerpoint/2010/main" val="419275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B8A6F-C91D-1A68-9E89-AEB3DA847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F6AA0C7-D6A2-2428-1A70-FC23F5AFC7D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7" imgW="408" imgH="408" progId="TCLayout.ActiveDocument.1">
                  <p:embed/>
                </p:oleObj>
              </mc:Choice>
              <mc:Fallback>
                <p:oleObj name="thinkcell Slide" r:id="rId17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6AA0C7-D6A2-2428-1A70-FC23F5AFC7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38F33FC-A2CE-D574-9A40-D7FDFD674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</p:spPr>
        <p:txBody>
          <a:bodyPr vert="horz"/>
          <a:lstStyle/>
          <a:p>
            <a:r>
              <a:rPr lang="da-DK"/>
              <a:t>Analyse af Motortramps alternative investeringer (2:4)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E6D90-291F-8173-9EA6-F25B650BF3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/>
              <a:t>Motortramp har investeret i én sekundær funds of funds struktur, administreret af </a:t>
            </a:r>
            <a:r>
              <a:rPr lang="da-DK" err="1">
                <a:cs typeface="Arial" panose="020B0604020202020204" pitchFamily="34" charset="0"/>
              </a:rPr>
              <a:t>Newbury</a:t>
            </a:r>
            <a:r>
              <a:rPr lang="da-DK">
                <a:cs typeface="Arial" panose="020B0604020202020204" pitchFamily="34" charset="0"/>
              </a:rPr>
              <a:t> Equity Partners</a:t>
            </a:r>
            <a:r>
              <a:rPr lang="da-DK"/>
              <a:t> med et samlet tilsagn på </a:t>
            </a:r>
            <a:r>
              <a:rPr lang="da-DK" b="1"/>
              <a:t>DKK 70m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A7BC1-B8C5-4065-F9F6-9847323E1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a-DK" b="1"/>
              <a:t> A/S Motortramp</a:t>
            </a:r>
            <a:r>
              <a:rPr lang="da-DK"/>
              <a:t> | Side </a:t>
            </a:r>
            <a:fld id="{3F09AB1B-E94D-421F-A6BD-D98A0F2CD80B}" type="slidenum">
              <a:rPr lang="da-DK" smtClean="0"/>
              <a:pPr/>
              <a:t>4</a:t>
            </a:fld>
            <a:endParaRPr lang="da-DK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DE5635FE-B595-208C-B6D4-A76B4F2DB621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056313" y="1154113"/>
          <a:ext cx="2276475" cy="1770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498" name="Rectangle 497">
            <a:extLst>
              <a:ext uri="{FF2B5EF4-FFF2-40B4-BE49-F238E27FC236}">
                <a16:creationId xmlns:a16="http://schemas.microsoft.com/office/drawing/2014/main" id="{8AD38FA8-BF5C-5225-A6F0-A8BBCB042BE1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07175" y="2655888"/>
            <a:ext cx="4048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26C83A37-E4BD-4126-8CB1-84810038E4D7}" type="datetime'''''S''''''''''''''''''MV'''''''''''''''''''''''' ''L''BO'''''">
              <a:rPr lang="da-DK" altLang="en-US" sz="800" smtClean="0">
                <a:solidFill>
                  <a:schemeClr val="tx1"/>
                </a:solidFill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SMV LBO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30B2C50-2837-09FB-9452-E34F97437352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7104063" y="1450975"/>
            <a:ext cx="249238" cy="109538"/>
          </a:xfrm>
          <a:prstGeom prst="rect">
            <a:avLst/>
          </a:prstGeom>
          <a:solidFill>
            <a:srgbClr val="F1979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1DD3F4E-39A4-4AA8-9B4E-80D9E6650EF4}" type="datetime'''''''''''2,''''''''''''''''0''''''%''''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397B559-2C04-6587-89F7-35270C6F84E3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915150" y="1273175"/>
            <a:ext cx="3460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383C4FFB-D414-4E73-8A2C-A8D2409E52D1}" type="datetime'''''Ve''''''n''''''''''''''''t''''''ur''''''''''''e'''''">
              <a:rPr lang="da-DK" altLang="en-US" sz="800" smtClean="0">
                <a:solidFill>
                  <a:schemeClr val="tx1"/>
                </a:solidFill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Venture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A59C611-3FAD-61B6-2072-FDDEAA6EDCED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7180263" y="1560513"/>
            <a:ext cx="249238" cy="1095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A193EF-5426-44A2-A098-17C1D556E412}" type="datetime'''''''''''''''''''4'''''',''''''''''''''''''0''''%''''''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A123C672-9988-6F47-4ECA-675768A4A91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7312025" y="1257300"/>
            <a:ext cx="1873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2114A8C3-9B6F-46B1-88B4-F822192C0DB6}" type="datetime'''''''''''''L''''BO''''''''''''''''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LBO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BDE3D508-D58D-ECBC-1335-D792EDB8352D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7256463" y="1670050"/>
            <a:ext cx="249238" cy="109538"/>
          </a:xfrm>
          <a:prstGeom prst="rect">
            <a:avLst/>
          </a:prstGeom>
          <a:solidFill>
            <a:srgbClr val="C9AA8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0B5848F-8C00-4C12-81E0-B99AA0161FB2}" type="datetime'''''''''''''''''''''''5'',''0''''''''''''''''''%'''">
              <a:rPr lang="da-DK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5,0%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F7CBA1C-8F71-020C-9E68-1DFCC1EDA7BC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535863" y="1379538"/>
            <a:ext cx="2762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86FE366C-79A9-4270-A4C9-CD47FAD97EA7}" type="datetime'''''''V''''''æ''''''''''''''''''''k''''''''''''''''''''st'''''">
              <a:rPr lang="da-DK" altLang="en-US" sz="800" smtClean="0">
                <a:solidFill>
                  <a:schemeClr val="tx1"/>
                </a:solidFill>
              </a:rPr>
              <a:pPr>
                <a:spcBef>
                  <a:spcPct val="0"/>
                </a:spcBef>
                <a:spcAft>
                  <a:spcPct val="0"/>
                </a:spcAft>
              </a:pPr>
              <a:t>Vækst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507" name="Chart 506">
            <a:extLst>
              <a:ext uri="{FF2B5EF4-FFF2-40B4-BE49-F238E27FC236}">
                <a16:creationId xmlns:a16="http://schemas.microsoft.com/office/drawing/2014/main" id="{F1C57D42-6B20-D8DA-8801-5746CE6D4168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4073525" y="1179513"/>
          <a:ext cx="2276475" cy="181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40" name="Pladsholder til tekst 2">
            <a:extLst>
              <a:ext uri="{FF2B5EF4-FFF2-40B4-BE49-F238E27FC236}">
                <a16:creationId xmlns:a16="http://schemas.microsoft.com/office/drawing/2014/main" id="{C8CC930D-7218-3C60-EB64-4D31763E20D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468813" y="1577975"/>
            <a:ext cx="1952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7C43FD19-E88F-47BE-9C53-049F9830B883}" type="datetime'U''''''''''''''''''''''''''S''A'''''''''''''''">
              <a:rPr lang="da-DK" altLang="en-US" sz="800" b="1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USA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42" name="Pladsholder til tekst 2">
            <a:extLst>
              <a:ext uri="{FF2B5EF4-FFF2-40B4-BE49-F238E27FC236}">
                <a16:creationId xmlns:a16="http://schemas.microsoft.com/office/drawing/2014/main" id="{6C036089-1794-9F62-A442-BED7B1DA413B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5380038" y="1333500"/>
            <a:ext cx="330200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771020C5-34C8-4305-BB46-65A2237F02CA}" type="datetime'Eu''r''''''''''''''''''''''''''''''''''o''''''''''''''''p''a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Europa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58" name="Rectangle: Top Corners Rounded 157">
            <a:extLst>
              <a:ext uri="{FF2B5EF4-FFF2-40B4-BE49-F238E27FC236}">
                <a16:creationId xmlns:a16="http://schemas.microsoft.com/office/drawing/2014/main" id="{F1811C58-1F36-988E-4409-559A3DB5A5DF}"/>
              </a:ext>
            </a:extLst>
          </p:cNvPr>
          <p:cNvSpPr/>
          <p:nvPr/>
        </p:nvSpPr>
        <p:spPr>
          <a:xfrm>
            <a:off x="906781" y="989013"/>
            <a:ext cx="3486467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161" name="Rectangle: Top Corners Rounded 160">
            <a:extLst>
              <a:ext uri="{FF2B5EF4-FFF2-40B4-BE49-F238E27FC236}">
                <a16:creationId xmlns:a16="http://schemas.microsoft.com/office/drawing/2014/main" id="{D87C159B-9991-53B4-8864-5B976F3DEF7E}"/>
              </a:ext>
            </a:extLst>
          </p:cNvPr>
          <p:cNvSpPr/>
          <p:nvPr/>
        </p:nvSpPr>
        <p:spPr>
          <a:xfrm>
            <a:off x="4468812" y="989013"/>
            <a:ext cx="3486467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Eksponering</a:t>
            </a:r>
          </a:p>
        </p:txBody>
      </p:sp>
      <p:sp>
        <p:nvSpPr>
          <p:cNvPr id="162" name="Rectangle: Top Corners Rounded 161">
            <a:extLst>
              <a:ext uri="{FF2B5EF4-FFF2-40B4-BE49-F238E27FC236}">
                <a16:creationId xmlns:a16="http://schemas.microsoft.com/office/drawing/2014/main" id="{7AE5C277-4614-84BC-CF67-6840643675A1}"/>
              </a:ext>
            </a:extLst>
          </p:cNvPr>
          <p:cNvSpPr/>
          <p:nvPr/>
        </p:nvSpPr>
        <p:spPr>
          <a:xfrm>
            <a:off x="8019560" y="989013"/>
            <a:ext cx="3597320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Forvaltere</a:t>
            </a: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982642A8-8FCF-9297-9D3F-044BE022456E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064375" y="1893888"/>
            <a:ext cx="261938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</a:t>
            </a:r>
            <a:r>
              <a:rPr lang="da-DK" altLang="en-US" sz="800">
                <a:solidFill>
                  <a:schemeClr val="tx1"/>
                </a:solidFill>
              </a:rPr>
              <a:t>380</a:t>
            </a:r>
            <a:r>
              <a:rPr lang="da-DK" altLang="en-US" sz="800">
                <a:solidFill>
                  <a:schemeClr val="tx1"/>
                </a:solidFill>
                <a:effectLst/>
              </a:rPr>
              <a:t>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2AFDD4F6-B523-E5BF-5FD4-10EB86E4F59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5080000" y="1917700"/>
            <a:ext cx="263525" cy="24447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380m</a:t>
            </a:r>
            <a:endParaRPr lang="da-DK" sz="800">
              <a:solidFill>
                <a:schemeClr val="tx1"/>
              </a:solidFill>
            </a:endParaRPr>
          </a:p>
        </p:txBody>
      </p:sp>
      <p:sp>
        <p:nvSpPr>
          <p:cNvPr id="476" name="Rectangle: Rounded Corners 475">
            <a:extLst>
              <a:ext uri="{FF2B5EF4-FFF2-40B4-BE49-F238E27FC236}">
                <a16:creationId xmlns:a16="http://schemas.microsoft.com/office/drawing/2014/main" id="{F060A90E-F8E1-A847-F5AC-5D7FCECD3FCF}"/>
              </a:ext>
            </a:extLst>
          </p:cNvPr>
          <p:cNvSpPr/>
          <p:nvPr/>
        </p:nvSpPr>
        <p:spPr>
          <a:xfrm>
            <a:off x="8023225" y="1375579"/>
            <a:ext cx="3536949" cy="1377146"/>
          </a:xfrm>
          <a:prstGeom prst="roundRect">
            <a:avLst>
              <a:gd name="adj" fmla="val 4358"/>
            </a:avLst>
          </a:prstGeom>
          <a:noFill/>
          <a:ln>
            <a:solidFill>
              <a:srgbClr val="EDE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da-DK" sz="1000">
              <a:solidFill>
                <a:schemeClr val="tx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60C3E8D-FCEA-6FF6-1D0E-FC2EFF7B5ED4}"/>
              </a:ext>
            </a:extLst>
          </p:cNvPr>
          <p:cNvSpPr txBox="1"/>
          <p:nvPr/>
        </p:nvSpPr>
        <p:spPr>
          <a:xfrm>
            <a:off x="8019560" y="1325305"/>
            <a:ext cx="1119134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da-DK" sz="800"/>
              <a:t>Fremhævede forvaltere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E9A405FB-4000-C46D-C9D5-678A610781F0}"/>
              </a:ext>
            </a:extLst>
          </p:cNvPr>
          <p:cNvSpPr txBox="1"/>
          <p:nvPr/>
        </p:nvSpPr>
        <p:spPr>
          <a:xfrm>
            <a:off x="906782" y="1257945"/>
            <a:ext cx="34858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err="1"/>
              <a:t>Newbury</a:t>
            </a:r>
            <a:r>
              <a:rPr lang="da-DK" sz="900"/>
              <a:t> Equity Partners køber eksisterende tilsagn fra investorer, der ønsker at sælge deres  tilsagn.</a:t>
            </a:r>
            <a:br>
              <a:rPr lang="da-DK" sz="900"/>
            </a:br>
            <a:br>
              <a:rPr lang="da-DK" sz="900"/>
            </a:br>
            <a:r>
              <a:rPr lang="da-DK" sz="900"/>
              <a:t>Det betyder, at fondene er langt i deres investeringsperiode og nogle fuldt investeret. Der forventes derfor en hurtigere tilbagebetaling af tilsagnet i denne type af fonde</a:t>
            </a:r>
            <a:br>
              <a:rPr lang="da-DK" sz="900"/>
            </a:b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Udover tilsagn til kapitalfonde indgår </a:t>
            </a:r>
            <a:r>
              <a:rPr lang="da-DK" sz="900" err="1"/>
              <a:t>Newbury</a:t>
            </a:r>
            <a:r>
              <a:rPr lang="da-DK" sz="900"/>
              <a:t> også som </a:t>
            </a:r>
            <a:r>
              <a:rPr lang="da-DK" sz="900" err="1"/>
              <a:t>co</a:t>
            </a:r>
            <a:r>
              <a:rPr lang="da-DK" sz="900"/>
              <a:t>-investor til investeringer i fondene.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et samlet tilsagn på DKK 380m, hvoraf </a:t>
            </a:r>
            <a:r>
              <a:rPr lang="da-DK" sz="900" err="1"/>
              <a:t>Motortramps</a:t>
            </a:r>
            <a:r>
              <a:rPr lang="da-DK" sz="900"/>
              <a:t> investering </a:t>
            </a:r>
            <a:r>
              <a:rPr lang="da-DK" sz="900" b="1"/>
              <a:t>udgør DKK 70m.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eksponering i USA og Europa.</a:t>
            </a:r>
            <a:br>
              <a:rPr lang="da-DK" sz="900"/>
            </a:b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Der er totalt eksponering til 15 fonde og én </a:t>
            </a:r>
            <a:r>
              <a:rPr lang="da-DK" sz="900" err="1"/>
              <a:t>co</a:t>
            </a:r>
            <a:r>
              <a:rPr lang="da-DK" sz="900"/>
              <a:t>-investering</a:t>
            </a:r>
            <a:r>
              <a:rPr lang="da-DK" sz="900" dirty="0"/>
              <a:t> i virksomheden </a:t>
            </a:r>
            <a:r>
              <a:rPr lang="da-DK" sz="900" dirty="0" err="1"/>
              <a:t>Palex</a:t>
            </a:r>
            <a:r>
              <a:rPr lang="da-DK" sz="900" dirty="0"/>
              <a:t> sammen med </a:t>
            </a:r>
            <a:r>
              <a:rPr lang="da-DK" sz="900"/>
              <a:t>Fremman Capital.</a:t>
            </a:r>
            <a:br>
              <a:rPr lang="da-DK" sz="900"/>
            </a:b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Fondes selskabsportefølje indeholder ca. 204 selskaber, hvilket giver en meget diversificeret portefølje.</a:t>
            </a:r>
          </a:p>
        </p:txBody>
      </p:sp>
      <p:pic>
        <p:nvPicPr>
          <p:cNvPr id="22" name="Picture 4" descr="Newbury Partners 's Competitors, Revenue, Number of Employees, Funding,  Acquisitions &amp; News - Owler Company Profile">
            <a:extLst>
              <a:ext uri="{FF2B5EF4-FFF2-40B4-BE49-F238E27FC236}">
                <a16:creationId xmlns:a16="http://schemas.microsoft.com/office/drawing/2014/main" id="{2D3A7602-22D2-4433-0EAA-5753CF890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063058"/>
              </a:clrFrom>
              <a:clrTo>
                <a:srgbClr val="06305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61315" y="2464229"/>
            <a:ext cx="744861" cy="311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9" name="Picture 508">
            <a:extLst>
              <a:ext uri="{FF2B5EF4-FFF2-40B4-BE49-F238E27FC236}">
                <a16:creationId xmlns:a16="http://schemas.microsoft.com/office/drawing/2014/main" id="{11AE07F5-649B-D9E5-7BBB-DA175D7DA0F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647287" y="1534188"/>
            <a:ext cx="2536108" cy="11327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68C71C-1B40-429A-245E-4EE4E1A6F179}"/>
              </a:ext>
            </a:extLst>
          </p:cNvPr>
          <p:cNvSpPr txBox="1"/>
          <p:nvPr/>
        </p:nvSpPr>
        <p:spPr>
          <a:xfrm>
            <a:off x="970260" y="6510776"/>
            <a:ext cx="83331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700"/>
              <a:t>Note) </a:t>
            </a:r>
            <a:r>
              <a:rPr lang="da-DK" sz="700" err="1"/>
              <a:t>Newbury</a:t>
            </a:r>
            <a:r>
              <a:rPr lang="da-DK" sz="700"/>
              <a:t> Partners opererer som en sekundær fund-of-funds. Det betyder, at de ikke investerer direkte i virksomheder, men i andele af eksisterende private equity-fonde, som andre investorer ønsker at sælge.</a:t>
            </a:r>
            <a:endParaRPr lang="da-DK" sz="7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8404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5039B-0A11-83A4-A259-B2E3A8BA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1200A0A-0CC8-CF49-E2C2-0DDFABBD17D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63" imgW="408" imgH="408" progId="TCLayout.ActiveDocument.1">
                  <p:embed/>
                </p:oleObj>
              </mc:Choice>
              <mc:Fallback>
                <p:oleObj name="thinkcell Slide" r:id="rId63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200A0A-0CC8-CF49-E2C2-0DDFABBD17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45CF7-D2EB-06DF-816C-E3E363E44E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/>
              <a:t>Motortramp har investeret i én PE-fond og én Venture-fond, administreret af </a:t>
            </a:r>
            <a:r>
              <a:rPr lang="da-DK" err="1"/>
              <a:t>CataCap</a:t>
            </a:r>
            <a:r>
              <a:rPr lang="da-DK"/>
              <a:t> og Seed Capital, med et samlet tilsagn på </a:t>
            </a:r>
            <a:r>
              <a:rPr lang="da-DK" b="1"/>
              <a:t>DKK 77,5m   </a:t>
            </a:r>
          </a:p>
        </p:txBody>
      </p:sp>
      <p:sp>
        <p:nvSpPr>
          <p:cNvPr id="158" name="Rectangle: Top Corners Rounded 157">
            <a:extLst>
              <a:ext uri="{FF2B5EF4-FFF2-40B4-BE49-F238E27FC236}">
                <a16:creationId xmlns:a16="http://schemas.microsoft.com/office/drawing/2014/main" id="{E6B93FD3-137A-0F08-4F80-62106C576DEC}"/>
              </a:ext>
            </a:extLst>
          </p:cNvPr>
          <p:cNvSpPr/>
          <p:nvPr/>
        </p:nvSpPr>
        <p:spPr>
          <a:xfrm>
            <a:off x="906782" y="1004253"/>
            <a:ext cx="1805938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161" name="Rectangle: Top Corners Rounded 160">
            <a:extLst>
              <a:ext uri="{FF2B5EF4-FFF2-40B4-BE49-F238E27FC236}">
                <a16:creationId xmlns:a16="http://schemas.microsoft.com/office/drawing/2014/main" id="{F6EA0EB4-49B4-BDBD-3593-7BC50CDEC8BA}"/>
              </a:ext>
            </a:extLst>
          </p:cNvPr>
          <p:cNvSpPr/>
          <p:nvPr/>
        </p:nvSpPr>
        <p:spPr>
          <a:xfrm>
            <a:off x="2783680" y="1004253"/>
            <a:ext cx="8803481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 err="1">
                <a:solidFill>
                  <a:schemeClr val="tx1"/>
                </a:solidFill>
              </a:rPr>
              <a:t>Porteføjlevirksomheder</a:t>
            </a:r>
            <a:endParaRPr lang="da-DK" sz="1000" b="1">
              <a:solidFill>
                <a:schemeClr val="tx1"/>
              </a:solidFill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2AC8580D-B483-751B-3476-8CA97182A71B}"/>
              </a:ext>
            </a:extLst>
          </p:cNvPr>
          <p:cNvSpPr txBox="1"/>
          <p:nvPr/>
        </p:nvSpPr>
        <p:spPr>
          <a:xfrm>
            <a:off x="885053" y="1384734"/>
            <a:ext cx="183195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err="1"/>
              <a:t>CataCap</a:t>
            </a:r>
            <a:r>
              <a:rPr lang="da-DK" sz="900" b="1"/>
              <a:t> fond III</a:t>
            </a:r>
            <a:r>
              <a:rPr lang="da-DK" sz="900"/>
              <a:t> har et samlet tilsagn på </a:t>
            </a:r>
            <a:r>
              <a:rPr lang="da-DK" sz="900" b="1"/>
              <a:t>DKK 1.402m</a:t>
            </a:r>
            <a:r>
              <a:rPr lang="da-DK" sz="900"/>
              <a:t> hvoraf Motortramps investering </a:t>
            </a:r>
            <a:r>
              <a:rPr lang="da-DK" sz="900" b="1"/>
              <a:t>udgør DKK 37,5m</a:t>
            </a:r>
            <a:r>
              <a:rPr lang="da-DK" sz="900"/>
              <a:t>. Fonden har tre investeringer: NLM Vantinge, The </a:t>
            </a:r>
            <a:r>
              <a:rPr lang="da-DK" sz="900" err="1"/>
              <a:t>Army</a:t>
            </a:r>
            <a:r>
              <a:rPr lang="da-DK" sz="900"/>
              <a:t> </a:t>
            </a:r>
            <a:r>
              <a:rPr lang="da-DK" sz="900" err="1"/>
              <a:t>Painter</a:t>
            </a:r>
            <a:r>
              <a:rPr lang="da-DK" sz="900"/>
              <a:t> og E-Boks.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Geografisk fokus er Danmark -  med mulighed for udenlandske platform investeringer op til maksimalt 30% af det samlede tilsagn.</a:t>
            </a:r>
          </a:p>
        </p:txBody>
      </p:sp>
      <p:pic>
        <p:nvPicPr>
          <p:cNvPr id="6" name="Picture 8" descr="CataCap Management | Aktive Ejere">
            <a:extLst>
              <a:ext uri="{FF2B5EF4-FFF2-40B4-BE49-F238E27FC236}">
                <a16:creationId xmlns:a16="http://schemas.microsoft.com/office/drawing/2014/main" id="{E3305CF8-2BA4-CBA0-3978-7CA4E18E72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30" b="37830"/>
          <a:stretch/>
        </p:blipFill>
        <p:spPr bwMode="auto">
          <a:xfrm rot="16200000">
            <a:off x="20068" y="2215636"/>
            <a:ext cx="1387664" cy="2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73CFEC-14BF-6270-498E-77F353556A19}"/>
              </a:ext>
            </a:extLst>
          </p:cNvPr>
          <p:cNvCxnSpPr>
            <a:cxnSpLocks/>
          </p:cNvCxnSpPr>
          <p:nvPr/>
        </p:nvCxnSpPr>
        <p:spPr>
          <a:xfrm flipH="1">
            <a:off x="2736770" y="1288403"/>
            <a:ext cx="0" cy="2262517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AB09868-6439-325F-CEBC-D416E5C04446}"/>
              </a:ext>
            </a:extLst>
          </p:cNvPr>
          <p:cNvSpPr txBox="1"/>
          <p:nvPr/>
        </p:nvSpPr>
        <p:spPr>
          <a:xfrm>
            <a:off x="3503614" y="1306675"/>
            <a:ext cx="21351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/>
              <a:t>The </a:t>
            </a:r>
            <a:r>
              <a:rPr lang="da-DK" sz="900" b="1" err="1"/>
              <a:t>Army</a:t>
            </a:r>
            <a:r>
              <a:rPr lang="da-DK" sz="900" b="1"/>
              <a:t> </a:t>
            </a:r>
            <a:r>
              <a:rPr lang="da-DK" sz="900" b="1" err="1"/>
              <a:t>Painter</a:t>
            </a:r>
            <a:r>
              <a:rPr lang="da-DK" sz="900" b="1"/>
              <a:t> </a:t>
            </a:r>
            <a:r>
              <a:rPr lang="da-DK" sz="900"/>
              <a:t>blev opkøbt i 2023 og er et førende brand inden for maling og tilbehør til brætspil (ex: </a:t>
            </a:r>
            <a:r>
              <a:rPr lang="da-DK" sz="900" err="1"/>
              <a:t>Warhammer</a:t>
            </a:r>
            <a:r>
              <a:rPr lang="da-DK" sz="900"/>
              <a:t>)</a:t>
            </a:r>
          </a:p>
          <a:p>
            <a:endParaRPr lang="da-DK" sz="900" b="1"/>
          </a:p>
          <a:p>
            <a:r>
              <a:rPr lang="da-DK" sz="900" b="1"/>
              <a:t>Ejerandel: 58% / Stemmer: 67%</a:t>
            </a:r>
          </a:p>
        </p:txBody>
      </p:sp>
      <p:pic>
        <p:nvPicPr>
          <p:cNvPr id="1026" name="Picture 2" descr="Find The Army Painter Products Near You with our store locator!">
            <a:extLst>
              <a:ext uri="{FF2B5EF4-FFF2-40B4-BE49-F238E27FC236}">
                <a16:creationId xmlns:a16="http://schemas.microsoft.com/office/drawing/2014/main" id="{9455BD17-5301-31B0-39AD-F181B10B0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153" y="1287455"/>
            <a:ext cx="865100" cy="478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10DEEEA-F651-3436-5A3A-70B162E6C7F3}"/>
              </a:ext>
            </a:extLst>
          </p:cNvPr>
          <p:cNvSpPr txBox="1"/>
          <p:nvPr/>
        </p:nvSpPr>
        <p:spPr>
          <a:xfrm>
            <a:off x="6491151" y="1306675"/>
            <a:ext cx="21351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/>
              <a:t>NLM Vantinge, </a:t>
            </a:r>
            <a:r>
              <a:rPr lang="da-DK" sz="900"/>
              <a:t>opkøbt i 2023, arbejder med genanvendelse af organiske biprodukter indenfor bio-olie og, biogas og foder </a:t>
            </a:r>
            <a:br>
              <a:rPr lang="da-DK" sz="900"/>
            </a:br>
            <a:r>
              <a:rPr lang="da-DK" sz="900" b="1"/>
              <a:t>Ejerandel: 80% / Stemmer: 70%</a:t>
            </a:r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D013438B-9FFD-E02B-728A-B04FCB48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/>
        </p:blipFill>
        <p:spPr bwMode="auto">
          <a:xfrm>
            <a:off x="5711825" y="1116543"/>
            <a:ext cx="820207" cy="82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67EF9EF-79A3-092C-5546-51D994D6D96A}"/>
              </a:ext>
            </a:extLst>
          </p:cNvPr>
          <p:cNvSpPr txBox="1"/>
          <p:nvPr/>
        </p:nvSpPr>
        <p:spPr>
          <a:xfrm>
            <a:off x="9476400" y="1306675"/>
            <a:ext cx="217900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/>
              <a:t>e-Boks</a:t>
            </a:r>
            <a:r>
              <a:rPr lang="da-DK" sz="900"/>
              <a:t>, opkøbt i 2025, tilbyder en sikker digital platform til kommunikation mellem </a:t>
            </a:r>
            <a:r>
              <a:rPr lang="da-DK" sz="900" dirty="0"/>
              <a:t>det offentlige, virksomheder </a:t>
            </a:r>
            <a:r>
              <a:rPr lang="da-DK" sz="900"/>
              <a:t>og </a:t>
            </a:r>
            <a:r>
              <a:rPr lang="da-DK" sz="900" dirty="0"/>
              <a:t>privatpersoner</a:t>
            </a:r>
            <a:r>
              <a:rPr lang="da-DK" sz="900"/>
              <a:t>.</a:t>
            </a:r>
            <a:endParaRPr lang="da-DK" sz="900" b="1"/>
          </a:p>
          <a:p>
            <a:r>
              <a:rPr lang="da-DK" sz="900" b="1"/>
              <a:t>Ejerandel: 100% / Stemmer: 100%</a:t>
            </a:r>
            <a:endParaRPr lang="da-DK" sz="900"/>
          </a:p>
        </p:txBody>
      </p:sp>
      <p:pic>
        <p:nvPicPr>
          <p:cNvPr id="50" name="Picture 2">
            <a:extLst>
              <a:ext uri="{FF2B5EF4-FFF2-40B4-BE49-F238E27FC236}">
                <a16:creationId xmlns:a16="http://schemas.microsoft.com/office/drawing/2014/main" id="{108A9AF1-4248-02B9-2439-518566A01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8"/>
          <a:srcRect/>
          <a:stretch/>
        </p:blipFill>
        <p:spPr bwMode="auto">
          <a:xfrm>
            <a:off x="8648700" y="1325697"/>
            <a:ext cx="865100" cy="43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46" name="Chart 545">
            <a:extLst>
              <a:ext uri="{FF2B5EF4-FFF2-40B4-BE49-F238E27FC236}">
                <a16:creationId xmlns:a16="http://schemas.microsoft.com/office/drawing/2014/main" id="{3BA25295-0B02-3617-6D2D-726BA7BB28D9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792413" y="2836863"/>
          <a:ext cx="1393825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9"/>
          </a:graphicData>
        </a:graphic>
      </p:graphicFrame>
      <p:sp>
        <p:nvSpPr>
          <p:cNvPr id="4143" name="Rectangle 4142">
            <a:extLst>
              <a:ext uri="{FF2B5EF4-FFF2-40B4-BE49-F238E27FC236}">
                <a16:creationId xmlns:a16="http://schemas.microsoft.com/office/drawing/2014/main" id="{2558D597-11F6-E8FC-EC1A-E64222072EE2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2935288" y="3467100"/>
            <a:ext cx="4937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BB538526-8023-4CE3-8F3F-67EFC16C433F}" type="datetime'''I''''''''''''''n''''v''e''s''t''''''''''eri''''''''ng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145" name="Rectangle 4144">
            <a:extLst>
              <a:ext uri="{FF2B5EF4-FFF2-40B4-BE49-F238E27FC236}">
                <a16:creationId xmlns:a16="http://schemas.microsoft.com/office/drawing/2014/main" id="{3A99E02F-7D1C-A5CC-6381-16BFDBE96DC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540125" y="3467100"/>
            <a:ext cx="511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FFB4D23-44AA-44CB-BB25-A2450C6A4E28}" type="datetime'F''''''''M''V ''Q''''''''''''''2'' ''''''''''25''''''’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FMV Q2 25’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4CDB50C-DD96-76F5-29F9-26AA2BFDCE96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940050" y="3181350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158m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319D846-032B-BBF9-A4F0-60F780777504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554413" y="3079750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296m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415" name="Chart 414">
            <a:extLst>
              <a:ext uri="{FF2B5EF4-FFF2-40B4-BE49-F238E27FC236}">
                <a16:creationId xmlns:a16="http://schemas.microsoft.com/office/drawing/2014/main" id="{C3203E9C-A09B-2E04-672C-7B8CD2F6F861}"/>
              </a:ext>
            </a:extLst>
          </p:cNvPr>
          <p:cNvGraphicFramePr/>
          <p:nvPr>
            <p:custDataLst>
              <p:tags r:id="rId7"/>
            </p:custDataLst>
          </p:nvPr>
        </p:nvGraphicFramePr>
        <p:xfrm>
          <a:off x="5702300" y="2836863"/>
          <a:ext cx="1455738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0"/>
          </a:graphicData>
        </a:graphic>
      </p:graphicFrame>
      <p:sp>
        <p:nvSpPr>
          <p:cNvPr id="4148" name="Rectangle 4147">
            <a:extLst>
              <a:ext uri="{FF2B5EF4-FFF2-40B4-BE49-F238E27FC236}">
                <a16:creationId xmlns:a16="http://schemas.microsoft.com/office/drawing/2014/main" id="{99A813B0-6AC3-9B2C-0452-292E170433C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5861050" y="3467100"/>
            <a:ext cx="4937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6A7B0DA-77D9-474F-85CB-CBF1739EA8CB}" type="datetime'''I''n''''''''v''''''''e''s''''t''''e''r''''i''''''''ng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154" name="Rectangle 4153">
            <a:extLst>
              <a:ext uri="{FF2B5EF4-FFF2-40B4-BE49-F238E27FC236}">
                <a16:creationId xmlns:a16="http://schemas.microsoft.com/office/drawing/2014/main" id="{DE18F011-F270-B6DC-92C4-690DDBBA48D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562725" y="3467100"/>
            <a:ext cx="3778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28786F0-31BD-402F-BEAF-437EE57948D9}" type="datetime'''Q''2'''''''''''''' 2''0''2''5''''''''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Q2 2025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BFDDC59-06BA-8FED-C462-E562AD6C3586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865813" y="3167063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177m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117" name="Rectangle 4116">
            <a:extLst>
              <a:ext uri="{FF2B5EF4-FFF2-40B4-BE49-F238E27FC236}">
                <a16:creationId xmlns:a16="http://schemas.microsoft.com/office/drawing/2014/main" id="{33EFA1BF-26E5-89C5-18FF-F0E81D3E6469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6510338" y="3098800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269m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B86C9C6-B52C-2AEE-913A-471F9EA84EFE}"/>
              </a:ext>
            </a:extLst>
          </p:cNvPr>
          <p:cNvGraphicFramePr/>
          <p:nvPr>
            <p:custDataLst>
              <p:tags r:id="rId12"/>
            </p:custDataLst>
          </p:nvPr>
        </p:nvGraphicFramePr>
        <p:xfrm>
          <a:off x="8666163" y="2836863"/>
          <a:ext cx="1430337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1"/>
          </a:graphicData>
        </a:graphic>
      </p:graphicFrame>
      <p:sp>
        <p:nvSpPr>
          <p:cNvPr id="4158" name="Rectangle 4157">
            <a:extLst>
              <a:ext uri="{FF2B5EF4-FFF2-40B4-BE49-F238E27FC236}">
                <a16:creationId xmlns:a16="http://schemas.microsoft.com/office/drawing/2014/main" id="{32389FC6-9E7A-A1A2-F0FD-1780F966913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818563" y="3467100"/>
            <a:ext cx="4937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B70342A-7824-4E4A-AA82-50AE09E7D55E}" type="datetime'''I''''''''n''''''''''''''''v''''e''steri''''ng''''''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F907D925-8C2C-2C62-B4AA-FEB4A433555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509125" y="3467100"/>
            <a:ext cx="3778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A2F6B48-59D6-4089-A723-6621976BE2F5}" type="datetime'''Q2'' 2''''''''''''''''''0''''''''''''2''5''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Q2 2025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0849623-1F8E-BCBB-226D-5D9D8AB10C8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8823325" y="3162300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183m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DE1F9F2-3CA6-1CD0-68C0-811471A8CC7E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9456738" y="3162300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183m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499" name="Chart 498">
            <a:extLst>
              <a:ext uri="{FF2B5EF4-FFF2-40B4-BE49-F238E27FC236}">
                <a16:creationId xmlns:a16="http://schemas.microsoft.com/office/drawing/2014/main" id="{B14C6585-E9AC-FB27-D723-498E3EC5A44A}"/>
              </a:ext>
            </a:extLst>
          </p:cNvPr>
          <p:cNvGraphicFramePr/>
          <p:nvPr>
            <p:custDataLst>
              <p:tags r:id="rId17"/>
            </p:custDataLst>
          </p:nvPr>
        </p:nvGraphicFramePr>
        <p:xfrm>
          <a:off x="4727575" y="2836863"/>
          <a:ext cx="906463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sp>
        <p:nvSpPr>
          <p:cNvPr id="569" name="Rectangle 568">
            <a:extLst>
              <a:ext uri="{FF2B5EF4-FFF2-40B4-BE49-F238E27FC236}">
                <a16:creationId xmlns:a16="http://schemas.microsoft.com/office/drawing/2014/main" id="{19F08919-997B-F1FC-5E30-CDBF7F5CBA67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4865688" y="3467100"/>
            <a:ext cx="62865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609C645-82A3-46FF-9CDE-0AE1F91D29BE}" type="datetime'''''EB''I''''T''''''D''''''''''A 2''025''''''F''''''''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EBITDA 2025F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0F8100B0-8739-418E-AD6E-D25707F425CE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965700" y="3249613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67m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2EFBC8D8-9C84-DE0A-A78C-13151AEBAB8F}"/>
              </a:ext>
            </a:extLst>
          </p:cNvPr>
          <p:cNvGraphicFramePr/>
          <p:nvPr>
            <p:custDataLst>
              <p:tags r:id="rId20"/>
            </p:custDataLst>
          </p:nvPr>
        </p:nvGraphicFramePr>
        <p:xfrm>
          <a:off x="7680325" y="2836863"/>
          <a:ext cx="906463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156" name="Rectangle 155">
            <a:extLst>
              <a:ext uri="{FF2B5EF4-FFF2-40B4-BE49-F238E27FC236}">
                <a16:creationId xmlns:a16="http://schemas.microsoft.com/office/drawing/2014/main" id="{5437193A-BC5E-A29F-30E7-E5BC8934A363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7818438" y="3467100"/>
            <a:ext cx="62865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A576883-2F2B-4FA6-8858-EB0D07EA88AC}" type="datetime'''''''EB''''''''''''IT''''D''''A'''' 2''0''''2''''''''''5F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EBITDA 2025F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C890D77-8D48-6B42-5624-5E1508D15A40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918450" y="3227388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</a:t>
            </a:r>
            <a:r>
              <a:rPr lang="da-DK" altLang="en-US" sz="800">
                <a:solidFill>
                  <a:schemeClr val="tx1"/>
                </a:solidFill>
                <a:sym typeface="Arial" panose="020B0604020202020204" pitchFamily="34" charset="0"/>
              </a:rPr>
              <a:t>97</a:t>
            </a: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526" name="Chart 525">
            <a:extLst>
              <a:ext uri="{FF2B5EF4-FFF2-40B4-BE49-F238E27FC236}">
                <a16:creationId xmlns:a16="http://schemas.microsoft.com/office/drawing/2014/main" id="{3F1F6B67-0604-4D8D-4FB3-98C699F2F978}"/>
              </a:ext>
            </a:extLst>
          </p:cNvPr>
          <p:cNvGraphicFramePr/>
          <p:nvPr>
            <p:custDataLst>
              <p:tags r:id="rId23"/>
            </p:custDataLst>
          </p:nvPr>
        </p:nvGraphicFramePr>
        <p:xfrm>
          <a:off x="10636250" y="2836863"/>
          <a:ext cx="906463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4"/>
          </a:graphicData>
        </a:graphic>
      </p:graphicFrame>
      <p:sp>
        <p:nvSpPr>
          <p:cNvPr id="167" name="Rectangle 166">
            <a:extLst>
              <a:ext uri="{FF2B5EF4-FFF2-40B4-BE49-F238E27FC236}">
                <a16:creationId xmlns:a16="http://schemas.microsoft.com/office/drawing/2014/main" id="{785DC978-468A-2945-C646-2CDFD8DF695A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10774363" y="3467100"/>
            <a:ext cx="628650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DF848B6-7B19-4878-86FC-FE61EE892783}" type="datetime'''E''''B''''''''''''I''''''TD''''A'''' ''''2''''''02''''''5F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EBITDA 2025F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82D7D59-8485-D230-F602-57874F8E9D09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10874375" y="3262313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49m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17F4925B-CAF2-A4AB-C79C-026E5FF67D2C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270500" y="6556375"/>
            <a:ext cx="142875" cy="106363"/>
          </a:xfrm>
          <a:prstGeom prst="rect">
            <a:avLst/>
          </a:prstGeom>
          <a:solidFill>
            <a:srgbClr val="DADADA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F6B958B-A8EC-BFCA-2D90-4F12CD7191F7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6046788" y="6556375"/>
            <a:ext cx="142875" cy="106363"/>
          </a:xfrm>
          <a:prstGeom prst="rect">
            <a:avLst/>
          </a:prstGeom>
          <a:solidFill>
            <a:srgbClr val="3D3D3D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C918639-5153-477D-339A-8D841CC9A8B6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464175" y="6551613"/>
            <a:ext cx="4810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5C353D91-CB13-4EA8-9448-E63875C0EBDA}" type="datetime'''''I''n''''''v''''''''''e''st''er''''i''''''n''g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1B3D6CEE-ED17-068A-AA8E-38D81A00E05A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6240463" y="6551613"/>
            <a:ext cx="579438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EC6ED0C5-EC6D-4B9D-9482-7B4F82F7DD7D}" type="datetime'''''FMV'''''''' ''''''''''''Q''2'''' 2''''''0''''2''''5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FMV Q2 2025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53BDF369-1364-52B4-55D9-33426D709412}"/>
              </a:ext>
            </a:extLst>
          </p:cNvPr>
          <p:cNvSpPr txBox="1"/>
          <p:nvPr/>
        </p:nvSpPr>
        <p:spPr>
          <a:xfrm>
            <a:off x="915038" y="4050697"/>
            <a:ext cx="18059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/>
              <a:t>Seed Capital Denmark IV </a:t>
            </a:r>
            <a:r>
              <a:rPr lang="da-DK" sz="900"/>
              <a:t>har et samlet tilsagn på </a:t>
            </a:r>
            <a:r>
              <a:rPr lang="da-DK" sz="900" b="1"/>
              <a:t>DKK 1.045m</a:t>
            </a:r>
            <a:r>
              <a:rPr lang="da-DK" sz="900"/>
              <a:t>, hvoraf </a:t>
            </a:r>
            <a:r>
              <a:rPr lang="da-DK" sz="900" b="1" err="1"/>
              <a:t>Motortramps</a:t>
            </a:r>
            <a:r>
              <a:rPr lang="da-DK" sz="900" b="1"/>
              <a:t> investering udgør DKK 30m</a:t>
            </a:r>
            <a:r>
              <a:rPr lang="da-DK" sz="90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investerer i teknologivirksomheder i  venture og opstartsfasen i Danmark. </a:t>
            </a:r>
            <a:br>
              <a:rPr lang="da-DK" sz="900"/>
            </a:b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Ultimo juni 2025 har fonden realiseret seks investeringer (3 konkurser) og har 10 aktive investeringer.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/>
          </a:p>
        </p:txBody>
      </p:sp>
      <p:pic>
        <p:nvPicPr>
          <p:cNvPr id="1051" name="Picture 4" descr="Seed Capital — Nordic Venture Network">
            <a:extLst>
              <a:ext uri="{FF2B5EF4-FFF2-40B4-BE49-F238E27FC236}">
                <a16:creationId xmlns:a16="http://schemas.microsoft.com/office/drawing/2014/main" id="{C3585151-91A7-8EAE-616B-966C30620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51" b="39263"/>
          <a:stretch>
            <a:fillRect/>
          </a:stretch>
        </p:blipFill>
        <p:spPr bwMode="auto">
          <a:xfrm rot="16200000">
            <a:off x="-250434" y="5026217"/>
            <a:ext cx="1924203" cy="357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F6FEDDA4-7D1D-2D1A-8281-6D6E74AC6B8F}"/>
              </a:ext>
            </a:extLst>
          </p:cNvPr>
          <p:cNvCxnSpPr>
            <a:cxnSpLocks/>
          </p:cNvCxnSpPr>
          <p:nvPr/>
        </p:nvCxnSpPr>
        <p:spPr>
          <a:xfrm flipH="1">
            <a:off x="2736771" y="4087014"/>
            <a:ext cx="0" cy="216000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79E98910-018F-4BAD-FB15-D4860460F9CA}"/>
              </a:ext>
            </a:extLst>
          </p:cNvPr>
          <p:cNvSpPr txBox="1"/>
          <p:nvPr/>
        </p:nvSpPr>
        <p:spPr>
          <a:xfrm>
            <a:off x="3609253" y="4046537"/>
            <a:ext cx="148979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dirty="0"/>
              <a:t>FLATPAY </a:t>
            </a:r>
            <a:r>
              <a:rPr lang="da-DK" sz="900" dirty="0"/>
              <a:t>blev opkøbt i 2022 og er en leverandør af betalingstransaktioner og POS-løsninger</a:t>
            </a:r>
            <a:br>
              <a:rPr lang="da-DK" sz="900" dirty="0"/>
            </a:br>
            <a:r>
              <a:rPr lang="da-DK" sz="900" b="1" dirty="0"/>
              <a:t>Ejerandel: 20,8%</a:t>
            </a:r>
          </a:p>
        </p:txBody>
      </p:sp>
      <p:pic>
        <p:nvPicPr>
          <p:cNvPr id="1062" name="Picture 2">
            <a:extLst>
              <a:ext uri="{FF2B5EF4-FFF2-40B4-BE49-F238E27FC236}">
                <a16:creationId xmlns:a16="http://schemas.microsoft.com/office/drawing/2014/main" id="{D9D11186-5222-ED4D-6077-923D942D8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6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rcRect/>
          <a:stretch/>
        </p:blipFill>
        <p:spPr bwMode="auto">
          <a:xfrm>
            <a:off x="2707098" y="4054867"/>
            <a:ext cx="1001272" cy="56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361D7C99-7571-1729-6830-9559D2FE667D}"/>
              </a:ext>
            </a:extLst>
          </p:cNvPr>
          <p:cNvGraphicFramePr/>
          <p:nvPr>
            <p:custDataLst>
              <p:tags r:id="rId30"/>
            </p:custDataLst>
          </p:nvPr>
        </p:nvGraphicFramePr>
        <p:xfrm>
          <a:off x="2690813" y="5041900"/>
          <a:ext cx="1403350" cy="110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7"/>
          </a:graphicData>
        </a:graphic>
      </p:graphicFrame>
      <p:sp>
        <p:nvSpPr>
          <p:cNvPr id="1064" name="Rectangle 1063">
            <a:extLst>
              <a:ext uri="{FF2B5EF4-FFF2-40B4-BE49-F238E27FC236}">
                <a16:creationId xmlns:a16="http://schemas.microsoft.com/office/drawing/2014/main" id="{EB0C36B9-C50E-AECB-8AFD-56C8A53255D0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2836863" y="6097588"/>
            <a:ext cx="4937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FF3EFA3-1ACC-4522-A4FC-6C2238D530A1}" type="datetime'''''''I''n''''''''''''''''''v''est''e''r''''''''in''''g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BF514AE1-F9EC-5383-C531-F4B3CAFCFDBC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3446463" y="6097588"/>
            <a:ext cx="511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</a:rPr>
              <a:t>FMV Q2 25’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66" name="Rectangle 1065">
            <a:extLst>
              <a:ext uri="{FF2B5EF4-FFF2-40B4-BE49-F238E27FC236}">
                <a16:creationId xmlns:a16="http://schemas.microsoft.com/office/drawing/2014/main" id="{5DD9158C-760D-49EB-E474-2986DAAF0CD5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2841625" y="5726113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149m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67" name="Rectangle 1066">
            <a:extLst>
              <a:ext uri="{FF2B5EF4-FFF2-40B4-BE49-F238E27FC236}">
                <a16:creationId xmlns:a16="http://schemas.microsoft.com/office/drawing/2014/main" id="{71A80172-DC38-2E2B-F63D-6E46B7BBF093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3460750" y="4989513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693m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421" name="Chart 420">
            <a:extLst>
              <a:ext uri="{FF2B5EF4-FFF2-40B4-BE49-F238E27FC236}">
                <a16:creationId xmlns:a16="http://schemas.microsoft.com/office/drawing/2014/main" id="{58998F15-607A-396E-0D6D-F7B06A03D78C}"/>
              </a:ext>
            </a:extLst>
          </p:cNvPr>
          <p:cNvGraphicFramePr/>
          <p:nvPr>
            <p:custDataLst>
              <p:tags r:id="rId35"/>
            </p:custDataLst>
          </p:nvPr>
        </p:nvGraphicFramePr>
        <p:xfrm>
          <a:off x="4029075" y="5467350"/>
          <a:ext cx="1069975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8"/>
          </a:graphicData>
        </a:graphic>
      </p:graphicFrame>
      <p:sp>
        <p:nvSpPr>
          <p:cNvPr id="1069" name="Rectangle 1068">
            <a:extLst>
              <a:ext uri="{FF2B5EF4-FFF2-40B4-BE49-F238E27FC236}">
                <a16:creationId xmlns:a16="http://schemas.microsoft.com/office/drawing/2014/main" id="{92BD3155-AE37-4894-4553-401B9347926E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4252913" y="6097588"/>
            <a:ext cx="623888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1BF8FAB-9983-4F31-AB17-DE7E2C2DCCED}" type="datetime'''A''''RR'' ''Jun''''''''''i'' 2''0''''''2''''5''''''''''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ARR Juni 2025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70" name="Rectangle 1069">
            <a:extLst>
              <a:ext uri="{FF2B5EF4-FFF2-40B4-BE49-F238E27FC236}">
                <a16:creationId xmlns:a16="http://schemas.microsoft.com/office/drawing/2014/main" id="{381EBB67-BF1F-977A-2231-F4DC52B10ACB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4322763" y="5529263"/>
            <a:ext cx="482600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538m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78" name="Rectangle: Top Corners Rounded 1077">
            <a:extLst>
              <a:ext uri="{FF2B5EF4-FFF2-40B4-BE49-F238E27FC236}">
                <a16:creationId xmlns:a16="http://schemas.microsoft.com/office/drawing/2014/main" id="{12DA2661-D441-EDE6-2263-6796308C9352}"/>
              </a:ext>
            </a:extLst>
          </p:cNvPr>
          <p:cNvSpPr/>
          <p:nvPr/>
        </p:nvSpPr>
        <p:spPr>
          <a:xfrm>
            <a:off x="906782" y="3807312"/>
            <a:ext cx="1805938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1079" name="Rectangle: Top Corners Rounded 1078">
            <a:extLst>
              <a:ext uri="{FF2B5EF4-FFF2-40B4-BE49-F238E27FC236}">
                <a16:creationId xmlns:a16="http://schemas.microsoft.com/office/drawing/2014/main" id="{F77560AC-99B9-FFC3-678C-29B111E467D7}"/>
              </a:ext>
            </a:extLst>
          </p:cNvPr>
          <p:cNvSpPr/>
          <p:nvPr/>
        </p:nvSpPr>
        <p:spPr>
          <a:xfrm>
            <a:off x="2783681" y="3807312"/>
            <a:ext cx="6992620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De tre største </a:t>
            </a:r>
            <a:r>
              <a:rPr lang="da-DK" sz="1000" b="1" err="1">
                <a:solidFill>
                  <a:schemeClr val="tx1"/>
                </a:solidFill>
              </a:rPr>
              <a:t>porteføjlevirksomheder</a:t>
            </a:r>
            <a:r>
              <a:rPr lang="da-DK" sz="1000" b="1">
                <a:solidFill>
                  <a:schemeClr val="tx1"/>
                </a:solidFill>
              </a:rPr>
              <a:t> på FMV</a:t>
            </a:r>
            <a:r>
              <a:rPr lang="da-DK" sz="1000" b="1" baseline="30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0" name="Rectangle: Top Corners Rounded 1079">
            <a:extLst>
              <a:ext uri="{FF2B5EF4-FFF2-40B4-BE49-F238E27FC236}">
                <a16:creationId xmlns:a16="http://schemas.microsoft.com/office/drawing/2014/main" id="{C344F38B-57A5-702D-7EF9-A4C45BC1F9D1}"/>
              </a:ext>
            </a:extLst>
          </p:cNvPr>
          <p:cNvSpPr/>
          <p:nvPr/>
        </p:nvSpPr>
        <p:spPr>
          <a:xfrm>
            <a:off x="9847262" y="3807312"/>
            <a:ext cx="1739897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rIns="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 Øvrige virksomheder</a:t>
            </a:r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709E85DD-B148-CB68-6C32-A618EA07834F}"/>
              </a:ext>
            </a:extLst>
          </p:cNvPr>
          <p:cNvCxnSpPr>
            <a:cxnSpLocks/>
          </p:cNvCxnSpPr>
          <p:nvPr/>
        </p:nvCxnSpPr>
        <p:spPr>
          <a:xfrm flipH="1">
            <a:off x="5091615" y="4087014"/>
            <a:ext cx="0" cy="216000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4" name="TextBox 253">
            <a:extLst>
              <a:ext uri="{FF2B5EF4-FFF2-40B4-BE49-F238E27FC236}">
                <a16:creationId xmlns:a16="http://schemas.microsoft.com/office/drawing/2014/main" id="{9DE80B37-4468-3D1B-9FC5-88084B345311}"/>
              </a:ext>
            </a:extLst>
          </p:cNvPr>
          <p:cNvSpPr txBox="1"/>
          <p:nvPr/>
        </p:nvSpPr>
        <p:spPr>
          <a:xfrm>
            <a:off x="5913139" y="4046539"/>
            <a:ext cx="149542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/>
              <a:t>Landfolk </a:t>
            </a:r>
            <a:r>
              <a:rPr lang="da-DK" sz="900"/>
              <a:t>blev opkøbt i 2023 og er en online platform for high-end ferieudlejning</a:t>
            </a:r>
            <a:br>
              <a:rPr lang="da-DK" sz="900"/>
            </a:br>
            <a:r>
              <a:rPr lang="da-DK" sz="900" b="1"/>
              <a:t>Ejerandel: 20,1%</a:t>
            </a:r>
          </a:p>
        </p:txBody>
      </p:sp>
      <p:pic>
        <p:nvPicPr>
          <p:cNvPr id="255" name="Picture 2">
            <a:extLst>
              <a:ext uri="{FF2B5EF4-FFF2-40B4-BE49-F238E27FC236}">
                <a16:creationId xmlns:a16="http://schemas.microsoft.com/office/drawing/2014/main" id="{72BE2FC6-BB96-003F-4044-6BB6A10B1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9">
            <a:clrChange>
              <a:clrFrom>
                <a:srgbClr val="F6F2E9"/>
              </a:clrFrom>
              <a:clrTo>
                <a:srgbClr val="F6F2E9">
                  <a:alpha val="0"/>
                </a:srgbClr>
              </a:clrTo>
            </a:clrChange>
          </a:blip>
          <a:srcRect/>
          <a:stretch/>
        </p:blipFill>
        <p:spPr bwMode="auto">
          <a:xfrm>
            <a:off x="5088303" y="3887212"/>
            <a:ext cx="898526" cy="89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73B5B362-C5D6-49BD-98F6-508160BB1BC3}"/>
              </a:ext>
            </a:extLst>
          </p:cNvPr>
          <p:cNvGraphicFramePr/>
          <p:nvPr>
            <p:custDataLst>
              <p:tags r:id="rId38"/>
            </p:custDataLst>
          </p:nvPr>
        </p:nvGraphicFramePr>
        <p:xfrm>
          <a:off x="5035550" y="5041900"/>
          <a:ext cx="1403350" cy="110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0"/>
          </a:graphicData>
        </a:graphic>
      </p:graphicFrame>
      <p:sp>
        <p:nvSpPr>
          <p:cNvPr id="257" name="Rectangle 256">
            <a:extLst>
              <a:ext uri="{FF2B5EF4-FFF2-40B4-BE49-F238E27FC236}">
                <a16:creationId xmlns:a16="http://schemas.microsoft.com/office/drawing/2014/main" id="{23627898-AB2F-50D6-5510-D54140F9C7A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5181600" y="6097588"/>
            <a:ext cx="4937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F0A98E8-4503-43DA-B061-51CEFA592759}" type="datetime'''''I''''''n''v''e''''''''s''teri''n''''g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BE413E53-DE4E-46E1-5301-DF14D6DF06B6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5791200" y="6097588"/>
            <a:ext cx="511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</a:rPr>
              <a:t>FMV Q2 25’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C203AD28-578D-D22B-B03E-F1193078C03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5213350" y="5859463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50m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81D9F720-07E5-F43E-3FBE-0C17AEEA11A3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5832475" y="5843588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63m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57" name="Chart 56">
            <a:extLst>
              <a:ext uri="{FF2B5EF4-FFF2-40B4-BE49-F238E27FC236}">
                <a16:creationId xmlns:a16="http://schemas.microsoft.com/office/drawing/2014/main" id="{E703759A-60A2-9E3D-9B55-EC7122B50324}"/>
              </a:ext>
            </a:extLst>
          </p:cNvPr>
          <p:cNvGraphicFramePr/>
          <p:nvPr>
            <p:custDataLst>
              <p:tags r:id="rId43"/>
            </p:custDataLst>
          </p:nvPr>
        </p:nvGraphicFramePr>
        <p:xfrm>
          <a:off x="6373813" y="5337175"/>
          <a:ext cx="1069975" cy="809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1"/>
          </a:graphicData>
        </a:graphic>
      </p:graphicFrame>
      <p:sp>
        <p:nvSpPr>
          <p:cNvPr id="264" name="Rectangle 263">
            <a:extLst>
              <a:ext uri="{FF2B5EF4-FFF2-40B4-BE49-F238E27FC236}">
                <a16:creationId xmlns:a16="http://schemas.microsoft.com/office/drawing/2014/main" id="{2954F132-7366-532B-A172-1C5FB716E136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6473825" y="6097588"/>
            <a:ext cx="871538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sz="800">
                <a:solidFill>
                  <a:schemeClr val="tx1"/>
                </a:solidFill>
                <a:sym typeface="Arial" panose="020B0604020202020204" pitchFamily="34" charset="0"/>
              </a:rPr>
              <a:t>Oms. LTM juni 2025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9523D9F8-3A50-9733-C6DA-13153B8AD18D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6694488" y="5903913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27m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457C100A-FEEB-940B-23EF-FA1C00F48DBF}"/>
              </a:ext>
            </a:extLst>
          </p:cNvPr>
          <p:cNvCxnSpPr>
            <a:cxnSpLocks/>
          </p:cNvCxnSpPr>
          <p:nvPr/>
        </p:nvCxnSpPr>
        <p:spPr>
          <a:xfrm flipH="1">
            <a:off x="7446459" y="4087014"/>
            <a:ext cx="0" cy="216000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2" name="TextBox 271">
            <a:extLst>
              <a:ext uri="{FF2B5EF4-FFF2-40B4-BE49-F238E27FC236}">
                <a16:creationId xmlns:a16="http://schemas.microsoft.com/office/drawing/2014/main" id="{61AF2A9C-2282-B21D-9796-A99623DFD203}"/>
              </a:ext>
            </a:extLst>
          </p:cNvPr>
          <p:cNvSpPr txBox="1"/>
          <p:nvPr/>
        </p:nvSpPr>
        <p:spPr>
          <a:xfrm>
            <a:off x="8222654" y="4077766"/>
            <a:ext cx="15536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900" b="1" err="1"/>
              <a:t>Complycloud</a:t>
            </a:r>
            <a:r>
              <a:rPr lang="da-DK" sz="900" b="1"/>
              <a:t> </a:t>
            </a:r>
            <a:r>
              <a:rPr lang="da-DK" sz="900"/>
              <a:t>blev opkøbt i 2021 og er et GDPR-management  automatiseringsværktøj</a:t>
            </a:r>
          </a:p>
          <a:p>
            <a:r>
              <a:rPr lang="da-DK" sz="900" b="1"/>
              <a:t>Ejerandel: 20,2%</a:t>
            </a:r>
          </a:p>
        </p:txBody>
      </p:sp>
      <p:pic>
        <p:nvPicPr>
          <p:cNvPr id="273" name="Picture 2">
            <a:extLst>
              <a:ext uri="{FF2B5EF4-FFF2-40B4-BE49-F238E27FC236}">
                <a16:creationId xmlns:a16="http://schemas.microsoft.com/office/drawing/2014/main" id="{7F517829-9C31-E526-C104-9C77E6DFB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2"/>
          <a:srcRect/>
          <a:stretch/>
        </p:blipFill>
        <p:spPr bwMode="auto">
          <a:xfrm>
            <a:off x="7443788" y="3938481"/>
            <a:ext cx="793023" cy="792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6A9017C4-0484-88E2-15F4-F23BFAE80EFA}"/>
              </a:ext>
            </a:extLst>
          </p:cNvPr>
          <p:cNvGraphicFramePr/>
          <p:nvPr>
            <p:custDataLst>
              <p:tags r:id="rId46"/>
            </p:custDataLst>
          </p:nvPr>
        </p:nvGraphicFramePr>
        <p:xfrm>
          <a:off x="7458075" y="5041900"/>
          <a:ext cx="1403350" cy="110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3"/>
          </a:graphicData>
        </a:graphic>
      </p:graphicFrame>
      <p:sp>
        <p:nvSpPr>
          <p:cNvPr id="275" name="Rectangle 274">
            <a:extLst>
              <a:ext uri="{FF2B5EF4-FFF2-40B4-BE49-F238E27FC236}">
                <a16:creationId xmlns:a16="http://schemas.microsoft.com/office/drawing/2014/main" id="{BAF90DB5-FCE0-9722-D1D5-62883182575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604125" y="6097588"/>
            <a:ext cx="493713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500EF6E0-28E6-4191-8E08-24E32BBA0982}" type="datetime'I''''n''''''''ve''st''e''ri''''''''''ng''''''''''''''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Investering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108A6ECD-1F25-372A-F277-6910038B85D8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213725" y="6097588"/>
            <a:ext cx="51117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</a:rPr>
              <a:t>FMV Q2 25’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0580C6AF-B952-00D5-67ED-8BA707CBD594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7635876" y="5864225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48m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DF2DAFB9-DCF8-40B1-FE96-D1C053D8E23C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8255000" y="5864225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47m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graphicFrame>
        <p:nvGraphicFramePr>
          <p:cNvPr id="447" name="Chart 446">
            <a:extLst>
              <a:ext uri="{FF2B5EF4-FFF2-40B4-BE49-F238E27FC236}">
                <a16:creationId xmlns:a16="http://schemas.microsoft.com/office/drawing/2014/main" id="{0543D319-6CBC-3AA2-1960-88676444E7C0}"/>
              </a:ext>
            </a:extLst>
          </p:cNvPr>
          <p:cNvGraphicFramePr/>
          <p:nvPr>
            <p:custDataLst>
              <p:tags r:id="rId51"/>
            </p:custDataLst>
          </p:nvPr>
        </p:nvGraphicFramePr>
        <p:xfrm>
          <a:off x="8796338" y="5467350"/>
          <a:ext cx="1069975" cy="67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4"/>
          </a:graphicData>
        </a:graphic>
      </p:graphicFrame>
      <p:sp>
        <p:nvSpPr>
          <p:cNvPr id="280" name="Rectangle 279">
            <a:extLst>
              <a:ext uri="{FF2B5EF4-FFF2-40B4-BE49-F238E27FC236}">
                <a16:creationId xmlns:a16="http://schemas.microsoft.com/office/drawing/2014/main" id="{C17F6E3E-7FAE-F8F1-C91A-9AC09BA06781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009063" y="6097588"/>
            <a:ext cx="6445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912FF35-7218-4107-B696-26847D22239C}" type="datetime'''''''''A''''RR'' ''''''J''u''ni ''2''''''''0''''''25'' '''">
              <a:rPr lang="da-DK" altLang="en-US" sz="8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ARR Juni 2025 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46B9F055-0112-7AD7-08D6-6EF2B11A78E0}"/>
              </a:ext>
            </a:extLst>
          </p:cNvPr>
          <p:cNvSpPr/>
          <p:nvPr>
            <p:custDataLst>
              <p:tags r:id="rId53"/>
            </p:custDataLst>
          </p:nvPr>
        </p:nvSpPr>
        <p:spPr bwMode="gray">
          <a:xfrm>
            <a:off x="9117013" y="5899150"/>
            <a:ext cx="4286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t>DKK 39m</a:t>
            </a:r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C9E1A73E-C901-CE57-8273-2D7CD20F07DF}"/>
              </a:ext>
            </a:extLst>
          </p:cNvPr>
          <p:cNvCxnSpPr>
            <a:cxnSpLocks/>
          </p:cNvCxnSpPr>
          <p:nvPr/>
        </p:nvCxnSpPr>
        <p:spPr>
          <a:xfrm flipH="1">
            <a:off x="9800669" y="4087014"/>
            <a:ext cx="0" cy="216000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9865BB87-2A2A-82FA-BED6-75A1D711D45D}"/>
              </a:ext>
            </a:extLst>
          </p:cNvPr>
          <p:cNvCxnSpPr>
            <a:cxnSpLocks/>
          </p:cNvCxnSpPr>
          <p:nvPr/>
        </p:nvCxnSpPr>
        <p:spPr>
          <a:xfrm flipH="1">
            <a:off x="5670873" y="1288403"/>
            <a:ext cx="0" cy="2262517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5E03080E-7447-C5F8-5833-17BA53B824A3}"/>
              </a:ext>
            </a:extLst>
          </p:cNvPr>
          <p:cNvCxnSpPr>
            <a:cxnSpLocks/>
          </p:cNvCxnSpPr>
          <p:nvPr/>
        </p:nvCxnSpPr>
        <p:spPr>
          <a:xfrm flipH="1">
            <a:off x="8604976" y="1288403"/>
            <a:ext cx="0" cy="2262517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61" name="AutoShape 8" descr="About the Abzoids and Abzu:">
            <a:extLst>
              <a:ext uri="{FF2B5EF4-FFF2-40B4-BE49-F238E27FC236}">
                <a16:creationId xmlns:a16="http://schemas.microsoft.com/office/drawing/2014/main" id="{ADB2602C-EE81-742D-BC7C-B15936BC81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77082" y="4424379"/>
            <a:ext cx="1403350" cy="140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4164" name="Picture 2">
            <a:extLst>
              <a:ext uri="{FF2B5EF4-FFF2-40B4-BE49-F238E27FC236}">
                <a16:creationId xmlns:a16="http://schemas.microsoft.com/office/drawing/2014/main" id="{139135B3-8E40-60D9-A66E-13BDFB427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5"/>
          <a:srcRect/>
          <a:stretch/>
        </p:blipFill>
        <p:spPr bwMode="auto">
          <a:xfrm>
            <a:off x="10007957" y="4832998"/>
            <a:ext cx="426290" cy="16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5" name="Picture 14" descr="Risika - Risk &amp; Credit til CRM">
            <a:extLst>
              <a:ext uri="{FF2B5EF4-FFF2-40B4-BE49-F238E27FC236}">
                <a16:creationId xmlns:a16="http://schemas.microsoft.com/office/drawing/2014/main" id="{B81F4DFD-E60A-EF52-0938-EF6598977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700" y="4281604"/>
            <a:ext cx="565047" cy="15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6" name="Picture 16" descr="Starred - Greenhouse Partner Directory">
            <a:extLst>
              <a:ext uri="{FF2B5EF4-FFF2-40B4-BE49-F238E27FC236}">
                <a16:creationId xmlns:a16="http://schemas.microsoft.com/office/drawing/2014/main" id="{68459F54-E8FB-8600-5234-FCB432438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9462" y="5291176"/>
            <a:ext cx="573251" cy="334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8" name="Picture 20" descr="Understory Raises €12M in Funding">
            <a:extLst>
              <a:ext uri="{FF2B5EF4-FFF2-40B4-BE49-F238E27FC236}">
                <a16:creationId xmlns:a16="http://schemas.microsoft.com/office/drawing/2014/main" id="{68A3219A-932F-DADE-83E2-B0AC2CE49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01" y="6004510"/>
            <a:ext cx="756572" cy="133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69" name="Picture 22" descr="Embla 2025 Company Profile: Valuation, Funding &amp; Investors | PitchBook">
            <a:extLst>
              <a:ext uri="{FF2B5EF4-FFF2-40B4-BE49-F238E27FC236}">
                <a16:creationId xmlns:a16="http://schemas.microsoft.com/office/drawing/2014/main" id="{35BA1DDE-DEC0-2935-0DCD-86AD7BD5D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9026" y="5227577"/>
            <a:ext cx="498536" cy="498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71" name="Picture 4170">
            <a:extLst>
              <a:ext uri="{FF2B5EF4-FFF2-40B4-BE49-F238E27FC236}">
                <a16:creationId xmlns:a16="http://schemas.microsoft.com/office/drawing/2014/main" id="{57DDDE68-E88D-991E-B048-E512F5D0740F}"/>
              </a:ext>
            </a:extLst>
          </p:cNvPr>
          <p:cNvPicPr>
            <a:picLocks noChangeAspect="1"/>
          </p:cNvPicPr>
          <p:nvPr/>
        </p:nvPicPr>
        <p:blipFill>
          <a:blip r:embed="rId9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69145" y="5972494"/>
            <a:ext cx="786256" cy="147874"/>
          </a:xfrm>
          <a:prstGeom prst="rect">
            <a:avLst/>
          </a:prstGeom>
        </p:spPr>
      </p:pic>
      <p:pic>
        <p:nvPicPr>
          <p:cNvPr id="4172" name="Picture 24" descr="Contact – Tembi">
            <a:extLst>
              <a:ext uri="{FF2B5EF4-FFF2-40B4-BE49-F238E27FC236}">
                <a16:creationId xmlns:a16="http://schemas.microsoft.com/office/drawing/2014/main" id="{0A073732-0F16-C858-41C2-E877D703D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7338" y="4867927"/>
            <a:ext cx="545375" cy="137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2878166-31B3-9293-D3FE-CA41FB7604FC}"/>
              </a:ext>
            </a:extLst>
          </p:cNvPr>
          <p:cNvCxnSpPr>
            <a:cxnSpLocks/>
          </p:cNvCxnSpPr>
          <p:nvPr/>
        </p:nvCxnSpPr>
        <p:spPr>
          <a:xfrm>
            <a:off x="2878577" y="2180294"/>
            <a:ext cx="2673350" cy="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B357FFD-05B0-FB73-8D5F-820FC17A87E4}"/>
              </a:ext>
            </a:extLst>
          </p:cNvPr>
          <p:cNvSpPr txBox="1"/>
          <p:nvPr/>
        </p:nvSpPr>
        <p:spPr>
          <a:xfrm>
            <a:off x="3469762" y="2118739"/>
            <a:ext cx="149098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800"/>
              <a:t>Udvalgte strategiske prioriteter</a:t>
            </a:r>
          </a:p>
        </p:txBody>
      </p: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A77E2C58-E917-280D-64D4-B7AD2A1D7290}"/>
              </a:ext>
            </a:extLst>
          </p:cNvPr>
          <p:cNvCxnSpPr>
            <a:cxnSpLocks/>
          </p:cNvCxnSpPr>
          <p:nvPr/>
        </p:nvCxnSpPr>
        <p:spPr>
          <a:xfrm>
            <a:off x="5786438" y="2180294"/>
            <a:ext cx="2673350" cy="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4" name="TextBox 553">
            <a:extLst>
              <a:ext uri="{FF2B5EF4-FFF2-40B4-BE49-F238E27FC236}">
                <a16:creationId xmlns:a16="http://schemas.microsoft.com/office/drawing/2014/main" id="{F79F0C57-3846-C533-19EC-F2A9FEEFD8FD}"/>
              </a:ext>
            </a:extLst>
          </p:cNvPr>
          <p:cNvSpPr txBox="1"/>
          <p:nvPr/>
        </p:nvSpPr>
        <p:spPr>
          <a:xfrm>
            <a:off x="6377623" y="2118739"/>
            <a:ext cx="149098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800"/>
              <a:t>Udvalgte strategiske prioriteter</a:t>
            </a:r>
          </a:p>
        </p:txBody>
      </p: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40DB7248-F29E-3509-C9C5-33518A3D926C}"/>
              </a:ext>
            </a:extLst>
          </p:cNvPr>
          <p:cNvGrpSpPr/>
          <p:nvPr/>
        </p:nvGrpSpPr>
        <p:grpSpPr>
          <a:xfrm>
            <a:off x="2878577" y="2843214"/>
            <a:ext cx="2673350" cy="123111"/>
            <a:chOff x="2878577" y="2843214"/>
            <a:chExt cx="2673350" cy="123111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6265042-0116-66B7-834C-B13226E5FF52}"/>
                </a:ext>
              </a:extLst>
            </p:cNvPr>
            <p:cNvCxnSpPr>
              <a:cxnSpLocks/>
            </p:cNvCxnSpPr>
            <p:nvPr/>
          </p:nvCxnSpPr>
          <p:spPr>
            <a:xfrm>
              <a:off x="2878577" y="2904769"/>
              <a:ext cx="2673350" cy="0"/>
            </a:xfrm>
            <a:prstGeom prst="line">
              <a:avLst/>
            </a:prstGeom>
            <a:ln>
              <a:solidFill>
                <a:srgbClr val="C9AA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2024A8E-8A1C-EFB3-2B9A-95259BCA1D2C}"/>
                </a:ext>
              </a:extLst>
            </p:cNvPr>
            <p:cNvSpPr txBox="1"/>
            <p:nvPr/>
          </p:nvSpPr>
          <p:spPr>
            <a:xfrm>
              <a:off x="3620831" y="2843214"/>
              <a:ext cx="118884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a-DK" sz="800"/>
                <a:t>Finansielle </a:t>
              </a:r>
            </a:p>
          </p:txBody>
        </p:sp>
      </p:grpSp>
      <p:graphicFrame>
        <p:nvGraphicFramePr>
          <p:cNvPr id="544" name="Chart 543">
            <a:extLst>
              <a:ext uri="{FF2B5EF4-FFF2-40B4-BE49-F238E27FC236}">
                <a16:creationId xmlns:a16="http://schemas.microsoft.com/office/drawing/2014/main" id="{C25BB667-15CB-9EC3-B1EC-921B5D133D63}"/>
              </a:ext>
            </a:extLst>
          </p:cNvPr>
          <p:cNvGraphicFramePr/>
          <p:nvPr>
            <p:custDataLst>
              <p:tags r:id="rId54"/>
            </p:custDataLst>
          </p:nvPr>
        </p:nvGraphicFramePr>
        <p:xfrm>
          <a:off x="3465513" y="2844800"/>
          <a:ext cx="1912937" cy="77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2"/>
          </a:graphicData>
        </a:graphic>
      </p:graphicFrame>
      <p:sp>
        <p:nvSpPr>
          <p:cNvPr id="4096" name="Pladsholder til tekst 2">
            <a:extLst>
              <a:ext uri="{FF2B5EF4-FFF2-40B4-BE49-F238E27FC236}">
                <a16:creationId xmlns:a16="http://schemas.microsoft.com/office/drawing/2014/main" id="{61798BCF-E290-CF71-F006-60B80998BB00}"/>
              </a:ext>
            </a:extLst>
          </p:cNvPr>
          <p:cNvSpPr>
            <a:spLocks/>
          </p:cNvSpPr>
          <p:nvPr>
            <p:custDataLst>
              <p:tags r:id="rId55"/>
            </p:custDataLst>
          </p:nvPr>
        </p:nvSpPr>
        <p:spPr bwMode="auto">
          <a:xfrm>
            <a:off x="4333875" y="3467100"/>
            <a:ext cx="1746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4DB3663E-A69C-445E-9996-1C9ED0C4C722}" type="datetime'M''''''''''''''''''''''''''''''''''''''''''''''''M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800">
              <a:sym typeface="Arial" panose="020B0604020202020204" pitchFamily="34" charset="0"/>
            </a:endParaRPr>
          </a:p>
        </p:txBody>
      </p: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EC5AF12-86C7-9E3C-22E3-425191B26C70}"/>
              </a:ext>
            </a:extLst>
          </p:cNvPr>
          <p:cNvGrpSpPr/>
          <p:nvPr/>
        </p:nvGrpSpPr>
        <p:grpSpPr>
          <a:xfrm>
            <a:off x="5831449" y="2843214"/>
            <a:ext cx="2673350" cy="123111"/>
            <a:chOff x="5814213" y="2843214"/>
            <a:chExt cx="2673350" cy="123111"/>
          </a:xfrm>
        </p:grpSpPr>
        <p:cxnSp>
          <p:nvCxnSpPr>
            <p:cNvPr id="4152" name="Straight Connector 4151">
              <a:extLst>
                <a:ext uri="{FF2B5EF4-FFF2-40B4-BE49-F238E27FC236}">
                  <a16:creationId xmlns:a16="http://schemas.microsoft.com/office/drawing/2014/main" id="{5B31DB65-E88E-6E74-9EA5-9669B3206D84}"/>
                </a:ext>
              </a:extLst>
            </p:cNvPr>
            <p:cNvCxnSpPr>
              <a:cxnSpLocks/>
            </p:cNvCxnSpPr>
            <p:nvPr/>
          </p:nvCxnSpPr>
          <p:spPr>
            <a:xfrm>
              <a:off x="5814213" y="2904769"/>
              <a:ext cx="2673350" cy="0"/>
            </a:xfrm>
            <a:prstGeom prst="line">
              <a:avLst/>
            </a:prstGeom>
            <a:ln>
              <a:solidFill>
                <a:srgbClr val="C9AA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3" name="TextBox 4152">
              <a:extLst>
                <a:ext uri="{FF2B5EF4-FFF2-40B4-BE49-F238E27FC236}">
                  <a16:creationId xmlns:a16="http://schemas.microsoft.com/office/drawing/2014/main" id="{4BEF4A1D-665C-4BCC-91F3-E0B36458284F}"/>
                </a:ext>
              </a:extLst>
            </p:cNvPr>
            <p:cNvSpPr txBox="1"/>
            <p:nvPr/>
          </p:nvSpPr>
          <p:spPr>
            <a:xfrm>
              <a:off x="6556467" y="2843214"/>
              <a:ext cx="118884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a-DK" sz="800"/>
                <a:t>Finansielle 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8A74AEF-5B08-4E69-CF35-55989A16AFF1}"/>
              </a:ext>
            </a:extLst>
          </p:cNvPr>
          <p:cNvGrpSpPr/>
          <p:nvPr/>
        </p:nvGrpSpPr>
        <p:grpSpPr>
          <a:xfrm>
            <a:off x="8784321" y="2843214"/>
            <a:ext cx="2673350" cy="123111"/>
            <a:chOff x="8784321" y="2843214"/>
            <a:chExt cx="2673350" cy="123111"/>
          </a:xfrm>
        </p:grpSpPr>
        <p:cxnSp>
          <p:nvCxnSpPr>
            <p:cNvPr id="4157" name="Straight Connector 4156">
              <a:extLst>
                <a:ext uri="{FF2B5EF4-FFF2-40B4-BE49-F238E27FC236}">
                  <a16:creationId xmlns:a16="http://schemas.microsoft.com/office/drawing/2014/main" id="{BC75E7B8-F214-989B-CA78-7678246D2705}"/>
                </a:ext>
              </a:extLst>
            </p:cNvPr>
            <p:cNvCxnSpPr>
              <a:cxnSpLocks/>
            </p:cNvCxnSpPr>
            <p:nvPr/>
          </p:nvCxnSpPr>
          <p:spPr>
            <a:xfrm>
              <a:off x="8784321" y="2904769"/>
              <a:ext cx="2673350" cy="0"/>
            </a:xfrm>
            <a:prstGeom prst="line">
              <a:avLst/>
            </a:prstGeom>
            <a:ln>
              <a:solidFill>
                <a:srgbClr val="C9AA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9" name="TextBox 4158">
              <a:extLst>
                <a:ext uri="{FF2B5EF4-FFF2-40B4-BE49-F238E27FC236}">
                  <a16:creationId xmlns:a16="http://schemas.microsoft.com/office/drawing/2014/main" id="{F7640AE4-9344-8A3C-1164-CE4E9A07BD57}"/>
                </a:ext>
              </a:extLst>
            </p:cNvPr>
            <p:cNvSpPr txBox="1"/>
            <p:nvPr/>
          </p:nvSpPr>
          <p:spPr>
            <a:xfrm>
              <a:off x="9526575" y="2843214"/>
              <a:ext cx="118884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da-DK" sz="800"/>
                <a:t>Finansielle </a:t>
              </a:r>
            </a:p>
          </p:txBody>
        </p:sp>
      </p:grpSp>
      <p:graphicFrame>
        <p:nvGraphicFramePr>
          <p:cNvPr id="563" name="Chart 562">
            <a:extLst>
              <a:ext uri="{FF2B5EF4-FFF2-40B4-BE49-F238E27FC236}">
                <a16:creationId xmlns:a16="http://schemas.microsoft.com/office/drawing/2014/main" id="{73182352-F72A-7F5F-0666-B428E6E3B5D3}"/>
              </a:ext>
            </a:extLst>
          </p:cNvPr>
          <p:cNvGraphicFramePr/>
          <p:nvPr>
            <p:custDataLst>
              <p:tags r:id="rId56"/>
            </p:custDataLst>
          </p:nvPr>
        </p:nvGraphicFramePr>
        <p:xfrm>
          <a:off x="6437313" y="2844800"/>
          <a:ext cx="1912937" cy="774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3"/>
          </a:graphicData>
        </a:graphic>
      </p:graphicFrame>
      <p:sp>
        <p:nvSpPr>
          <p:cNvPr id="528" name="Pladsholder til tekst 2">
            <a:extLst>
              <a:ext uri="{FF2B5EF4-FFF2-40B4-BE49-F238E27FC236}">
                <a16:creationId xmlns:a16="http://schemas.microsoft.com/office/drawing/2014/main" id="{846E1043-7131-25F6-CD35-8E75AAF10690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 bwMode="auto">
          <a:xfrm>
            <a:off x="7305675" y="3467100"/>
            <a:ext cx="1746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EBA04CA1-1F45-4A50-B22C-2060308C0C46}" type="datetime'''''''''''''''''M''M''''''''''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800">
              <a:sym typeface="Arial" panose="020B0604020202020204" pitchFamily="34" charset="0"/>
            </a:endParaRPr>
          </a:p>
        </p:txBody>
      </p:sp>
      <p:graphicFrame>
        <p:nvGraphicFramePr>
          <p:cNvPr id="570" name="Chart 569">
            <a:extLst>
              <a:ext uri="{FF2B5EF4-FFF2-40B4-BE49-F238E27FC236}">
                <a16:creationId xmlns:a16="http://schemas.microsoft.com/office/drawing/2014/main" id="{C1E8D601-94CD-447E-499B-ECE73C33751D}"/>
              </a:ext>
            </a:extLst>
          </p:cNvPr>
          <p:cNvGraphicFramePr/>
          <p:nvPr>
            <p:custDataLst>
              <p:tags r:id="rId58"/>
            </p:custDataLst>
          </p:nvPr>
        </p:nvGraphicFramePr>
        <p:xfrm>
          <a:off x="9931400" y="2947988"/>
          <a:ext cx="801688" cy="568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4"/>
          </a:graphicData>
        </a:graphic>
      </p:graphicFrame>
      <p:sp>
        <p:nvSpPr>
          <p:cNvPr id="532" name="Pladsholder til tekst 2">
            <a:extLst>
              <a:ext uri="{FF2B5EF4-FFF2-40B4-BE49-F238E27FC236}">
                <a16:creationId xmlns:a16="http://schemas.microsoft.com/office/drawing/2014/main" id="{6C594C07-3028-320F-A249-22C2C07B6820}"/>
              </a:ext>
            </a:extLst>
          </p:cNvPr>
          <p:cNvSpPr>
            <a:spLocks/>
          </p:cNvSpPr>
          <p:nvPr>
            <p:custDataLst>
              <p:tags r:id="rId59"/>
            </p:custDataLst>
          </p:nvPr>
        </p:nvSpPr>
        <p:spPr bwMode="auto">
          <a:xfrm>
            <a:off x="10244138" y="3467100"/>
            <a:ext cx="1746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C35CFFF-CBBF-4CA0-9373-F630953ED333}" type="datetime'''''''M''''M'''''''''''''''''''''''''''''''''''''''''''''''''">
              <a:rPr lang="da-DK" altLang="en-US" sz="800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MM</a:t>
            </a:fld>
            <a:endParaRPr lang="da-DK" sz="800">
              <a:sym typeface="Arial" panose="020B0604020202020204" pitchFamily="34" charset="0"/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F94E03C2-D3B6-C236-B89C-F5ABFA96CF54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10199688" y="3298825"/>
            <a:ext cx="263525" cy="109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750B381-C9A6-4454-B95E-D1AF56625BE1}" type="datetime'''''''''''''''1'''''''',''''''''''''''''0''0x'''''''">
              <a:rPr lang="da-DK" altLang="en-US" sz="800" smtClean="0">
                <a:solidFill>
                  <a:schemeClr val="tx1"/>
                </a:solidFill>
                <a:effectLst/>
                <a:sym typeface="Arial" panose="020B0604020202020204" pitchFamily="34" charset="0"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1,00x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F3A26AF1-49A8-8ACD-AE39-CAC29FE7C94E}"/>
              </a:ext>
            </a:extLst>
          </p:cNvPr>
          <p:cNvSpPr txBox="1"/>
          <p:nvPr/>
        </p:nvSpPr>
        <p:spPr>
          <a:xfrm>
            <a:off x="2842578" y="2252465"/>
            <a:ext cx="1208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Generationsskifte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72703749-6B2D-90DE-5C7C-DD94058C90D8}"/>
              </a:ext>
            </a:extLst>
          </p:cNvPr>
          <p:cNvSpPr txBox="1"/>
          <p:nvPr/>
        </p:nvSpPr>
        <p:spPr>
          <a:xfrm>
            <a:off x="2842578" y="2428921"/>
            <a:ext cx="1208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M&amp;A</a:t>
            </a: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A65D99E7-6EE0-367E-9905-B19C917247C3}"/>
              </a:ext>
            </a:extLst>
          </p:cNvPr>
          <p:cNvSpPr txBox="1"/>
          <p:nvPr/>
        </p:nvSpPr>
        <p:spPr>
          <a:xfrm>
            <a:off x="2842578" y="2605376"/>
            <a:ext cx="1208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E-commerce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BF49247-01DD-B18D-9404-67A9725A33D3}"/>
              </a:ext>
            </a:extLst>
          </p:cNvPr>
          <p:cNvCxnSpPr>
            <a:cxnSpLocks/>
          </p:cNvCxnSpPr>
          <p:nvPr/>
        </p:nvCxnSpPr>
        <p:spPr>
          <a:xfrm>
            <a:off x="8797953" y="2180294"/>
            <a:ext cx="2673350" cy="0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9D74F70-1FD7-4269-9E81-D3403826E5D3}"/>
              </a:ext>
            </a:extLst>
          </p:cNvPr>
          <p:cNvSpPr txBox="1"/>
          <p:nvPr/>
        </p:nvSpPr>
        <p:spPr>
          <a:xfrm>
            <a:off x="9389138" y="2118739"/>
            <a:ext cx="149098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a-DK" sz="800"/>
              <a:t>Udvalgte strategiske prioriteter</a:t>
            </a:r>
          </a:p>
        </p:txBody>
      </p:sp>
      <p:sp>
        <p:nvSpPr>
          <p:cNvPr id="564" name="TextBox 563">
            <a:extLst>
              <a:ext uri="{FF2B5EF4-FFF2-40B4-BE49-F238E27FC236}">
                <a16:creationId xmlns:a16="http://schemas.microsoft.com/office/drawing/2014/main" id="{7896370E-0954-39E7-B8C8-682384FAB474}"/>
              </a:ext>
            </a:extLst>
          </p:cNvPr>
          <p:cNvSpPr txBox="1"/>
          <p:nvPr/>
        </p:nvSpPr>
        <p:spPr>
          <a:xfrm>
            <a:off x="5784216" y="2252465"/>
            <a:ext cx="1208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Generationsskifte</a:t>
            </a:r>
          </a:p>
        </p:txBody>
      </p:sp>
      <p:sp>
        <p:nvSpPr>
          <p:cNvPr id="565" name="TextBox 564">
            <a:extLst>
              <a:ext uri="{FF2B5EF4-FFF2-40B4-BE49-F238E27FC236}">
                <a16:creationId xmlns:a16="http://schemas.microsoft.com/office/drawing/2014/main" id="{3D6B4206-F6FC-7321-2C31-FDACBB92CA12}"/>
              </a:ext>
            </a:extLst>
          </p:cNvPr>
          <p:cNvSpPr txBox="1"/>
          <p:nvPr/>
        </p:nvSpPr>
        <p:spPr>
          <a:xfrm>
            <a:off x="5784216" y="2605376"/>
            <a:ext cx="16844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Vækst med ESG i fokus</a:t>
            </a: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DB7C3FB9-B754-B3B7-60B7-BC193823908D}"/>
              </a:ext>
            </a:extLst>
          </p:cNvPr>
          <p:cNvSpPr txBox="1"/>
          <p:nvPr/>
        </p:nvSpPr>
        <p:spPr>
          <a:xfrm>
            <a:off x="8818562" y="2252465"/>
            <a:ext cx="1817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Kundefokus &amp; værdiskabelse</a:t>
            </a: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8FD67FEE-6644-9E1F-E7D8-F8889D8B63EA}"/>
              </a:ext>
            </a:extLst>
          </p:cNvPr>
          <p:cNvSpPr txBox="1"/>
          <p:nvPr/>
        </p:nvSpPr>
        <p:spPr>
          <a:xfrm>
            <a:off x="8818562" y="2428921"/>
            <a:ext cx="1817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Markedsstrategi &amp; kanaler</a:t>
            </a: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134710DB-4F42-4C34-39EF-034D0C607756}"/>
              </a:ext>
            </a:extLst>
          </p:cNvPr>
          <p:cNvSpPr txBox="1"/>
          <p:nvPr/>
        </p:nvSpPr>
        <p:spPr>
          <a:xfrm>
            <a:off x="8818563" y="2605376"/>
            <a:ext cx="2055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800"/>
              <a:t>Omkostningsfokus &amp; effektivitet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17855BE9-1C9D-1D84-E668-055EA362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</p:spPr>
        <p:txBody>
          <a:bodyPr vert="horz"/>
          <a:lstStyle/>
          <a:p>
            <a:r>
              <a:rPr lang="da-DK"/>
              <a:t>Analyse af Motortramps alternative investeringer (3:4)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C1E5A-E888-AF35-ED3A-209402CAD773}"/>
              </a:ext>
            </a:extLst>
          </p:cNvPr>
          <p:cNvSpPr txBox="1"/>
          <p:nvPr/>
        </p:nvSpPr>
        <p:spPr>
          <a:xfrm>
            <a:off x="970260" y="6510776"/>
            <a:ext cx="83331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700"/>
              <a:t>Note 1) FMV: Fair Market Value: Den aktuelle markedsværdi – hvad aktivet realistisk kunne sælges for i dag.</a:t>
            </a:r>
          </a:p>
        </p:txBody>
      </p:sp>
    </p:spTree>
    <p:extLst>
      <p:ext uri="{BB962C8B-B14F-4D97-AF65-F5344CB8AC3E}">
        <p14:creationId xmlns:p14="http://schemas.microsoft.com/office/powerpoint/2010/main" val="317103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47E8-BA63-6BB0-96A9-1585F68D4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028E6A8-176A-DBAD-0975-1F8A778DEE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0" imgW="408" imgH="408" progId="TCLayout.ActiveDocument.1">
                  <p:embed/>
                </p:oleObj>
              </mc:Choice>
              <mc:Fallback>
                <p:oleObj name="thinkcell Slide" r:id="rId10" imgW="408" imgH="4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28E6A8-176A-DBAD-0975-1F8A778DE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DAFE491-26B4-FDDD-9C04-27C36F64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5277"/>
            <a:ext cx="11160125" cy="360000"/>
          </a:xfrm>
        </p:spPr>
        <p:txBody>
          <a:bodyPr vert="horz"/>
          <a:lstStyle/>
          <a:p>
            <a:r>
              <a:rPr lang="da-DK"/>
              <a:t>Analyse af Motortramps alternative investeringer (4:4)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A51FD-234F-3DF4-2EB3-4F6A484580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a-DK"/>
              <a:t>Motortramp har investeret i to ejendomsfonde; </a:t>
            </a:r>
            <a:r>
              <a:rPr lang="da-DK">
                <a:cs typeface="Arial" panose="020B0604020202020204" pitchFamily="34" charset="0"/>
              </a:rPr>
              <a:t>Commercial Real </a:t>
            </a:r>
            <a:r>
              <a:rPr lang="da-DK" err="1">
                <a:cs typeface="Arial" panose="020B0604020202020204" pitchFamily="34" charset="0"/>
              </a:rPr>
              <a:t>Estate</a:t>
            </a:r>
            <a:r>
              <a:rPr lang="da-DK">
                <a:cs typeface="Arial" panose="020B0604020202020204" pitchFamily="34" charset="0"/>
              </a:rPr>
              <a:t> Denmark P/S (CRED)</a:t>
            </a:r>
            <a:r>
              <a:rPr lang="da-DK" b="1">
                <a:cs typeface="Arial" panose="020B0604020202020204" pitchFamily="34" charset="0"/>
              </a:rPr>
              <a:t> </a:t>
            </a:r>
            <a:r>
              <a:rPr lang="da-DK">
                <a:cs typeface="Arial" panose="020B0604020202020204" pitchFamily="34" charset="0"/>
              </a:rPr>
              <a:t>og </a:t>
            </a:r>
            <a:r>
              <a:rPr lang="da-DK" err="1">
                <a:cs typeface="Arial" panose="020B0604020202020204" pitchFamily="34" charset="0"/>
              </a:rPr>
              <a:t>Home.Earth</a:t>
            </a:r>
            <a:r>
              <a:rPr lang="da-DK">
                <a:cs typeface="Arial" panose="020B0604020202020204" pitchFamily="34" charset="0"/>
              </a:rPr>
              <a:t> med </a:t>
            </a:r>
            <a:r>
              <a:rPr lang="da-DK" b="1">
                <a:cs typeface="Arial" panose="020B0604020202020204" pitchFamily="34" charset="0"/>
              </a:rPr>
              <a:t>et samlet tilsagn på DKK 61m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A8F2B4-CC4A-07DC-DEF6-A154EC72E12E}"/>
              </a:ext>
            </a:extLst>
          </p:cNvPr>
          <p:cNvSpPr/>
          <p:nvPr/>
        </p:nvSpPr>
        <p:spPr>
          <a:xfrm rot="5400000">
            <a:off x="4892040" y="-3067999"/>
            <a:ext cx="2377100" cy="11013142"/>
          </a:xfrm>
          <a:prstGeom prst="roundRect">
            <a:avLst>
              <a:gd name="adj" fmla="val 5157"/>
            </a:avLst>
          </a:prstGeom>
          <a:noFill/>
          <a:ln>
            <a:solidFill>
              <a:srgbClr val="EDE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1000"/>
          </a:p>
        </p:txBody>
      </p: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AB5EB11D-8F11-37E2-1F1B-EC989084C27D}"/>
              </a:ext>
            </a:extLst>
          </p:cNvPr>
          <p:cNvSpPr/>
          <p:nvPr/>
        </p:nvSpPr>
        <p:spPr>
          <a:xfrm rot="16200000">
            <a:off x="-474743" y="2244804"/>
            <a:ext cx="2377286" cy="387350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1"/>
          </a:solidFill>
          <a:ln>
            <a:solidFill>
              <a:srgbClr val="C9AA8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endParaRPr lang="da-DK" sz="1000" b="1">
              <a:solidFill>
                <a:schemeClr val="tx1"/>
              </a:solidFill>
            </a:endParaRPr>
          </a:p>
        </p:txBody>
      </p:sp>
      <p:sp>
        <p:nvSpPr>
          <p:cNvPr id="158" name="Rectangle: Top Corners Rounded 157">
            <a:extLst>
              <a:ext uri="{FF2B5EF4-FFF2-40B4-BE49-F238E27FC236}">
                <a16:creationId xmlns:a16="http://schemas.microsoft.com/office/drawing/2014/main" id="{9C1A0663-7A1C-3FFF-FF08-85198290F03A}"/>
              </a:ext>
            </a:extLst>
          </p:cNvPr>
          <p:cNvSpPr/>
          <p:nvPr/>
        </p:nvSpPr>
        <p:spPr>
          <a:xfrm>
            <a:off x="906782" y="1004253"/>
            <a:ext cx="1805938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161" name="Rectangle: Top Corners Rounded 160">
            <a:extLst>
              <a:ext uri="{FF2B5EF4-FFF2-40B4-BE49-F238E27FC236}">
                <a16:creationId xmlns:a16="http://schemas.microsoft.com/office/drawing/2014/main" id="{91716C24-DE1F-3D21-CEF4-6FFF73921AA8}"/>
              </a:ext>
            </a:extLst>
          </p:cNvPr>
          <p:cNvSpPr/>
          <p:nvPr/>
        </p:nvSpPr>
        <p:spPr>
          <a:xfrm>
            <a:off x="2783680" y="1004253"/>
            <a:ext cx="2021683" cy="225600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Fordeling af lejere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B04733CB-0638-C3B1-F91B-B3E581D81DB8}"/>
              </a:ext>
            </a:extLst>
          </p:cNvPr>
          <p:cNvSpPr txBox="1"/>
          <p:nvPr/>
        </p:nvSpPr>
        <p:spPr>
          <a:xfrm>
            <a:off x="915513" y="1491974"/>
            <a:ext cx="179720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/>
              <a:t>CRED</a:t>
            </a:r>
            <a:r>
              <a:rPr lang="da-DK" sz="900"/>
              <a:t> er en evergreen ejendomsfond som Motortramp har været investeret i siden 2005.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err="1"/>
              <a:t>Motortramps</a:t>
            </a:r>
            <a:r>
              <a:rPr lang="da-DK" sz="900" b="1"/>
              <a:t> tilsagn er DKK 16m.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råder over i alt 27 ejendomme og  havde lejeindtægter for DKK 431m i 2024. </a:t>
            </a:r>
          </a:p>
          <a:p>
            <a:pPr algn="ctr"/>
            <a:endParaRPr lang="da-DK" sz="900"/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6C97D04-B3C6-C2E4-CD45-26D01B31AA52}"/>
              </a:ext>
            </a:extLst>
          </p:cNvPr>
          <p:cNvSpPr txBox="1"/>
          <p:nvPr/>
        </p:nvSpPr>
        <p:spPr>
          <a:xfrm>
            <a:off x="976017" y="3933094"/>
            <a:ext cx="1723789" cy="2308324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 err="1"/>
              <a:t>Home.Earth</a:t>
            </a:r>
            <a:r>
              <a:rPr lang="da-DK" sz="900" b="1"/>
              <a:t> </a:t>
            </a:r>
            <a:r>
              <a:rPr lang="da-DK" sz="900"/>
              <a:t>er en evergreen ejendomsfond med en særlig bæredygtig profil. Fonden har et totalt tilsagn på ca. DKK 675m.</a:t>
            </a:r>
            <a:endParaRPr lang="da-DK" sz="900" b="1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 b="1"/>
              <a:t>Motortramps tilsagn udgør DKK 45m.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da-DK" sz="9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Fonden har tre projekter som er i drift og tre projekter i udvikling. </a:t>
            </a:r>
            <a:br>
              <a:rPr lang="da-DK" sz="900"/>
            </a:br>
            <a:endParaRPr lang="da-DK" sz="9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900"/>
              <a:t>Senest har </a:t>
            </a:r>
            <a:r>
              <a:rPr lang="da-DK" sz="900" err="1"/>
              <a:t>Home.Earth</a:t>
            </a:r>
            <a:r>
              <a:rPr lang="da-DK" sz="900"/>
              <a:t> investeret i AG gruppens projektejendom i Køge. </a:t>
            </a:r>
          </a:p>
        </p:txBody>
      </p:sp>
      <p:sp>
        <p:nvSpPr>
          <p:cNvPr id="1078" name="Rectangle: Top Corners Rounded 1077">
            <a:extLst>
              <a:ext uri="{FF2B5EF4-FFF2-40B4-BE49-F238E27FC236}">
                <a16:creationId xmlns:a16="http://schemas.microsoft.com/office/drawing/2014/main" id="{54D4D29B-DE55-BE18-62D2-4F1DBFC8DD5F}"/>
              </a:ext>
            </a:extLst>
          </p:cNvPr>
          <p:cNvSpPr/>
          <p:nvPr/>
        </p:nvSpPr>
        <p:spPr>
          <a:xfrm>
            <a:off x="906782" y="3647292"/>
            <a:ext cx="1805938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1079" name="Rectangle: Top Corners Rounded 1078">
            <a:extLst>
              <a:ext uri="{FF2B5EF4-FFF2-40B4-BE49-F238E27FC236}">
                <a16:creationId xmlns:a16="http://schemas.microsoft.com/office/drawing/2014/main" id="{ACAC9714-DA9E-C6F3-407C-DECC94489120}"/>
              </a:ext>
            </a:extLst>
          </p:cNvPr>
          <p:cNvSpPr/>
          <p:nvPr/>
        </p:nvSpPr>
        <p:spPr>
          <a:xfrm>
            <a:off x="2783680" y="3647292"/>
            <a:ext cx="8796751" cy="220327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Portefølje status</a:t>
            </a:r>
          </a:p>
        </p:txBody>
      </p:sp>
      <p:pic>
        <p:nvPicPr>
          <p:cNvPr id="4167" name="Picture 18" descr="Embla 2025 Company Profile: Valuation, Funding &amp; Investors | PitchBook">
            <a:extLst>
              <a:ext uri="{FF2B5EF4-FFF2-40B4-BE49-F238E27FC236}">
                <a16:creationId xmlns:a16="http://schemas.microsoft.com/office/drawing/2014/main" id="{04E90666-573A-0382-9295-16BCD2961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030" y="8480425"/>
            <a:ext cx="145719" cy="1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ome.Earth - virksomhedsprofil og statistik">
            <a:extLst>
              <a:ext uri="{FF2B5EF4-FFF2-40B4-BE49-F238E27FC236}">
                <a16:creationId xmlns:a16="http://schemas.microsoft.com/office/drawing/2014/main" id="{6251D916-7A1D-FDE4-44D6-4F4E3DBD7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735" y="4460930"/>
            <a:ext cx="1365831" cy="1365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783B56A-AFDC-01BB-24CC-A2537B3F1A4B}"/>
              </a:ext>
            </a:extLst>
          </p:cNvPr>
          <p:cNvSpPr/>
          <p:nvPr/>
        </p:nvSpPr>
        <p:spPr>
          <a:xfrm rot="16200000">
            <a:off x="-474651" y="2244712"/>
            <a:ext cx="2377101" cy="387350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Commercial Real Estate Denmark P/S (CRED)</a:t>
            </a:r>
          </a:p>
        </p:txBody>
      </p:sp>
      <p:graphicFrame>
        <p:nvGraphicFramePr>
          <p:cNvPr id="125" name="Chart 124">
            <a:extLst>
              <a:ext uri="{FF2B5EF4-FFF2-40B4-BE49-F238E27FC236}">
                <a16:creationId xmlns:a16="http://schemas.microsoft.com/office/drawing/2014/main" id="{D823BA53-1D8B-4F19-06E4-84D8003BC18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649538" y="1285875"/>
          <a:ext cx="2276475" cy="2436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6" name="Pladsholder til tekst 2">
            <a:extLst>
              <a:ext uri="{FF2B5EF4-FFF2-40B4-BE49-F238E27FC236}">
                <a16:creationId xmlns:a16="http://schemas.microsoft.com/office/drawing/2014/main" id="{CCA153B8-1816-DAB0-576F-BD739390E7A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3184525" y="3436938"/>
            <a:ext cx="314325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spcAft>
                <a:spcPct val="0"/>
              </a:spcAft>
              <a:buNone/>
            </a:pPr>
            <a:fld id="{FAA54AB2-C06E-447D-B5A9-C95D8C4E3B1F}" type="datetime'''''''Ko''''''''''''n''t''o''''''''''''r'''''''''''">
              <a:rPr lang="da-DK" altLang="en-US" sz="800" b="1" smtClean="0"/>
              <a:pPr marL="0" lvl="0" indent="0" algn="r">
                <a:spcBef>
                  <a:spcPct val="0"/>
                </a:spcBef>
                <a:spcAft>
                  <a:spcPct val="0"/>
                </a:spcAft>
                <a:buNone/>
              </a:pPr>
              <a:t>Kontor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7" name="Pladsholder til tekst 2">
            <a:extLst>
              <a:ext uri="{FF2B5EF4-FFF2-40B4-BE49-F238E27FC236}">
                <a16:creationId xmlns:a16="http://schemas.microsoft.com/office/drawing/2014/main" id="{1B148C34-3F49-9760-BB66-DE57ACD375E6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857625" y="1419225"/>
            <a:ext cx="36036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A8CADD59-F25A-4954-BC61-DA68A9E13A43}" type="datetime'''''''''''''''''''L''''og''''i''''s''t''''i''''''''''k''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Logistik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7D5983-76B1-6BA2-AB54-B0223CDB1B30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256088" y="1881188"/>
            <a:ext cx="249238" cy="1095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4288" tIns="0" rIns="14288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9501DD6-F05C-4B56-9ADD-96A8C386B08B}" type="datetime'''1,''''''6''''''%'''''''">
              <a:rPr lang="da-DK" altLang="en-US" sz="8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1,6%</a:t>
            </a:fld>
            <a:endParaRPr lang="da-DK" sz="80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9" name="Pladsholder til tekst 2">
            <a:extLst>
              <a:ext uri="{FF2B5EF4-FFF2-40B4-BE49-F238E27FC236}">
                <a16:creationId xmlns:a16="http://schemas.microsoft.com/office/drawing/2014/main" id="{5D7622D3-34DB-0698-B7F0-3C7B85222450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506913" y="1719263"/>
            <a:ext cx="277813" cy="10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spcAft>
                <a:spcPct val="0"/>
              </a:spcAft>
              <a:buNone/>
            </a:pPr>
            <a:fld id="{77E826B5-864D-4D01-982E-AABF36755E4A}" type="datetime'''''''''''''''''D''e''''ta''''''''''''i''''''''''''l'''">
              <a:rPr lang="da-DK" altLang="en-US" sz="800" b="1" smtClean="0"/>
              <a:pPr marL="0" lvl="0" indent="0">
                <a:spcBef>
                  <a:spcPct val="0"/>
                </a:spcBef>
                <a:spcAft>
                  <a:spcPct val="0"/>
                </a:spcAft>
                <a:buNone/>
              </a:pPr>
              <a:t>Detail</a:t>
            </a:fld>
            <a:endParaRPr lang="da-DK" sz="800" b="1">
              <a:sym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8D60132-9691-5FA9-2D54-4F31DC4B620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556000" y="2443163"/>
            <a:ext cx="466725" cy="1222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da-DK" altLang="en-US" sz="800">
                <a:solidFill>
                  <a:schemeClr val="tx1"/>
                </a:solidFill>
                <a:effectLst/>
              </a:rPr>
              <a:t>DKK 431m</a:t>
            </a:r>
            <a:endParaRPr lang="da-DK" sz="800">
              <a:solidFill>
                <a:schemeClr val="tx1"/>
              </a:solidFill>
            </a:endParaRP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E14FE0E8-17B5-2432-B94B-0C79A7989F15}"/>
              </a:ext>
            </a:extLst>
          </p:cNvPr>
          <p:cNvGraphicFramePr>
            <a:graphicFrameLocks noGrp="1"/>
          </p:cNvGraphicFramePr>
          <p:nvPr/>
        </p:nvGraphicFramePr>
        <p:xfrm>
          <a:off x="4932363" y="1248036"/>
          <a:ext cx="6648069" cy="2372546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93170">
                  <a:extLst>
                    <a:ext uri="{9D8B030D-6E8A-4147-A177-3AD203B41FA5}">
                      <a16:colId xmlns:a16="http://schemas.microsoft.com/office/drawing/2014/main" val="188507127"/>
                    </a:ext>
                  </a:extLst>
                </a:gridCol>
                <a:gridCol w="3938876">
                  <a:extLst>
                    <a:ext uri="{9D8B030D-6E8A-4147-A177-3AD203B41FA5}">
                      <a16:colId xmlns:a16="http://schemas.microsoft.com/office/drawing/2014/main" val="278757461"/>
                    </a:ext>
                  </a:extLst>
                </a:gridCol>
                <a:gridCol w="2216023">
                  <a:extLst>
                    <a:ext uri="{9D8B030D-6E8A-4147-A177-3AD203B41FA5}">
                      <a16:colId xmlns:a16="http://schemas.microsoft.com/office/drawing/2014/main" val="1542992279"/>
                    </a:ext>
                  </a:extLst>
                </a:gridCol>
              </a:tblGrid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Årlig leje (DKKm)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042034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BINGS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34,7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65898346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Østerport II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33,1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8588702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Skelbækgade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23,2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6364610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Strandvejen 56-58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19,9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2891847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Rentemestervej 4-12/Bygmestervej 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19,4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6727306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Ellebjergvej 50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1685316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Egeskovvej 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17,7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89196011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Rugmarken 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15,3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95846789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Strandvejen 125/Tuborgvej 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09245086"/>
                  </a:ext>
                </a:extLst>
              </a:tr>
              <a:tr h="215686">
                <a:tc>
                  <a:txBody>
                    <a:bodyPr/>
                    <a:lstStyle/>
                    <a:p>
                      <a:pPr algn="ctr"/>
                      <a:r>
                        <a:rPr lang="da-DK" sz="800">
                          <a:latin typeface="+mn-lt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Strandboulevarden 122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da-DK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10,6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0532482"/>
                  </a:ext>
                </a:extLst>
              </a:tr>
            </a:tbl>
          </a:graphicData>
        </a:graphic>
      </p:graphicFrame>
      <p:sp>
        <p:nvSpPr>
          <p:cNvPr id="79" name="Rectangle: Top Corners Rounded 78">
            <a:extLst>
              <a:ext uri="{FF2B5EF4-FFF2-40B4-BE49-F238E27FC236}">
                <a16:creationId xmlns:a16="http://schemas.microsoft.com/office/drawing/2014/main" id="{0FD6B206-8159-4D3C-FF8B-66ACF5074CC9}"/>
              </a:ext>
            </a:extLst>
          </p:cNvPr>
          <p:cNvSpPr/>
          <p:nvPr/>
        </p:nvSpPr>
        <p:spPr>
          <a:xfrm>
            <a:off x="4887117" y="995832"/>
            <a:ext cx="6700042" cy="234021"/>
          </a:xfrm>
          <a:prstGeom prst="round2SameRect">
            <a:avLst>
              <a:gd name="adj1" fmla="val 15107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rIns="36000" rtlCol="0" anchor="ctr"/>
          <a:lstStyle/>
          <a:p>
            <a:pPr algn="ctr"/>
            <a:r>
              <a:rPr lang="da-DK" sz="1000" b="1">
                <a:solidFill>
                  <a:schemeClr val="tx1"/>
                </a:solidFill>
              </a:rPr>
              <a:t>Top 10 største ejendomme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D351D36-4636-FA5E-49BF-7D50B642A815}"/>
              </a:ext>
            </a:extLst>
          </p:cNvPr>
          <p:cNvCxnSpPr>
            <a:cxnSpLocks/>
          </p:cNvCxnSpPr>
          <p:nvPr/>
        </p:nvCxnSpPr>
        <p:spPr>
          <a:xfrm flipH="1">
            <a:off x="2736770" y="1288403"/>
            <a:ext cx="22860" cy="2262517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BF70FD2-4948-FAF4-3C71-A0C798342C06}"/>
              </a:ext>
            </a:extLst>
          </p:cNvPr>
          <p:cNvCxnSpPr>
            <a:cxnSpLocks/>
          </p:cNvCxnSpPr>
          <p:nvPr/>
        </p:nvCxnSpPr>
        <p:spPr>
          <a:xfrm flipH="1">
            <a:off x="2736770" y="3933094"/>
            <a:ext cx="22860" cy="2262517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2" name="Picture 91">
            <a:extLst>
              <a:ext uri="{FF2B5EF4-FFF2-40B4-BE49-F238E27FC236}">
                <a16:creationId xmlns:a16="http://schemas.microsoft.com/office/drawing/2014/main" id="{4CDBD1FB-F1EB-1BD2-6753-C63F0877B79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95" r="95"/>
          <a:stretch/>
        </p:blipFill>
        <p:spPr>
          <a:xfrm>
            <a:off x="2985774" y="4170605"/>
            <a:ext cx="1159659" cy="1081084"/>
          </a:xfrm>
          <a:prstGeom prst="round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CBBE578C-C742-3FD8-AC55-AAE1667BFDD7}"/>
              </a:ext>
            </a:extLst>
          </p:cNvPr>
          <p:cNvSpPr txBox="1"/>
          <p:nvPr/>
        </p:nvSpPr>
        <p:spPr>
          <a:xfrm>
            <a:off x="2667000" y="3920299"/>
            <a:ext cx="1797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 b="1"/>
              <a:t>C.F. Møllers Have</a:t>
            </a:r>
            <a:r>
              <a:rPr lang="da-DK" sz="900" b="1" baseline="30000"/>
              <a:t>1</a:t>
            </a:r>
            <a:endParaRPr lang="da-DK" sz="900" baseline="300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5E3ACEF-7A57-7986-A3FC-F89F3C49BAFE}"/>
              </a:ext>
            </a:extLst>
          </p:cNvPr>
          <p:cNvSpPr txBox="1"/>
          <p:nvPr/>
        </p:nvSpPr>
        <p:spPr>
          <a:xfrm>
            <a:off x="2796593" y="5295846"/>
            <a:ext cx="16309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/>
              <a:t>Lejlighedskomplekset var i fuld drift, da det i maj 2025 blev købt. Der er 156 bolig- og to ehvervslejemål</a:t>
            </a:r>
            <a:br>
              <a:rPr lang="da-DK" sz="900"/>
            </a:br>
            <a:r>
              <a:rPr lang="da-DK" sz="900"/>
              <a:t>I H1 2025 var lejeindtægterne på DKK 13,3m. </a:t>
            </a:r>
            <a:br>
              <a:rPr lang="da-DK" sz="900"/>
            </a:br>
            <a:endParaRPr lang="da-DK" sz="90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0851FE9C-2B20-2CC8-EDB5-10678FDEA2D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53" b="253"/>
          <a:stretch/>
        </p:blipFill>
        <p:spPr>
          <a:xfrm>
            <a:off x="4799321" y="4170605"/>
            <a:ext cx="1159659" cy="1081084"/>
          </a:xfrm>
          <a:prstGeom prst="round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0AC0B6AE-FF43-AE5D-2478-C94406B1C082}"/>
              </a:ext>
            </a:extLst>
          </p:cNvPr>
          <p:cNvSpPr txBox="1"/>
          <p:nvPr/>
        </p:nvSpPr>
        <p:spPr>
          <a:xfrm>
            <a:off x="4480547" y="3920299"/>
            <a:ext cx="1797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 b="1"/>
              <a:t>Nærheden</a:t>
            </a:r>
            <a:r>
              <a:rPr lang="da-DK" sz="900" b="1" baseline="30000"/>
              <a:t>2</a:t>
            </a:r>
            <a:endParaRPr lang="da-DK" sz="900" baseline="30000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C2C1402-8946-9A85-5388-6FD16D402AF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253" b="253"/>
          <a:stretch/>
        </p:blipFill>
        <p:spPr>
          <a:xfrm>
            <a:off x="6612868" y="4170605"/>
            <a:ext cx="1159659" cy="1081084"/>
          </a:xfrm>
          <a:prstGeom prst="round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20D0530B-6C29-AA20-89B5-CC47695D9961}"/>
              </a:ext>
            </a:extLst>
          </p:cNvPr>
          <p:cNvSpPr txBox="1"/>
          <p:nvPr/>
        </p:nvSpPr>
        <p:spPr>
          <a:xfrm>
            <a:off x="6294094" y="3920299"/>
            <a:ext cx="1797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 b="1"/>
              <a:t>Filmlageret</a:t>
            </a:r>
            <a:r>
              <a:rPr lang="da-DK" sz="900" b="1" baseline="30000"/>
              <a:t>3</a:t>
            </a:r>
            <a:endParaRPr lang="da-DK" sz="900" baseline="30000"/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70E62200-DEF9-9D52-07EB-9AD4D02C2DC7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509" b="509"/>
          <a:stretch/>
        </p:blipFill>
        <p:spPr>
          <a:xfrm>
            <a:off x="8426415" y="4170605"/>
            <a:ext cx="1159659" cy="1081084"/>
          </a:xfrm>
          <a:prstGeom prst="roundRect">
            <a:avLst/>
          </a:prstGeom>
        </p:spPr>
      </p:pic>
      <p:sp>
        <p:nvSpPr>
          <p:cNvPr id="111" name="TextBox 110">
            <a:extLst>
              <a:ext uri="{FF2B5EF4-FFF2-40B4-BE49-F238E27FC236}">
                <a16:creationId xmlns:a16="http://schemas.microsoft.com/office/drawing/2014/main" id="{A69BD92D-6C75-1451-957D-7A886F4B9AC5}"/>
              </a:ext>
            </a:extLst>
          </p:cNvPr>
          <p:cNvSpPr txBox="1"/>
          <p:nvPr/>
        </p:nvSpPr>
        <p:spPr>
          <a:xfrm>
            <a:off x="8107641" y="3920299"/>
            <a:ext cx="1797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 b="1"/>
              <a:t>NEFA Fabrikken</a:t>
            </a:r>
            <a:r>
              <a:rPr lang="da-DK" sz="900" b="1" baseline="30000"/>
              <a:t>4</a:t>
            </a:r>
            <a:endParaRPr lang="da-DK" sz="900" baseline="3000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ABF6E07E-302A-784F-8DA9-A82E374F9D8F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117" b="117"/>
          <a:stretch/>
        </p:blipFill>
        <p:spPr>
          <a:xfrm>
            <a:off x="10239963" y="4170605"/>
            <a:ext cx="1159659" cy="1081084"/>
          </a:xfrm>
          <a:prstGeom prst="round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F0AD5FA6-E103-E669-5150-0999465C5272}"/>
              </a:ext>
            </a:extLst>
          </p:cNvPr>
          <p:cNvSpPr txBox="1"/>
          <p:nvPr/>
        </p:nvSpPr>
        <p:spPr>
          <a:xfrm>
            <a:off x="9921189" y="3920299"/>
            <a:ext cx="179720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 b="1"/>
              <a:t>HTC</a:t>
            </a:r>
            <a:r>
              <a:rPr lang="da-DK" sz="900" b="1" baseline="30000"/>
              <a:t>5</a:t>
            </a:r>
            <a:endParaRPr lang="da-DK" sz="900" baseline="3000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E7FC815F-6A1F-3A4C-48FE-2D6F92A3CF14}"/>
              </a:ext>
            </a:extLst>
          </p:cNvPr>
          <p:cNvCxnSpPr>
            <a:cxnSpLocks/>
          </p:cNvCxnSpPr>
          <p:nvPr/>
        </p:nvCxnSpPr>
        <p:spPr>
          <a:xfrm flipH="1">
            <a:off x="4834810" y="1288403"/>
            <a:ext cx="22860" cy="2262517"/>
          </a:xfrm>
          <a:prstGeom prst="line">
            <a:avLst/>
          </a:prstGeom>
          <a:ln>
            <a:solidFill>
              <a:srgbClr val="C9AA8C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3927BFD8-B993-4641-9126-C10A2FBD381C}"/>
              </a:ext>
            </a:extLst>
          </p:cNvPr>
          <p:cNvSpPr txBox="1"/>
          <p:nvPr/>
        </p:nvSpPr>
        <p:spPr>
          <a:xfrm>
            <a:off x="4480547" y="5295846"/>
            <a:ext cx="179420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/>
              <a:t>Ejendommen med 158 boliglejemål er egenudviklet. Den 1 juni 2025 flyttede de første lejere ind. LCA på byggeriet er 4,7 kg CO₂/m²/år</a:t>
            </a:r>
            <a:br>
              <a:rPr lang="da-DK" sz="900"/>
            </a:br>
            <a:r>
              <a:rPr lang="da-DK" sz="900"/>
              <a:t>Pr. 26 september var 131 lejemål udlejet.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5871741-C0D9-806E-3AE9-99EBAA4EEDE2}"/>
              </a:ext>
            </a:extLst>
          </p:cNvPr>
          <p:cNvSpPr txBox="1"/>
          <p:nvPr/>
        </p:nvSpPr>
        <p:spPr>
          <a:xfrm>
            <a:off x="6382039" y="5295846"/>
            <a:ext cx="1624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/>
              <a:t>Ejendommen har 46 studieboliger og 2 ehvervslejemål. </a:t>
            </a:r>
          </a:p>
          <a:p>
            <a:pPr algn="ctr"/>
            <a:r>
              <a:rPr lang="da-DK" sz="900"/>
              <a:t>I H1 2025 var lejeindtægterne på DKK 2,4m.</a:t>
            </a:r>
            <a:br>
              <a:rPr lang="da-DK" sz="900"/>
            </a:br>
            <a:endParaRPr lang="da-DK" sz="90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BB8A0D2-EA7E-6A5B-57A3-B94164EE7265}"/>
              </a:ext>
            </a:extLst>
          </p:cNvPr>
          <p:cNvSpPr txBox="1"/>
          <p:nvPr/>
        </p:nvSpPr>
        <p:spPr>
          <a:xfrm>
            <a:off x="8078869" y="5290682"/>
            <a:ext cx="17972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/>
              <a:t>NEFA Fabrikken drives som et kreativt kontorfællesskab med 26 virksomheder. I 2027 forventes det at tilbygge 123 boliglejemål, såfremt der opnås byggetilladelse.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A318EE9-9489-5675-50AB-4608E4A1BE30}"/>
              </a:ext>
            </a:extLst>
          </p:cNvPr>
          <p:cNvSpPr txBox="1"/>
          <p:nvPr/>
        </p:nvSpPr>
        <p:spPr>
          <a:xfrm>
            <a:off x="10007312" y="5271163"/>
            <a:ext cx="162496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900"/>
              <a:t>Ejendommen med 162 boliglejemål er egenudviklet. Byggeriet gik i gang i juni 2025. LCA-målet er 4,3 kg CO₂/m²/år.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563703-6C40-E648-6DD4-23AAC5C73567}"/>
              </a:ext>
            </a:extLst>
          </p:cNvPr>
          <p:cNvSpPr txBox="1"/>
          <p:nvPr/>
        </p:nvSpPr>
        <p:spPr>
          <a:xfrm>
            <a:off x="970260" y="6510776"/>
            <a:ext cx="83331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700"/>
              <a:t>Adresser: 1) C.F. Møllers Allé 42, 2300 København, 2) Kongelysvej 2, 2640 Hedehusene, 3) Strandlodsvej 3-5, 2300 København S, 4) Siljangade 1-3, 2300 København S, 5) Høje Taastrup  </a:t>
            </a:r>
          </a:p>
        </p:txBody>
      </p:sp>
    </p:spTree>
    <p:extLst>
      <p:ext uri="{BB962C8B-B14F-4D97-AF65-F5344CB8AC3E}">
        <p14:creationId xmlns:p14="http://schemas.microsoft.com/office/powerpoint/2010/main" val="15111314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686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.%#m.%y&lt;/m_strFormatTime&gt;&lt;m_yearfmt&gt;&lt;begin val=&quot;4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5&quot;&gt;&lt;elem m_fUsage=&quot;6.04860663616740357185E+00&quot;&gt;&lt;m_msothmcolidx val=&quot;0&quot;/&gt;&lt;m_rgb r=&quot;C9&quot; g=&quot;AA&quot; b=&quot;8C&quot;/&gt;&lt;/elem&gt;&lt;elem m_fUsage=&quot;1.58539795395703175807E+00&quot;&gt;&lt;m_msothmcolidx val=&quot;0&quot;/&gt;&lt;m_rgb r=&quot;F1&quot; g=&quot;97&quot; b=&quot;9A&quot;/&gt;&lt;/elem&gt;&lt;elem m_fUsage=&quot;5.61030048677980119898E-01&quot;&gt;&lt;m_msothmcolidx val=&quot;0&quot;/&gt;&lt;m_rgb r=&quot;BF&quot; g=&quot;21&quot; b=&quot;2A&quot;/&gt;&lt;/elem&gt;&lt;elem m_fUsage=&quot;5.50766471291761261497E-01&quot;&gt;&lt;m_msothmcolidx val=&quot;0&quot;/&gt;&lt;m_rgb r=&quot;DA&quot; g=&quot;DA&quot; b=&quot;DA&quot;/&gt;&lt;/elem&gt;&lt;elem m_fUsage=&quot;4.04281218129931008143E-01&quot;&gt;&lt;m_msothmcolidx val=&quot;0&quot;/&gt;&lt;m_rgb r=&quot;BF&quot; g=&quot;19&quot; b=&quot;1F&quot;/&gt;&lt;/elem&gt;&lt;elem m_fUsage=&quot;3.31409681043895287811E-01&quot;&gt;&lt;m_msothmcolidx val=&quot;0&quot;/&gt;&lt;m_rgb r=&quot;DE&quot; g=&quot;CC&quot; b=&quot;BA&quot;/&gt;&lt;/elem&gt;&lt;elem m_fUsage=&quot;3.04796441934849726696E-01&quot;&gt;&lt;m_msothmcolidx val=&quot;0&quot;/&gt;&lt;m_rgb r=&quot;ED&quot; g=&quot;E2&quot; b=&quot;D9&quot;/&gt;&lt;/elem&gt;&lt;elem m_fUsage=&quot;1.06463443216545869396E-01&quot;&gt;&lt;m_msothmcolidx val=&quot;0&quot;/&gt;&lt;m_rgb r=&quot;3D&quot; g=&quot;3D&quot; b=&quot;3D&quot;/&gt;&lt;/elem&gt;&lt;elem m_fUsage=&quot;5.85871251045198548901E-02&quot;&gt;&lt;m_msothmcolidx val=&quot;0&quot;/&gt;&lt;m_rgb r=&quot;EB&quot; g=&quot;63&quot; b=&quot;68&quot;/&gt;&lt;/elem&gt;&lt;elem m_fUsage=&quot;4.86569900373105060365E-02&quot;&gt;&lt;m_msothmcolidx val=&quot;0&quot;/&gt;&lt;m_rgb r=&quot;F0&quot; g=&quot;F0&quot; b=&quot;F0&quot;/&gt;&lt;/elem&gt;&lt;elem m_fUsage=&quot;3.98672347901057226929E-06&quot;&gt;&lt;m_msothmcolidx val=&quot;0&quot;/&gt;&lt;m_rgb r=&quot;F2&quot; g=&quot;6B&quot; b=&quot;43&quot;/&gt;&lt;/elem&gt;&lt;elem m_fUsage=&quot;1.75833646142777380938E-09&quot;&gt;&lt;m_msothmcolidx val=&quot;0&quot;/&gt;&lt;m_rgb r=&quot;60&quot; g=&quot;0D&quot; b=&quot;10&quot;/&gt;&lt;/elem&gt;&lt;elem m_fUsage=&quot;1.63893531139232811121E-09&quot;&gt;&lt;m_msothmcolidx val=&quot;0&quot;/&gt;&lt;m_rgb r=&quot;D9&quot; g=&quot;D9&quot; b=&quot;D9&quot;/&gt;&lt;/elem&gt;&lt;elem m_fUsage=&quot;2.28844075629004282321E-10&quot;&gt;&lt;m_msothmcolidx val=&quot;0&quot;/&gt;&lt;m_rgb r=&quot;79&quot; g=&quot;79&quot; b=&quot;79&quot;/&gt;&lt;/elem&gt;&lt;elem m_fUsage=&quot;8.88932420369719620571E-11&quot;&gt;&lt;m_msothmcolidx val=&quot;0&quot;/&gt;&lt;m_rgb r=&quot;4D&quot; g=&quot;39&quot; b=&quot;24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5MzdPFmPr3ECkftEl3v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YBjI8WjSg_wbKTkKpSd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jWQUeU6eXaELu9UBObR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sD5ZNiS5kTm_uBjdrLT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4jtWJITuAohlWIAs7J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QLpEcm1PFJCvnDYr6y2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bAuh7YDG6h68dUbJ547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64NsIrC8cvT2YMuTBG5m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Y5Kaqar2QbD51KqisxI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daRCowZvKgqmBjvm7JF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6SI8b0sMj0GfgQshOZw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V9XP09Ykyoshl5miICK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G1qP5ZZmDkStKNyQYo4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g0.KA5B_lMaurm6P8HZ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qpR4X9fgd93MsT0HQgs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H__AiMkqs6v.NR2yBuM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JY6bzZe3H81NXz4Nt_6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Pj6NYZkWX.xqblkNnCb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BlOGCDDxxM7OCdkmQQqI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335JEVLnyPxKe6kKE6U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x9WWjcCbKfSPcQVwe0O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FQQv5veg4GNp71gBvZ.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8oHCtctEarXUa2QESucZ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LR6bwaL0_gQuimXdX_V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4Hdc.OhVmqfI2tHwJRFb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HWmgfoMc.qG6RR4eq3s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Fg6MFALZ9DNLRxRzhul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Rpvy5bnzO9pAhPE9w6Z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yaWBs9Z4WonPibtIwzt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TvgWz1v49T765B0RKdj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7hnpSoiERMTjcwwK1vb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SyyDGAN81JKxqNzo_kP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Iyw2D9Jv2OuTJcTPNoym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3cVEadmzAPHPmCcJ3JB3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.3WaYKwm5km8sOvE.d.k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pfErR0A.FIXJ3kkyJwv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ttxkpXEtyP02nu05vZA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o0lYIBoJo683GY.6VP1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YWOOOxyGF3Jdrp4HIh8x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..hWgMb4qAzc38SOy2.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29wg3l5AMyVuCslTsfV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WC_WrOQ6..Jx9slgL_Q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Az3vt0DK_Ii24_u59uo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CPcQMU8N29afmMBc5gn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zAN43pH3TIyMkjSJxOh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PJyDwX5Q83NCQV7hDmZw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0k2Gh6Jjk3cHTYkyVQ8z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1yvONclc3CihlSU04fX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SsyalyGDE19tXmEIVD7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UDn.nuOoN1v6MEAOsLP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4vhN4c7FR5Yq.fALIqGa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aNL.QUtXER2V0KmrP0T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6.bEbLBsla1w4z8rMI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4WusGOFLpZA7GhpbKoc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ze043teaeB5.ilokObB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K9.ohWgVPIbp84G2Uxj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iB6D4W4eddOo2J66Ju1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fC8NiQuFikAdNizCPk_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LA1my5acgstDZ9NTw4d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s4Ut9jy1JvLIOlc0YZd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2m5yqe0S2_tx_Zr_l9p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CAMHiUNU8JKYQgC4ogzv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RYVwCAYFIME.cdfrMyT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juq5MvgNLg_0muEhUL0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xNJyqYDhMYGxiR_BCcn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3sYCHs_3g0WVabhUfFr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nbmdHrlK3DYU23WnAyZg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6vDizR4orxNT3Yr_DFD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XCCD1tPRY3k3SdP2UdWx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fLyAg8BhvLTBP.117p8Z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e_oTVgvs5b9dmmLBqFq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2m_.CVJuuM3qssqpQe_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TbsyK6HEe.13IOxXppt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tYl1zXkUnydIWm9yF2F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5hyUjEaTgVQGGj3W6QS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o5TlaJspizYl7h.DcLv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3mFnGwZaZqsnQTX5y2Hb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DbJ.OozzuDKOdpWfZZr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0Tm6uUkmdq3Jgx9nu1W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quoECO_XNtlmA1DvRdF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U46mH2ngyVcCMe544Ma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JxbPZqn1wC6RxpZp3Ox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uzSzutHirm14pp7KnUS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_xUnqjI8sdZz0ktXDq1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goAeVSWOtc9B86gPPK.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G2Ws8cQ0w5vBG50bn.U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dD3Flbd1oTB7q5yEZSD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gqK5ZLyF0I1k4uXmH15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IyIMS_a2vLboR072ovd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2m0o8beBIPCc6.rRIAH9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hF2Na.RWZ7AXlrbc4T4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6aQyH1SZhP9zLGeUvPf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Ah4gftzjwNTOI2wIace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X2EpNnIYgX8XX5Pv3E6W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mc8DBoCvCpDGHsuHU3P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v0LjHiX9gzETe.5Znij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5nhESPeIWDvGJLu0XxfV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4cgbR_UHt6hjansNsHa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RovHiBZGlJqrkIM0DnU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_QCdbh827LdVBXV8KMy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17uZfp2.r3rwBq8WXi.A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nI67eU.bwUlZuFMR0DM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h43S7FVafiESLf3hRQd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WuVcDwrBdiSvVlX9kLD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fAjFbEpPry27NIYEK7O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rWiGJ2VNkFH1SKM42yWJ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cn8k5UrMhRmfTDGGnx3c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RAp3oeqsv5WtHSiuHBD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rDTIfvwyyw6uAIV9NGF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PuSoPW4wLZacdCR926n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mEii4icTDYbgASo0Jez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zbsCHJ6mnLIEHs8v_XA9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UfrF17UECrrqJ215l3M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aQJvHsQo7VkJO3CPf83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KuDkC_QLWSpMymSrMdz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GbWRSPWZZekn3tv8pUqU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IloEAVWvhXOriLWXu38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FhbMxr3zGmPH9gdmR2V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dqIxesrb6AsniZdMYJ6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PxKN68gmmRDFqTVZA1v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jjb3bwzsLCO697CQylQ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KXMcV3oygO_Q7Xcz7qN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4boYsWBSFoHYE3PfpNv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zGOhwQCXViD595iK3Fz7Q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lyjmkEv1RE.ddB1lE7Tlw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pgGL7oSOBRREdGv9tQL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24Ma6PNu_OI_iUMSSa5_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kF_svUEfv3e7iBSsF._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ArIGb5_nogqHiVRGMhB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IXliAQlVGqwLR8MJrmy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wqEn9i_h583zvtLUybU4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YJva4FE1rgnU53IdzGZ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ZUnsZ.s3yWhA_.UqPQny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wgVd4fK5fs9QjNBYggh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OAa92oM260GUQoXNL_D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2IoO.JpQ2buocnrhWmI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SUWb7JhUoFSeC6M6LcO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SCBDYKZ7uiGI.u8J8hhk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uqDTWQ7.LHVJsrRJj_l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n7fO1V60OiUC1JntkfPw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EHSRmRe2Jo5OsKXZ_nZp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RX7KwmLNdlOHXvdZQUn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MpsKxMSvb7Q6Xyd4GPK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066MNPfL4nvgzhCsude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xwXbcQEB7eH2QxsUkSyQ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VnR31C34xNLHdCoi1hn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TfIITCxYwarCTGHqgNd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_CWh.9S_TjgeNYfj1GG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Wh8neA5V711PG.ga818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cR6ncKYiLAXq4w.411RQ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Qsx00zyn.Y87bYvKWpP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KZprPd6iI9Dxk2qf2AX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hEljTZHQaxHF3tmUMtc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AfEmWDtFRyTGTorN9KF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YA.NDEKvPzFfbk0X2vO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RngzRMeCuWe74.gBCk.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bYxq854odU2sP7ulBf4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pdMcwpkaKM59suBkhMC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MHTYzA_risOORyLgtp3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y1VRxWTpQM70sOXnnPWV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WpYFuQWaPQzrY4uHr43e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hkrGyWX01dnaLCXZUdq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ul7.kDy6p.YG4RT_u1d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gS7Oraxr9RMkRucc02B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e1W9bStLUzD8r_SZdR1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KNDz8Dafb2dSwQbtsDA9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kO8hSUU8qD0NlHS8zGmX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8iiuqbj2l.Qs1HZjGQq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oBRgrDLUS8eEeN30mz2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rALLWwwFXk0gPNT80Gvw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nh_ySViHVv4qRpu.Cii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4mxulHnMgdxBBwEPo7X0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sMqXswf2BNnBOCbh5VK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b4z3Wxv7gCmNGZZi8Yr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TYYDmyImV6zBLGXTsO7d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f8fqX_JGbik6fxpqrfw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ZC2JccClMtC63e8.cQY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3mezSSNq7etfPh0go_D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CCoUfdX15jIccMSCnxgg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vzH73WrnsQ5YmMLO3Sk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rhYAJNR53dpTEiImTPqA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z19X12ArRyxxVcAzJJo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t3rW6wIlhqSx9BVDPuN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qs1..kbP2lspTFr1iyxw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Q7paiCW91ax53NfikJA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ixJlMoDT4lzRpSPt.rO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smO52sOEWdY88rud2pR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uBpqaJjhIxSmOmuf7M.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BYbd7BA9XTb8tf2ilU.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5l17kXwIZP57OpjNKCBy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iK_L8yFm5DgTecfQbMl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DyC_C9D.ZulUMAI6BuL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59Tc.QIk1gqntD7uv5PI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xywLEPQEt1bnRhyh60Q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oYse_WlR8yKtBJf2GkT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7Ehi9fgNwjMySmichYLQ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xl7ienESzWiszFGutQN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SOL9re0fgz8Dv8r972B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20nFCvFb9ajJImHb7ba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n9AY5LHnwqrNErifB7d4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e6JCt.Jfz5iZIwJjPCcO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8e2DNiWEzGrH.XSSzICS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W50IH7MErQAM864VuvPF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1v1XObPP.HqQt63BhlU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ruVCJtdcJe.O1uytmQqM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IxtBLVuJXT3KMplJmtA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Ro26at.vUVPh_nJJ8Q6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3ToyglwuRTo3CmUVIbe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c2Wr.Ta5YhF_36HSyeL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n.TI93BHX.q8lGo3v.a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0RpCdAXNeqmMsW.azjhQ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lhfUAD0BtllaGANGYHs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FAGgE2FXCZMmVuX7.R6c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EDxGLZ_vxkzffxsS7Ma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PVZTvC9cgjemOQCDmNmD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ljKwtgWTNDzreLeANsv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xIjQCTDmlShL_PDp_xB9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b1aR9bRHssyUfF4Tfj_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vC4xsFgmU7RVBU1gwQn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_ZcF2dfnAzzd.qrdxA4zg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mW3ZjbO2nuej1CvHcR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OyEJKZ3AMQMnOxuLfGqQ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_LvxOuEtW3O4VbrBnzl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Uy.qmXToncexwftfllw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v3jIfekQrR9JJTek2v2A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UIUT4NluCRt1tSEZnjv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iFd_ripD63fzA1yyS0bw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_ct7aYn4_BBl75vwR87w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neOU0McssZTRitxp_fk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NATJY9fdqiDbBOI1Ct1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KE7sij9bxLuxugEpJwuA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qCbKPKIBU_6m6St5uOqOQ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lzCD.PF1imSnJCb5g44w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yiWrjKY0H9EPiJUqT0K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7wi4ZB1Q3FT_hVFDJBv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JH4.4G3dcLcn_Q65Z0Ae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IiNIjd.a_OoNJ8E5oKd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fVEErpKJRTBO2YvWuVZw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pS3Pfikmp72S3J5B0c7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8xyUHfAWjFb9e4ZFZZd2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PP03DkatSm1HpX50MxXA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_X_9BTNELyw7cLbqZndI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6B4qrXFdvNjJw.dqXci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Z7yVFDabxdfrG0Ezv2s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J.xlYm3ZWm2DF74ZIuvQ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il5MigqQgy9duO1F7Iy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gP3S6d9jMGkCEZWqZWev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HTHOo0aTmJkBLlSgyCBA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Q4NDVndImF7Gu3MYCQUw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S.XzwXagcmcILpeJbmU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I4EYre_uxgbr8n8mOBC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dbgAGIQuJAv1SuBKnR_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9BAdQO5_v7lsLuB9Abwvg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DHwXQA2CsSApUmHxA86ag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ijjb3bwzsLCO697CQylQ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kxIpt9m9ZMxyniCuj_og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wNJLuL1852Kk0pe3h5og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nPMc7JKy3tBozVtXGb1Q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o3ASiqkXrOowkGcWy16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vHkGe_eBo60l.hfhoLsw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KXMcV3oygO_Q7Xcz7qNg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FWgSd9GPVYGoeFBfygHg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TfIITCxYwarCTGHqgNd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_CWh.9S_TjgeNYfj1GG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Wh8neA5V711PG.ga818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gS7Oraxr9RMkRucc02B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e1W9bStLUzD8r_SZdR1A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FWkEQhIKaNYQnYNqd6t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jJueBPxYJfwXrXgeMkQ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8i4FmNbGVul5wlSfoC8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pmSpApUxpKJjkSG87vrw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VxR4YpOO80e4Ltl.p4v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Mfju6T3uhPKig8ylwYjA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OtNEGM_853sJcLjn9noR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M_kDeI9eZ81DgKVf2fXg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Iciz7rzwxCgCyjRQwAV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JDaE47ctSB5AkkEn7Q7Q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c4hqYgfViZC2XFbWuG4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Vh6U5TxH7pr0yRLBSHAQ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b.VRvuLjO12NfAKONbW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6.scLVP2jeZFNY25cd.T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YZb_5UkTtTrCiD.PYa9Q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1TvORToiKfOKrKMoj45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t17ESffrWypjM9kU8m2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qyaaxzVQgRrBY0fK1mzdg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lTe6qyC8gFzzbzYZ8oBQ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JVt5VWBN8yKluIVrggHr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iUTlb9yPORaDaw7ja4F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e6x0_gKEnxAezhCfPR5w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taDyb9X4AzTuLxt8Oq_f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TfjGNP9_7fubhd2VfBVeQ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K1O9Qo3gBf7st1OD79R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BEvqtxOJ0OalTjFVuWKA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vTLN4vLLgtE7Z4dTT90N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20jh8N1zBQuw8yKqm2.A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ppNd7TZpxH6rJaZgmN3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Mw3RkXBTSX8Fh8a1DoFj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7SEzcQdSbcCv2z2URtMp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kSQ_P3pcK5RKH6sMDMusQ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GvQjjG4SBQtMI5NSdgyw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zPk7L1oxOc6Y_lum9Cy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sFu2pfTygBKYFsayjjn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dKoBOqP6OXSm3w_UD75Q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OtI11CJvr4xIfTGKLluA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H8ijg6uU2ain4iseT3eA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BDxtlXUhZijWFQVLmu26g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DPPEchWU2RG9Pk6.DjPQ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KEARi.CK2DIvjMWATm6A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_E_HPbOoW1F3y7Jx_PuQ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CjcPctI8ao.9ioM1LVeg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age9heaWk0qkdoK09r_cw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DykIi.xgQLDJQ1kDHgWw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U43nuk.Gc8U1fOJrRJSK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POWaQwlX5DCA60BSSgl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hIFmMaOiaYwUQw0DIpYA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YWO1YM82abX84dD4ib3w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nCcVmjy4nl1lbwhTkfbA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2ZGFzgihOXHpg2sm5XZNQ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VvHCr5UtRqTZHk7AxBhA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jGmVhfWe7U6J8pf_Kf.iw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NZUI9bMOj4CwCC0fpS_6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1pGoV9hAC8XaXhRKkodA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knYf4vfyAIE_NV6r6Mp8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zoOO.QBUe.oFAK3izFdg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OwDqn0DXiNG5WSHDcDP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psjMZHsoE51zku82TQzg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jC_tbS2mkr.KjM6C3MHmQ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.aKNLriTvAFwG51uBlltw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31V4Rf6uz39SgT1tirbA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1NaBoJwsFPyG5a_6SYsU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2YBUkVlFitTEBX_Mdm8K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Ix4G322C.QentBX7tqag"/>
</p:tagLst>
</file>

<file path=ppt/theme/theme1.xml><?xml version="1.0" encoding="utf-8"?>
<a:theme xmlns:a="http://schemas.openxmlformats.org/drawingml/2006/main" name="Office-tema">
  <a:themeElements>
    <a:clrScheme name="Motortramp">
      <a:dk1>
        <a:sysClr val="windowText" lastClr="000000"/>
      </a:dk1>
      <a:lt1>
        <a:sysClr val="window" lastClr="FFFFFF"/>
      </a:lt1>
      <a:dk2>
        <a:srgbClr val="BF191F"/>
      </a:dk2>
      <a:lt2>
        <a:srgbClr val="EDE3D9"/>
      </a:lt2>
      <a:accent1>
        <a:srgbClr val="BF191F"/>
      </a:accent1>
      <a:accent2>
        <a:srgbClr val="EDE3D9"/>
      </a:accent2>
      <a:accent3>
        <a:srgbClr val="F2F2F2"/>
      </a:accent3>
      <a:accent4>
        <a:srgbClr val="7A7A7A"/>
      </a:accent4>
      <a:accent5>
        <a:srgbClr val="000000"/>
      </a:accent5>
      <a:accent6>
        <a:srgbClr val="BF191F"/>
      </a:accent6>
      <a:hlink>
        <a:srgbClr val="0563C1"/>
      </a:hlink>
      <a:folHlink>
        <a:srgbClr val="954F72"/>
      </a:folHlink>
    </a:clrScheme>
    <a:fontScheme name="Motortramp">
      <a:majorFont>
        <a:latin typeface="Freight Big Book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4" row="8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204C87-3F4C-4E7E-B0D3-3019F682FC7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4174d3a-e307-42af-90b1-4c3f07b5f3b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573b915-c022-4b64-b170-2afeb20ecb3f" xsi:nil="true"/>
    <lcf76f155ced4ddcb4097134ff3c332f xmlns="b147e995-24cd-46f5-83ce-720aa16e6a2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FDD2E2C572AE84F9A0AFF6641CFDF47" ma:contentTypeVersion="16" ma:contentTypeDescription="Opret et nyt dokument." ma:contentTypeScope="" ma:versionID="2146637d85a971684b3f20c66ac38f50">
  <xsd:schema xmlns:xsd="http://www.w3.org/2001/XMLSchema" xmlns:xs="http://www.w3.org/2001/XMLSchema" xmlns:p="http://schemas.microsoft.com/office/2006/metadata/properties" xmlns:ns2="b147e995-24cd-46f5-83ce-720aa16e6a24" xmlns:ns3="a573b915-c022-4b64-b170-2afeb20ecb3f" targetNamespace="http://schemas.microsoft.com/office/2006/metadata/properties" ma:root="true" ma:fieldsID="a25a24ab760c1492069e706029df05c9" ns2:_="" ns3:_="">
    <xsd:import namespace="b147e995-24cd-46f5-83ce-720aa16e6a24"/>
    <xsd:import namespace="a573b915-c022-4b64-b170-2afeb20ecb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47e995-24cd-46f5-83ce-720aa16e6a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ledmærker" ma:readOnly="false" ma:fieldId="{5cf76f15-5ced-4ddc-b409-7134ff3c332f}" ma:taxonomyMulti="true" ma:sspId="cdb3217c-c72e-4745-a681-ec4d318a1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3b915-c022-4b64-b170-2afeb20ecb3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6b693eb-4316-4672-aa29-24b3c02b6167}" ma:internalName="TaxCatchAll" ma:showField="CatchAllData" ma:web="a573b915-c022-4b64-b170-2afeb20ecb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6E8771-038E-4F01-BBA4-66A1095849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336A36-4B1C-4E0C-852B-80C342B70B78}">
  <ds:schemaRefs>
    <ds:schemaRef ds:uri="a573b915-c022-4b64-b170-2afeb20ecb3f"/>
    <ds:schemaRef ds:uri="b147e995-24cd-46f5-83ce-720aa16e6a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C487A5C-6D71-4C40-B46C-7A128CB49CF2}">
  <ds:schemaRefs>
    <ds:schemaRef ds:uri="a573b915-c022-4b64-b170-2afeb20ecb3f"/>
    <ds:schemaRef ds:uri="b147e995-24cd-46f5-83ce-720aa16e6a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1834</Words>
  <Application>Microsoft Office PowerPoint</Application>
  <PresentationFormat>Widescreen</PresentationFormat>
  <Paragraphs>476</Paragraphs>
  <Slides>6</Slides>
  <Notes>6</Notes>
  <HiddenSlides>0</HiddenSlides>
  <MMClips>0</MMClips>
  <ScaleCrop>false</ScaleCrop>
  <HeadingPairs>
    <vt:vector size="8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Integrerede OLE-servere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0" baseType="lpstr">
      <vt:lpstr>Aptos</vt:lpstr>
      <vt:lpstr>Arial</vt:lpstr>
      <vt:lpstr>Office-tema</vt:lpstr>
      <vt:lpstr>thinkcell Slide</vt:lpstr>
      <vt:lpstr>Lange tilsagn (1:2)</vt:lpstr>
      <vt:lpstr>Lange tilsagn (2:2)</vt:lpstr>
      <vt:lpstr>Analyse af Motortramps alternative investeringer (1:4)</vt:lpstr>
      <vt:lpstr>Analyse af Motortramps alternative investeringer (2:4)</vt:lpstr>
      <vt:lpstr>Analyse af Motortramps alternative investeringer (3:4)</vt:lpstr>
      <vt:lpstr>Analyse af Motortramps alternative investeringer (4:4)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 Lindhardt</dc:creator>
  <cp:lastModifiedBy>Rasmus Klitte Andersen</cp:lastModifiedBy>
  <cp:revision>1</cp:revision>
  <cp:lastPrinted>2026-05-07T12:32:14Z</cp:lastPrinted>
  <dcterms:created xsi:type="dcterms:W3CDTF">2025-01-13T09:25:11Z</dcterms:created>
  <dcterms:modified xsi:type="dcterms:W3CDTF">2026-10-15T06:35:07Z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0x0101007FDD2E2C572AE84F9A0AFF6641CFDF47</vt:lpwstr>
  </property>
  <property fmtid="{D5CDD505-2E9C-101B-9397-08002B2CF9AE}" pid="3" name="MediaServiceImageTags">
    <vt:lpwstr/>
  </property>
</Properties>
</file>